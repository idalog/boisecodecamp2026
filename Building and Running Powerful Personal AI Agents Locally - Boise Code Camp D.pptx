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257" r:id="rId3"/>
    <p:sldId id="258" r:id="rId4"/>
    <p:sldId id="299" r:id="rId5"/>
    <p:sldId id="259" r:id="rId6"/>
    <p:sldId id="260" r:id="rId7"/>
    <p:sldId id="261" r:id="rId8"/>
    <p:sldId id="301" r:id="rId9"/>
    <p:sldId id="262" r:id="rId10"/>
    <p:sldId id="263" r:id="rId11"/>
    <p:sldId id="264" r:id="rId12"/>
    <p:sldId id="296" r:id="rId13"/>
    <p:sldId id="297" r:id="rId14"/>
    <p:sldId id="279" r:id="rId15"/>
    <p:sldId id="267" r:id="rId16"/>
    <p:sldId id="303" r:id="rId17"/>
    <p:sldId id="302" r:id="rId18"/>
    <p:sldId id="265" r:id="rId19"/>
    <p:sldId id="290" r:id="rId20"/>
    <p:sldId id="295" r:id="rId21"/>
    <p:sldId id="266" r:id="rId22"/>
    <p:sldId id="294" r:id="rId23"/>
    <p:sldId id="275" r:id="rId24"/>
    <p:sldId id="268" r:id="rId25"/>
    <p:sldId id="269" r:id="rId26"/>
    <p:sldId id="270" r:id="rId27"/>
    <p:sldId id="271" r:id="rId28"/>
    <p:sldId id="272" r:id="rId29"/>
    <p:sldId id="273" r:id="rId30"/>
    <p:sldId id="274" r:id="rId31"/>
    <p:sldId id="276" r:id="rId32"/>
    <p:sldId id="278" r:id="rId33"/>
    <p:sldId id="300" r:id="rId34"/>
    <p:sldId id="291" r:id="rId35"/>
    <p:sldId id="292" r:id="rId36"/>
    <p:sldId id="293" r:id="rId37"/>
    <p:sldId id="282" r:id="rId38"/>
    <p:sldId id="298" r:id="rId39"/>
    <p:sldId id="284" r:id="rId40"/>
    <p:sldId id="283" r:id="rId41"/>
    <p:sldId id="287" r:id="rId42"/>
    <p:sldId id="288" r:id="rId43"/>
    <p:sldId id="289" r:id="rId4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21300" autoAdjust="0"/>
    <p:restoredTop sz="94610"/>
  </p:normalViewPr>
  <p:slideViewPr>
    <p:cSldViewPr snapToGrid="0" snapToObjects="1">
      <p:cViewPr varScale="1">
        <p:scale>
          <a:sx n="118" d="100"/>
          <a:sy n="118" d="100"/>
        </p:scale>
        <p:origin x="1584" y="69"/>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96435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D3F15C-2E60-39FB-F713-CAD71002E7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C24FFB-560D-D5FB-0BD4-B2444DBCF8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92CCD-6E2C-CBE0-43A8-A644EF9A38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C3D32C-DFEC-BF88-DB6B-006B51E097E9}"/>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5385017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416D1F-E7FF-3DF5-B210-2609288A38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5882ED-EA20-87C1-FBFE-0D4DC479A8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6863D5E-EBCB-97D7-7747-D11C10E1C36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4E69765-66DE-897A-9341-827293E07EA7}"/>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6198671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CF83B-8424-C007-904A-5179E17D63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676A8B-E4D4-EB27-C710-20D32F6C2FF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8F5062-8909-D867-F19B-DBC372C594D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E9AD4A-8D6E-86AC-69D9-16DABB5660BC}"/>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33669054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027E6C-C3BB-6291-0587-E5E049FF009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5301F5-2BCD-ADC3-9DD2-F9613A2474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097F7A-4C5F-881A-9DFE-93C64468B5D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29B4D4E-0112-1228-ECE7-2698EDC97E99}"/>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20</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56019724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DB8F8E-9F94-CAA8-4949-AF00BEDDA6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2D4DFE9-70AF-2F65-73F0-048FE13E08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90906A-E8B2-1FD0-B96F-C404B7DCEBF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5B8724-962E-98AC-118F-8907EB9EDFDA}"/>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1385205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svg"/><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svg"/><Relationship Id="rId7" Type="http://schemas.openxmlformats.org/officeDocument/2006/relationships/image" Target="../media/image14.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3.svg"/><Relationship Id="rId5" Type="http://schemas.openxmlformats.org/officeDocument/2006/relationships/image" Target="../media/image12.svg"/><Relationship Id="rId4" Type="http://schemas.openxmlformats.org/officeDocument/2006/relationships/image" Target="../media/image11.svg"/></Relationships>
</file>

<file path=ppt/slides/_rels/slide7.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9.svg"/><Relationship Id="rId5" Type="http://schemas.openxmlformats.org/officeDocument/2006/relationships/image" Target="../media/image18.svg"/><Relationship Id="rId4" Type="http://schemas.openxmlformats.org/officeDocument/2006/relationships/image" Target="../media/image17.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8" Type="http://schemas.openxmlformats.org/officeDocument/2006/relationships/image" Target="../media/image25.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3.svg"/><Relationship Id="rId5" Type="http://schemas.openxmlformats.org/officeDocument/2006/relationships/image" Target="../media/image22.svg"/><Relationship Id="rId10" Type="http://schemas.openxmlformats.org/officeDocument/2006/relationships/image" Target="../media/image27.svg"/><Relationship Id="rId4" Type="http://schemas.openxmlformats.org/officeDocument/2006/relationships/image" Target="../media/image21.svg"/><Relationship Id="rId9" Type="http://schemas.openxmlformats.org/officeDocument/2006/relationships/image" Target="../media/image26.svg"/></Relationships>
</file>

<file path=ppt/slides/_rels/slide10.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svg"/><Relationship Id="rId7" Type="http://schemas.openxmlformats.org/officeDocument/2006/relationships/image" Target="../media/image32.sv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31.svg"/><Relationship Id="rId11" Type="http://schemas.openxmlformats.org/officeDocument/2006/relationships/image" Target="../media/image36.svg"/><Relationship Id="rId5" Type="http://schemas.openxmlformats.org/officeDocument/2006/relationships/image" Target="../media/image30.svg"/><Relationship Id="rId10" Type="http://schemas.openxmlformats.org/officeDocument/2006/relationships/image" Target="../media/image35.svg"/><Relationship Id="rId4" Type="http://schemas.openxmlformats.org/officeDocument/2006/relationships/image" Target="../media/image29.svg"/><Relationship Id="rId9" Type="http://schemas.openxmlformats.org/officeDocument/2006/relationships/image" Target="../media/image34.svg"/></Relationships>
</file>

<file path=ppt/slides/_rels/slide11.xml.rels><?xml version="1.0" encoding="UTF-8" standalone="yes"?>
<Relationships xmlns="http://schemas.openxmlformats.org/package/2006/relationships"><Relationship Id="rId8" Type="http://schemas.openxmlformats.org/officeDocument/2006/relationships/image" Target="../media/image42.svg"/><Relationship Id="rId3" Type="http://schemas.openxmlformats.org/officeDocument/2006/relationships/image" Target="../media/image37.svg"/><Relationship Id="rId7" Type="http://schemas.openxmlformats.org/officeDocument/2006/relationships/image" Target="../media/image41.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0.svg"/><Relationship Id="rId5" Type="http://schemas.openxmlformats.org/officeDocument/2006/relationships/image" Target="../media/image39.svg"/><Relationship Id="rId4" Type="http://schemas.openxmlformats.org/officeDocument/2006/relationships/image" Target="../media/image38.svg"/><Relationship Id="rId9" Type="http://schemas.openxmlformats.org/officeDocument/2006/relationships/image" Target="../media/image43.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49.svg"/><Relationship Id="rId3" Type="http://schemas.openxmlformats.org/officeDocument/2006/relationships/image" Target="../media/image44.svg"/><Relationship Id="rId7" Type="http://schemas.openxmlformats.org/officeDocument/2006/relationships/image" Target="../media/image48.sv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7.svg"/><Relationship Id="rId5" Type="http://schemas.openxmlformats.org/officeDocument/2006/relationships/image" Target="../media/image46.svg"/><Relationship Id="rId4" Type="http://schemas.openxmlformats.org/officeDocument/2006/relationships/image" Target="../media/image45.svg"/></Relationships>
</file>

<file path=ppt/slides/_rels/slide16.xml.rels><?xml version="1.0" encoding="UTF-8" standalone="yes"?>
<Relationships xmlns="http://schemas.openxmlformats.org/package/2006/relationships"><Relationship Id="rId8" Type="http://schemas.openxmlformats.org/officeDocument/2006/relationships/image" Target="../media/image56.svg"/><Relationship Id="rId3" Type="http://schemas.openxmlformats.org/officeDocument/2006/relationships/image" Target="../media/image51.svg"/><Relationship Id="rId7" Type="http://schemas.openxmlformats.org/officeDocument/2006/relationships/image" Target="../media/image55.svg"/><Relationship Id="rId2" Type="http://schemas.openxmlformats.org/officeDocument/2006/relationships/image" Target="../media/image50.svg"/><Relationship Id="rId1" Type="http://schemas.openxmlformats.org/officeDocument/2006/relationships/slideLayout" Target="../slideLayouts/slideLayout1.xml"/><Relationship Id="rId6" Type="http://schemas.openxmlformats.org/officeDocument/2006/relationships/image" Target="../media/image54.svg"/><Relationship Id="rId5" Type="http://schemas.openxmlformats.org/officeDocument/2006/relationships/image" Target="../media/image53.svg"/><Relationship Id="rId4" Type="http://schemas.openxmlformats.org/officeDocument/2006/relationships/image" Target="../media/image52.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57.sv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58.svg"/></Relationships>
</file>

<file path=ppt/slides/_rels/slide19.xml.rels><?xml version="1.0" encoding="UTF-8" standalone="yes"?>
<Relationships xmlns="http://schemas.openxmlformats.org/package/2006/relationships"><Relationship Id="rId3" Type="http://schemas.openxmlformats.org/officeDocument/2006/relationships/image" Target="../media/image57.sv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60.svg"/><Relationship Id="rId5" Type="http://schemas.openxmlformats.org/officeDocument/2006/relationships/image" Target="../media/image59.svg"/><Relationship Id="rId4" Type="http://schemas.openxmlformats.org/officeDocument/2006/relationships/image" Target="../media/image58.svg"/></Relationships>
</file>

<file path=ppt/slides/_rels/slide20.xml.rels><?xml version="1.0" encoding="UTF-8" standalone="yes"?>
<Relationships xmlns="http://schemas.openxmlformats.org/package/2006/relationships"><Relationship Id="rId3" Type="http://schemas.openxmlformats.org/officeDocument/2006/relationships/image" Target="../media/image57.sv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58.svg"/></Relationships>
</file>

<file path=ppt/slides/_rels/slide21.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hyperlink" Target="https://arxiv.org/abs/2512.01797"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7.sv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58.svg"/></Relationships>
</file>

<file path=ppt/slides/_rels/slide23.xml.rels><?xml version="1.0" encoding="UTF-8" standalone="yes"?>
<Relationships xmlns="http://schemas.openxmlformats.org/package/2006/relationships"><Relationship Id="rId8" Type="http://schemas.openxmlformats.org/officeDocument/2006/relationships/image" Target="../media/image67.svg"/><Relationship Id="rId3" Type="http://schemas.openxmlformats.org/officeDocument/2006/relationships/image" Target="../media/image62.svg"/><Relationship Id="rId7" Type="http://schemas.openxmlformats.org/officeDocument/2006/relationships/image" Target="../media/image66.sv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63.svg"/></Relationships>
</file>

<file path=ppt/slides/_rels/slide24.xml.rels><?xml version="1.0" encoding="UTF-8" standalone="yes"?>
<Relationships xmlns="http://schemas.openxmlformats.org/package/2006/relationships"><Relationship Id="rId3" Type="http://schemas.openxmlformats.org/officeDocument/2006/relationships/image" Target="../media/image68.sv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70.svg"/><Relationship Id="rId4" Type="http://schemas.openxmlformats.org/officeDocument/2006/relationships/image" Target="../media/image69.svg"/></Relationships>
</file>

<file path=ppt/slides/_rels/slide25.xml.rels><?xml version="1.0" encoding="UTF-8" standalone="yes"?>
<Relationships xmlns="http://schemas.openxmlformats.org/package/2006/relationships"><Relationship Id="rId8" Type="http://schemas.openxmlformats.org/officeDocument/2006/relationships/image" Target="../media/image76.svg"/><Relationship Id="rId13" Type="http://schemas.openxmlformats.org/officeDocument/2006/relationships/image" Target="../media/image81.svg"/><Relationship Id="rId3" Type="http://schemas.openxmlformats.org/officeDocument/2006/relationships/image" Target="../media/image71.svg"/><Relationship Id="rId7" Type="http://schemas.openxmlformats.org/officeDocument/2006/relationships/image" Target="../media/image75.svg"/><Relationship Id="rId12" Type="http://schemas.openxmlformats.org/officeDocument/2006/relationships/image" Target="../media/image80.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74.svg"/><Relationship Id="rId11" Type="http://schemas.openxmlformats.org/officeDocument/2006/relationships/image" Target="../media/image79.svg"/><Relationship Id="rId5" Type="http://schemas.openxmlformats.org/officeDocument/2006/relationships/image" Target="../media/image73.svg"/><Relationship Id="rId10" Type="http://schemas.openxmlformats.org/officeDocument/2006/relationships/image" Target="../media/image78.svg"/><Relationship Id="rId4" Type="http://schemas.openxmlformats.org/officeDocument/2006/relationships/image" Target="../media/image72.svg"/><Relationship Id="rId9" Type="http://schemas.openxmlformats.org/officeDocument/2006/relationships/image" Target="../media/image77.svg"/><Relationship Id="rId14" Type="http://schemas.openxmlformats.org/officeDocument/2006/relationships/image" Target="../media/image82.svg"/></Relationships>
</file>

<file path=ppt/slides/_rels/slide26.xml.rels><?xml version="1.0" encoding="UTF-8" standalone="yes"?>
<Relationships xmlns="http://schemas.openxmlformats.org/package/2006/relationships"><Relationship Id="rId3" Type="http://schemas.openxmlformats.org/officeDocument/2006/relationships/image" Target="../media/image83.sv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86.svg"/><Relationship Id="rId5" Type="http://schemas.openxmlformats.org/officeDocument/2006/relationships/image" Target="../media/image85.svg"/><Relationship Id="rId4" Type="http://schemas.openxmlformats.org/officeDocument/2006/relationships/image" Target="../media/image84.svg"/></Relationships>
</file>

<file path=ppt/slides/_rels/slide27.xml.rels><?xml version="1.0" encoding="UTF-8" standalone="yes"?>
<Relationships xmlns="http://schemas.openxmlformats.org/package/2006/relationships"><Relationship Id="rId8" Type="http://schemas.openxmlformats.org/officeDocument/2006/relationships/image" Target="../media/image92.svg"/><Relationship Id="rId13" Type="http://schemas.openxmlformats.org/officeDocument/2006/relationships/image" Target="../media/image97.svg"/><Relationship Id="rId3" Type="http://schemas.openxmlformats.org/officeDocument/2006/relationships/image" Target="../media/image87.svg"/><Relationship Id="rId7" Type="http://schemas.openxmlformats.org/officeDocument/2006/relationships/image" Target="../media/image91.svg"/><Relationship Id="rId12" Type="http://schemas.openxmlformats.org/officeDocument/2006/relationships/image" Target="../media/image96.sv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90.svg"/><Relationship Id="rId11" Type="http://schemas.openxmlformats.org/officeDocument/2006/relationships/image" Target="../media/image95.svg"/><Relationship Id="rId5" Type="http://schemas.openxmlformats.org/officeDocument/2006/relationships/image" Target="../media/image89.svg"/><Relationship Id="rId10" Type="http://schemas.openxmlformats.org/officeDocument/2006/relationships/image" Target="../media/image94.svg"/><Relationship Id="rId4" Type="http://schemas.openxmlformats.org/officeDocument/2006/relationships/image" Target="../media/image88.svg"/><Relationship Id="rId9" Type="http://schemas.openxmlformats.org/officeDocument/2006/relationships/image" Target="../media/image93.svg"/></Relationships>
</file>

<file path=ppt/slides/_rels/slide28.xml.rels><?xml version="1.0" encoding="UTF-8" standalone="yes"?>
<Relationships xmlns="http://schemas.openxmlformats.org/package/2006/relationships"><Relationship Id="rId8" Type="http://schemas.openxmlformats.org/officeDocument/2006/relationships/image" Target="../media/image103.svg"/><Relationship Id="rId3" Type="http://schemas.openxmlformats.org/officeDocument/2006/relationships/image" Target="../media/image98.svg"/><Relationship Id="rId7" Type="http://schemas.openxmlformats.org/officeDocument/2006/relationships/image" Target="../media/image102.sv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101.svg"/><Relationship Id="rId5" Type="http://schemas.openxmlformats.org/officeDocument/2006/relationships/image" Target="../media/image100.svg"/><Relationship Id="rId4" Type="http://schemas.openxmlformats.org/officeDocument/2006/relationships/image" Target="../media/image99.svg"/><Relationship Id="rId9" Type="http://schemas.openxmlformats.org/officeDocument/2006/relationships/image" Target="../media/image104.svg"/></Relationships>
</file>

<file path=ppt/slides/_rels/slide29.xml.rels><?xml version="1.0" encoding="UTF-8" standalone="yes"?>
<Relationships xmlns="http://schemas.openxmlformats.org/package/2006/relationships"><Relationship Id="rId8" Type="http://schemas.openxmlformats.org/officeDocument/2006/relationships/image" Target="../media/image110.svg"/><Relationship Id="rId13" Type="http://schemas.openxmlformats.org/officeDocument/2006/relationships/image" Target="../media/image115.svg"/><Relationship Id="rId3" Type="http://schemas.openxmlformats.org/officeDocument/2006/relationships/image" Target="../media/image105.svg"/><Relationship Id="rId7" Type="http://schemas.openxmlformats.org/officeDocument/2006/relationships/image" Target="../media/image109.svg"/><Relationship Id="rId12" Type="http://schemas.openxmlformats.org/officeDocument/2006/relationships/image" Target="../media/image114.sv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08.svg"/><Relationship Id="rId11" Type="http://schemas.openxmlformats.org/officeDocument/2006/relationships/image" Target="../media/image113.svg"/><Relationship Id="rId5" Type="http://schemas.openxmlformats.org/officeDocument/2006/relationships/image" Target="../media/image107.svg"/><Relationship Id="rId15" Type="http://schemas.openxmlformats.org/officeDocument/2006/relationships/image" Target="../media/image117.svg"/><Relationship Id="rId10" Type="http://schemas.openxmlformats.org/officeDocument/2006/relationships/image" Target="../media/image112.svg"/><Relationship Id="rId4" Type="http://schemas.openxmlformats.org/officeDocument/2006/relationships/image" Target="../media/image106.svg"/><Relationship Id="rId9" Type="http://schemas.openxmlformats.org/officeDocument/2006/relationships/image" Target="../media/image111.svg"/><Relationship Id="rId14" Type="http://schemas.openxmlformats.org/officeDocument/2006/relationships/image" Target="../media/image116.svg"/></Relationships>
</file>

<file path=ppt/slides/_rels/slide30.xml.rels><?xml version="1.0" encoding="UTF-8" standalone="yes"?>
<Relationships xmlns="http://schemas.openxmlformats.org/package/2006/relationships"><Relationship Id="rId8" Type="http://schemas.openxmlformats.org/officeDocument/2006/relationships/image" Target="../media/image123.png"/><Relationship Id="rId3" Type="http://schemas.openxmlformats.org/officeDocument/2006/relationships/image" Target="../media/image118.png"/><Relationship Id="rId7" Type="http://schemas.openxmlformats.org/officeDocument/2006/relationships/image" Target="../media/image12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121.png"/><Relationship Id="rId11" Type="http://schemas.openxmlformats.org/officeDocument/2006/relationships/image" Target="../media/image126.png"/><Relationship Id="rId5" Type="http://schemas.openxmlformats.org/officeDocument/2006/relationships/image" Target="../media/image120.png"/><Relationship Id="rId10" Type="http://schemas.openxmlformats.org/officeDocument/2006/relationships/image" Target="../media/image125.png"/><Relationship Id="rId4" Type="http://schemas.openxmlformats.org/officeDocument/2006/relationships/image" Target="../media/image119.png"/><Relationship Id="rId9" Type="http://schemas.openxmlformats.org/officeDocument/2006/relationships/image" Target="../media/image124.png"/></Relationships>
</file>

<file path=ppt/slides/_rels/slide31.xml.rels><?xml version="1.0" encoding="UTF-8" standalone="yes"?>
<Relationships xmlns="http://schemas.openxmlformats.org/package/2006/relationships"><Relationship Id="rId8" Type="http://schemas.openxmlformats.org/officeDocument/2006/relationships/image" Target="../media/image132.svg"/><Relationship Id="rId13" Type="http://schemas.openxmlformats.org/officeDocument/2006/relationships/image" Target="../media/image137.svg"/><Relationship Id="rId3" Type="http://schemas.openxmlformats.org/officeDocument/2006/relationships/image" Target="../media/image127.svg"/><Relationship Id="rId7" Type="http://schemas.openxmlformats.org/officeDocument/2006/relationships/image" Target="../media/image131.svg"/><Relationship Id="rId12" Type="http://schemas.openxmlformats.org/officeDocument/2006/relationships/image" Target="../media/image136.sv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130.svg"/><Relationship Id="rId11" Type="http://schemas.openxmlformats.org/officeDocument/2006/relationships/image" Target="../media/image135.svg"/><Relationship Id="rId5" Type="http://schemas.openxmlformats.org/officeDocument/2006/relationships/image" Target="../media/image129.svg"/><Relationship Id="rId10" Type="http://schemas.openxmlformats.org/officeDocument/2006/relationships/image" Target="../media/image134.svg"/><Relationship Id="rId4" Type="http://schemas.openxmlformats.org/officeDocument/2006/relationships/image" Target="../media/image128.svg"/><Relationship Id="rId9" Type="http://schemas.openxmlformats.org/officeDocument/2006/relationships/image" Target="../media/image133.svg"/></Relationships>
</file>

<file path=ppt/slides/_rels/slide32.xml.rels><?xml version="1.0" encoding="UTF-8" standalone="yes"?>
<Relationships xmlns="http://schemas.openxmlformats.org/package/2006/relationships"><Relationship Id="rId8" Type="http://schemas.openxmlformats.org/officeDocument/2006/relationships/image" Target="../media/image143.svg"/><Relationship Id="rId3" Type="http://schemas.openxmlformats.org/officeDocument/2006/relationships/image" Target="../media/image138.svg"/><Relationship Id="rId7" Type="http://schemas.openxmlformats.org/officeDocument/2006/relationships/image" Target="../media/image142.sv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141.svg"/><Relationship Id="rId5" Type="http://schemas.openxmlformats.org/officeDocument/2006/relationships/image" Target="../media/image140.svg"/><Relationship Id="rId4" Type="http://schemas.openxmlformats.org/officeDocument/2006/relationships/image" Target="../media/image139.sv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8" Type="http://schemas.openxmlformats.org/officeDocument/2006/relationships/image" Target="../media/image149.svg"/><Relationship Id="rId13" Type="http://schemas.openxmlformats.org/officeDocument/2006/relationships/image" Target="../media/image154.svg"/><Relationship Id="rId3" Type="http://schemas.openxmlformats.org/officeDocument/2006/relationships/image" Target="../media/image144.svg"/><Relationship Id="rId7" Type="http://schemas.openxmlformats.org/officeDocument/2006/relationships/image" Target="../media/image148.svg"/><Relationship Id="rId12" Type="http://schemas.openxmlformats.org/officeDocument/2006/relationships/image" Target="../media/image153.sv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147.svg"/><Relationship Id="rId11" Type="http://schemas.openxmlformats.org/officeDocument/2006/relationships/image" Target="../media/image152.svg"/><Relationship Id="rId5" Type="http://schemas.openxmlformats.org/officeDocument/2006/relationships/image" Target="../media/image146.svg"/><Relationship Id="rId10" Type="http://schemas.openxmlformats.org/officeDocument/2006/relationships/image" Target="../media/image151.svg"/><Relationship Id="rId4" Type="http://schemas.openxmlformats.org/officeDocument/2006/relationships/image" Target="../media/image145.svg"/><Relationship Id="rId9" Type="http://schemas.openxmlformats.org/officeDocument/2006/relationships/image" Target="../media/image150.sv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8" Type="http://schemas.openxmlformats.org/officeDocument/2006/relationships/image" Target="../media/image160.svg"/><Relationship Id="rId13" Type="http://schemas.openxmlformats.org/officeDocument/2006/relationships/image" Target="../media/image165.svg"/><Relationship Id="rId3" Type="http://schemas.openxmlformats.org/officeDocument/2006/relationships/image" Target="../media/image155.svg"/><Relationship Id="rId7" Type="http://schemas.openxmlformats.org/officeDocument/2006/relationships/image" Target="../media/image159.svg"/><Relationship Id="rId12" Type="http://schemas.openxmlformats.org/officeDocument/2006/relationships/image" Target="../media/image164.sv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158.svg"/><Relationship Id="rId11" Type="http://schemas.openxmlformats.org/officeDocument/2006/relationships/image" Target="../media/image163.svg"/><Relationship Id="rId5" Type="http://schemas.openxmlformats.org/officeDocument/2006/relationships/image" Target="../media/image157.svg"/><Relationship Id="rId15" Type="http://schemas.openxmlformats.org/officeDocument/2006/relationships/image" Target="../media/image167.svg"/><Relationship Id="rId10" Type="http://schemas.openxmlformats.org/officeDocument/2006/relationships/image" Target="../media/image162.svg"/><Relationship Id="rId4" Type="http://schemas.openxmlformats.org/officeDocument/2006/relationships/image" Target="../media/image156.svg"/><Relationship Id="rId9" Type="http://schemas.openxmlformats.org/officeDocument/2006/relationships/image" Target="../media/image161.svg"/><Relationship Id="rId14" Type="http://schemas.openxmlformats.org/officeDocument/2006/relationships/image" Target="../media/image166.svg"/></Relationships>
</file>

<file path=ppt/slides/_rels/slide40.xml.rels><?xml version="1.0" encoding="UTF-8" standalone="yes"?>
<Relationships xmlns="http://schemas.openxmlformats.org/package/2006/relationships"><Relationship Id="rId3" Type="http://schemas.openxmlformats.org/officeDocument/2006/relationships/image" Target="../media/image168.svg"/><Relationship Id="rId7" Type="http://schemas.openxmlformats.org/officeDocument/2006/relationships/image" Target="../media/image172.sv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71.svg"/><Relationship Id="rId5" Type="http://schemas.openxmlformats.org/officeDocument/2006/relationships/image" Target="../media/image170.svg"/><Relationship Id="rId4" Type="http://schemas.openxmlformats.org/officeDocument/2006/relationships/image" Target="../media/image169.svg"/></Relationships>
</file>

<file path=ppt/slides/_rels/slide41.xml.rels><?xml version="1.0" encoding="UTF-8" standalone="yes"?>
<Relationships xmlns="http://schemas.openxmlformats.org/package/2006/relationships"><Relationship Id="rId8" Type="http://schemas.openxmlformats.org/officeDocument/2006/relationships/image" Target="../media/image178.svg"/><Relationship Id="rId3" Type="http://schemas.openxmlformats.org/officeDocument/2006/relationships/image" Target="../media/image173.svg"/><Relationship Id="rId7" Type="http://schemas.openxmlformats.org/officeDocument/2006/relationships/image" Target="../media/image177.sv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176.svg"/><Relationship Id="rId5" Type="http://schemas.openxmlformats.org/officeDocument/2006/relationships/image" Target="../media/image175.svg"/><Relationship Id="rId4" Type="http://schemas.openxmlformats.org/officeDocument/2006/relationships/image" Target="../media/image174.svg"/></Relationships>
</file>

<file path=ppt/slides/_rels/slide42.xml.rels><?xml version="1.0" encoding="UTF-8" standalone="yes"?>
<Relationships xmlns="http://schemas.openxmlformats.org/package/2006/relationships"><Relationship Id="rId8" Type="http://schemas.openxmlformats.org/officeDocument/2006/relationships/image" Target="../media/image184.svg"/><Relationship Id="rId3" Type="http://schemas.openxmlformats.org/officeDocument/2006/relationships/image" Target="../media/image179.svg"/><Relationship Id="rId7" Type="http://schemas.openxmlformats.org/officeDocument/2006/relationships/image" Target="../media/image183.sv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182.svg"/><Relationship Id="rId5" Type="http://schemas.openxmlformats.org/officeDocument/2006/relationships/image" Target="../media/image181.svg"/><Relationship Id="rId10" Type="http://schemas.openxmlformats.org/officeDocument/2006/relationships/image" Target="../media/image9.png"/><Relationship Id="rId4" Type="http://schemas.openxmlformats.org/officeDocument/2006/relationships/image" Target="../media/image180.svg"/><Relationship Id="rId9" Type="http://schemas.openxmlformats.org/officeDocument/2006/relationships/image" Target="../media/image185.svg"/></Relationships>
</file>

<file path=ppt/slides/_rels/slide43.xml.rels><?xml version="1.0" encoding="UTF-8" standalone="yes"?>
<Relationships xmlns="http://schemas.openxmlformats.org/package/2006/relationships"><Relationship Id="rId3" Type="http://schemas.openxmlformats.org/officeDocument/2006/relationships/image" Target="../media/image186.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hyperlink" Target="mailto:cra451@gmail.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F1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44" r="44"/>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F1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F1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0" y="0"/>
            <a:ext cx="9144000" cy="5143500"/>
          </a:xfrm>
          <a:prstGeom prst="rect">
            <a:avLst/>
          </a:prstGeom>
        </p:spPr>
      </p:pic>
      <p:sp>
        <p:nvSpPr>
          <p:cNvPr id="3" name="Text 0"/>
          <p:cNvSpPr/>
          <p:nvPr/>
        </p:nvSpPr>
        <p:spPr>
          <a:xfrm>
            <a:off x="0" y="0"/>
            <a:ext cx="9144000" cy="5143500"/>
          </a:xfrm>
          <a:prstGeom prst="rect">
            <a:avLst/>
          </a:prstGeom>
          <a:gradFill rotWithShape="1">
            <a:gsLst>
              <a:gs pos="0">
                <a:srgbClr val="76B900">
                  <a:alpha val="7000"/>
                </a:srgbClr>
              </a:gs>
              <a:gs pos="70000">
                <a:srgbClr val="000000">
                  <a:alpha val="0"/>
                </a:srgbClr>
              </a:gs>
            </a:gsLst>
            <a:path path="circle">
              <a:fillToRect l="50000" t="55000" r="50000" b="45000"/>
            </a:path>
          </a:gradFill>
          <a:ln/>
        </p:spPr>
        <p:txBody>
          <a:bodyPr wrap="square" rtlCol="0" anchor="t"/>
          <a:lstStyle/>
          <a:p>
            <a:pPr marL="0" indent="0">
              <a:buNone/>
            </a:pPr>
            <a:endParaRPr lang="en-US" dirty="0"/>
          </a:p>
        </p:txBody>
      </p:sp>
      <p:sp>
        <p:nvSpPr>
          <p:cNvPr id="4" name="Text 1"/>
          <p:cNvSpPr/>
          <p:nvPr/>
        </p:nvSpPr>
        <p:spPr>
          <a:xfrm>
            <a:off x="0" y="0"/>
            <a:ext cx="9144000" cy="5143500"/>
          </a:xfrm>
          <a:prstGeom prst="rect">
            <a:avLst/>
          </a:prstGeom>
          <a:gradFill rotWithShape="1">
            <a:gsLst>
              <a:gs pos="90000">
                <a:srgbClr val="FFFFFF"/>
              </a:gs>
              <a:gs pos="50000">
                <a:srgbClr val="000000">
                  <a:alpha val="0"/>
                </a:srgbClr>
              </a:gs>
              <a:gs pos="100000">
                <a:srgbClr val="05070C">
                  <a:alpha val="60000"/>
                </a:srgbClr>
              </a:gs>
            </a:gsLst>
            <a:path path="circle">
              <a:fillToRect l="50000" t="50000" r="50000" b="50000"/>
            </a:path>
          </a:gradFill>
          <a:ln/>
        </p:spPr>
        <p:txBody>
          <a:bodyPr wrap="square" rtlCol="0" anchor="t"/>
          <a:lstStyle/>
          <a:p>
            <a:pPr marL="0" indent="0">
              <a:buNone/>
            </a:pPr>
            <a:endParaRPr lang="en-US" dirty="0"/>
          </a:p>
        </p:txBody>
      </p:sp>
      <p:sp>
        <p:nvSpPr>
          <p:cNvPr id="5" name="Text 2"/>
          <p:cNvSpPr/>
          <p:nvPr/>
        </p:nvSpPr>
        <p:spPr>
          <a:xfrm>
            <a:off x="2830562" y="1538139"/>
            <a:ext cx="3831000" cy="139005"/>
          </a:xfrm>
          <a:prstGeom prst="rect">
            <a:avLst/>
          </a:prstGeom>
          <a:noFill/>
          <a:ln/>
        </p:spPr>
        <p:txBody>
          <a:bodyPr wrap="none" lIns="0" tIns="0" rIns="0" bIns="0" rtlCol="0" anchor="t"/>
          <a:lstStyle/>
          <a:p>
            <a:pPr marL="0" indent="0" algn="l">
              <a:lnSpc>
                <a:spcPts val="1095"/>
              </a:lnSpc>
              <a:buNone/>
            </a:pPr>
            <a:r>
              <a:rPr lang="en-US" sz="730" kern="0" spc="230" dirty="0">
                <a:solidFill>
                  <a:srgbClr val="76B900">
                    <a:alpha val="90000"/>
                  </a:srgbClr>
                </a:solidFill>
                <a:latin typeface="Consolas" pitchFamily="34" charset="0"/>
                <a:ea typeface="Consolas" pitchFamily="34" charset="-122"/>
                <a:cs typeface="Consolas" pitchFamily="34" charset="-120"/>
              </a:rPr>
              <a:t>BOISE CODE CAMP 2026 · TECHNICAL WORKSHOP</a:t>
            </a:r>
            <a:endParaRPr lang="en-US" sz="730" dirty="0"/>
          </a:p>
        </p:txBody>
      </p:sp>
      <p:sp>
        <p:nvSpPr>
          <p:cNvPr id="6" name="Text 3"/>
          <p:cNvSpPr/>
          <p:nvPr/>
        </p:nvSpPr>
        <p:spPr>
          <a:xfrm>
            <a:off x="2273122" y="1189854"/>
            <a:ext cx="4714750" cy="875109"/>
          </a:xfrm>
          <a:prstGeom prst="rect">
            <a:avLst/>
          </a:prstGeom>
          <a:noFill/>
          <a:ln/>
        </p:spPr>
        <p:txBody>
          <a:bodyPr wrap="square" lIns="0" tIns="0" rIns="0" bIns="0" rtlCol="0" anchor="t"/>
          <a:lstStyle/>
          <a:p>
            <a:pPr marL="0" indent="0" algn="ctr">
              <a:lnSpc>
                <a:spcPts val="3282"/>
              </a:lnSpc>
              <a:spcAft>
                <a:spcPts val="1580"/>
              </a:spcAft>
              <a:buNone/>
            </a:pPr>
            <a:r>
              <a:rPr lang="en-US" sz="2930" kern="0" spc="-30" dirty="0">
                <a:solidFill>
                  <a:srgbClr val="E2E8F0"/>
                </a:solidFill>
                <a:latin typeface="Consolas" pitchFamily="34" charset="0"/>
                <a:ea typeface="Consolas" pitchFamily="34" charset="-122"/>
                <a:cs typeface="Consolas" pitchFamily="34" charset="-120"/>
              </a:rPr>
              <a:t> </a:t>
            </a:r>
            <a:br>
              <a:rPr dirty="0"/>
            </a:br>
            <a:r>
              <a:rPr lang="en-US" sz="2930" kern="0" spc="-30" dirty="0">
                <a:solidFill>
                  <a:srgbClr val="E2E8F0"/>
                </a:solidFill>
                <a:latin typeface="Consolas" pitchFamily="34" charset="0"/>
                <a:ea typeface="Consolas" pitchFamily="34" charset="-122"/>
                <a:cs typeface="Consolas" pitchFamily="34" charset="-120"/>
              </a:rPr>
              <a:t> Want </a:t>
            </a:r>
            <a:r>
              <a:rPr lang="en-US" sz="2930" b="1" kern="0" spc="-30" dirty="0">
                <a:solidFill>
                  <a:srgbClr val="76B900"/>
                </a:solidFill>
                <a:latin typeface="Consolas" pitchFamily="34" charset="0"/>
                <a:ea typeface="Consolas" pitchFamily="34" charset="-122"/>
                <a:cs typeface="Consolas" pitchFamily="34" charset="-120"/>
              </a:rPr>
              <a:t>AI</a:t>
            </a:r>
            <a:r>
              <a:rPr lang="en-US" sz="2930" kern="0" spc="-30" dirty="0">
                <a:solidFill>
                  <a:srgbClr val="E2E8F0"/>
                </a:solidFill>
                <a:latin typeface="Consolas" pitchFamily="34" charset="0"/>
                <a:ea typeface="Consolas" pitchFamily="34" charset="-122"/>
                <a:cs typeface="Consolas" pitchFamily="34" charset="-120"/>
              </a:rPr>
              <a:t> That Actually</a:t>
            </a:r>
            <a:br>
              <a:rPr dirty="0"/>
            </a:br>
            <a:r>
              <a:rPr lang="en-US" sz="2930" b="1" kern="0" spc="-30" dirty="0">
                <a:solidFill>
                  <a:srgbClr val="76B900"/>
                </a:solidFill>
                <a:latin typeface="Consolas" pitchFamily="34" charset="0"/>
                <a:ea typeface="Consolas" pitchFamily="34" charset="-122"/>
                <a:cs typeface="Consolas" pitchFamily="34" charset="-120"/>
              </a:rPr>
              <a:t>Does Things</a:t>
            </a:r>
            <a:r>
              <a:rPr lang="en-US" sz="2930" kern="0" spc="-30" dirty="0">
                <a:solidFill>
                  <a:srgbClr val="E2E8F0"/>
                </a:solidFill>
                <a:latin typeface="Consolas" pitchFamily="34" charset="0"/>
                <a:ea typeface="Consolas" pitchFamily="34" charset="-122"/>
                <a:cs typeface="Consolas" pitchFamily="34" charset="-120"/>
              </a:rPr>
              <a:t> For You?</a:t>
            </a:r>
            <a:br>
              <a:rPr dirty="0"/>
            </a:br>
            <a:r>
              <a:rPr lang="en-US" sz="2930" kern="0" spc="-30" dirty="0">
                <a:solidFill>
                  <a:srgbClr val="E2E8F0"/>
                </a:solidFill>
                <a:latin typeface="Consolas" pitchFamily="34" charset="0"/>
                <a:ea typeface="Consolas" pitchFamily="34" charset="-122"/>
                <a:cs typeface="Consolas" pitchFamily="34" charset="-120"/>
              </a:rPr>
              <a:t>      </a:t>
            </a:r>
            <a:endParaRPr lang="en-US" sz="2930" dirty="0"/>
          </a:p>
        </p:txBody>
      </p:sp>
      <p:sp>
        <p:nvSpPr>
          <p:cNvPr id="7" name="Text 4"/>
          <p:cNvSpPr/>
          <p:nvPr/>
        </p:nvSpPr>
        <p:spPr>
          <a:xfrm>
            <a:off x="4286250" y="2882652"/>
            <a:ext cx="571500" cy="21580"/>
          </a:xfrm>
          <a:prstGeom prst="roundRect">
            <a:avLst>
              <a:gd name="adj" fmla="val 64736"/>
            </a:avLst>
          </a:prstGeom>
          <a:solidFill>
            <a:srgbClr val="76B900"/>
          </a:solidFill>
          <a:ln/>
        </p:spPr>
        <p:txBody>
          <a:bodyPr wrap="none" rtlCol="0" anchor="t"/>
          <a:lstStyle/>
          <a:p>
            <a:pPr marL="0" indent="0">
              <a:buNone/>
            </a:pPr>
            <a:endParaRPr lang="en-US" dirty="0"/>
          </a:p>
        </p:txBody>
      </p:sp>
      <p:sp>
        <p:nvSpPr>
          <p:cNvPr id="8" name="Text 5"/>
          <p:cNvSpPr/>
          <p:nvPr/>
        </p:nvSpPr>
        <p:spPr>
          <a:xfrm>
            <a:off x="2537210" y="3142366"/>
            <a:ext cx="4069580" cy="495999"/>
          </a:xfrm>
          <a:prstGeom prst="rect">
            <a:avLst/>
          </a:prstGeom>
          <a:noFill/>
          <a:ln/>
        </p:spPr>
        <p:txBody>
          <a:bodyPr wrap="square" lIns="0" tIns="0" rIns="0" bIns="0" rtlCol="0" anchor="t"/>
          <a:lstStyle/>
          <a:p>
            <a:pPr marL="0" indent="0" algn="ctr">
              <a:lnSpc>
                <a:spcPts val="1860"/>
              </a:lnSpc>
              <a:buNone/>
            </a:pPr>
            <a:r>
              <a:rPr lang="en-US" sz="1240" dirty="0">
                <a:solidFill>
                  <a:srgbClr val="8B9CB6"/>
                </a:solidFill>
                <a:latin typeface="Calibri" pitchFamily="34" charset="0"/>
                <a:ea typeface="Calibri" pitchFamily="34" charset="-122"/>
                <a:cs typeface="Calibri" pitchFamily="34" charset="-120"/>
              </a:rPr>
              <a:t>Building &amp; Running Powerful Personal </a:t>
            </a:r>
            <a:r>
              <a:rPr lang="en-US" sz="1240" b="1" dirty="0">
                <a:solidFill>
                  <a:srgbClr val="76B900"/>
                </a:solidFill>
                <a:latin typeface="Calibri" pitchFamily="34" charset="0"/>
                <a:ea typeface="Calibri" pitchFamily="34" charset="-122"/>
                <a:cs typeface="Calibri" pitchFamily="34" charset="-120"/>
              </a:rPr>
              <a:t>AI Agents</a:t>
            </a:r>
            <a:r>
              <a:rPr lang="en-US" sz="1240" dirty="0">
                <a:solidFill>
                  <a:srgbClr val="8B9CB6"/>
                </a:solidFill>
                <a:latin typeface="Calibri" pitchFamily="34" charset="0"/>
                <a:ea typeface="Calibri" pitchFamily="34" charset="-122"/>
                <a:cs typeface="Calibri" pitchFamily="34" charset="-120"/>
              </a:rPr>
              <a:t> Locally</a:t>
            </a:r>
            <a:br>
              <a:rPr dirty="0"/>
            </a:br>
            <a:r>
              <a:rPr lang="en-US" sz="1240" dirty="0">
                <a:solidFill>
                  <a:srgbClr val="8B9CB6"/>
                </a:solidFill>
                <a:latin typeface="Calibri" pitchFamily="34" charset="0"/>
                <a:ea typeface="Calibri" pitchFamily="34" charset="-122"/>
                <a:cs typeface="Calibri" pitchFamily="34" charset="-120"/>
              </a:rPr>
              <a:t> with </a:t>
            </a:r>
            <a:r>
              <a:rPr lang="en-US" sz="1240" b="1" dirty="0">
                <a:solidFill>
                  <a:srgbClr val="76B900"/>
                </a:solidFill>
                <a:latin typeface="Calibri" pitchFamily="34" charset="0"/>
                <a:ea typeface="Calibri" pitchFamily="34" charset="-122"/>
                <a:cs typeface="Calibri" pitchFamily="34" charset="-120"/>
              </a:rPr>
              <a:t>OpenClaw</a:t>
            </a:r>
            <a:r>
              <a:rPr lang="en-US" sz="1240" dirty="0">
                <a:solidFill>
                  <a:srgbClr val="8B9CB6"/>
                </a:solidFill>
                <a:latin typeface="Calibri" pitchFamily="34" charset="0"/>
                <a:ea typeface="Calibri" pitchFamily="34" charset="-122"/>
                <a:cs typeface="Calibri" pitchFamily="34" charset="-120"/>
              </a:rPr>
              <a:t> and </a:t>
            </a:r>
            <a:r>
              <a:rPr lang="en-US" sz="1240" b="1" dirty="0">
                <a:solidFill>
                  <a:srgbClr val="76B900"/>
                </a:solidFill>
                <a:latin typeface="Calibri" pitchFamily="34" charset="0"/>
                <a:ea typeface="Calibri" pitchFamily="34" charset="-122"/>
                <a:cs typeface="Calibri" pitchFamily="34" charset="-120"/>
              </a:rPr>
              <a:t>Hermes Agent</a:t>
            </a:r>
            <a:r>
              <a:rPr lang="en-US" sz="1240" dirty="0">
                <a:solidFill>
                  <a:srgbClr val="8B9CB6"/>
                </a:solidFill>
                <a:latin typeface="Calibri" pitchFamily="34" charset="0"/>
                <a:ea typeface="Calibri" pitchFamily="34" charset="-122"/>
                <a:cs typeface="Calibri" pitchFamily="34" charset="-120"/>
              </a:rPr>
              <a:t> from Nous Research</a:t>
            </a:r>
            <a:endParaRPr lang="en-US" sz="1240" dirty="0"/>
          </a:p>
        </p:txBody>
      </p:sp>
      <p:pic>
        <p:nvPicPr>
          <p:cNvPr id="9" name="Image 1" descr="preencoded.png"/>
          <p:cNvPicPr>
            <a:picLocks noChangeAspect="1"/>
          </p:cNvPicPr>
          <p:nvPr/>
        </p:nvPicPr>
        <p:blipFill>
          <a:blip r:embed="rId4"/>
          <a:stretch>
            <a:fillRect/>
          </a:stretch>
        </p:blipFill>
        <p:spPr>
          <a:xfrm>
            <a:off x="8103245" y="200620"/>
            <a:ext cx="782985" cy="514350"/>
          </a:xfrm>
          <a:prstGeom prst="rect">
            <a:avLst/>
          </a:prstGeom>
        </p:spPr>
      </p:pic>
      <p:sp>
        <p:nvSpPr>
          <p:cNvPr id="10" name="Text 6"/>
          <p:cNvSpPr/>
          <p:nvPr/>
        </p:nvSpPr>
        <p:spPr>
          <a:xfrm>
            <a:off x="0" y="4715768"/>
            <a:ext cx="9144000" cy="427732"/>
          </a:xfrm>
          <a:prstGeom prst="rect">
            <a:avLst/>
          </a:prstGeom>
          <a:gradFill rotWithShape="1">
            <a:gsLst>
              <a:gs pos="0">
                <a:srgbClr val="05070C">
                  <a:alpha val="95000"/>
                </a:srgbClr>
              </a:gs>
              <a:gs pos="100000">
                <a:srgbClr val="000000">
                  <a:alpha val="0"/>
                </a:srgbClr>
              </a:gs>
            </a:gsLst>
            <a:lin ang="16200000" scaled="1"/>
          </a:gradFill>
          <a:ln/>
        </p:spPr>
        <p:txBody>
          <a:bodyPr wrap="square" rtlCol="0" anchor="t"/>
          <a:lstStyle/>
          <a:p>
            <a:pPr marL="0" indent="0">
              <a:buNone/>
            </a:pPr>
            <a:endParaRPr lang="en-US" dirty="0"/>
          </a:p>
        </p:txBody>
      </p:sp>
      <p:sp>
        <p:nvSpPr>
          <p:cNvPr id="11" name="Text 7"/>
          <p:cNvSpPr/>
          <p:nvPr/>
        </p:nvSpPr>
        <p:spPr>
          <a:xfrm>
            <a:off x="571500" y="4843909"/>
            <a:ext cx="1370915" cy="171450"/>
          </a:xfrm>
          <a:prstGeom prst="rect">
            <a:avLst/>
          </a:prstGeom>
          <a:noFill/>
          <a:ln/>
        </p:spPr>
        <p:txBody>
          <a:bodyPr wrap="none" lIns="0" tIns="0" rIns="0" bIns="0" rtlCol="0" anchor="ctr"/>
          <a:lstStyle/>
          <a:p>
            <a:pPr marL="0" indent="0" algn="l">
              <a:lnSpc>
                <a:spcPts val="1350"/>
              </a:lnSpc>
              <a:buNone/>
            </a:pPr>
            <a:r>
              <a:rPr lang="en-US" sz="900" kern="0" spc="20" dirty="0">
                <a:solidFill>
                  <a:srgbClr val="8B9CB6"/>
                </a:solidFill>
                <a:latin typeface="Calibri" pitchFamily="34" charset="0"/>
                <a:ea typeface="Calibri" pitchFamily="34" charset="-122"/>
                <a:cs typeface="Calibri" pitchFamily="34" charset="-120"/>
              </a:rPr>
              <a:t>Presenter: </a:t>
            </a:r>
            <a:r>
              <a:rPr lang="en-US" sz="900" kern="0" spc="20" dirty="0">
                <a:solidFill>
                  <a:srgbClr val="E2E8F0"/>
                </a:solidFill>
                <a:latin typeface="Calibri" pitchFamily="34" charset="0"/>
                <a:ea typeface="Calibri" pitchFamily="34" charset="-122"/>
                <a:cs typeface="Calibri" pitchFamily="34" charset="-120"/>
              </a:rPr>
              <a:t>Chuck Anderson</a:t>
            </a:r>
            <a:endParaRPr lang="en-US" sz="900" dirty="0"/>
          </a:p>
        </p:txBody>
      </p:sp>
      <p:pic>
        <p:nvPicPr>
          <p:cNvPr id="1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148370" y="4863191"/>
            <a:ext cx="132588" cy="132588"/>
          </a:xfrm>
          <a:prstGeom prst="rect">
            <a:avLst/>
          </a:prstGeom>
        </p:spPr>
      </p:pic>
      <p:sp>
        <p:nvSpPr>
          <p:cNvPr id="13" name="Text 8"/>
          <p:cNvSpPr/>
          <p:nvPr/>
        </p:nvSpPr>
        <p:spPr>
          <a:xfrm>
            <a:off x="4314676" y="4854327"/>
            <a:ext cx="1020738" cy="150465"/>
          </a:xfrm>
          <a:prstGeom prst="rect">
            <a:avLst/>
          </a:prstGeom>
          <a:noFill/>
          <a:ln/>
        </p:spPr>
        <p:txBody>
          <a:bodyPr wrap="none" lIns="0" tIns="0" rIns="0" bIns="0" rtlCol="0" anchor="ctr"/>
          <a:lstStyle/>
          <a:p>
            <a:pPr marL="0" indent="0" algn="l">
              <a:lnSpc>
                <a:spcPts val="1185"/>
              </a:lnSpc>
              <a:buNone/>
            </a:pPr>
            <a:r>
              <a:rPr lang="en-US" sz="790" dirty="0">
                <a:solidFill>
                  <a:srgbClr val="76B900">
                    <a:alpha val="50000"/>
                  </a:srgbClr>
                </a:solidFill>
                <a:latin typeface="Calibri" pitchFamily="34" charset="0"/>
                <a:ea typeface="Calibri" pitchFamily="34" charset="-122"/>
                <a:cs typeface="Calibri" pitchFamily="34" charset="-120"/>
              </a:rPr>
              <a:t>Powered by Nvidia</a:t>
            </a:r>
            <a:endParaRPr lang="en-US" sz="790" dirty="0"/>
          </a:p>
        </p:txBody>
      </p:sp>
      <p:sp>
        <p:nvSpPr>
          <p:cNvPr id="14" name="Text 9"/>
          <p:cNvSpPr/>
          <p:nvPr/>
        </p:nvSpPr>
        <p:spPr>
          <a:xfrm>
            <a:off x="7596634" y="4843909"/>
            <a:ext cx="1073453" cy="171450"/>
          </a:xfrm>
          <a:prstGeom prst="rect">
            <a:avLst/>
          </a:prstGeom>
          <a:noFill/>
          <a:ln/>
        </p:spPr>
        <p:txBody>
          <a:bodyPr wrap="none" lIns="0" tIns="0" rIns="0" bIns="0" rtlCol="0" anchor="ctr"/>
          <a:lstStyle/>
          <a:p>
            <a:pPr marL="0" indent="0" algn="l">
              <a:lnSpc>
                <a:spcPts val="1350"/>
              </a:lnSpc>
              <a:buNone/>
            </a:pPr>
            <a:r>
              <a:rPr lang="en-US" sz="900" kern="0" spc="20" dirty="0">
                <a:solidFill>
                  <a:srgbClr val="8B9CB6"/>
                </a:solidFill>
                <a:latin typeface="Calibri" pitchFamily="34" charset="0"/>
                <a:ea typeface="Calibri" pitchFamily="34" charset="-122"/>
                <a:cs typeface="Calibri" pitchFamily="34" charset="-120"/>
              </a:rPr>
              <a:t>Date: 5/2/2026</a:t>
            </a:r>
            <a:r>
              <a:rPr lang="en-US" sz="900" kern="0" spc="20" dirty="0">
                <a:solidFill>
                  <a:srgbClr val="E2E8F0"/>
                </a:solidFill>
                <a:latin typeface="Calibri" pitchFamily="34" charset="0"/>
                <a:ea typeface="Calibri" pitchFamily="34" charset="-122"/>
                <a:cs typeface="Calibri" pitchFamily="34" charset="-120"/>
              </a:rPr>
              <a: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Legal Disclaimer">
    <p:bg>
      <p:bgPr>
        <a:solidFill>
          <a:srgbClr val="0A0F1A"/>
        </a:solidFill>
        <a:effectLst/>
      </p:bgPr>
    </p:bg>
    <p:spTree>
      <p:nvGrpSpPr>
        <p:cNvPr id="1" name=""/>
        <p:cNvGrpSpPr/>
        <p:nvPr/>
      </p:nvGrpSpPr>
      <p:grpSpPr>
        <a:xfrm>
          <a:off x="0" y="0"/>
          <a:ext cx="0" cy="0"/>
          <a:chOff x="0" y="0"/>
          <a:chExt cx="0" cy="0"/>
        </a:xfrm>
      </p:grpSpPr>
      <p:sp>
        <p:nvSpPr>
          <p:cNvPr id="2" name="IconBadge"/>
          <p:cNvSpPr/>
          <p:nvPr/>
        </p:nvSpPr>
        <p:spPr>
          <a:xfrm>
            <a:off x="429220" y="364778"/>
            <a:ext cx="342900" cy="342900"/>
          </a:xfrm>
          <a:prstGeom prst="roundRect">
            <a:avLst>
              <a:gd name="adj" fmla="val 25185"/>
            </a:avLst>
          </a:prstGeom>
          <a:solidFill>
            <a:srgbClr val="76B900">
              <a:alpha val="12000"/>
            </a:srgbClr>
          </a:solidFill>
          <a:ln/>
        </p:spPr>
        <p:txBody>
          <a:bodyPr wrap="square" rtlCol="0" anchor="ctr" anchorCtr="1"/>
          <a:lstStyle/>
          <a:p>
            <a:pPr marL="0" indent="0" algn="ctr">
              <a:buNone/>
            </a:pPr>
            <a:r>
              <a:rPr lang="en-US" sz="1400">
                <a:solidFill>
                  <a:srgbClr val="76B900"/>
                </a:solidFill>
                <a:latin typeface="Consolas" pitchFamily="34" charset="0"/>
              </a:rPr>
              <a:t>⚠</a:t>
            </a:r>
            <a:endParaRPr lang="en-US"/>
          </a:p>
        </p:txBody>
      </p:sp>
      <p:sp>
        <p:nvSpPr>
          <p:cNvPr id="3" name="Title"/>
          <p:cNvSpPr/>
          <p:nvPr/>
        </p:nvSpPr>
        <p:spPr>
          <a:xfrm>
            <a:off x="886420" y="342900"/>
            <a:ext cx="3000000" cy="386655"/>
          </a:xfrm>
          <a:prstGeom prst="rect">
            <a:avLst/>
          </a:prstGeom>
          <a:noFill/>
          <a:ln/>
        </p:spPr>
        <p:txBody>
          <a:bodyPr wrap="none" lIns="0" tIns="0" rIns="0" bIns="0" rtlCol="0" anchor="ctr"/>
          <a:lstStyle/>
          <a:p>
            <a:pPr marL="0" indent="0" algn="l">
              <a:lnSpc>
                <a:spcPts val="3045"/>
              </a:lnSpc>
              <a:buNone/>
            </a:pPr>
            <a:r>
              <a:rPr lang="en-US" sz="2030" kern="0" spc="-30">
                <a:solidFill>
                  <a:srgbClr val="E2E8F0"/>
                </a:solidFill>
                <a:latin typeface="Consolas" pitchFamily="34" charset="0"/>
                <a:ea typeface="Consolas" pitchFamily="34" charset="-122"/>
                <a:cs typeface="Consolas" pitchFamily="34" charset="-120"/>
              </a:rPr>
              <a:t>Legal Disclaimer</a:t>
            </a:r>
            <a:endParaRPr lang="en-US" sz="2030"/>
          </a:p>
        </p:txBody>
      </p:sp>
      <p:sp>
        <p:nvSpPr>
          <p:cNvPr id="4" name="CardBg"/>
          <p:cNvSpPr/>
          <p:nvPr/>
        </p:nvSpPr>
        <p:spPr>
          <a:xfrm>
            <a:off x="429220" y="900000"/>
            <a:ext cx="8285560" cy="3900000"/>
          </a:xfrm>
          <a:prstGeom prst="roundRect">
            <a:avLst>
              <a:gd name="adj" fmla="val 2800"/>
            </a:avLst>
          </a:prstGeom>
          <a:solidFill>
            <a:srgbClr val="1A2332"/>
          </a:solidFill>
          <a:ln w="9525">
            <a:solidFill>
              <a:srgbClr val="76B900">
                <a:alpha val="12000"/>
              </a:srgbClr>
            </a:solidFill>
          </a:ln>
        </p:spPr>
        <p:txBody>
          <a:bodyPr wrap="square" rtlCol="0" anchor="t"/>
          <a:lstStyle/>
          <a:p>
            <a:pPr marL="0" indent="0">
              <a:buNone/>
            </a:pPr>
            <a:endParaRPr lang="en-US"/>
          </a:p>
        </p:txBody>
      </p:sp>
      <p:sp>
        <p:nvSpPr>
          <p:cNvPr id="5" name="AccentLine"/>
          <p:cNvSpPr/>
          <p:nvPr/>
        </p:nvSpPr>
        <p:spPr>
          <a:xfrm>
            <a:off x="438745" y="909525"/>
            <a:ext cx="8266510" cy="21580"/>
          </a:xfrm>
          <a:prstGeom prst="rect">
            <a:avLst/>
          </a:pr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a:p>
        </p:txBody>
      </p:sp>
      <p:sp>
        <p:nvSpPr>
          <p:cNvPr id="10" name="Sect1Title"/>
          <p:cNvSpPr/>
          <p:nvPr/>
        </p:nvSpPr>
        <p:spPr>
          <a:xfrm>
            <a:off x="700000" y="1050000"/>
            <a:ext cx="3800000" cy="240000"/>
          </a:xfrm>
          <a:prstGeom prst="rect">
            <a:avLst/>
          </a:prstGeom>
          <a:noFill/>
          <a:ln/>
        </p:spPr>
        <p:txBody>
          <a:bodyPr wrap="square" lIns="0" tIns="0" rIns="0" bIns="0" rtlCol="0" anchor="t"/>
          <a:lstStyle/>
          <a:p>
            <a:pPr marL="0" indent="0" algn="l">
              <a:lnSpc>
                <a:spcPts val="1860"/>
              </a:lnSpc>
              <a:buNone/>
            </a:pPr>
            <a:r>
              <a:rPr lang="en-US" sz="1240" b="1" kern="0" spc="25">
                <a:solidFill>
                  <a:srgbClr val="76B900"/>
                </a:solidFill>
                <a:latin typeface="Consolas" pitchFamily="34" charset="0"/>
                <a:ea typeface="Consolas" pitchFamily="34" charset="-122"/>
                <a:cs typeface="Consolas" pitchFamily="34" charset="-120"/>
              </a:rPr>
              <a:t>No Warranty or Guarantee</a:t>
            </a:r>
            <a:endParaRPr lang="en-US" sz="1240"/>
          </a:p>
        </p:txBody>
      </p:sp>
      <p:sp>
        <p:nvSpPr>
          <p:cNvPr id="11" name="Sect1Body"/>
          <p:cNvSpPr/>
          <p:nvPr/>
        </p:nvSpPr>
        <p:spPr>
          <a:xfrm>
            <a:off x="700000" y="1320000"/>
            <a:ext cx="7800000" cy="550000"/>
          </a:xfrm>
          <a:prstGeom prst="rect">
            <a:avLst/>
          </a:prstGeom>
          <a:noFill/>
          <a:ln/>
        </p:spPr>
        <p:txBody>
          <a:bodyPr wrap="square" lIns="0" tIns="0" rIns="0" bIns="0" rtlCol="0" anchor="t"/>
          <a:lstStyle/>
          <a:p>
            <a:pPr marL="0" indent="0" algn="l">
              <a:lnSpc>
                <a:spcPts val="1400"/>
              </a:lnSpc>
              <a:buNone/>
            </a:pPr>
            <a:r>
              <a:rPr lang="en-US" sz="900">
                <a:solidFill>
                  <a:srgbClr val="8B9CB6"/>
                </a:solidFill>
                <a:latin typeface="Calibri" pitchFamily="34" charset="0"/>
                <a:ea typeface="Calibri" pitchFamily="34" charset="-122"/>
                <a:cs typeface="Calibri" pitchFamily="34" charset="-120"/>
              </a:rPr>
              <a:t>This presentation is provided “as is” without warranty of any kind, express or implied, including but not limited to the warranties of merchantability, fitness for a particular purpose, and non-infringement. The author makes no guarantee that the information contained herein is accurate, complete, or current. Use of any information in this presentation is at your own risk.</a:t>
            </a:r>
            <a:endParaRPr lang="en-US" sz="900"/>
          </a:p>
        </p:txBody>
      </p:sp>
      <p:sp>
        <p:nvSpPr>
          <p:cNvPr id="12" name="Div1"/>
          <p:cNvSpPr/>
          <p:nvPr/>
        </p:nvSpPr>
        <p:spPr>
          <a:xfrm>
            <a:off x="700000" y="1920000"/>
            <a:ext cx="7800000" cy="9525"/>
          </a:xfrm>
          <a:prstGeom prst="rect">
            <a:avLst/>
          </a:prstGeom>
          <a:solidFill>
            <a:srgbClr val="76B900">
              <a:alpha val="15000"/>
            </a:srgbClr>
          </a:solidFill>
          <a:ln/>
        </p:spPr>
        <p:txBody>
          <a:bodyPr wrap="none" rtlCol="0" anchor="t"/>
          <a:lstStyle/>
          <a:p>
            <a:pPr marL="0" indent="0">
              <a:buNone/>
            </a:pPr>
            <a:endParaRPr lang="en-US"/>
          </a:p>
        </p:txBody>
      </p:sp>
      <p:sp>
        <p:nvSpPr>
          <p:cNvPr id="20" name="Sect2Title"/>
          <p:cNvSpPr/>
          <p:nvPr/>
        </p:nvSpPr>
        <p:spPr>
          <a:xfrm>
            <a:off x="700000" y="1990000"/>
            <a:ext cx="3800000" cy="240000"/>
          </a:xfrm>
          <a:prstGeom prst="rect">
            <a:avLst/>
          </a:prstGeom>
          <a:noFill/>
          <a:ln/>
        </p:spPr>
        <p:txBody>
          <a:bodyPr wrap="square" lIns="0" tIns="0" rIns="0" bIns="0" rtlCol="0" anchor="t"/>
          <a:lstStyle/>
          <a:p>
            <a:pPr marL="0" indent="0" algn="l">
              <a:lnSpc>
                <a:spcPts val="1860"/>
              </a:lnSpc>
              <a:buNone/>
            </a:pPr>
            <a:r>
              <a:rPr lang="en-US" sz="1240" b="1" kern="0" spc="25">
                <a:solidFill>
                  <a:srgbClr val="76B900"/>
                </a:solidFill>
                <a:latin typeface="Consolas" pitchFamily="34" charset="0"/>
                <a:ea typeface="Consolas" pitchFamily="34" charset="-122"/>
                <a:cs typeface="Consolas" pitchFamily="34" charset="-120"/>
              </a:rPr>
              <a:t>Limitation of Liability</a:t>
            </a:r>
            <a:endParaRPr lang="en-US" sz="1240"/>
          </a:p>
        </p:txBody>
      </p:sp>
      <p:sp>
        <p:nvSpPr>
          <p:cNvPr id="21" name="Sect2Body"/>
          <p:cNvSpPr/>
          <p:nvPr/>
        </p:nvSpPr>
        <p:spPr>
          <a:xfrm>
            <a:off x="700000" y="2260000"/>
            <a:ext cx="7800000" cy="550000"/>
          </a:xfrm>
          <a:prstGeom prst="rect">
            <a:avLst/>
          </a:prstGeom>
          <a:noFill/>
          <a:ln/>
        </p:spPr>
        <p:txBody>
          <a:bodyPr wrap="square" lIns="0" tIns="0" rIns="0" bIns="0" rtlCol="0" anchor="t"/>
          <a:lstStyle/>
          <a:p>
            <a:pPr marL="0" indent="0" algn="l">
              <a:lnSpc>
                <a:spcPts val="1400"/>
              </a:lnSpc>
              <a:buNone/>
            </a:pPr>
            <a:r>
              <a:rPr lang="en-US" sz="900">
                <a:solidFill>
                  <a:srgbClr val="8B9CB6"/>
                </a:solidFill>
                <a:latin typeface="Calibri" pitchFamily="34" charset="0"/>
                <a:ea typeface="Calibri" pitchFamily="34" charset="-122"/>
                <a:cs typeface="Calibri" pitchFamily="34" charset="-120"/>
              </a:rPr>
              <a:t>In no event shall the author or presenter be held liable for any direct, indirect, incidental, special, or consequential damages arising out of or in connection with the use of this presentation or any information contained within it. This includes, without limitation, damages for loss of profits, data, or other intangible losses.</a:t>
            </a:r>
            <a:endParaRPr lang="en-US" sz="900"/>
          </a:p>
        </p:txBody>
      </p:sp>
      <p:sp>
        <p:nvSpPr>
          <p:cNvPr id="50" name="Div2New"/>
          <p:cNvSpPr/>
          <p:nvPr/>
        </p:nvSpPr>
        <p:spPr>
          <a:xfrm>
            <a:off x="700000" y="2860000"/>
            <a:ext cx="7800000" cy="9525"/>
          </a:xfrm>
          <a:prstGeom prst="rect">
            <a:avLst/>
          </a:prstGeom>
          <a:solidFill>
            <a:srgbClr val="76B900">
              <a:alpha val="15000"/>
            </a:srgbClr>
          </a:solidFill>
          <a:ln/>
        </p:spPr>
        <p:txBody>
          <a:bodyPr wrap="none" rtlCol="0" anchor="t"/>
          <a:lstStyle/>
          <a:p>
            <a:pPr marL="0" indent="0">
              <a:buNone/>
            </a:pPr>
            <a:endParaRPr lang="en-US"/>
          </a:p>
        </p:txBody>
      </p:sp>
      <p:sp>
        <p:nvSpPr>
          <p:cNvPr id="51" name="CCTitle"/>
          <p:cNvSpPr/>
          <p:nvPr/>
        </p:nvSpPr>
        <p:spPr>
          <a:xfrm>
            <a:off x="700000" y="2930000"/>
            <a:ext cx="7800000" cy="240000"/>
          </a:xfrm>
          <a:prstGeom prst="rect">
            <a:avLst/>
          </a:prstGeom>
          <a:noFill/>
          <a:ln/>
        </p:spPr>
        <p:txBody>
          <a:bodyPr wrap="square" lIns="0" tIns="0" rIns="0" bIns="0" rtlCol="0" anchor="t"/>
          <a:lstStyle/>
          <a:p>
            <a:pPr marL="0" indent="0" algn="l">
              <a:lnSpc>
                <a:spcPts val="1860"/>
              </a:lnSpc>
              <a:buNone/>
            </a:pPr>
            <a:r>
              <a:rPr lang="en-US" sz="1240" b="1" kern="0" spc="25">
                <a:solidFill>
                  <a:srgbClr val="76B900"/>
                </a:solidFill>
                <a:latin typeface="Consolas" pitchFamily="34" charset="0"/>
                <a:ea typeface="Consolas" pitchFamily="34" charset="-122"/>
                <a:cs typeface="Consolas" pitchFamily="34" charset="-120"/>
              </a:rPr>
              <a:t>License — CC BY-NC-ND 4.0</a:t>
            </a:r>
            <a:endParaRPr lang="en-US"/>
          </a:p>
        </p:txBody>
      </p:sp>
      <p:sp>
        <p:nvSpPr>
          <p:cNvPr id="52" name="CCBody1"/>
          <p:cNvSpPr/>
          <p:nvPr/>
        </p:nvSpPr>
        <p:spPr>
          <a:xfrm>
            <a:off x="700000" y="3200000"/>
            <a:ext cx="7800000" cy="400000"/>
          </a:xfrm>
          <a:prstGeom prst="rect">
            <a:avLst/>
          </a:prstGeom>
          <a:noFill/>
          <a:ln/>
        </p:spPr>
        <p:txBody>
          <a:bodyPr wrap="square" lIns="0" tIns="0" rIns="0" bIns="0" rtlCol="0" anchor="t"/>
          <a:lstStyle/>
          <a:p>
            <a:pPr marL="0" indent="0" algn="l">
              <a:lnSpc>
                <a:spcPts val="1400"/>
              </a:lnSpc>
              <a:buNone/>
            </a:pPr>
            <a:r>
              <a:rPr lang="en-US" sz="900">
                <a:solidFill>
                  <a:srgbClr val="8B9CB6"/>
                </a:solidFill>
                <a:latin typeface="Calibri" pitchFamily="34" charset="0"/>
                <a:ea typeface="Calibri" pitchFamily="34" charset="-122"/>
                <a:cs typeface="Calibri" pitchFamily="34" charset="-120"/>
              </a:rPr>
              <a:t>This work is licensed under the Creative Commons Attribution-NonCommercial-NoDerivatives 4.0 International License (CC BY-NC-ND 4.0). You are free to share — copy and redistribute this material in any medium or format — under the following terms:</a:t>
            </a:r>
            <a:endParaRPr lang="en-US"/>
          </a:p>
        </p:txBody>
      </p:sp>
      <p:sp>
        <p:nvSpPr>
          <p:cNvPr id="53" name="CCTerms"/>
          <p:cNvSpPr/>
          <p:nvPr/>
        </p:nvSpPr>
        <p:spPr>
          <a:xfrm>
            <a:off x="700000" y="3620000"/>
            <a:ext cx="7800000" cy="700000"/>
          </a:xfrm>
          <a:prstGeom prst="rect">
            <a:avLst/>
          </a:prstGeom>
          <a:noFill/>
          <a:ln/>
        </p:spPr>
        <p:txBody>
          <a:bodyPr wrap="none" rtlCol="0" anchor="t"/>
          <a:lstStyle/>
          <a:p>
            <a:pPr marL="0" indent="0" algn="l">
              <a:lnSpc>
                <a:spcPts val="1500"/>
              </a:lnSpc>
              <a:spcAft>
                <a:spcPts val="400"/>
              </a:spcAft>
              <a:buNone/>
            </a:pPr>
            <a:r>
              <a:rPr lang="en-US" sz="900" b="1">
                <a:solidFill>
                  <a:srgbClr val="76B900"/>
                </a:solidFill>
                <a:latin typeface="Calibri" pitchFamily="34" charset="0"/>
                <a:ea typeface="Calibri" pitchFamily="34" charset="-122"/>
                <a:cs typeface="Calibri" pitchFamily="34" charset="-120"/>
              </a:rPr>
              <a:t>•  Attribution — </a:t>
            </a:r>
            <a:r>
              <a:rPr lang="en-US" sz="900">
                <a:solidFill>
                  <a:srgbClr val="8B9CB6"/>
                </a:solidFill>
                <a:latin typeface="Calibri" pitchFamily="34" charset="0"/>
                <a:ea typeface="Calibri" pitchFamily="34" charset="-122"/>
                <a:cs typeface="Calibri" pitchFamily="34" charset="-120"/>
              </a:rPr>
              <a:t>You must give appropriate credit and indicate if changes were made.</a:t>
            </a:r>
          </a:p>
          <a:p>
            <a:pPr marL="0" indent="0" algn="l">
              <a:lnSpc>
                <a:spcPts val="1500"/>
              </a:lnSpc>
              <a:spcAft>
                <a:spcPts val="400"/>
              </a:spcAft>
              <a:buNone/>
            </a:pPr>
            <a:r>
              <a:rPr lang="en-US" sz="900" b="1">
                <a:solidFill>
                  <a:srgbClr val="76B900"/>
                </a:solidFill>
                <a:latin typeface="Calibri" pitchFamily="34" charset="0"/>
                <a:ea typeface="Calibri" pitchFamily="34" charset="-122"/>
                <a:cs typeface="Calibri" pitchFamily="34" charset="-120"/>
              </a:rPr>
              <a:t>•  NonCommercial — </a:t>
            </a:r>
            <a:r>
              <a:rPr lang="en-US" sz="900">
                <a:solidFill>
                  <a:srgbClr val="8B9CB6"/>
                </a:solidFill>
                <a:latin typeface="Calibri" pitchFamily="34" charset="0"/>
                <a:ea typeface="Calibri" pitchFamily="34" charset="-122"/>
                <a:cs typeface="Calibri" pitchFamily="34" charset="-120"/>
              </a:rPr>
              <a:t>You may not use this material for commercial purposes. Republishing or reselling for profit is prohibited.</a:t>
            </a:r>
          </a:p>
          <a:p>
            <a:pPr marL="0" indent="0" algn="l">
              <a:lnSpc>
                <a:spcPts val="1500"/>
              </a:lnSpc>
              <a:spcAft>
                <a:spcPts val="400"/>
              </a:spcAft>
              <a:buNone/>
            </a:pPr>
            <a:r>
              <a:rPr lang="en-US" sz="900" b="1">
                <a:solidFill>
                  <a:srgbClr val="76B900"/>
                </a:solidFill>
                <a:latin typeface="Calibri" pitchFamily="34" charset="0"/>
                <a:ea typeface="Calibri" pitchFamily="34" charset="-122"/>
                <a:cs typeface="Calibri" pitchFamily="34" charset="-120"/>
              </a:rPr>
              <a:t>•  NoDerivatives — </a:t>
            </a:r>
            <a:r>
              <a:rPr lang="en-US" sz="900">
                <a:solidFill>
                  <a:srgbClr val="8B9CB6"/>
                </a:solidFill>
                <a:latin typeface="Calibri" pitchFamily="34" charset="0"/>
                <a:ea typeface="Calibri" pitchFamily="34" charset="-122"/>
                <a:cs typeface="Calibri" pitchFamily="34" charset="-120"/>
              </a:rPr>
              <a:t>You may not remix, transform, or build upon this material and distribute the modified version.</a:t>
            </a:r>
          </a:p>
        </p:txBody>
      </p:sp>
      <p:sp>
        <p:nvSpPr>
          <p:cNvPr id="54" name="CCLink"/>
          <p:cNvSpPr/>
          <p:nvPr/>
        </p:nvSpPr>
        <p:spPr>
          <a:xfrm>
            <a:off x="700000" y="4400000"/>
            <a:ext cx="7800000" cy="200000"/>
          </a:xfrm>
          <a:prstGeom prst="rect">
            <a:avLst/>
          </a:prstGeom>
          <a:noFill/>
          <a:ln/>
        </p:spPr>
        <p:txBody>
          <a:bodyPr wrap="square" lIns="0" tIns="0" rIns="0" bIns="0" rtlCol="0" anchor="t"/>
          <a:lstStyle/>
          <a:p>
            <a:pPr marL="0" indent="0" algn="l">
              <a:lnSpc>
                <a:spcPts val="1100"/>
              </a:lnSpc>
              <a:buNone/>
            </a:pPr>
            <a:r>
              <a:rPr lang="en-US" sz="750">
                <a:solidFill>
                  <a:srgbClr val="76B900"/>
                </a:solidFill>
                <a:latin typeface="Consolas" pitchFamily="34" charset="0"/>
                <a:ea typeface="Consolas" pitchFamily="34" charset="-122"/>
                <a:cs typeface="Consolas" pitchFamily="34" charset="-120"/>
              </a:rPr>
              <a:t>Full license text: creativecommons.org/licenses/by-nc-nd/4.0/</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7429500" y="0"/>
            <a:ext cx="1714500" cy="1572220"/>
          </a:xfrm>
          <a:prstGeom prst="ellipse">
            <a:avLst/>
          </a:prstGeom>
          <a:gradFill rotWithShape="1">
            <a:gsLst>
              <a:gs pos="0">
                <a:srgbClr val="76B900">
                  <a:alpha val="6000"/>
                </a:srgbClr>
              </a:gs>
              <a:gs pos="7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3" name="Text 1"/>
          <p:cNvSpPr/>
          <p:nvPr/>
        </p:nvSpPr>
        <p:spPr>
          <a:xfrm>
            <a:off x="0" y="3714750"/>
            <a:ext cx="1572220" cy="1428750"/>
          </a:xfrm>
          <a:prstGeom prst="ellipse">
            <a:avLst/>
          </a:prstGeom>
          <a:gradFill rotWithShape="1">
            <a:gsLst>
              <a:gs pos="0">
                <a:srgbClr val="76B900">
                  <a:alpha val="6000"/>
                </a:srgbClr>
              </a:gs>
              <a:gs pos="7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4" name="Text 2"/>
          <p:cNvSpPr/>
          <p:nvPr/>
        </p:nvSpPr>
        <p:spPr>
          <a:xfrm>
            <a:off x="571500" y="400050"/>
            <a:ext cx="571500" cy="29170"/>
          </a:xfrm>
          <a:prstGeom prst="roundRect">
            <a:avLst>
              <a:gd name="adj" fmla="val 47892"/>
            </a:avLst>
          </a:prstGeom>
          <a:solidFill>
            <a:srgbClr val="76B900"/>
          </a:solidFill>
          <a:ln/>
        </p:spPr>
        <p:txBody>
          <a:bodyPr wrap="none" rtlCol="0" anchor="t"/>
          <a:lstStyle/>
          <a:p>
            <a:pPr marL="0" indent="0">
              <a:buNone/>
            </a:pPr>
            <a:endParaRPr lang="en-US" dirty="0"/>
          </a:p>
        </p:txBody>
      </p:sp>
      <p:sp>
        <p:nvSpPr>
          <p:cNvPr id="5" name="Text 3"/>
          <p:cNvSpPr/>
          <p:nvPr/>
        </p:nvSpPr>
        <p:spPr>
          <a:xfrm>
            <a:off x="571500" y="472380"/>
            <a:ext cx="8561070" cy="428625"/>
          </a:xfrm>
          <a:prstGeom prst="rect">
            <a:avLst/>
          </a:prstGeom>
          <a:noFill/>
          <a:ln/>
        </p:spPr>
        <p:txBody>
          <a:bodyPr wrap="none" lIns="0" tIns="0" rIns="0" bIns="0" rtlCol="0" anchor="t"/>
          <a:lstStyle/>
          <a:p>
            <a:pPr marL="0" indent="0" algn="l">
              <a:lnSpc>
                <a:spcPts val="3375"/>
              </a:lnSpc>
              <a:buNone/>
            </a:pPr>
            <a:r>
              <a:rPr lang="en-US" sz="2250" b="1" kern="0" spc="-30" dirty="0">
                <a:solidFill>
                  <a:srgbClr val="E2E8F0"/>
                </a:solidFill>
                <a:latin typeface="Consolas" pitchFamily="34" charset="0"/>
                <a:ea typeface="Consolas" pitchFamily="34" charset="-122"/>
                <a:cs typeface="Consolas" pitchFamily="34" charset="-120"/>
              </a:rPr>
              <a:t>About Today's Session</a:t>
            </a:r>
            <a:endParaRPr lang="en-US" sz="2250" dirty="0"/>
          </a:p>
        </p:txBody>
      </p:sp>
      <p:sp>
        <p:nvSpPr>
          <p:cNvPr id="6" name="Text 4"/>
          <p:cNvSpPr/>
          <p:nvPr/>
        </p:nvSpPr>
        <p:spPr>
          <a:xfrm>
            <a:off x="342900" y="958155"/>
            <a:ext cx="8801100" cy="192435"/>
          </a:xfrm>
          <a:prstGeom prst="rect">
            <a:avLst/>
          </a:prstGeom>
          <a:noFill/>
          <a:ln/>
        </p:spPr>
        <p:txBody>
          <a:bodyPr wrap="none" lIns="0" tIns="0" rIns="0" bIns="0" rtlCol="0" anchor="t"/>
          <a:lstStyle/>
          <a:p>
            <a:pPr marL="0" indent="0" algn="l">
              <a:lnSpc>
                <a:spcPts val="1515"/>
              </a:lnSpc>
              <a:spcBef>
                <a:spcPts val="450"/>
              </a:spcBef>
              <a:buNone/>
            </a:pPr>
            <a:r>
              <a:rPr lang="en-US" sz="1010" dirty="0">
                <a:solidFill>
                  <a:srgbClr val="8B9CB6"/>
                </a:solidFill>
                <a:latin typeface="Calibri" pitchFamily="34" charset="0"/>
                <a:ea typeface="Calibri" pitchFamily="34" charset="-122"/>
                <a:cs typeface="Calibri" pitchFamily="34" charset="-120"/>
              </a:rPr>
              <a:t>What to expect from the next 120 minutes</a:t>
            </a:r>
            <a:endParaRPr lang="en-US" sz="1010" dirty="0"/>
          </a:p>
        </p:txBody>
      </p:sp>
      <p:sp>
        <p:nvSpPr>
          <p:cNvPr id="7" name="Text 5"/>
          <p:cNvSpPr/>
          <p:nvPr/>
        </p:nvSpPr>
        <p:spPr>
          <a:xfrm>
            <a:off x="571500" y="1493490"/>
            <a:ext cx="8001000" cy="949970"/>
          </a:xfrm>
          <a:prstGeom prst="roundRect">
            <a:avLst>
              <a:gd name="adj" fmla="val 9091"/>
            </a:avLst>
          </a:prstGeom>
          <a:solidFill>
            <a:srgbClr val="1A2332"/>
          </a:solidFill>
          <a:ln/>
        </p:spPr>
        <p:txBody>
          <a:bodyPr wrap="square" rtlCol="0" anchor="t"/>
          <a:lstStyle/>
          <a:p>
            <a:pPr marL="0" indent="0">
              <a:buNone/>
            </a:pPr>
            <a:endParaRPr lang="en-US" dirty="0"/>
          </a:p>
        </p:txBody>
      </p:sp>
      <p:sp>
        <p:nvSpPr>
          <p:cNvPr id="8" name="Text 6"/>
          <p:cNvSpPr/>
          <p:nvPr/>
        </p:nvSpPr>
        <p:spPr>
          <a:xfrm>
            <a:off x="571500" y="1493490"/>
            <a:ext cx="28575" cy="949970"/>
          </a:xfrm>
          <a:custGeom>
            <a:avLst/>
            <a:gdLst/>
            <a:ahLst/>
            <a:cxnLst/>
            <a:rect l="l" t="t" r="r" b="b"/>
            <a:pathLst>
              <a:path w="28575" h="949970">
                <a:moveTo>
                  <a:pt x="0" y="86360"/>
                </a:moveTo>
                <a:lnTo>
                  <a:pt x="3572" y="61780"/>
                </a:lnTo>
                <a:lnTo>
                  <a:pt x="7144" y="51968"/>
                </a:lnTo>
                <a:lnTo>
                  <a:pt x="10716" y="44695"/>
                </a:lnTo>
                <a:lnTo>
                  <a:pt x="14288" y="38783"/>
                </a:lnTo>
                <a:lnTo>
                  <a:pt x="17859" y="33770"/>
                </a:lnTo>
                <a:lnTo>
                  <a:pt x="21431" y="29419"/>
                </a:lnTo>
                <a:lnTo>
                  <a:pt x="25003" y="25587"/>
                </a:lnTo>
                <a:lnTo>
                  <a:pt x="28575" y="22181"/>
                </a:lnTo>
                <a:lnTo>
                  <a:pt x="28575" y="927789"/>
                </a:lnTo>
                <a:lnTo>
                  <a:pt x="25003" y="924383"/>
                </a:lnTo>
                <a:lnTo>
                  <a:pt x="21431" y="920551"/>
                </a:lnTo>
                <a:lnTo>
                  <a:pt x="17859" y="916200"/>
                </a:lnTo>
                <a:lnTo>
                  <a:pt x="14288" y="911187"/>
                </a:lnTo>
                <a:lnTo>
                  <a:pt x="10716" y="905275"/>
                </a:lnTo>
                <a:lnTo>
                  <a:pt x="7144" y="898002"/>
                </a:lnTo>
                <a:lnTo>
                  <a:pt x="3572" y="888190"/>
                </a:lnTo>
                <a:lnTo>
                  <a:pt x="0" y="863610"/>
                </a:lnTo>
                <a:close/>
              </a:path>
            </a:pathLst>
          </a:custGeom>
          <a:solidFill>
            <a:srgbClr val="76B900"/>
          </a:solidFill>
          <a:ln/>
        </p:spPr>
        <p:txBody>
          <a:bodyPr wrap="square" rtlCol="0" anchor="t"/>
          <a:lstStyle/>
          <a:p>
            <a:pPr marL="0" indent="0">
              <a:buNone/>
            </a:pPr>
            <a:endParaRPr lang="en-US" dirty="0"/>
          </a:p>
        </p:txBody>
      </p:sp>
      <p:sp>
        <p:nvSpPr>
          <p:cNvPr id="9" name="Text 7"/>
          <p:cNvSpPr/>
          <p:nvPr/>
        </p:nvSpPr>
        <p:spPr>
          <a:xfrm>
            <a:off x="857845" y="1722090"/>
            <a:ext cx="457200" cy="457200"/>
          </a:xfrm>
          <a:prstGeom prst="ellipse">
            <a:avLst/>
          </a:prstGeom>
          <a:solidFill>
            <a:srgbClr val="76B900">
              <a:alpha val="12000"/>
            </a:srgbClr>
          </a:solidFill>
          <a:ln w="9525">
            <a:solidFill>
              <a:srgbClr val="76B900">
                <a:alpha val="30000"/>
              </a:srgbClr>
            </a:solidFill>
          </a:ln>
        </p:spPr>
        <p:txBody>
          <a:bodyPr wrap="square" rtlCol="0" anchor="t"/>
          <a:lstStyle/>
          <a:p>
            <a:pPr marL="0" indent="0">
              <a:buNone/>
            </a:pPr>
            <a:endParaRPr lang="en-US" dirty="0"/>
          </a:p>
        </p:txBody>
      </p:sp>
      <p:pic>
        <p:nvPicPr>
          <p:cNvPr id="10"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00720" y="1864965"/>
            <a:ext cx="171450" cy="171450"/>
          </a:xfrm>
          <a:prstGeom prst="rect">
            <a:avLst/>
          </a:prstGeom>
        </p:spPr>
      </p:pic>
      <p:sp>
        <p:nvSpPr>
          <p:cNvPr id="11" name="Text 8"/>
          <p:cNvSpPr/>
          <p:nvPr/>
        </p:nvSpPr>
        <p:spPr>
          <a:xfrm>
            <a:off x="1515666" y="1722090"/>
            <a:ext cx="3592473" cy="257175"/>
          </a:xfrm>
          <a:prstGeom prst="rect">
            <a:avLst/>
          </a:prstGeom>
          <a:noFill/>
          <a:ln/>
        </p:spPr>
        <p:txBody>
          <a:bodyPr wrap="none" lIns="0" tIns="0" rIns="0" bIns="0" rtlCol="0" anchor="t"/>
          <a:lstStyle/>
          <a:p>
            <a:pPr marL="0" indent="0" algn="l">
              <a:lnSpc>
                <a:spcPts val="2025"/>
              </a:lnSpc>
              <a:spcAft>
                <a:spcPts val="340"/>
              </a:spcAft>
              <a:buNone/>
            </a:pPr>
            <a:r>
              <a:rPr lang="en-US" sz="1350" b="1" dirty="0">
                <a:solidFill>
                  <a:srgbClr val="E2E8F0"/>
                </a:solidFill>
                <a:latin typeface="Consolas" pitchFamily="34" charset="0"/>
                <a:ea typeface="Consolas" pitchFamily="34" charset="-122"/>
                <a:cs typeface="Consolas" pitchFamily="34" charset="-120"/>
              </a:rPr>
              <a:t>Hands-on focus</a:t>
            </a:r>
            <a:endParaRPr lang="en-US" sz="1350" dirty="0"/>
          </a:p>
        </p:txBody>
      </p:sp>
      <p:sp>
        <p:nvSpPr>
          <p:cNvPr id="12" name="Text 9"/>
          <p:cNvSpPr/>
          <p:nvPr/>
        </p:nvSpPr>
        <p:spPr>
          <a:xfrm>
            <a:off x="1515666" y="2022425"/>
            <a:ext cx="3592473" cy="192435"/>
          </a:xfrm>
          <a:prstGeom prst="rect">
            <a:avLst/>
          </a:prstGeom>
          <a:noFill/>
          <a:ln/>
        </p:spPr>
        <p:txBody>
          <a:bodyPr wrap="none" lIns="0" tIns="0" rIns="0" bIns="0" rtlCol="0" anchor="t"/>
          <a:lstStyle/>
          <a:p>
            <a:pPr marL="0" indent="0" algn="l">
              <a:lnSpc>
                <a:spcPts val="1515"/>
              </a:lnSpc>
              <a:buNone/>
            </a:pPr>
            <a:r>
              <a:rPr lang="en-US" sz="1010" dirty="0">
                <a:solidFill>
                  <a:srgbClr val="8B9CB6"/>
                </a:solidFill>
                <a:latin typeface="Calibri" pitchFamily="34" charset="0"/>
                <a:ea typeface="Calibri" pitchFamily="34" charset="-122"/>
                <a:cs typeface="Calibri" pitchFamily="34" charset="-120"/>
              </a:rPr>
              <a:t>Theory </a:t>
            </a:r>
            <a:r>
              <a:rPr lang="en-US" sz="1010" b="1" dirty="0">
                <a:solidFill>
                  <a:srgbClr val="76B900"/>
                </a:solidFill>
                <a:latin typeface="Calibri" pitchFamily="34" charset="0"/>
                <a:ea typeface="Calibri" pitchFamily="34" charset="-122"/>
                <a:cs typeface="Calibri" pitchFamily="34" charset="-120"/>
              </a:rPr>
              <a:t>+</a:t>
            </a:r>
            <a:r>
              <a:rPr lang="en-US" sz="1010" dirty="0">
                <a:solidFill>
                  <a:srgbClr val="8B9CB6"/>
                </a:solidFill>
                <a:latin typeface="Calibri" pitchFamily="34" charset="0"/>
                <a:ea typeface="Calibri" pitchFamily="34" charset="-122"/>
                <a:cs typeface="Calibri" pitchFamily="34" charset="-120"/>
              </a:rPr>
              <a:t> Real demo on actual hardware — not just slides</a:t>
            </a:r>
            <a:endParaRPr lang="en-US" sz="1010" dirty="0"/>
          </a:p>
        </p:txBody>
      </p:sp>
      <p:sp>
        <p:nvSpPr>
          <p:cNvPr id="13" name="Text 10"/>
          <p:cNvSpPr/>
          <p:nvPr/>
        </p:nvSpPr>
        <p:spPr>
          <a:xfrm>
            <a:off x="571500" y="2614910"/>
            <a:ext cx="8001000" cy="949970"/>
          </a:xfrm>
          <a:prstGeom prst="roundRect">
            <a:avLst>
              <a:gd name="adj" fmla="val 9091"/>
            </a:avLst>
          </a:prstGeom>
          <a:solidFill>
            <a:srgbClr val="1A2332"/>
          </a:solidFill>
          <a:ln/>
        </p:spPr>
        <p:txBody>
          <a:bodyPr wrap="square" rtlCol="0" anchor="t"/>
          <a:lstStyle/>
          <a:p>
            <a:pPr marL="0" indent="0">
              <a:buNone/>
            </a:pPr>
            <a:endParaRPr lang="en-US" dirty="0"/>
          </a:p>
        </p:txBody>
      </p:sp>
      <p:sp>
        <p:nvSpPr>
          <p:cNvPr id="14" name="Text 11"/>
          <p:cNvSpPr/>
          <p:nvPr/>
        </p:nvSpPr>
        <p:spPr>
          <a:xfrm>
            <a:off x="571500" y="2614910"/>
            <a:ext cx="28575" cy="949970"/>
          </a:xfrm>
          <a:custGeom>
            <a:avLst/>
            <a:gdLst/>
            <a:ahLst/>
            <a:cxnLst/>
            <a:rect l="l" t="t" r="r" b="b"/>
            <a:pathLst>
              <a:path w="28575" h="949970">
                <a:moveTo>
                  <a:pt x="0" y="86360"/>
                </a:moveTo>
                <a:lnTo>
                  <a:pt x="3572" y="61780"/>
                </a:lnTo>
                <a:lnTo>
                  <a:pt x="7144" y="51968"/>
                </a:lnTo>
                <a:lnTo>
                  <a:pt x="10716" y="44695"/>
                </a:lnTo>
                <a:lnTo>
                  <a:pt x="14288" y="38783"/>
                </a:lnTo>
                <a:lnTo>
                  <a:pt x="17859" y="33770"/>
                </a:lnTo>
                <a:lnTo>
                  <a:pt x="21431" y="29419"/>
                </a:lnTo>
                <a:lnTo>
                  <a:pt x="25003" y="25587"/>
                </a:lnTo>
                <a:lnTo>
                  <a:pt x="28575" y="22181"/>
                </a:lnTo>
                <a:lnTo>
                  <a:pt x="28575" y="927789"/>
                </a:lnTo>
                <a:lnTo>
                  <a:pt x="25003" y="924383"/>
                </a:lnTo>
                <a:lnTo>
                  <a:pt x="21431" y="920551"/>
                </a:lnTo>
                <a:lnTo>
                  <a:pt x="17859" y="916200"/>
                </a:lnTo>
                <a:lnTo>
                  <a:pt x="14288" y="911187"/>
                </a:lnTo>
                <a:lnTo>
                  <a:pt x="10716" y="905275"/>
                </a:lnTo>
                <a:lnTo>
                  <a:pt x="7144" y="898002"/>
                </a:lnTo>
                <a:lnTo>
                  <a:pt x="3572" y="888190"/>
                </a:lnTo>
                <a:lnTo>
                  <a:pt x="0" y="863610"/>
                </a:lnTo>
                <a:close/>
              </a:path>
            </a:pathLst>
          </a:custGeom>
          <a:solidFill>
            <a:srgbClr val="76B900"/>
          </a:solidFill>
          <a:ln/>
        </p:spPr>
        <p:txBody>
          <a:bodyPr wrap="square" rtlCol="0" anchor="t"/>
          <a:lstStyle/>
          <a:p>
            <a:pPr marL="0" indent="0">
              <a:buNone/>
            </a:pPr>
            <a:endParaRPr lang="en-US" dirty="0"/>
          </a:p>
        </p:txBody>
      </p:sp>
      <p:sp>
        <p:nvSpPr>
          <p:cNvPr id="15" name="Text 12"/>
          <p:cNvSpPr/>
          <p:nvPr/>
        </p:nvSpPr>
        <p:spPr>
          <a:xfrm>
            <a:off x="857845" y="2843510"/>
            <a:ext cx="457200" cy="457200"/>
          </a:xfrm>
          <a:prstGeom prst="ellipse">
            <a:avLst/>
          </a:prstGeom>
          <a:solidFill>
            <a:srgbClr val="76B900">
              <a:alpha val="12000"/>
            </a:srgbClr>
          </a:solidFill>
          <a:ln w="9525">
            <a:solidFill>
              <a:srgbClr val="76B900">
                <a:alpha val="30000"/>
              </a:srgbClr>
            </a:solidFill>
          </a:ln>
        </p:spPr>
        <p:txBody>
          <a:bodyPr wrap="square" rtlCol="0" anchor="t"/>
          <a:lstStyle/>
          <a:p>
            <a:pPr marL="0" indent="0">
              <a:buNone/>
            </a:pPr>
            <a:endParaRPr lang="en-US" dirty="0"/>
          </a:p>
        </p:txBody>
      </p:sp>
      <p:pic>
        <p:nvPicPr>
          <p:cNvPr id="1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00720" y="2986385"/>
            <a:ext cx="171450" cy="171450"/>
          </a:xfrm>
          <a:prstGeom prst="rect">
            <a:avLst/>
          </a:prstGeom>
        </p:spPr>
      </p:pic>
      <p:sp>
        <p:nvSpPr>
          <p:cNvPr id="17" name="Text 13"/>
          <p:cNvSpPr/>
          <p:nvPr/>
        </p:nvSpPr>
        <p:spPr>
          <a:xfrm>
            <a:off x="1515666" y="2843510"/>
            <a:ext cx="3638803" cy="257175"/>
          </a:xfrm>
          <a:prstGeom prst="rect">
            <a:avLst/>
          </a:prstGeom>
          <a:noFill/>
          <a:ln/>
        </p:spPr>
        <p:txBody>
          <a:bodyPr wrap="none" lIns="0" tIns="0" rIns="0" bIns="0" rtlCol="0" anchor="t"/>
          <a:lstStyle/>
          <a:p>
            <a:pPr marL="0" indent="0" algn="l">
              <a:lnSpc>
                <a:spcPts val="2025"/>
              </a:lnSpc>
              <a:spcAft>
                <a:spcPts val="340"/>
              </a:spcAft>
              <a:buNone/>
            </a:pPr>
            <a:r>
              <a:rPr lang="en-US" sz="1350" b="1" dirty="0">
                <a:solidFill>
                  <a:srgbClr val="E2E8F0"/>
                </a:solidFill>
                <a:latin typeface="Consolas" pitchFamily="34" charset="0"/>
                <a:ea typeface="Consolas" pitchFamily="34" charset="-122"/>
                <a:cs typeface="Consolas" pitchFamily="34" charset="-120"/>
              </a:rPr>
              <a:t>No prior agent experience required</a:t>
            </a:r>
            <a:endParaRPr lang="en-US" sz="1350" dirty="0"/>
          </a:p>
        </p:txBody>
      </p:sp>
      <p:sp>
        <p:nvSpPr>
          <p:cNvPr id="18" name="Text 14"/>
          <p:cNvSpPr/>
          <p:nvPr/>
        </p:nvSpPr>
        <p:spPr>
          <a:xfrm>
            <a:off x="1515666" y="3143845"/>
            <a:ext cx="3638803" cy="192435"/>
          </a:xfrm>
          <a:prstGeom prst="rect">
            <a:avLst/>
          </a:prstGeom>
          <a:noFill/>
          <a:ln/>
        </p:spPr>
        <p:txBody>
          <a:bodyPr wrap="none" lIns="0" tIns="0" rIns="0" bIns="0" rtlCol="0" anchor="t"/>
          <a:lstStyle/>
          <a:p>
            <a:pPr marL="0" indent="0" algn="l">
              <a:lnSpc>
                <a:spcPts val="1515"/>
              </a:lnSpc>
              <a:buNone/>
            </a:pPr>
            <a:r>
              <a:rPr lang="en-US" sz="1010" dirty="0">
                <a:solidFill>
                  <a:srgbClr val="8B9CB6"/>
                </a:solidFill>
                <a:latin typeface="Calibri" pitchFamily="34" charset="0"/>
                <a:ea typeface="Calibri" pitchFamily="34" charset="-122"/>
                <a:cs typeface="Calibri" pitchFamily="34" charset="-120"/>
              </a:rPr>
              <a:t>Beginner-friendly — we'll build up from the basics together</a:t>
            </a:r>
            <a:endParaRPr lang="en-US" sz="1010" dirty="0"/>
          </a:p>
        </p:txBody>
      </p:sp>
      <p:sp>
        <p:nvSpPr>
          <p:cNvPr id="19" name="Text 15"/>
          <p:cNvSpPr/>
          <p:nvPr/>
        </p:nvSpPr>
        <p:spPr>
          <a:xfrm>
            <a:off x="571500" y="3736330"/>
            <a:ext cx="8001000" cy="949970"/>
          </a:xfrm>
          <a:prstGeom prst="roundRect">
            <a:avLst>
              <a:gd name="adj" fmla="val 9091"/>
            </a:avLst>
          </a:prstGeom>
          <a:solidFill>
            <a:srgbClr val="1A2332"/>
          </a:solidFill>
          <a:ln/>
        </p:spPr>
        <p:txBody>
          <a:bodyPr wrap="square" rtlCol="0" anchor="t"/>
          <a:lstStyle/>
          <a:p>
            <a:pPr marL="0" indent="0">
              <a:buNone/>
            </a:pPr>
            <a:endParaRPr lang="en-US" dirty="0"/>
          </a:p>
        </p:txBody>
      </p:sp>
      <p:sp>
        <p:nvSpPr>
          <p:cNvPr id="20" name="Text 16"/>
          <p:cNvSpPr/>
          <p:nvPr/>
        </p:nvSpPr>
        <p:spPr>
          <a:xfrm>
            <a:off x="571500" y="3736330"/>
            <a:ext cx="28575" cy="949970"/>
          </a:xfrm>
          <a:custGeom>
            <a:avLst/>
            <a:gdLst/>
            <a:ahLst/>
            <a:cxnLst/>
            <a:rect l="l" t="t" r="r" b="b"/>
            <a:pathLst>
              <a:path w="28575" h="949970">
                <a:moveTo>
                  <a:pt x="0" y="86360"/>
                </a:moveTo>
                <a:lnTo>
                  <a:pt x="3572" y="61780"/>
                </a:lnTo>
                <a:lnTo>
                  <a:pt x="7144" y="51968"/>
                </a:lnTo>
                <a:lnTo>
                  <a:pt x="10716" y="44695"/>
                </a:lnTo>
                <a:lnTo>
                  <a:pt x="14288" y="38783"/>
                </a:lnTo>
                <a:lnTo>
                  <a:pt x="17859" y="33770"/>
                </a:lnTo>
                <a:lnTo>
                  <a:pt x="21431" y="29419"/>
                </a:lnTo>
                <a:lnTo>
                  <a:pt x="25003" y="25587"/>
                </a:lnTo>
                <a:lnTo>
                  <a:pt x="28575" y="22181"/>
                </a:lnTo>
                <a:lnTo>
                  <a:pt x="28575" y="927789"/>
                </a:lnTo>
                <a:lnTo>
                  <a:pt x="25003" y="924383"/>
                </a:lnTo>
                <a:lnTo>
                  <a:pt x="21431" y="920551"/>
                </a:lnTo>
                <a:lnTo>
                  <a:pt x="17859" y="916200"/>
                </a:lnTo>
                <a:lnTo>
                  <a:pt x="14288" y="911187"/>
                </a:lnTo>
                <a:lnTo>
                  <a:pt x="10716" y="905275"/>
                </a:lnTo>
                <a:lnTo>
                  <a:pt x="7144" y="898002"/>
                </a:lnTo>
                <a:lnTo>
                  <a:pt x="3572" y="888190"/>
                </a:lnTo>
                <a:lnTo>
                  <a:pt x="0" y="863610"/>
                </a:lnTo>
                <a:close/>
              </a:path>
            </a:pathLst>
          </a:custGeom>
          <a:solidFill>
            <a:srgbClr val="76B900"/>
          </a:solidFill>
          <a:ln/>
        </p:spPr>
        <p:txBody>
          <a:bodyPr wrap="square" rtlCol="0" anchor="t"/>
          <a:lstStyle/>
          <a:p>
            <a:pPr marL="0" indent="0">
              <a:buNone/>
            </a:pPr>
            <a:endParaRPr lang="en-US" dirty="0"/>
          </a:p>
        </p:txBody>
      </p:sp>
      <p:sp>
        <p:nvSpPr>
          <p:cNvPr id="21" name="Text 17"/>
          <p:cNvSpPr/>
          <p:nvPr/>
        </p:nvSpPr>
        <p:spPr>
          <a:xfrm>
            <a:off x="857845" y="3964930"/>
            <a:ext cx="457200" cy="457200"/>
          </a:xfrm>
          <a:prstGeom prst="ellipse">
            <a:avLst/>
          </a:prstGeom>
          <a:solidFill>
            <a:srgbClr val="76B900">
              <a:alpha val="12000"/>
            </a:srgbClr>
          </a:solidFill>
          <a:ln w="9525">
            <a:solidFill>
              <a:srgbClr val="76B900">
                <a:alpha val="30000"/>
              </a:srgbClr>
            </a:solidFill>
          </a:ln>
        </p:spPr>
        <p:txBody>
          <a:bodyPr wrap="square" rtlCol="0" anchor="t"/>
          <a:lstStyle/>
          <a:p>
            <a:pPr marL="0" indent="0">
              <a:buNone/>
            </a:pPr>
            <a:endParaRPr lang="en-US" dirty="0"/>
          </a:p>
        </p:txBody>
      </p:sp>
      <p:pic>
        <p:nvPicPr>
          <p:cNvPr id="2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0720" y="4107805"/>
            <a:ext cx="171450" cy="171450"/>
          </a:xfrm>
          <a:prstGeom prst="rect">
            <a:avLst/>
          </a:prstGeom>
        </p:spPr>
      </p:pic>
      <p:sp>
        <p:nvSpPr>
          <p:cNvPr id="23" name="Text 18"/>
          <p:cNvSpPr/>
          <p:nvPr/>
        </p:nvSpPr>
        <p:spPr>
          <a:xfrm>
            <a:off x="1515666" y="3964930"/>
            <a:ext cx="4768736" cy="257175"/>
          </a:xfrm>
          <a:prstGeom prst="rect">
            <a:avLst/>
          </a:prstGeom>
          <a:noFill/>
          <a:ln/>
        </p:spPr>
        <p:txBody>
          <a:bodyPr wrap="none" lIns="0" tIns="0" rIns="0" bIns="0" rtlCol="0" anchor="t"/>
          <a:lstStyle/>
          <a:p>
            <a:pPr marL="0" indent="0" algn="l">
              <a:lnSpc>
                <a:spcPts val="2025"/>
              </a:lnSpc>
              <a:spcAft>
                <a:spcPts val="340"/>
              </a:spcAft>
              <a:buNone/>
            </a:pPr>
            <a:r>
              <a:rPr lang="en-US" sz="1350" b="1" dirty="0">
                <a:solidFill>
                  <a:srgbClr val="E2E8F0"/>
                </a:solidFill>
                <a:latin typeface="Consolas" pitchFamily="34" charset="0"/>
                <a:ea typeface="Consolas" pitchFamily="34" charset="-122"/>
                <a:cs typeface="Consolas" pitchFamily="34" charset="-120"/>
              </a:rPr>
              <a:t>You'll leave with real takeaways</a:t>
            </a:r>
            <a:endParaRPr lang="en-US" sz="1350" dirty="0"/>
          </a:p>
        </p:txBody>
      </p:sp>
      <p:sp>
        <p:nvSpPr>
          <p:cNvPr id="24" name="Text 19"/>
          <p:cNvSpPr/>
          <p:nvPr/>
        </p:nvSpPr>
        <p:spPr>
          <a:xfrm>
            <a:off x="1515666" y="4265265"/>
            <a:ext cx="4768736" cy="192435"/>
          </a:xfrm>
          <a:prstGeom prst="rect">
            <a:avLst/>
          </a:prstGeom>
          <a:noFill/>
          <a:ln/>
        </p:spPr>
        <p:txBody>
          <a:bodyPr wrap="none" lIns="0" tIns="0" rIns="0" bIns="0" rtlCol="0" anchor="t"/>
          <a:lstStyle/>
          <a:p>
            <a:pPr marL="0" indent="0" algn="l">
              <a:lnSpc>
                <a:spcPts val="1515"/>
              </a:lnSpc>
              <a:buNone/>
            </a:pPr>
            <a:r>
              <a:rPr lang="en-US" sz="1010" dirty="0">
                <a:solidFill>
                  <a:srgbClr val="8B9CB6"/>
                </a:solidFill>
                <a:latin typeface="Calibri" pitchFamily="34" charset="0"/>
                <a:ea typeface="Calibri" pitchFamily="34" charset="-122"/>
                <a:cs typeface="Calibri" pitchFamily="34" charset="-120"/>
              </a:rPr>
              <a:t>Working examples, practical commands, and </a:t>
            </a:r>
            <a:r>
              <a:rPr lang="en-US" sz="1010" b="1" dirty="0">
                <a:solidFill>
                  <a:srgbClr val="76B900"/>
                </a:solidFill>
                <a:latin typeface="Calibri" pitchFamily="34" charset="0"/>
                <a:ea typeface="Calibri" pitchFamily="34" charset="-122"/>
                <a:cs typeface="Calibri" pitchFamily="34" charset="-120"/>
              </a:rPr>
              <a:t>clear next steps</a:t>
            </a:r>
            <a:r>
              <a:rPr lang="en-US" sz="1010" dirty="0">
                <a:solidFill>
                  <a:srgbClr val="8B9CB6"/>
                </a:solidFill>
                <a:latin typeface="Calibri" pitchFamily="34" charset="0"/>
                <a:ea typeface="Calibri" pitchFamily="34" charset="-122"/>
                <a:cs typeface="Calibri" pitchFamily="34" charset="-120"/>
              </a:rPr>
              <a:t> to get started</a:t>
            </a:r>
            <a:endParaRPr lang="en-US" sz="1010" dirty="0"/>
          </a:p>
        </p:txBody>
      </p:sp>
      <p:pic>
        <p:nvPicPr>
          <p:cNvPr id="25" name="Image 3" descr="preencoded.png"/>
          <p:cNvPicPr>
            <a:picLocks noChangeAspect="1"/>
          </p:cNvPicPr>
          <p:nvPr/>
        </p:nvPicPr>
        <p:blipFill>
          <a:blip r:embed="rId6">
            <a:alphaModFix amt="70000"/>
          </a:blip>
          <a:stretch>
            <a:fillRect/>
          </a:stretch>
        </p:blipFill>
        <p:spPr>
          <a:xfrm>
            <a:off x="8336310" y="4629150"/>
            <a:ext cx="521940" cy="3429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46863" y="342900"/>
            <a:ext cx="9050274" cy="428625"/>
          </a:xfrm>
          <a:prstGeom prst="rect">
            <a:avLst/>
          </a:prstGeom>
          <a:noFill/>
          <a:ln/>
        </p:spPr>
        <p:txBody>
          <a:bodyPr wrap="none" lIns="0" tIns="0" rIns="0" bIns="0" rtlCol="0" anchor="t"/>
          <a:lstStyle/>
          <a:p>
            <a:pPr marL="0" indent="0" algn="ctr">
              <a:lnSpc>
                <a:spcPts val="3375"/>
              </a:lnSpc>
              <a:buNone/>
            </a:pPr>
            <a:r>
              <a:rPr lang="en-US" sz="2250" kern="0" spc="-30" dirty="0">
                <a:solidFill>
                  <a:srgbClr val="E2E8F0"/>
                </a:solidFill>
                <a:latin typeface="Consolas" pitchFamily="34" charset="0"/>
                <a:ea typeface="Consolas" pitchFamily="34" charset="-122"/>
                <a:cs typeface="Consolas" pitchFamily="34" charset="-120"/>
              </a:rPr>
              <a:t> Agenda &amp; Timeline </a:t>
            </a:r>
            <a:r>
              <a:rPr lang="en-US" sz="2250" b="1" kern="0" spc="-30" dirty="0">
                <a:solidFill>
                  <a:srgbClr val="76B900"/>
                </a:solidFill>
                <a:latin typeface="Consolas" pitchFamily="34" charset="0"/>
                <a:ea typeface="Consolas" pitchFamily="34" charset="-122"/>
                <a:cs typeface="Consolas" pitchFamily="34" charset="-120"/>
              </a:rPr>
              <a:t>(120 Minutes)</a:t>
            </a:r>
            <a:r>
              <a:rPr lang="en-US" sz="2250" kern="0" spc="-30" dirty="0">
                <a:solidFill>
                  <a:srgbClr val="E2E8F0"/>
                </a:solidFill>
                <a:latin typeface="Consolas" pitchFamily="34" charset="0"/>
                <a:ea typeface="Consolas" pitchFamily="34" charset="-122"/>
                <a:cs typeface="Consolas" pitchFamily="34" charset="-120"/>
              </a:rPr>
              <a:t> </a:t>
            </a:r>
            <a:br>
              <a:rPr dirty="0"/>
            </a:br>
            <a:r>
              <a:rPr lang="en-US" sz="2250" kern="0" spc="-30" dirty="0">
                <a:solidFill>
                  <a:srgbClr val="E2E8F0"/>
                </a:solidFill>
                <a:latin typeface="Consolas" pitchFamily="34" charset="0"/>
                <a:ea typeface="Consolas" pitchFamily="34" charset="-122"/>
                <a:cs typeface="Consolas" pitchFamily="34" charset="-120"/>
              </a:rPr>
              <a:t>      </a:t>
            </a:r>
            <a:endParaRPr lang="en-US" sz="225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73881" y="861054"/>
            <a:ext cx="132588" cy="132588"/>
          </a:xfrm>
          <a:prstGeom prst="rect">
            <a:avLst/>
          </a:prstGeom>
        </p:spPr>
      </p:pic>
      <p:sp>
        <p:nvSpPr>
          <p:cNvPr id="4" name="Text 1"/>
          <p:cNvSpPr/>
          <p:nvPr/>
        </p:nvSpPr>
        <p:spPr>
          <a:xfrm>
            <a:off x="3539862" y="857845"/>
            <a:ext cx="2207151" cy="139005"/>
          </a:xfrm>
          <a:prstGeom prst="rect">
            <a:avLst/>
          </a:prstGeom>
          <a:noFill/>
          <a:ln/>
        </p:spPr>
        <p:txBody>
          <a:bodyPr wrap="none" lIns="0" tIns="0" rIns="0" bIns="0" rtlCol="0" anchor="ctr"/>
          <a:lstStyle/>
          <a:p>
            <a:pPr marL="0" indent="0" algn="ctr">
              <a:lnSpc>
                <a:spcPts val="1095"/>
              </a:lnSpc>
              <a:buNone/>
            </a:pPr>
            <a:r>
              <a:rPr lang="en-US" sz="730" dirty="0">
                <a:solidFill>
                  <a:srgbClr val="8B9CB6"/>
                </a:solidFill>
                <a:latin typeface="Consolas" pitchFamily="34" charset="0"/>
                <a:ea typeface="Consolas" pitchFamily="34" charset="-122"/>
                <a:cs typeface="Consolas" pitchFamily="34" charset="-120"/>
              </a:rPr>
              <a:t>CONCEPTS → BREAK → DEMO → TIPS → Q&amp;A</a:t>
            </a:r>
            <a:endParaRPr lang="en-US" sz="730" dirty="0"/>
          </a:p>
        </p:txBody>
      </p:sp>
      <p:sp>
        <p:nvSpPr>
          <p:cNvPr id="5" name="Text 2"/>
          <p:cNvSpPr/>
          <p:nvPr/>
        </p:nvSpPr>
        <p:spPr>
          <a:xfrm>
            <a:off x="3857625" y="1040011"/>
            <a:ext cx="1428750" cy="35421"/>
          </a:xfrm>
          <a:prstGeom prst="roundRect">
            <a:avLst>
              <a:gd name="adj" fmla="val 60953"/>
            </a:avLst>
          </a:prstGeom>
          <a:solidFill>
            <a:srgbClr val="FFFFFF">
              <a:alpha val="6000"/>
            </a:srgbClr>
          </a:solidFill>
          <a:ln/>
        </p:spPr>
        <p:txBody>
          <a:bodyPr wrap="none" rtlCol="0" anchor="t"/>
          <a:lstStyle/>
          <a:p>
            <a:pPr marL="0" indent="0">
              <a:buNone/>
            </a:pPr>
            <a:endParaRPr lang="en-US" dirty="0"/>
          </a:p>
        </p:txBody>
      </p:sp>
      <p:sp>
        <p:nvSpPr>
          <p:cNvPr id="6" name="Text 3"/>
          <p:cNvSpPr/>
          <p:nvPr/>
        </p:nvSpPr>
        <p:spPr>
          <a:xfrm>
            <a:off x="3857625" y="1040011"/>
            <a:ext cx="600075" cy="35421"/>
          </a:xfrm>
          <a:prstGeom prst="rect">
            <a:avLst/>
          </a:prstGeom>
          <a:solidFill>
            <a:srgbClr val="76B900"/>
          </a:solidFill>
          <a:ln/>
        </p:spPr>
        <p:txBody>
          <a:bodyPr wrap="none" rtlCol="0" anchor="t"/>
          <a:lstStyle/>
          <a:p>
            <a:pPr marL="0" indent="0">
              <a:buNone/>
            </a:pPr>
            <a:endParaRPr lang="en-US" dirty="0"/>
          </a:p>
        </p:txBody>
      </p:sp>
      <p:sp>
        <p:nvSpPr>
          <p:cNvPr id="7" name="Text 4"/>
          <p:cNvSpPr/>
          <p:nvPr/>
        </p:nvSpPr>
        <p:spPr>
          <a:xfrm>
            <a:off x="4457700" y="1040011"/>
            <a:ext cx="57150" cy="35421"/>
          </a:xfrm>
          <a:prstGeom prst="rect">
            <a:avLst/>
          </a:prstGeom>
          <a:solidFill>
            <a:srgbClr val="76B900">
              <a:alpha val="30000"/>
            </a:srgbClr>
          </a:solidFill>
          <a:ln/>
        </p:spPr>
        <p:txBody>
          <a:bodyPr wrap="none" rtlCol="0" anchor="t"/>
          <a:lstStyle/>
          <a:p>
            <a:pPr marL="0" indent="0">
              <a:buNone/>
            </a:pPr>
            <a:endParaRPr lang="en-US" dirty="0"/>
          </a:p>
        </p:txBody>
      </p:sp>
      <p:sp>
        <p:nvSpPr>
          <p:cNvPr id="8" name="Text 5"/>
          <p:cNvSpPr/>
          <p:nvPr/>
        </p:nvSpPr>
        <p:spPr>
          <a:xfrm>
            <a:off x="4514850" y="1040011"/>
            <a:ext cx="542925" cy="35421"/>
          </a:xfrm>
          <a:prstGeom prst="rect">
            <a:avLst/>
          </a:prstGeom>
          <a:solidFill>
            <a:srgbClr val="76B900">
              <a:alpha val="70000"/>
            </a:srgbClr>
          </a:solidFill>
          <a:ln/>
        </p:spPr>
        <p:txBody>
          <a:bodyPr wrap="none" rtlCol="0" anchor="t"/>
          <a:lstStyle/>
          <a:p>
            <a:pPr marL="0" indent="0">
              <a:buNone/>
            </a:pPr>
            <a:endParaRPr lang="en-US" dirty="0"/>
          </a:p>
        </p:txBody>
      </p:sp>
      <p:sp>
        <p:nvSpPr>
          <p:cNvPr id="9" name="Text 6"/>
          <p:cNvSpPr/>
          <p:nvPr/>
        </p:nvSpPr>
        <p:spPr>
          <a:xfrm>
            <a:off x="5057775" y="1040011"/>
            <a:ext cx="171450" cy="35421"/>
          </a:xfrm>
          <a:prstGeom prst="rect">
            <a:avLst/>
          </a:prstGeom>
          <a:solidFill>
            <a:srgbClr val="76B900">
              <a:alpha val="40000"/>
            </a:srgbClr>
          </a:solidFill>
          <a:ln/>
        </p:spPr>
        <p:txBody>
          <a:bodyPr wrap="none" rtlCol="0" anchor="t"/>
          <a:lstStyle/>
          <a:p>
            <a:pPr marL="0" indent="0">
              <a:buNone/>
            </a:pPr>
            <a:endParaRPr lang="en-US" dirty="0"/>
          </a:p>
        </p:txBody>
      </p:sp>
      <p:sp>
        <p:nvSpPr>
          <p:cNvPr id="10" name="Text 7"/>
          <p:cNvSpPr/>
          <p:nvPr/>
        </p:nvSpPr>
        <p:spPr>
          <a:xfrm>
            <a:off x="5229225" y="1040011"/>
            <a:ext cx="57150" cy="35421"/>
          </a:xfrm>
          <a:prstGeom prst="rect">
            <a:avLst/>
          </a:prstGeom>
          <a:solidFill>
            <a:srgbClr val="76B900">
              <a:alpha val="25000"/>
            </a:srgbClr>
          </a:solidFill>
          <a:ln/>
        </p:spPr>
        <p:txBody>
          <a:bodyPr wrap="none" rtlCol="0" anchor="t"/>
          <a:lstStyle/>
          <a:p>
            <a:pPr marL="0" indent="0">
              <a:buNone/>
            </a:pPr>
            <a:endParaRPr lang="en-US" dirty="0"/>
          </a:p>
        </p:txBody>
      </p:sp>
      <p:sp>
        <p:nvSpPr>
          <p:cNvPr id="11" name="Text 8"/>
          <p:cNvSpPr/>
          <p:nvPr/>
        </p:nvSpPr>
        <p:spPr>
          <a:xfrm>
            <a:off x="914400" y="2684413"/>
            <a:ext cx="7315200" cy="29170"/>
          </a:xfrm>
          <a:prstGeom prst="roundRect">
            <a:avLst>
              <a:gd name="adj" fmla="val 47892"/>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dirty="0"/>
          </a:p>
        </p:txBody>
      </p:sp>
      <p:sp>
        <p:nvSpPr>
          <p:cNvPr id="12" name="Text 9"/>
          <p:cNvSpPr/>
          <p:nvPr/>
        </p:nvSpPr>
        <p:spPr>
          <a:xfrm>
            <a:off x="914400" y="2670443"/>
            <a:ext cx="57150" cy="57150"/>
          </a:xfrm>
          <a:prstGeom prst="ellipse">
            <a:avLst/>
          </a:prstGeom>
          <a:solidFill>
            <a:srgbClr val="76B900"/>
          </a:solidFill>
          <a:ln/>
        </p:spPr>
        <p:txBody>
          <a:bodyPr wrap="none" rtlCol="0" anchor="t"/>
          <a:lstStyle/>
          <a:p>
            <a:pPr marL="0" indent="0">
              <a:buNone/>
            </a:pPr>
            <a:endParaRPr lang="en-US" dirty="0"/>
          </a:p>
        </p:txBody>
      </p:sp>
      <p:sp>
        <p:nvSpPr>
          <p:cNvPr id="13" name="Text 10"/>
          <p:cNvSpPr/>
          <p:nvPr/>
        </p:nvSpPr>
        <p:spPr>
          <a:xfrm>
            <a:off x="8173041" y="2641233"/>
            <a:ext cx="85725" cy="114300"/>
          </a:xfrm>
          <a:prstGeom prst="rect">
            <a:avLst/>
          </a:prstGeom>
          <a:noFill/>
          <a:ln/>
        </p:spPr>
        <p:txBody>
          <a:bodyPr wrap="none" rtlCol="0" anchor="t"/>
          <a:lstStyle/>
          <a:p>
            <a:pPr marL="0" indent="0">
              <a:buNone/>
            </a:pPr>
            <a:endParaRPr lang="en-US" dirty="0"/>
          </a:p>
        </p:txBody>
      </p:sp>
      <p:sp>
        <p:nvSpPr>
          <p:cNvPr id="14" name="Text 11"/>
          <p:cNvSpPr/>
          <p:nvPr/>
        </p:nvSpPr>
        <p:spPr>
          <a:xfrm>
            <a:off x="1246286" y="2787223"/>
            <a:ext cx="114300" cy="57150"/>
          </a:xfrm>
          <a:prstGeom prst="rect">
            <a:avLst/>
          </a:prstGeom>
          <a:noFill/>
          <a:ln/>
        </p:spPr>
        <p:txBody>
          <a:bodyPr wrap="none" rtlCol="0" anchor="t"/>
          <a:lstStyle/>
          <a:p>
            <a:pPr marL="0" indent="0">
              <a:buNone/>
            </a:pPr>
            <a:endParaRPr lang="en-US" dirty="0"/>
          </a:p>
        </p:txBody>
      </p:sp>
      <p:sp>
        <p:nvSpPr>
          <p:cNvPr id="15" name="Text 12"/>
          <p:cNvSpPr/>
          <p:nvPr/>
        </p:nvSpPr>
        <p:spPr>
          <a:xfrm>
            <a:off x="2880419" y="2787223"/>
            <a:ext cx="114300" cy="57150"/>
          </a:xfrm>
          <a:prstGeom prst="rect">
            <a:avLst/>
          </a:prstGeom>
          <a:noFill/>
          <a:ln/>
        </p:spPr>
        <p:txBody>
          <a:bodyPr wrap="none" rtlCol="0" anchor="t"/>
          <a:lstStyle/>
          <a:p>
            <a:pPr marL="0" indent="0">
              <a:buNone/>
            </a:pPr>
            <a:endParaRPr lang="en-US" dirty="0"/>
          </a:p>
        </p:txBody>
      </p:sp>
      <p:sp>
        <p:nvSpPr>
          <p:cNvPr id="16" name="Text 13"/>
          <p:cNvSpPr/>
          <p:nvPr/>
        </p:nvSpPr>
        <p:spPr>
          <a:xfrm>
            <a:off x="4514701" y="2787223"/>
            <a:ext cx="114300" cy="57150"/>
          </a:xfrm>
          <a:prstGeom prst="rect">
            <a:avLst/>
          </a:prstGeom>
          <a:noFill/>
          <a:ln/>
        </p:spPr>
        <p:txBody>
          <a:bodyPr wrap="none" rtlCol="0" anchor="t"/>
          <a:lstStyle/>
          <a:p>
            <a:pPr marL="0" indent="0">
              <a:buNone/>
            </a:pPr>
            <a:endParaRPr lang="en-US" dirty="0"/>
          </a:p>
        </p:txBody>
      </p:sp>
      <p:sp>
        <p:nvSpPr>
          <p:cNvPr id="17" name="Text 14"/>
          <p:cNvSpPr/>
          <p:nvPr/>
        </p:nvSpPr>
        <p:spPr>
          <a:xfrm>
            <a:off x="6148983" y="2787223"/>
            <a:ext cx="114300" cy="57150"/>
          </a:xfrm>
          <a:prstGeom prst="rect">
            <a:avLst/>
          </a:prstGeom>
          <a:noFill/>
          <a:ln/>
        </p:spPr>
        <p:txBody>
          <a:bodyPr wrap="none" rtlCol="0" anchor="t"/>
          <a:lstStyle/>
          <a:p>
            <a:pPr marL="0" indent="0">
              <a:buNone/>
            </a:pPr>
            <a:endParaRPr lang="en-US" dirty="0"/>
          </a:p>
        </p:txBody>
      </p:sp>
      <p:sp>
        <p:nvSpPr>
          <p:cNvPr id="18" name="Text 15"/>
          <p:cNvSpPr/>
          <p:nvPr/>
        </p:nvSpPr>
        <p:spPr>
          <a:xfrm>
            <a:off x="7783264" y="2787223"/>
            <a:ext cx="114300" cy="57150"/>
          </a:xfrm>
          <a:prstGeom prst="rect">
            <a:avLst/>
          </a:prstGeom>
          <a:noFill/>
          <a:ln/>
        </p:spPr>
        <p:txBody>
          <a:bodyPr wrap="none" rtlCol="0" anchor="t"/>
          <a:lstStyle/>
          <a:p>
            <a:pPr marL="0" indent="0">
              <a:buNone/>
            </a:pPr>
            <a:endParaRPr lang="en-US" dirty="0"/>
          </a:p>
        </p:txBody>
      </p:sp>
      <p:sp>
        <p:nvSpPr>
          <p:cNvPr id="19" name="Text 16"/>
          <p:cNvSpPr/>
          <p:nvPr/>
        </p:nvSpPr>
        <p:spPr>
          <a:xfrm>
            <a:off x="937022" y="2270522"/>
            <a:ext cx="747334" cy="227856"/>
          </a:xfrm>
          <a:prstGeom prst="roundRect">
            <a:avLst>
              <a:gd name="adj" fmla="val 62983"/>
            </a:avLst>
          </a:prstGeom>
          <a:solidFill>
            <a:srgbClr val="76B900">
              <a:alpha val="12000"/>
            </a:srgbClr>
          </a:solidFill>
          <a:ln w="9525">
            <a:solidFill>
              <a:srgbClr val="76B900">
                <a:alpha val="30000"/>
              </a:srgbClr>
            </a:solidFill>
          </a:ln>
        </p:spPr>
        <p:txBody>
          <a:bodyPr wrap="none" lIns="100330" tIns="29210" rIns="100330" bIns="29210" rtlCol="0" anchor="t"/>
          <a:lstStyle/>
          <a:p>
            <a:pPr marL="0" indent="0" algn="l">
              <a:buNone/>
            </a:pPr>
            <a:r>
              <a:rPr lang="en-US" sz="790" b="1" kern="0" spc="30" dirty="0">
                <a:solidFill>
                  <a:srgbClr val="76B900"/>
                </a:solidFill>
                <a:latin typeface="Consolas" pitchFamily="34" charset="0"/>
                <a:ea typeface="Consolas" pitchFamily="34" charset="-122"/>
                <a:cs typeface="Consolas" pitchFamily="34" charset="-120"/>
              </a:rPr>
              <a:t>0–50 min</a:t>
            </a:r>
            <a:endParaRPr lang="en-US" sz="790" dirty="0"/>
          </a:p>
        </p:txBody>
      </p:sp>
      <p:sp>
        <p:nvSpPr>
          <p:cNvPr id="20" name="Text 17"/>
          <p:cNvSpPr/>
          <p:nvPr/>
        </p:nvSpPr>
        <p:spPr>
          <a:xfrm>
            <a:off x="624632" y="2842468"/>
            <a:ext cx="1357610" cy="1105793"/>
          </a:xfrm>
          <a:prstGeom prst="roundRect">
            <a:avLst>
              <a:gd name="adj" fmla="val 7810"/>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21" name="Text 18"/>
          <p:cNvSpPr/>
          <p:nvPr/>
        </p:nvSpPr>
        <p:spPr>
          <a:xfrm>
            <a:off x="1160562" y="2980134"/>
            <a:ext cx="285750" cy="285750"/>
          </a:xfrm>
          <a:prstGeom prst="roundRect">
            <a:avLst>
              <a:gd name="adj" fmla="val 24889"/>
            </a:avLst>
          </a:prstGeom>
          <a:solidFill>
            <a:srgbClr val="76B900">
              <a:alpha val="12000"/>
            </a:srgbClr>
          </a:solidFill>
          <a:ln/>
        </p:spPr>
        <p:txBody>
          <a:bodyPr wrap="square" rtlCol="0" anchor="t"/>
          <a:lstStyle/>
          <a:p>
            <a:pPr marL="0" indent="0">
              <a:buNone/>
            </a:pPr>
            <a:endParaRPr lang="en-US" dirty="0"/>
          </a:p>
        </p:txBody>
      </p:sp>
      <p:pic>
        <p:nvPicPr>
          <p:cNvPr id="2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237143" y="3056715"/>
            <a:ext cx="132588" cy="132588"/>
          </a:xfrm>
          <a:prstGeom prst="rect">
            <a:avLst/>
          </a:prstGeom>
        </p:spPr>
      </p:pic>
      <p:sp>
        <p:nvSpPr>
          <p:cNvPr id="23" name="Text 19"/>
          <p:cNvSpPr/>
          <p:nvPr/>
        </p:nvSpPr>
        <p:spPr>
          <a:xfrm>
            <a:off x="723087" y="3336875"/>
            <a:ext cx="1160699" cy="313477"/>
          </a:xfrm>
          <a:prstGeom prst="rect">
            <a:avLst/>
          </a:prstGeom>
          <a:noFill/>
          <a:ln/>
        </p:spPr>
        <p:txBody>
          <a:bodyPr wrap="square" lIns="0" tIns="0" rIns="0" bIns="0" rtlCol="0" anchor="t"/>
          <a:lstStyle/>
          <a:p>
            <a:pPr marL="0" indent="0" algn="ctr">
              <a:lnSpc>
                <a:spcPts val="1176"/>
              </a:lnSpc>
              <a:buNone/>
            </a:pPr>
            <a:r>
              <a:rPr lang="en-US" sz="840" dirty="0">
                <a:solidFill>
                  <a:srgbClr val="E2E8F0"/>
                </a:solidFill>
                <a:latin typeface="Calibri" pitchFamily="34" charset="0"/>
                <a:ea typeface="Calibri" pitchFamily="34" charset="-122"/>
                <a:cs typeface="Calibri" pitchFamily="34" charset="-120"/>
              </a:rPr>
              <a:t>Concepts, Architecture, Models</a:t>
            </a:r>
            <a:r>
              <a:rPr lang="en-US" sz="840">
                <a:solidFill>
                  <a:srgbClr val="E2E8F0"/>
                </a:solidFill>
                <a:latin typeface="Calibri" pitchFamily="34" charset="0"/>
                <a:ea typeface="Calibri" pitchFamily="34" charset="-122"/>
                <a:cs typeface="Calibri" pitchFamily="34" charset="-120"/>
              </a:rPr>
              <a:t>, Mercury Agent</a:t>
            </a:r>
            <a:r>
              <a:rPr lang="en-US" sz="840" dirty="0">
                <a:solidFill>
                  <a:srgbClr val="E2E8F0"/>
                </a:solidFill>
                <a:latin typeface="Calibri" pitchFamily="34" charset="0"/>
                <a:ea typeface="Calibri" pitchFamily="34" charset="-122"/>
                <a:cs typeface="Calibri" pitchFamily="34" charset="-120"/>
              </a:rPr>
              <a:t> &amp; SOUL.md</a:t>
            </a:r>
            <a:endParaRPr lang="en-US" sz="840" dirty="0"/>
          </a:p>
        </p:txBody>
      </p:sp>
      <p:sp>
        <p:nvSpPr>
          <p:cNvPr id="24" name="Text 20"/>
          <p:cNvSpPr/>
          <p:nvPr/>
        </p:nvSpPr>
        <p:spPr>
          <a:xfrm>
            <a:off x="677570" y="3692575"/>
            <a:ext cx="1251734" cy="118021"/>
          </a:xfrm>
          <a:prstGeom prst="rect">
            <a:avLst/>
          </a:prstGeom>
          <a:noFill/>
          <a:ln/>
        </p:spPr>
        <p:txBody>
          <a:bodyPr wrap="none" lIns="0" tIns="0" rIns="0" bIns="0" rtlCol="0" anchor="t"/>
          <a:lstStyle/>
          <a:p>
            <a:pPr marL="0" indent="0" algn="ctr">
              <a:lnSpc>
                <a:spcPts val="930"/>
              </a:lnSpc>
              <a:buNone/>
            </a:pPr>
            <a:r>
              <a:rPr lang="en-US" sz="620" kern="0" spc="20" dirty="0">
                <a:solidFill>
                  <a:srgbClr val="8B9CB6"/>
                </a:solidFill>
                <a:latin typeface="Consolas" pitchFamily="34" charset="0"/>
                <a:ea typeface="Consolas" pitchFamily="34" charset="-122"/>
                <a:cs typeface="Consolas" pitchFamily="34" charset="-120"/>
              </a:rPr>
              <a:t>50 MINUTES</a:t>
            </a:r>
            <a:endParaRPr lang="en-US" sz="620" dirty="0"/>
          </a:p>
        </p:txBody>
      </p:sp>
      <p:sp>
        <p:nvSpPr>
          <p:cNvPr id="25" name="Text 21"/>
          <p:cNvSpPr/>
          <p:nvPr/>
        </p:nvSpPr>
        <p:spPr>
          <a:xfrm>
            <a:off x="2539157" y="2270522"/>
            <a:ext cx="812762" cy="227856"/>
          </a:xfrm>
          <a:prstGeom prst="roundRect">
            <a:avLst>
              <a:gd name="adj" fmla="val 62983"/>
            </a:avLst>
          </a:prstGeom>
          <a:solidFill>
            <a:srgbClr val="76B900">
              <a:alpha val="12000"/>
            </a:srgbClr>
          </a:solidFill>
          <a:ln w="9525">
            <a:solidFill>
              <a:srgbClr val="76B900">
                <a:alpha val="30000"/>
              </a:srgbClr>
            </a:solidFill>
          </a:ln>
        </p:spPr>
        <p:txBody>
          <a:bodyPr wrap="none" lIns="100330" tIns="29210" rIns="100330" bIns="29210" rtlCol="0" anchor="t"/>
          <a:lstStyle/>
          <a:p>
            <a:pPr marL="0" indent="0" algn="l">
              <a:buNone/>
            </a:pPr>
            <a:r>
              <a:rPr lang="en-US" sz="790" b="1" kern="0" spc="30" dirty="0">
                <a:solidFill>
                  <a:srgbClr val="76B900"/>
                </a:solidFill>
                <a:latin typeface="Consolas" pitchFamily="34" charset="0"/>
                <a:ea typeface="Consolas" pitchFamily="34" charset="-122"/>
                <a:cs typeface="Consolas" pitchFamily="34" charset="-120"/>
              </a:rPr>
              <a:t>50–55 min</a:t>
            </a:r>
            <a:endParaRPr lang="en-US" sz="790" dirty="0"/>
          </a:p>
        </p:txBody>
      </p:sp>
      <p:sp>
        <p:nvSpPr>
          <p:cNvPr id="26" name="Text 22"/>
          <p:cNvSpPr/>
          <p:nvPr/>
        </p:nvSpPr>
        <p:spPr>
          <a:xfrm>
            <a:off x="2258764" y="2842468"/>
            <a:ext cx="1357610" cy="1086296"/>
          </a:xfrm>
          <a:prstGeom prst="roundRect">
            <a:avLst>
              <a:gd name="adj" fmla="val 7950"/>
            </a:avLst>
          </a:prstGeom>
          <a:gradFill rotWithShape="1">
            <a:gsLst>
              <a:gs pos="0">
                <a:srgbClr val="76B900">
                  <a:alpha val="8000"/>
                </a:srgbClr>
              </a:gs>
              <a:gs pos="100000">
                <a:srgbClr val="1A2332"/>
              </a:gs>
            </a:gsLst>
            <a:lin ang="2700000" scaled="1"/>
          </a:gradFill>
          <a:ln w="9525">
            <a:solidFill>
              <a:srgbClr val="76B900">
                <a:alpha val="30000"/>
              </a:srgbClr>
            </a:solidFill>
          </a:ln>
        </p:spPr>
        <p:txBody>
          <a:bodyPr wrap="square" rtlCol="0" anchor="t"/>
          <a:lstStyle/>
          <a:p>
            <a:pPr marL="0" indent="0">
              <a:buNone/>
            </a:pPr>
            <a:endParaRPr lang="en-US" dirty="0"/>
          </a:p>
        </p:txBody>
      </p:sp>
      <p:sp>
        <p:nvSpPr>
          <p:cNvPr id="27" name="Text 23"/>
          <p:cNvSpPr/>
          <p:nvPr/>
        </p:nvSpPr>
        <p:spPr>
          <a:xfrm>
            <a:off x="2794695" y="2980134"/>
            <a:ext cx="285750" cy="285750"/>
          </a:xfrm>
          <a:prstGeom prst="roundRect">
            <a:avLst>
              <a:gd name="adj" fmla="val 24889"/>
            </a:avLst>
          </a:prstGeom>
          <a:solidFill>
            <a:srgbClr val="8B9CB6">
              <a:alpha val="10000"/>
            </a:srgbClr>
          </a:solidFill>
          <a:ln/>
        </p:spPr>
        <p:txBody>
          <a:bodyPr wrap="square" rtlCol="0" anchor="t"/>
          <a:lstStyle/>
          <a:p>
            <a:pPr marL="0" indent="0">
              <a:buNone/>
            </a:pPr>
            <a:endParaRPr lang="en-US" dirty="0"/>
          </a:p>
        </p:txBody>
      </p:sp>
      <p:pic>
        <p:nvPicPr>
          <p:cNvPr id="2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871276" y="3056715"/>
            <a:ext cx="132588" cy="132588"/>
          </a:xfrm>
          <a:prstGeom prst="rect">
            <a:avLst/>
          </a:prstGeom>
        </p:spPr>
      </p:pic>
      <p:sp>
        <p:nvSpPr>
          <p:cNvPr id="29" name="Text 24"/>
          <p:cNvSpPr/>
          <p:nvPr/>
        </p:nvSpPr>
        <p:spPr>
          <a:xfrm>
            <a:off x="2357220" y="3336875"/>
            <a:ext cx="1160699" cy="293005"/>
          </a:xfrm>
          <a:prstGeom prst="rect">
            <a:avLst/>
          </a:prstGeom>
          <a:noFill/>
          <a:ln/>
        </p:spPr>
        <p:txBody>
          <a:bodyPr wrap="square" lIns="0" tIns="0" rIns="0" bIns="0" rtlCol="0" anchor="ctr"/>
          <a:lstStyle/>
          <a:p>
            <a:pPr marL="0" indent="0" algn="ctr">
              <a:lnSpc>
                <a:spcPts val="1176"/>
              </a:lnSpc>
              <a:buNone/>
            </a:pPr>
            <a:r>
              <a:rPr lang="en-US" sz="840" dirty="0">
                <a:solidFill>
                  <a:srgbClr val="E2E8F0"/>
                </a:solidFill>
                <a:latin typeface="Calibri" pitchFamily="34" charset="0"/>
                <a:ea typeface="Calibri" pitchFamily="34" charset="-122"/>
                <a:cs typeface="Calibri" pitchFamily="34" charset="-120"/>
              </a:rPr>
              <a:t>Short Break</a:t>
            </a:r>
            <a:br/>
            <a:r>
              <a:rPr lang="en-US" sz="730" dirty="0">
                <a:solidFill>
                  <a:srgbClr val="8B9CB6"/>
                </a:solidFill>
                <a:latin typeface="Calibri" pitchFamily="34" charset="0"/>
                <a:ea typeface="Calibri" pitchFamily="34" charset="-122"/>
                <a:cs typeface="Calibri" pitchFamily="34" charset="-120"/>
              </a:rPr>
              <a:t>(5–7 minutes)</a:t>
            </a:r>
            <a:endParaRPr lang="en-US" sz="840" dirty="0"/>
          </a:p>
        </p:txBody>
      </p:sp>
      <p:sp>
        <p:nvSpPr>
          <p:cNvPr id="30" name="Text 25"/>
          <p:cNvSpPr/>
          <p:nvPr/>
        </p:nvSpPr>
        <p:spPr>
          <a:xfrm>
            <a:off x="2311703" y="3673078"/>
            <a:ext cx="1251734" cy="118021"/>
          </a:xfrm>
          <a:prstGeom prst="rect">
            <a:avLst/>
          </a:prstGeom>
          <a:noFill/>
          <a:ln/>
        </p:spPr>
        <p:txBody>
          <a:bodyPr wrap="none" lIns="0" tIns="0" rIns="0" bIns="0" rtlCol="0" anchor="t"/>
          <a:lstStyle/>
          <a:p>
            <a:pPr marL="0" indent="0" algn="ctr">
              <a:lnSpc>
                <a:spcPts val="930"/>
              </a:lnSpc>
              <a:buNone/>
            </a:pPr>
            <a:r>
              <a:rPr lang="en-US" sz="620" kern="0" spc="20" dirty="0">
                <a:solidFill>
                  <a:srgbClr val="8B9CB6"/>
                </a:solidFill>
                <a:latin typeface="Consolas" pitchFamily="34" charset="0"/>
                <a:ea typeface="Consolas" pitchFamily="34" charset="-122"/>
                <a:cs typeface="Consolas" pitchFamily="34" charset="-120"/>
              </a:rPr>
              <a:t>5 MINUTES</a:t>
            </a:r>
            <a:endParaRPr lang="en-US" sz="620" dirty="0"/>
          </a:p>
        </p:txBody>
      </p:sp>
      <p:sp>
        <p:nvSpPr>
          <p:cNvPr id="31" name="Text 26"/>
          <p:cNvSpPr/>
          <p:nvPr/>
        </p:nvSpPr>
        <p:spPr>
          <a:xfrm>
            <a:off x="4141440" y="2270522"/>
            <a:ext cx="878038" cy="227856"/>
          </a:xfrm>
          <a:prstGeom prst="roundRect">
            <a:avLst>
              <a:gd name="adj" fmla="val 62983"/>
            </a:avLst>
          </a:prstGeom>
          <a:solidFill>
            <a:srgbClr val="76B900">
              <a:alpha val="12000"/>
            </a:srgbClr>
          </a:solidFill>
          <a:ln w="9525">
            <a:solidFill>
              <a:srgbClr val="76B900">
                <a:alpha val="30000"/>
              </a:srgbClr>
            </a:solidFill>
          </a:ln>
        </p:spPr>
        <p:txBody>
          <a:bodyPr wrap="none" lIns="100330" tIns="29210" rIns="100330" bIns="29210" rtlCol="0" anchor="t"/>
          <a:lstStyle/>
          <a:p>
            <a:pPr marL="0" indent="0" algn="l">
              <a:buNone/>
            </a:pPr>
            <a:r>
              <a:rPr lang="en-US" sz="790" b="1" kern="0" spc="30" dirty="0">
                <a:solidFill>
                  <a:srgbClr val="76B900"/>
                </a:solidFill>
                <a:latin typeface="Consolas" pitchFamily="34" charset="0"/>
                <a:ea typeface="Consolas" pitchFamily="34" charset="-122"/>
                <a:cs typeface="Consolas" pitchFamily="34" charset="-120"/>
              </a:rPr>
              <a:t>55–100 min</a:t>
            </a:r>
            <a:endParaRPr lang="en-US" sz="790" dirty="0"/>
          </a:p>
        </p:txBody>
      </p:sp>
      <p:sp>
        <p:nvSpPr>
          <p:cNvPr id="32" name="Text 27"/>
          <p:cNvSpPr/>
          <p:nvPr/>
        </p:nvSpPr>
        <p:spPr>
          <a:xfrm>
            <a:off x="3893046" y="2842468"/>
            <a:ext cx="1357610" cy="1086296"/>
          </a:xfrm>
          <a:prstGeom prst="roundRect">
            <a:avLst>
              <a:gd name="adj" fmla="val 7950"/>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33" name="Text 28"/>
          <p:cNvSpPr/>
          <p:nvPr/>
        </p:nvSpPr>
        <p:spPr>
          <a:xfrm>
            <a:off x="4428976" y="2980134"/>
            <a:ext cx="285750" cy="285750"/>
          </a:xfrm>
          <a:prstGeom prst="roundRect">
            <a:avLst>
              <a:gd name="adj" fmla="val 24889"/>
            </a:avLst>
          </a:prstGeom>
          <a:solidFill>
            <a:srgbClr val="76B900">
              <a:alpha val="12000"/>
            </a:srgbClr>
          </a:solidFill>
          <a:ln/>
        </p:spPr>
        <p:txBody>
          <a:bodyPr wrap="square" rtlCol="0" anchor="t"/>
          <a:lstStyle/>
          <a:p>
            <a:pPr marL="0" indent="0">
              <a:buNone/>
            </a:pPr>
            <a:endParaRPr lang="en-US" dirty="0"/>
          </a:p>
        </p:txBody>
      </p:sp>
      <p:pic>
        <p:nvPicPr>
          <p:cNvPr id="3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05557" y="3056715"/>
            <a:ext cx="132588" cy="132588"/>
          </a:xfrm>
          <a:prstGeom prst="rect">
            <a:avLst/>
          </a:prstGeom>
        </p:spPr>
      </p:pic>
      <p:sp>
        <p:nvSpPr>
          <p:cNvPr id="35" name="Text 29"/>
          <p:cNvSpPr/>
          <p:nvPr/>
        </p:nvSpPr>
        <p:spPr>
          <a:xfrm>
            <a:off x="3991502" y="3336875"/>
            <a:ext cx="1160699" cy="293005"/>
          </a:xfrm>
          <a:prstGeom prst="rect">
            <a:avLst/>
          </a:prstGeom>
          <a:noFill/>
          <a:ln/>
        </p:spPr>
        <p:txBody>
          <a:bodyPr wrap="square" lIns="0" tIns="0" rIns="0" bIns="0" rtlCol="0" anchor="ctr"/>
          <a:lstStyle/>
          <a:p>
            <a:pPr marL="0" indent="0" algn="ctr">
              <a:lnSpc>
                <a:spcPts val="1176"/>
              </a:lnSpc>
              <a:buNone/>
            </a:pPr>
            <a:r>
              <a:rPr lang="en-US" sz="840" dirty="0">
                <a:solidFill>
                  <a:srgbClr val="E2E8F0"/>
                </a:solidFill>
                <a:latin typeface="Calibri" pitchFamily="34" charset="0"/>
                <a:ea typeface="Calibri" pitchFamily="34" charset="-122"/>
                <a:cs typeface="Calibri" pitchFamily="34" charset="-120"/>
              </a:rPr>
              <a:t>Live Physical Demo</a:t>
            </a:r>
            <a:br/>
            <a:r>
              <a:rPr lang="en-US" sz="730" dirty="0">
                <a:solidFill>
                  <a:srgbClr val="8B9CB6"/>
                </a:solidFill>
                <a:latin typeface="Calibri" pitchFamily="34" charset="0"/>
                <a:ea typeface="Calibri" pitchFamily="34" charset="-122"/>
                <a:cs typeface="Calibri" pitchFamily="34" charset="-120"/>
              </a:rPr>
              <a:t>Setup + Real Tasks</a:t>
            </a:r>
            <a:endParaRPr lang="en-US" sz="840" dirty="0"/>
          </a:p>
        </p:txBody>
      </p:sp>
      <p:sp>
        <p:nvSpPr>
          <p:cNvPr id="36" name="Text 30"/>
          <p:cNvSpPr/>
          <p:nvPr/>
        </p:nvSpPr>
        <p:spPr>
          <a:xfrm>
            <a:off x="3945984" y="3673078"/>
            <a:ext cx="1251734" cy="118021"/>
          </a:xfrm>
          <a:prstGeom prst="rect">
            <a:avLst/>
          </a:prstGeom>
          <a:noFill/>
          <a:ln/>
        </p:spPr>
        <p:txBody>
          <a:bodyPr wrap="none" lIns="0" tIns="0" rIns="0" bIns="0" rtlCol="0" anchor="t"/>
          <a:lstStyle/>
          <a:p>
            <a:pPr marL="0" indent="0" algn="ctr">
              <a:lnSpc>
                <a:spcPts val="930"/>
              </a:lnSpc>
              <a:buNone/>
            </a:pPr>
            <a:r>
              <a:rPr lang="en-US" sz="620" kern="0" spc="20" dirty="0">
                <a:solidFill>
                  <a:srgbClr val="8B9CB6"/>
                </a:solidFill>
                <a:latin typeface="Consolas" pitchFamily="34" charset="0"/>
                <a:ea typeface="Consolas" pitchFamily="34" charset="-122"/>
                <a:cs typeface="Consolas" pitchFamily="34" charset="-120"/>
              </a:rPr>
              <a:t>45 MINUTES</a:t>
            </a:r>
            <a:endParaRPr lang="en-US" sz="620" dirty="0"/>
          </a:p>
        </p:txBody>
      </p:sp>
      <p:sp>
        <p:nvSpPr>
          <p:cNvPr id="37" name="Text 31"/>
          <p:cNvSpPr/>
          <p:nvPr/>
        </p:nvSpPr>
        <p:spPr>
          <a:xfrm>
            <a:off x="5743724" y="2270522"/>
            <a:ext cx="943466" cy="227856"/>
          </a:xfrm>
          <a:prstGeom prst="roundRect">
            <a:avLst>
              <a:gd name="adj" fmla="val 62983"/>
            </a:avLst>
          </a:prstGeom>
          <a:solidFill>
            <a:srgbClr val="76B900">
              <a:alpha val="12000"/>
            </a:srgbClr>
          </a:solidFill>
          <a:ln w="9525">
            <a:solidFill>
              <a:srgbClr val="76B900">
                <a:alpha val="30000"/>
              </a:srgbClr>
            </a:solidFill>
          </a:ln>
        </p:spPr>
        <p:txBody>
          <a:bodyPr wrap="none" lIns="100330" tIns="29210" rIns="100330" bIns="29210" rtlCol="0" anchor="t"/>
          <a:lstStyle/>
          <a:p>
            <a:pPr marL="0" indent="0" algn="l">
              <a:buNone/>
            </a:pPr>
            <a:r>
              <a:rPr lang="en-US" sz="790" b="1" kern="0" spc="30" dirty="0">
                <a:solidFill>
                  <a:srgbClr val="76B900"/>
                </a:solidFill>
                <a:latin typeface="Consolas" pitchFamily="34" charset="0"/>
                <a:ea typeface="Consolas" pitchFamily="34" charset="-122"/>
                <a:cs typeface="Consolas" pitchFamily="34" charset="-120"/>
              </a:rPr>
              <a:t>100–115 min</a:t>
            </a:r>
            <a:endParaRPr lang="en-US" sz="790" dirty="0"/>
          </a:p>
        </p:txBody>
      </p:sp>
      <p:sp>
        <p:nvSpPr>
          <p:cNvPr id="38" name="Text 32"/>
          <p:cNvSpPr/>
          <p:nvPr/>
        </p:nvSpPr>
        <p:spPr>
          <a:xfrm>
            <a:off x="5527328" y="2842468"/>
            <a:ext cx="1357610" cy="1105793"/>
          </a:xfrm>
          <a:prstGeom prst="roundRect">
            <a:avLst>
              <a:gd name="adj" fmla="val 7810"/>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39" name="Text 33"/>
          <p:cNvSpPr/>
          <p:nvPr/>
        </p:nvSpPr>
        <p:spPr>
          <a:xfrm>
            <a:off x="6063258" y="2980134"/>
            <a:ext cx="285750" cy="285750"/>
          </a:xfrm>
          <a:prstGeom prst="roundRect">
            <a:avLst>
              <a:gd name="adj" fmla="val 24889"/>
            </a:avLst>
          </a:prstGeom>
          <a:solidFill>
            <a:srgbClr val="8B9CB6">
              <a:alpha val="10000"/>
            </a:srgbClr>
          </a:solidFill>
          <a:ln/>
        </p:spPr>
        <p:txBody>
          <a:bodyPr wrap="square" rtlCol="0" anchor="t"/>
          <a:lstStyle/>
          <a:p>
            <a:pPr marL="0" indent="0">
              <a:buNone/>
            </a:pPr>
            <a:endParaRPr lang="en-US" dirty="0"/>
          </a:p>
        </p:txBody>
      </p:sp>
      <p:pic>
        <p:nvPicPr>
          <p:cNvPr id="4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139839" y="3056715"/>
            <a:ext cx="132588" cy="132588"/>
          </a:xfrm>
          <a:prstGeom prst="rect">
            <a:avLst/>
          </a:prstGeom>
        </p:spPr>
      </p:pic>
      <p:sp>
        <p:nvSpPr>
          <p:cNvPr id="41" name="Text 34"/>
          <p:cNvSpPr/>
          <p:nvPr/>
        </p:nvSpPr>
        <p:spPr>
          <a:xfrm>
            <a:off x="5625783" y="3336875"/>
            <a:ext cx="1160699" cy="313477"/>
          </a:xfrm>
          <a:prstGeom prst="rect">
            <a:avLst/>
          </a:prstGeom>
          <a:noFill/>
          <a:ln/>
        </p:spPr>
        <p:txBody>
          <a:bodyPr wrap="square" lIns="0" tIns="0" rIns="0" bIns="0" rtlCol="0" anchor="t"/>
          <a:lstStyle/>
          <a:p>
            <a:pPr marL="0" indent="0" algn="ctr">
              <a:lnSpc>
                <a:spcPts val="1176"/>
              </a:lnSpc>
              <a:buNone/>
            </a:pPr>
            <a:r>
              <a:rPr lang="en-US" sz="840" dirty="0">
                <a:solidFill>
                  <a:srgbClr val="E2E8F0"/>
                </a:solidFill>
                <a:latin typeface="Calibri" pitchFamily="34" charset="0"/>
                <a:ea typeface="Calibri" pitchFamily="34" charset="-122"/>
                <a:cs typeface="Calibri" pitchFamily="34" charset="-120"/>
              </a:rPr>
              <a:t>Advanced Tips &amp; Best Practices</a:t>
            </a:r>
            <a:endParaRPr lang="en-US" sz="840" dirty="0"/>
          </a:p>
        </p:txBody>
      </p:sp>
      <p:sp>
        <p:nvSpPr>
          <p:cNvPr id="42" name="Text 35"/>
          <p:cNvSpPr/>
          <p:nvPr/>
        </p:nvSpPr>
        <p:spPr>
          <a:xfrm>
            <a:off x="5580266" y="3692575"/>
            <a:ext cx="1251734" cy="118021"/>
          </a:xfrm>
          <a:prstGeom prst="rect">
            <a:avLst/>
          </a:prstGeom>
          <a:noFill/>
          <a:ln/>
        </p:spPr>
        <p:txBody>
          <a:bodyPr wrap="none" lIns="0" tIns="0" rIns="0" bIns="0" rtlCol="0" anchor="t"/>
          <a:lstStyle/>
          <a:p>
            <a:pPr marL="0" indent="0" algn="ctr">
              <a:lnSpc>
                <a:spcPts val="930"/>
              </a:lnSpc>
              <a:buNone/>
            </a:pPr>
            <a:r>
              <a:rPr lang="en-US" sz="620" kern="0" spc="20" dirty="0">
                <a:solidFill>
                  <a:srgbClr val="8B9CB6"/>
                </a:solidFill>
                <a:latin typeface="Consolas" pitchFamily="34" charset="0"/>
                <a:ea typeface="Consolas" pitchFamily="34" charset="-122"/>
                <a:cs typeface="Consolas" pitchFamily="34" charset="-120"/>
              </a:rPr>
              <a:t>15 MINUTES</a:t>
            </a:r>
            <a:endParaRPr lang="en-US" sz="620" dirty="0"/>
          </a:p>
        </p:txBody>
      </p:sp>
      <p:sp>
        <p:nvSpPr>
          <p:cNvPr id="43" name="Text 36"/>
          <p:cNvSpPr/>
          <p:nvPr/>
        </p:nvSpPr>
        <p:spPr>
          <a:xfrm>
            <a:off x="7378005" y="2270522"/>
            <a:ext cx="943466" cy="227856"/>
          </a:xfrm>
          <a:prstGeom prst="roundRect">
            <a:avLst>
              <a:gd name="adj" fmla="val 62983"/>
            </a:avLst>
          </a:prstGeom>
          <a:solidFill>
            <a:srgbClr val="76B900">
              <a:alpha val="12000"/>
            </a:srgbClr>
          </a:solidFill>
          <a:ln w="9525">
            <a:solidFill>
              <a:srgbClr val="76B900">
                <a:alpha val="30000"/>
              </a:srgbClr>
            </a:solidFill>
          </a:ln>
        </p:spPr>
        <p:txBody>
          <a:bodyPr wrap="none" lIns="100330" tIns="29210" rIns="100330" bIns="29210" rtlCol="0" anchor="t"/>
          <a:lstStyle/>
          <a:p>
            <a:pPr marL="0" indent="0" algn="l">
              <a:buNone/>
            </a:pPr>
            <a:r>
              <a:rPr lang="en-US" sz="790" b="1" kern="0" spc="30" dirty="0">
                <a:solidFill>
                  <a:srgbClr val="76B900"/>
                </a:solidFill>
                <a:latin typeface="Consolas" pitchFamily="34" charset="0"/>
                <a:ea typeface="Consolas" pitchFamily="34" charset="-122"/>
                <a:cs typeface="Consolas" pitchFamily="34" charset="-120"/>
              </a:rPr>
              <a:t>115–120 min</a:t>
            </a:r>
            <a:endParaRPr lang="en-US" sz="790" dirty="0"/>
          </a:p>
        </p:txBody>
      </p:sp>
      <p:sp>
        <p:nvSpPr>
          <p:cNvPr id="44" name="Text 37"/>
          <p:cNvSpPr/>
          <p:nvPr/>
        </p:nvSpPr>
        <p:spPr>
          <a:xfrm>
            <a:off x="7161609" y="2842468"/>
            <a:ext cx="1357610" cy="956518"/>
          </a:xfrm>
          <a:prstGeom prst="roundRect">
            <a:avLst>
              <a:gd name="adj" fmla="val 9029"/>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45" name="Text 38"/>
          <p:cNvSpPr/>
          <p:nvPr/>
        </p:nvSpPr>
        <p:spPr>
          <a:xfrm>
            <a:off x="7697539" y="2980134"/>
            <a:ext cx="285750" cy="285750"/>
          </a:xfrm>
          <a:prstGeom prst="roundRect">
            <a:avLst>
              <a:gd name="adj" fmla="val 24889"/>
            </a:avLst>
          </a:prstGeom>
          <a:solidFill>
            <a:srgbClr val="8B9CB6">
              <a:alpha val="10000"/>
            </a:srgbClr>
          </a:solidFill>
          <a:ln/>
        </p:spPr>
        <p:txBody>
          <a:bodyPr wrap="square" rtlCol="0" anchor="t"/>
          <a:lstStyle/>
          <a:p>
            <a:pPr marL="0" indent="0">
              <a:buNone/>
            </a:pPr>
            <a:endParaRPr lang="en-US" dirty="0"/>
          </a:p>
        </p:txBody>
      </p:sp>
      <p:pic>
        <p:nvPicPr>
          <p:cNvPr id="46"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774120" y="3056715"/>
            <a:ext cx="132588" cy="132588"/>
          </a:xfrm>
          <a:prstGeom prst="rect">
            <a:avLst/>
          </a:prstGeom>
        </p:spPr>
      </p:pic>
      <p:sp>
        <p:nvSpPr>
          <p:cNvPr id="47" name="Text 39"/>
          <p:cNvSpPr/>
          <p:nvPr/>
        </p:nvSpPr>
        <p:spPr>
          <a:xfrm>
            <a:off x="7214548" y="3336875"/>
            <a:ext cx="1251734" cy="149275"/>
          </a:xfrm>
          <a:prstGeom prst="rect">
            <a:avLst/>
          </a:prstGeom>
          <a:noFill/>
          <a:ln/>
        </p:spPr>
        <p:txBody>
          <a:bodyPr wrap="none" lIns="0" tIns="0" rIns="0" bIns="0" rtlCol="0" anchor="t"/>
          <a:lstStyle/>
          <a:p>
            <a:pPr marL="0" indent="0" algn="ctr">
              <a:lnSpc>
                <a:spcPts val="1176"/>
              </a:lnSpc>
              <a:buNone/>
            </a:pPr>
            <a:r>
              <a:rPr lang="en-US" sz="840" dirty="0">
                <a:solidFill>
                  <a:srgbClr val="E2E8F0"/>
                </a:solidFill>
                <a:latin typeface="Calibri" pitchFamily="34" charset="0"/>
                <a:ea typeface="Calibri" pitchFamily="34" charset="-122"/>
                <a:cs typeface="Calibri" pitchFamily="34" charset="-120"/>
              </a:rPr>
              <a:t>Q&amp;A and Closing</a:t>
            </a:r>
            <a:endParaRPr lang="en-US" sz="840" dirty="0"/>
          </a:p>
        </p:txBody>
      </p:sp>
      <p:sp>
        <p:nvSpPr>
          <p:cNvPr id="48" name="Text 40"/>
          <p:cNvSpPr/>
          <p:nvPr/>
        </p:nvSpPr>
        <p:spPr>
          <a:xfrm>
            <a:off x="7214548" y="3543300"/>
            <a:ext cx="1251734" cy="118021"/>
          </a:xfrm>
          <a:prstGeom prst="rect">
            <a:avLst/>
          </a:prstGeom>
          <a:noFill/>
          <a:ln/>
        </p:spPr>
        <p:txBody>
          <a:bodyPr wrap="none" lIns="0" tIns="0" rIns="0" bIns="0" rtlCol="0" anchor="t"/>
          <a:lstStyle/>
          <a:p>
            <a:pPr marL="0" indent="0" algn="ctr">
              <a:lnSpc>
                <a:spcPts val="930"/>
              </a:lnSpc>
              <a:buNone/>
            </a:pPr>
            <a:r>
              <a:rPr lang="en-US" sz="620" kern="0" spc="20" dirty="0">
                <a:solidFill>
                  <a:srgbClr val="8B9CB6"/>
                </a:solidFill>
                <a:latin typeface="Consolas" pitchFamily="34" charset="0"/>
                <a:ea typeface="Consolas" pitchFamily="34" charset="-122"/>
                <a:cs typeface="Consolas" pitchFamily="34" charset="-120"/>
              </a:rPr>
              <a:t>5 MINUTES</a:t>
            </a:r>
            <a:endParaRPr lang="en-US" sz="620" dirty="0"/>
          </a:p>
        </p:txBody>
      </p:sp>
      <p:sp>
        <p:nvSpPr>
          <p:cNvPr id="49" name="Text 41"/>
          <p:cNvSpPr/>
          <p:nvPr/>
        </p:nvSpPr>
        <p:spPr>
          <a:xfrm>
            <a:off x="1231702" y="2584698"/>
            <a:ext cx="143470" cy="143470"/>
          </a:xfrm>
          <a:prstGeom prst="ellipse">
            <a:avLst/>
          </a:prstGeom>
          <a:solidFill>
            <a:srgbClr val="0A0F1A"/>
          </a:solidFill>
          <a:ln w="19050">
            <a:solidFill>
              <a:srgbClr val="76B900"/>
            </a:solidFill>
          </a:ln>
          <a:effectLst>
            <a:outerShdw blurRad="86360" dist="50800" dir="16200000" algn="bl" rotWithShape="0">
              <a:srgbClr val="76B900">
                <a:alpha val="35000"/>
              </a:srgbClr>
            </a:outerShdw>
          </a:effectLst>
        </p:spPr>
        <p:txBody>
          <a:bodyPr wrap="none" rtlCol="0" anchor="t"/>
          <a:lstStyle/>
          <a:p>
            <a:pPr marL="0" indent="0">
              <a:buNone/>
            </a:pPr>
            <a:endParaRPr lang="en-US" dirty="0"/>
          </a:p>
        </p:txBody>
      </p:sp>
      <p:sp>
        <p:nvSpPr>
          <p:cNvPr id="50" name="Text 42"/>
          <p:cNvSpPr/>
          <p:nvPr/>
        </p:nvSpPr>
        <p:spPr>
          <a:xfrm>
            <a:off x="2865834" y="2584698"/>
            <a:ext cx="143470" cy="143470"/>
          </a:xfrm>
          <a:prstGeom prst="ellipse">
            <a:avLst/>
          </a:prstGeom>
          <a:solidFill>
            <a:srgbClr val="76B900"/>
          </a:solidFill>
          <a:ln w="19050">
            <a:solidFill>
              <a:srgbClr val="76B900"/>
            </a:solidFill>
          </a:ln>
          <a:effectLst>
            <a:outerShdw blurRad="86360" dist="50800" dir="16200000" algn="bl" rotWithShape="0">
              <a:srgbClr val="76B900">
                <a:alpha val="35000"/>
              </a:srgbClr>
            </a:outerShdw>
          </a:effectLst>
        </p:spPr>
        <p:txBody>
          <a:bodyPr wrap="none" rtlCol="0" anchor="t"/>
          <a:lstStyle/>
          <a:p>
            <a:pPr marL="0" indent="0">
              <a:buNone/>
            </a:pPr>
            <a:endParaRPr lang="en-US" dirty="0"/>
          </a:p>
        </p:txBody>
      </p:sp>
      <p:sp>
        <p:nvSpPr>
          <p:cNvPr id="51" name="Text 43"/>
          <p:cNvSpPr/>
          <p:nvPr/>
        </p:nvSpPr>
        <p:spPr>
          <a:xfrm>
            <a:off x="4500116" y="2584698"/>
            <a:ext cx="143470" cy="143470"/>
          </a:xfrm>
          <a:prstGeom prst="ellipse">
            <a:avLst/>
          </a:prstGeom>
          <a:solidFill>
            <a:srgbClr val="0A0F1A"/>
          </a:solidFill>
          <a:ln w="19050">
            <a:solidFill>
              <a:srgbClr val="76B900"/>
            </a:solidFill>
          </a:ln>
          <a:effectLst>
            <a:outerShdw blurRad="86360" dist="50800" dir="16200000" algn="bl" rotWithShape="0">
              <a:srgbClr val="76B900">
                <a:alpha val="35000"/>
              </a:srgbClr>
            </a:outerShdw>
          </a:effectLst>
        </p:spPr>
        <p:txBody>
          <a:bodyPr wrap="none" rtlCol="0" anchor="t"/>
          <a:lstStyle/>
          <a:p>
            <a:pPr marL="0" indent="0">
              <a:buNone/>
            </a:pPr>
            <a:endParaRPr lang="en-US" dirty="0"/>
          </a:p>
        </p:txBody>
      </p:sp>
      <p:sp>
        <p:nvSpPr>
          <p:cNvPr id="52" name="Text 44"/>
          <p:cNvSpPr/>
          <p:nvPr/>
        </p:nvSpPr>
        <p:spPr>
          <a:xfrm>
            <a:off x="6134398" y="2584698"/>
            <a:ext cx="143470" cy="143470"/>
          </a:xfrm>
          <a:prstGeom prst="ellipse">
            <a:avLst/>
          </a:prstGeom>
          <a:solidFill>
            <a:srgbClr val="0A0F1A"/>
          </a:solidFill>
          <a:ln w="19050">
            <a:solidFill>
              <a:srgbClr val="76B900"/>
            </a:solidFill>
          </a:ln>
          <a:effectLst>
            <a:outerShdw blurRad="86360" dist="50800" dir="16200000" algn="bl" rotWithShape="0">
              <a:srgbClr val="76B900">
                <a:alpha val="35000"/>
              </a:srgbClr>
            </a:outerShdw>
          </a:effectLst>
        </p:spPr>
        <p:txBody>
          <a:bodyPr wrap="none" rtlCol="0" anchor="t"/>
          <a:lstStyle/>
          <a:p>
            <a:pPr marL="0" indent="0">
              <a:buNone/>
            </a:pPr>
            <a:endParaRPr lang="en-US" dirty="0"/>
          </a:p>
        </p:txBody>
      </p:sp>
      <p:sp>
        <p:nvSpPr>
          <p:cNvPr id="53" name="Text 45"/>
          <p:cNvSpPr/>
          <p:nvPr/>
        </p:nvSpPr>
        <p:spPr>
          <a:xfrm>
            <a:off x="7768679" y="2584698"/>
            <a:ext cx="143470" cy="143470"/>
          </a:xfrm>
          <a:prstGeom prst="ellipse">
            <a:avLst/>
          </a:prstGeom>
          <a:solidFill>
            <a:srgbClr val="0A0F1A"/>
          </a:solidFill>
          <a:ln w="19050">
            <a:solidFill>
              <a:srgbClr val="76B900"/>
            </a:solidFill>
          </a:ln>
          <a:effectLst>
            <a:outerShdw blurRad="86360" dist="50800" dir="16200000" algn="bl" rotWithShape="0">
              <a:srgbClr val="76B900">
                <a:alpha val="35000"/>
              </a:srgbClr>
            </a:outerShdw>
          </a:effectLst>
        </p:spPr>
        <p:txBody>
          <a:bodyPr wrap="none" rtlCol="0" anchor="t"/>
          <a:lstStyle/>
          <a:p>
            <a:pPr marL="0" indent="0">
              <a:buNone/>
            </a:pP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4000"/>
                </a:srgbClr>
              </a:gs>
              <a:gs pos="50000">
                <a:srgbClr val="000000">
                  <a:alpha val="0"/>
                </a:srgbClr>
              </a:gs>
            </a:gsLst>
            <a:path path="circle">
              <a:fillToRect l="80000" t="20000" r="20000" b="80000"/>
            </a:path>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76B900">
                  <a:alpha val="3000"/>
                </a:srgbClr>
              </a:gs>
              <a:gs pos="50000">
                <a:srgbClr val="000000">
                  <a:alpha val="0"/>
                </a:srgbClr>
              </a:gs>
            </a:gsLst>
            <a:path path="circle">
              <a:fillToRect l="20000" t="80000" r="80000" b="20000"/>
            </a:path>
          </a:gradFill>
          <a:ln/>
        </p:spPr>
        <p:txBody>
          <a:bodyPr wrap="square" rtlCol="0" anchor="t"/>
          <a:lstStyle/>
          <a:p>
            <a:pPr marL="0" indent="0">
              <a:buNone/>
            </a:pPr>
            <a:endParaRPr lang="en-US" dirty="0"/>
          </a:p>
        </p:txBody>
      </p:sp>
      <p:sp>
        <p:nvSpPr>
          <p:cNvPr id="4" name="Text 2"/>
          <p:cNvSpPr/>
          <p:nvPr/>
        </p:nvSpPr>
        <p:spPr>
          <a:xfrm>
            <a:off x="0" y="0"/>
            <a:ext cx="9144000" cy="5143500"/>
          </a:xfrm>
          <a:prstGeom prst="rect">
            <a:avLst/>
          </a:prstGeom>
          <a:gradFill rotWithShape="1">
            <a:gsLst>
              <a:gs pos="0">
                <a:srgbClr val="76B900">
                  <a:alpha val="6000"/>
                </a:srgbClr>
              </a:gs>
              <a:gs pos="10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5" name="Text 3"/>
          <p:cNvSpPr/>
          <p:nvPr/>
        </p:nvSpPr>
        <p:spPr>
          <a:xfrm>
            <a:off x="523875" y="1083171"/>
            <a:ext cx="3938292" cy="21580"/>
          </a:xfrm>
          <a:custGeom>
            <a:avLst/>
            <a:gdLst/>
            <a:ahLst/>
            <a:cxnLst/>
            <a:rect l="l" t="t" r="r" b="b"/>
            <a:pathLst>
              <a:path w="3938292" h="21580">
                <a:moveTo>
                  <a:pt x="114300" y="0"/>
                </a:moveTo>
                <a:lnTo>
                  <a:pt x="3823992" y="0"/>
                </a:lnTo>
                <a:lnTo>
                  <a:pt x="3848678" y="2698"/>
                </a:lnTo>
                <a:lnTo>
                  <a:pt x="3858694" y="5395"/>
                </a:lnTo>
                <a:lnTo>
                  <a:pt x="3866235" y="8093"/>
                </a:lnTo>
                <a:lnTo>
                  <a:pt x="3872471" y="10790"/>
                </a:lnTo>
                <a:lnTo>
                  <a:pt x="3877856" y="13488"/>
                </a:lnTo>
                <a:lnTo>
                  <a:pt x="3882626" y="16185"/>
                </a:lnTo>
                <a:lnTo>
                  <a:pt x="3886921" y="18883"/>
                </a:lnTo>
                <a:lnTo>
                  <a:pt x="3890832"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6" name="Text 4"/>
          <p:cNvSpPr/>
          <p:nvPr/>
        </p:nvSpPr>
        <p:spPr>
          <a:xfrm>
            <a:off x="4681835" y="1083171"/>
            <a:ext cx="3938292" cy="21580"/>
          </a:xfrm>
          <a:custGeom>
            <a:avLst/>
            <a:gdLst/>
            <a:ahLst/>
            <a:cxnLst/>
            <a:rect l="l" t="t" r="r" b="b"/>
            <a:pathLst>
              <a:path w="3938292" h="21580">
                <a:moveTo>
                  <a:pt x="114300" y="0"/>
                </a:moveTo>
                <a:lnTo>
                  <a:pt x="3823992" y="0"/>
                </a:lnTo>
                <a:lnTo>
                  <a:pt x="3848678" y="2698"/>
                </a:lnTo>
                <a:lnTo>
                  <a:pt x="3858694" y="5395"/>
                </a:lnTo>
                <a:lnTo>
                  <a:pt x="3866235" y="8093"/>
                </a:lnTo>
                <a:lnTo>
                  <a:pt x="3872471" y="10790"/>
                </a:lnTo>
                <a:lnTo>
                  <a:pt x="3877856" y="13488"/>
                </a:lnTo>
                <a:lnTo>
                  <a:pt x="3882626" y="16185"/>
                </a:lnTo>
                <a:lnTo>
                  <a:pt x="3886921" y="18883"/>
                </a:lnTo>
                <a:lnTo>
                  <a:pt x="3890832"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7" name="Text 5"/>
          <p:cNvSpPr/>
          <p:nvPr/>
        </p:nvSpPr>
        <p:spPr>
          <a:xfrm>
            <a:off x="523875" y="3075533"/>
            <a:ext cx="3938292" cy="21580"/>
          </a:xfrm>
          <a:custGeom>
            <a:avLst/>
            <a:gdLst/>
            <a:ahLst/>
            <a:cxnLst/>
            <a:rect l="l" t="t" r="r" b="b"/>
            <a:pathLst>
              <a:path w="3938292" h="21580">
                <a:moveTo>
                  <a:pt x="114300" y="0"/>
                </a:moveTo>
                <a:lnTo>
                  <a:pt x="3823992" y="0"/>
                </a:lnTo>
                <a:lnTo>
                  <a:pt x="3848678" y="2698"/>
                </a:lnTo>
                <a:lnTo>
                  <a:pt x="3858694" y="5395"/>
                </a:lnTo>
                <a:lnTo>
                  <a:pt x="3866235" y="8093"/>
                </a:lnTo>
                <a:lnTo>
                  <a:pt x="3872471" y="10790"/>
                </a:lnTo>
                <a:lnTo>
                  <a:pt x="3877856" y="13488"/>
                </a:lnTo>
                <a:lnTo>
                  <a:pt x="3882626" y="16185"/>
                </a:lnTo>
                <a:lnTo>
                  <a:pt x="3886921" y="18883"/>
                </a:lnTo>
                <a:lnTo>
                  <a:pt x="3890832"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8" name="Text 6"/>
          <p:cNvSpPr/>
          <p:nvPr/>
        </p:nvSpPr>
        <p:spPr>
          <a:xfrm>
            <a:off x="4681835" y="3075533"/>
            <a:ext cx="3938292" cy="21580"/>
          </a:xfrm>
          <a:custGeom>
            <a:avLst/>
            <a:gdLst/>
            <a:ahLst/>
            <a:cxnLst/>
            <a:rect l="l" t="t" r="r" b="b"/>
            <a:pathLst>
              <a:path w="3938292" h="21580">
                <a:moveTo>
                  <a:pt x="114300" y="0"/>
                </a:moveTo>
                <a:lnTo>
                  <a:pt x="3823992" y="0"/>
                </a:lnTo>
                <a:lnTo>
                  <a:pt x="3848678" y="2698"/>
                </a:lnTo>
                <a:lnTo>
                  <a:pt x="3858694" y="5395"/>
                </a:lnTo>
                <a:lnTo>
                  <a:pt x="3866235" y="8093"/>
                </a:lnTo>
                <a:lnTo>
                  <a:pt x="3872471" y="10790"/>
                </a:lnTo>
                <a:lnTo>
                  <a:pt x="3877856" y="13488"/>
                </a:lnTo>
                <a:lnTo>
                  <a:pt x="3882626" y="16185"/>
                </a:lnTo>
                <a:lnTo>
                  <a:pt x="3886921" y="18883"/>
                </a:lnTo>
                <a:lnTo>
                  <a:pt x="3890832"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9" name="Text 7"/>
          <p:cNvSpPr/>
          <p:nvPr/>
        </p:nvSpPr>
        <p:spPr>
          <a:xfrm>
            <a:off x="514350" y="422523"/>
            <a:ext cx="43160" cy="285750"/>
          </a:xfrm>
          <a:prstGeom prst="roundRect">
            <a:avLst>
              <a:gd name="adj" fmla="val 50023"/>
            </a:avLst>
          </a:prstGeom>
          <a:solidFill>
            <a:srgbClr val="76B900"/>
          </a:solidFill>
          <a:ln/>
        </p:spPr>
        <p:txBody>
          <a:bodyPr wrap="square" rtlCol="0" anchor="t"/>
          <a:lstStyle/>
          <a:p>
            <a:pPr marL="0" indent="0">
              <a:buNone/>
            </a:pPr>
            <a:endParaRPr lang="en-US" dirty="0"/>
          </a:p>
        </p:txBody>
      </p:sp>
      <p:sp>
        <p:nvSpPr>
          <p:cNvPr id="10" name="Text 8"/>
          <p:cNvSpPr/>
          <p:nvPr/>
        </p:nvSpPr>
        <p:spPr>
          <a:xfrm>
            <a:off x="671810" y="372070"/>
            <a:ext cx="3928283" cy="386655"/>
          </a:xfrm>
          <a:prstGeom prst="rect">
            <a:avLst/>
          </a:prstGeom>
          <a:noFill/>
          <a:ln/>
        </p:spPr>
        <p:txBody>
          <a:bodyPr wrap="none" lIns="0" tIns="0" rIns="0" bIns="0" rtlCol="0" anchor="ctr"/>
          <a:lstStyle/>
          <a:p>
            <a:pPr marL="0" indent="0" algn="l">
              <a:lnSpc>
                <a:spcPts val="3045"/>
              </a:lnSpc>
              <a:buNone/>
            </a:pPr>
            <a:r>
              <a:rPr lang="en-US" sz="2030" kern="0" spc="60" dirty="0">
                <a:solidFill>
                  <a:srgbClr val="E2E8F0"/>
                </a:solidFill>
                <a:latin typeface="Consolas" pitchFamily="34" charset="0"/>
                <a:ea typeface="Consolas" pitchFamily="34" charset="-122"/>
                <a:cs typeface="Consolas" pitchFamily="34" charset="-120"/>
              </a:rPr>
              <a:t>Why You Would Want Local AI</a:t>
            </a:r>
            <a:endParaRPr lang="en-US" sz="2030" dirty="0"/>
          </a:p>
        </p:txBody>
      </p:sp>
      <p:sp>
        <p:nvSpPr>
          <p:cNvPr id="11" name="Text 9"/>
          <p:cNvSpPr/>
          <p:nvPr/>
        </p:nvSpPr>
        <p:spPr>
          <a:xfrm>
            <a:off x="514350" y="1073646"/>
            <a:ext cx="3957340" cy="1791742"/>
          </a:xfrm>
          <a:prstGeom prst="roundRect">
            <a:avLst>
              <a:gd name="adj" fmla="val 6379"/>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12" name="Text 10"/>
          <p:cNvSpPr/>
          <p:nvPr/>
        </p:nvSpPr>
        <p:spPr>
          <a:xfrm>
            <a:off x="752475" y="1368921"/>
            <a:ext cx="457200" cy="457200"/>
          </a:xfrm>
          <a:prstGeom prst="roundRect">
            <a:avLst>
              <a:gd name="adj" fmla="val 21944"/>
            </a:avLst>
          </a:prstGeom>
          <a:solidFill>
            <a:srgbClr val="76B900">
              <a:alpha val="10000"/>
            </a:srgbClr>
          </a:solidFill>
          <a:ln/>
        </p:spPr>
        <p:txBody>
          <a:bodyPr wrap="square" rtlCol="0" anchor="t"/>
          <a:lstStyle/>
          <a:p>
            <a:pPr marL="0" indent="0">
              <a:buNone/>
            </a:pPr>
            <a:endParaRPr lang="en-US" dirty="0"/>
          </a:p>
        </p:txBody>
      </p:sp>
      <p:pic>
        <p:nvPicPr>
          <p:cNvPr id="1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5350" y="1511796"/>
            <a:ext cx="171450" cy="171450"/>
          </a:xfrm>
          <a:prstGeom prst="rect">
            <a:avLst/>
          </a:prstGeom>
        </p:spPr>
      </p:pic>
      <p:sp>
        <p:nvSpPr>
          <p:cNvPr id="14" name="Text 11"/>
          <p:cNvSpPr/>
          <p:nvPr/>
        </p:nvSpPr>
        <p:spPr>
          <a:xfrm>
            <a:off x="752475" y="1983581"/>
            <a:ext cx="1062811" cy="182761"/>
          </a:xfrm>
          <a:prstGeom prst="rect">
            <a:avLst/>
          </a:prstGeom>
          <a:noFill/>
          <a:ln/>
        </p:spPr>
        <p:txBody>
          <a:bodyPr wrap="none" lIns="0" tIns="0" rIns="0" bIns="0" rtlCol="0" anchor="t"/>
          <a:lstStyle/>
          <a:p>
            <a:pPr marL="0" indent="0" algn="l">
              <a:lnSpc>
                <a:spcPts val="1440"/>
              </a:lnSpc>
              <a:buNone/>
            </a:pPr>
            <a:r>
              <a:rPr lang="en-US" sz="960" b="1" kern="0" spc="30" dirty="0">
                <a:solidFill>
                  <a:srgbClr val="76B900"/>
                </a:solidFill>
                <a:latin typeface="Consolas" pitchFamily="34" charset="0"/>
                <a:ea typeface="Consolas" pitchFamily="34" charset="-122"/>
                <a:cs typeface="Consolas" pitchFamily="34" charset="-120"/>
              </a:rPr>
              <a:t>PRIVACY FIRST</a:t>
            </a:r>
            <a:endParaRPr lang="en-US" sz="960" dirty="0"/>
          </a:p>
        </p:txBody>
      </p:sp>
      <p:sp>
        <p:nvSpPr>
          <p:cNvPr id="15" name="Text 12"/>
          <p:cNvSpPr/>
          <p:nvPr/>
        </p:nvSpPr>
        <p:spPr>
          <a:xfrm>
            <a:off x="752475" y="2237333"/>
            <a:ext cx="2549307" cy="192435"/>
          </a:xfrm>
          <a:prstGeom prst="rect">
            <a:avLst/>
          </a:prstGeom>
          <a:noFill/>
          <a:ln/>
        </p:spPr>
        <p:txBody>
          <a:bodyPr wrap="none" lIns="0" tIns="0" rIns="0" bIns="0" rtlCol="0" anchor="t"/>
          <a:lstStyle/>
          <a:p>
            <a:pPr marL="0" indent="0" algn="l">
              <a:lnSpc>
                <a:spcPts val="1515"/>
              </a:lnSpc>
              <a:buNone/>
            </a:pPr>
            <a:r>
              <a:rPr lang="en-US" sz="1010" dirty="0">
                <a:solidFill>
                  <a:srgbClr val="E2E8F0"/>
                </a:solidFill>
                <a:latin typeface="Calibri" pitchFamily="34" charset="0"/>
                <a:ea typeface="Calibri" pitchFamily="34" charset="-122"/>
                <a:cs typeface="Calibri" pitchFamily="34" charset="-120"/>
              </a:rPr>
              <a:t>Your data never has to leave your device</a:t>
            </a:r>
            <a:endParaRPr lang="en-US" sz="1010" dirty="0"/>
          </a:p>
        </p:txBody>
      </p:sp>
      <p:sp>
        <p:nvSpPr>
          <p:cNvPr id="16" name="Text 13"/>
          <p:cNvSpPr/>
          <p:nvPr/>
        </p:nvSpPr>
        <p:spPr>
          <a:xfrm>
            <a:off x="4672310" y="1073646"/>
            <a:ext cx="3957340" cy="1791742"/>
          </a:xfrm>
          <a:prstGeom prst="roundRect">
            <a:avLst>
              <a:gd name="adj" fmla="val 6379"/>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17" name="Text 14"/>
          <p:cNvSpPr/>
          <p:nvPr/>
        </p:nvSpPr>
        <p:spPr>
          <a:xfrm>
            <a:off x="4910435" y="1368921"/>
            <a:ext cx="457200" cy="457200"/>
          </a:xfrm>
          <a:prstGeom prst="roundRect">
            <a:avLst>
              <a:gd name="adj" fmla="val 21944"/>
            </a:avLst>
          </a:prstGeom>
          <a:solidFill>
            <a:srgbClr val="76B900">
              <a:alpha val="10000"/>
            </a:srgbClr>
          </a:solidFill>
          <a:ln/>
        </p:spPr>
        <p:txBody>
          <a:bodyPr wrap="square" rtlCol="0" anchor="t"/>
          <a:lstStyle/>
          <a:p>
            <a:pPr marL="0" indent="0">
              <a:buNone/>
            </a:pPr>
            <a:endParaRPr lang="en-US" dirty="0"/>
          </a:p>
        </p:txBody>
      </p:sp>
      <p:pic>
        <p:nvPicPr>
          <p:cNvPr id="1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53310" y="1511796"/>
            <a:ext cx="171450" cy="171450"/>
          </a:xfrm>
          <a:prstGeom prst="rect">
            <a:avLst/>
          </a:prstGeom>
        </p:spPr>
      </p:pic>
      <p:sp>
        <p:nvSpPr>
          <p:cNvPr id="19" name="Text 15"/>
          <p:cNvSpPr/>
          <p:nvPr/>
        </p:nvSpPr>
        <p:spPr>
          <a:xfrm>
            <a:off x="4910435" y="1983581"/>
            <a:ext cx="1048569" cy="182761"/>
          </a:xfrm>
          <a:prstGeom prst="rect">
            <a:avLst/>
          </a:prstGeom>
          <a:noFill/>
          <a:ln/>
        </p:spPr>
        <p:txBody>
          <a:bodyPr wrap="none" lIns="0" tIns="0" rIns="0" bIns="0" rtlCol="0" anchor="t"/>
          <a:lstStyle/>
          <a:p>
            <a:pPr marL="0" indent="0" algn="l">
              <a:lnSpc>
                <a:spcPts val="1440"/>
              </a:lnSpc>
              <a:buNone/>
            </a:pPr>
            <a:r>
              <a:rPr lang="en-US" sz="960" b="1" kern="0" spc="30" dirty="0">
                <a:solidFill>
                  <a:srgbClr val="76B900"/>
                </a:solidFill>
                <a:latin typeface="Consolas" pitchFamily="34" charset="0"/>
                <a:ea typeface="Consolas" pitchFamily="34" charset="-122"/>
                <a:cs typeface="Consolas" pitchFamily="34" charset="-120"/>
              </a:rPr>
              <a:t>REAL ACTIONS</a:t>
            </a:r>
            <a:endParaRPr lang="en-US" sz="960" dirty="0"/>
          </a:p>
        </p:txBody>
      </p:sp>
      <p:sp>
        <p:nvSpPr>
          <p:cNvPr id="20" name="Text 16"/>
          <p:cNvSpPr/>
          <p:nvPr/>
        </p:nvSpPr>
        <p:spPr>
          <a:xfrm>
            <a:off x="4910435" y="2237333"/>
            <a:ext cx="1559183" cy="192435"/>
          </a:xfrm>
          <a:prstGeom prst="rect">
            <a:avLst/>
          </a:prstGeom>
          <a:noFill/>
          <a:ln/>
        </p:spPr>
        <p:txBody>
          <a:bodyPr wrap="none" lIns="0" tIns="0" rIns="0" bIns="0" rtlCol="0" anchor="t"/>
          <a:lstStyle/>
          <a:p>
            <a:pPr marL="0" indent="0" algn="l">
              <a:lnSpc>
                <a:spcPts val="1515"/>
              </a:lnSpc>
              <a:buNone/>
            </a:pPr>
            <a:r>
              <a:rPr lang="en-US" sz="1010" dirty="0">
                <a:solidFill>
                  <a:srgbClr val="E2E8F0"/>
                </a:solidFill>
                <a:latin typeface="Calibri" pitchFamily="34" charset="0"/>
                <a:ea typeface="Calibri" pitchFamily="34" charset="-122"/>
                <a:cs typeface="Calibri" pitchFamily="34" charset="-120"/>
              </a:rPr>
              <a:t>AI can act — not just talk</a:t>
            </a:r>
            <a:endParaRPr lang="en-US" sz="1010" dirty="0"/>
          </a:p>
        </p:txBody>
      </p:sp>
      <p:sp>
        <p:nvSpPr>
          <p:cNvPr id="21" name="Text 17"/>
          <p:cNvSpPr/>
          <p:nvPr/>
        </p:nvSpPr>
        <p:spPr>
          <a:xfrm>
            <a:off x="514350" y="3066008"/>
            <a:ext cx="3957340" cy="1791742"/>
          </a:xfrm>
          <a:prstGeom prst="roundRect">
            <a:avLst>
              <a:gd name="adj" fmla="val 6379"/>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22" name="Text 18"/>
          <p:cNvSpPr/>
          <p:nvPr/>
        </p:nvSpPr>
        <p:spPr>
          <a:xfrm>
            <a:off x="752475" y="3361283"/>
            <a:ext cx="457200" cy="457200"/>
          </a:xfrm>
          <a:prstGeom prst="roundRect">
            <a:avLst>
              <a:gd name="adj" fmla="val 21944"/>
            </a:avLst>
          </a:prstGeom>
          <a:solidFill>
            <a:srgbClr val="76B900">
              <a:alpha val="10000"/>
            </a:srgbClr>
          </a:solidFill>
          <a:ln/>
        </p:spPr>
        <p:txBody>
          <a:bodyPr wrap="square" rtlCol="0" anchor="t"/>
          <a:lstStyle/>
          <a:p>
            <a:pPr marL="0" indent="0">
              <a:buNone/>
            </a:pPr>
            <a:endParaRPr lang="en-US" dirty="0"/>
          </a:p>
        </p:txBody>
      </p:sp>
      <p:pic>
        <p:nvPicPr>
          <p:cNvPr id="2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5350" y="3504158"/>
            <a:ext cx="171450" cy="171450"/>
          </a:xfrm>
          <a:prstGeom prst="rect">
            <a:avLst/>
          </a:prstGeom>
        </p:spPr>
      </p:pic>
      <p:sp>
        <p:nvSpPr>
          <p:cNvPr id="24" name="Text 19"/>
          <p:cNvSpPr/>
          <p:nvPr/>
        </p:nvSpPr>
        <p:spPr>
          <a:xfrm>
            <a:off x="752475" y="3975943"/>
            <a:ext cx="1548869" cy="182761"/>
          </a:xfrm>
          <a:prstGeom prst="rect">
            <a:avLst/>
          </a:prstGeom>
          <a:noFill/>
          <a:ln/>
        </p:spPr>
        <p:txBody>
          <a:bodyPr wrap="none" lIns="0" tIns="0" rIns="0" bIns="0" rtlCol="0" anchor="t"/>
          <a:lstStyle/>
          <a:p>
            <a:pPr marL="0" indent="0" algn="l">
              <a:lnSpc>
                <a:spcPts val="1440"/>
              </a:lnSpc>
              <a:buNone/>
            </a:pPr>
            <a:r>
              <a:rPr lang="en-US" sz="960" b="1" kern="0" spc="30" dirty="0">
                <a:solidFill>
                  <a:srgbClr val="76B900"/>
                </a:solidFill>
                <a:latin typeface="Consolas" pitchFamily="34" charset="0"/>
                <a:ea typeface="Consolas" pitchFamily="34" charset="-122"/>
                <a:cs typeface="Consolas" pitchFamily="34" charset="-120"/>
              </a:rPr>
              <a:t>PERSISTENT MEMORY</a:t>
            </a:r>
            <a:endParaRPr lang="en-US" sz="960" dirty="0"/>
          </a:p>
        </p:txBody>
      </p:sp>
      <p:sp>
        <p:nvSpPr>
          <p:cNvPr id="25" name="Text 20"/>
          <p:cNvSpPr/>
          <p:nvPr/>
        </p:nvSpPr>
        <p:spPr>
          <a:xfrm>
            <a:off x="752475" y="4229695"/>
            <a:ext cx="2663577" cy="192435"/>
          </a:xfrm>
          <a:prstGeom prst="rect">
            <a:avLst/>
          </a:prstGeom>
          <a:noFill/>
          <a:ln/>
        </p:spPr>
        <p:txBody>
          <a:bodyPr wrap="none" lIns="0" tIns="0" rIns="0" bIns="0" rtlCol="0" anchor="t"/>
          <a:lstStyle/>
          <a:p>
            <a:pPr marL="0" indent="0" algn="l">
              <a:lnSpc>
                <a:spcPts val="1515"/>
              </a:lnSpc>
              <a:buNone/>
            </a:pPr>
            <a:r>
              <a:rPr lang="en-US" sz="1010" dirty="0">
                <a:solidFill>
                  <a:srgbClr val="E2E8F0"/>
                </a:solidFill>
                <a:latin typeface="Calibri" pitchFamily="34" charset="0"/>
                <a:ea typeface="Calibri" pitchFamily="34" charset="-122"/>
                <a:cs typeface="Calibri" pitchFamily="34" charset="-120"/>
              </a:rPr>
              <a:t>Learns from you and remembers over time</a:t>
            </a:r>
            <a:endParaRPr lang="en-US" sz="1010" dirty="0"/>
          </a:p>
        </p:txBody>
      </p:sp>
      <p:sp>
        <p:nvSpPr>
          <p:cNvPr id="26" name="Text 21"/>
          <p:cNvSpPr/>
          <p:nvPr/>
        </p:nvSpPr>
        <p:spPr>
          <a:xfrm>
            <a:off x="4672310" y="3066008"/>
            <a:ext cx="3957340" cy="1791742"/>
          </a:xfrm>
          <a:prstGeom prst="roundRect">
            <a:avLst>
              <a:gd name="adj" fmla="val 6379"/>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27" name="Text 22"/>
          <p:cNvSpPr/>
          <p:nvPr/>
        </p:nvSpPr>
        <p:spPr>
          <a:xfrm>
            <a:off x="4910435" y="3361283"/>
            <a:ext cx="457200" cy="457200"/>
          </a:xfrm>
          <a:prstGeom prst="roundRect">
            <a:avLst>
              <a:gd name="adj" fmla="val 21944"/>
            </a:avLst>
          </a:prstGeom>
          <a:solidFill>
            <a:srgbClr val="76B900">
              <a:alpha val="10000"/>
            </a:srgbClr>
          </a:solidFill>
          <a:ln/>
        </p:spPr>
        <p:txBody>
          <a:bodyPr wrap="square" rtlCol="0" anchor="t"/>
          <a:lstStyle/>
          <a:p>
            <a:pPr marL="0" indent="0">
              <a:buNone/>
            </a:pPr>
            <a:endParaRPr lang="en-US" dirty="0"/>
          </a:p>
        </p:txBody>
      </p:sp>
      <p:pic>
        <p:nvPicPr>
          <p:cNvPr id="2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053310" y="3504158"/>
            <a:ext cx="171450" cy="171450"/>
          </a:xfrm>
          <a:prstGeom prst="rect">
            <a:avLst/>
          </a:prstGeom>
        </p:spPr>
      </p:pic>
      <p:sp>
        <p:nvSpPr>
          <p:cNvPr id="29" name="Text 23"/>
          <p:cNvSpPr/>
          <p:nvPr/>
        </p:nvSpPr>
        <p:spPr>
          <a:xfrm>
            <a:off x="4910435" y="3975943"/>
            <a:ext cx="1587832" cy="182761"/>
          </a:xfrm>
          <a:prstGeom prst="rect">
            <a:avLst/>
          </a:prstGeom>
          <a:noFill/>
          <a:ln/>
        </p:spPr>
        <p:txBody>
          <a:bodyPr wrap="none" lIns="0" tIns="0" rIns="0" bIns="0" rtlCol="0" anchor="t"/>
          <a:lstStyle/>
          <a:p>
            <a:pPr marL="0" indent="0" algn="l">
              <a:lnSpc>
                <a:spcPts val="1440"/>
              </a:lnSpc>
              <a:buNone/>
            </a:pPr>
            <a:r>
              <a:rPr lang="en-US" sz="960" b="1" kern="0" spc="30" dirty="0">
                <a:solidFill>
                  <a:srgbClr val="76B900"/>
                </a:solidFill>
                <a:latin typeface="Consolas" pitchFamily="34" charset="0"/>
                <a:ea typeface="Consolas" pitchFamily="34" charset="-122"/>
                <a:cs typeface="Consolas" pitchFamily="34" charset="-120"/>
              </a:rPr>
              <a:t>ZERO SUBSCRIPTIONS</a:t>
            </a:r>
            <a:endParaRPr lang="en-US" sz="960" dirty="0"/>
          </a:p>
        </p:txBody>
      </p:sp>
      <p:sp>
        <p:nvSpPr>
          <p:cNvPr id="30" name="Text 24"/>
          <p:cNvSpPr/>
          <p:nvPr/>
        </p:nvSpPr>
        <p:spPr>
          <a:xfrm>
            <a:off x="4910435" y="4229695"/>
            <a:ext cx="1935063" cy="192435"/>
          </a:xfrm>
          <a:prstGeom prst="rect">
            <a:avLst/>
          </a:prstGeom>
          <a:noFill/>
          <a:ln/>
        </p:spPr>
        <p:txBody>
          <a:bodyPr wrap="none" lIns="0" tIns="0" rIns="0" bIns="0" rtlCol="0" anchor="t"/>
          <a:lstStyle/>
          <a:p>
            <a:pPr marL="0" indent="0" algn="l">
              <a:lnSpc>
                <a:spcPts val="1515"/>
              </a:lnSpc>
              <a:buNone/>
            </a:pPr>
            <a:r>
              <a:rPr lang="en-US" sz="1010" dirty="0">
                <a:solidFill>
                  <a:srgbClr val="E2E8F0"/>
                </a:solidFill>
                <a:latin typeface="Calibri" pitchFamily="34" charset="0"/>
                <a:ea typeface="Calibri" pitchFamily="34" charset="-122"/>
                <a:cs typeface="Calibri" pitchFamily="34" charset="-120"/>
              </a:rPr>
              <a:t>No recurring subscription costs</a:t>
            </a:r>
            <a:endParaRPr lang="en-US" sz="101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0F1A"/>
        </a:solidFill>
        <a:effectLst/>
      </p:bgPr>
    </p:bg>
    <p:spTree>
      <p:nvGrpSpPr>
        <p:cNvPr id="1" name="">
          <a:extLst>
            <a:ext uri="{FF2B5EF4-FFF2-40B4-BE49-F238E27FC236}">
              <a16:creationId xmlns:a16="http://schemas.microsoft.com/office/drawing/2014/main" id="{48016E94-DC64-3505-DD09-664CD7BB477B}"/>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53993C00-7E86-C079-E590-A0198AF9094B}"/>
              </a:ext>
            </a:extLst>
          </p:cNvPr>
          <p:cNvSpPr/>
          <p:nvPr/>
        </p:nvSpPr>
        <p:spPr>
          <a:xfrm>
            <a:off x="0" y="0"/>
            <a:ext cx="9144000" cy="5143500"/>
          </a:xfrm>
          <a:prstGeom prst="rect">
            <a:avLst/>
          </a:prstGeom>
          <a:gradFill rotWithShape="1">
            <a:gsLst>
              <a:gs pos="0">
                <a:srgbClr val="76B900">
                  <a:alpha val="4000"/>
                </a:srgbClr>
              </a:gs>
              <a:gs pos="50000">
                <a:srgbClr val="000000">
                  <a:alpha val="0"/>
                </a:srgbClr>
              </a:gs>
            </a:gsLst>
            <a:path path="circle">
              <a:fillToRect l="80000" t="20000" r="20000" b="80000"/>
            </a:path>
          </a:gradFill>
          <a:ln/>
        </p:spPr>
        <p:txBody>
          <a:bodyPr wrap="square" rtlCol="0" anchor="t"/>
          <a:lstStyle/>
          <a:p>
            <a:pPr marL="0" indent="0">
              <a:buNone/>
            </a:pPr>
            <a:endParaRPr lang="en-US" dirty="0"/>
          </a:p>
        </p:txBody>
      </p:sp>
      <p:sp>
        <p:nvSpPr>
          <p:cNvPr id="3" name="Text 1">
            <a:extLst>
              <a:ext uri="{FF2B5EF4-FFF2-40B4-BE49-F238E27FC236}">
                <a16:creationId xmlns:a16="http://schemas.microsoft.com/office/drawing/2014/main" id="{1EBD0A81-1F7D-B4D0-F7F6-97220B48874D}"/>
              </a:ext>
            </a:extLst>
          </p:cNvPr>
          <p:cNvSpPr/>
          <p:nvPr/>
        </p:nvSpPr>
        <p:spPr>
          <a:xfrm>
            <a:off x="0" y="0"/>
            <a:ext cx="9144000" cy="5143500"/>
          </a:xfrm>
          <a:prstGeom prst="rect">
            <a:avLst/>
          </a:prstGeom>
          <a:gradFill rotWithShape="1">
            <a:gsLst>
              <a:gs pos="0">
                <a:srgbClr val="76B900">
                  <a:alpha val="3000"/>
                </a:srgbClr>
              </a:gs>
              <a:gs pos="50000">
                <a:srgbClr val="000000">
                  <a:alpha val="0"/>
                </a:srgbClr>
              </a:gs>
            </a:gsLst>
            <a:path path="circle">
              <a:fillToRect l="20000" t="80000" r="80000" b="20000"/>
            </a:path>
          </a:gradFill>
          <a:ln/>
        </p:spPr>
        <p:txBody>
          <a:bodyPr wrap="square" rtlCol="0" anchor="t"/>
          <a:lstStyle/>
          <a:p>
            <a:pPr marL="0" indent="0">
              <a:buNone/>
            </a:pPr>
            <a:endParaRPr lang="en-US" dirty="0"/>
          </a:p>
        </p:txBody>
      </p:sp>
      <p:sp>
        <p:nvSpPr>
          <p:cNvPr id="4" name="Text 2">
            <a:extLst>
              <a:ext uri="{FF2B5EF4-FFF2-40B4-BE49-F238E27FC236}">
                <a16:creationId xmlns:a16="http://schemas.microsoft.com/office/drawing/2014/main" id="{DB57DBDE-B250-225E-3AB1-0F3C5D042BDF}"/>
              </a:ext>
            </a:extLst>
          </p:cNvPr>
          <p:cNvSpPr/>
          <p:nvPr/>
        </p:nvSpPr>
        <p:spPr>
          <a:xfrm>
            <a:off x="0" y="0"/>
            <a:ext cx="9144000" cy="5143500"/>
          </a:xfrm>
          <a:prstGeom prst="rect">
            <a:avLst/>
          </a:prstGeom>
          <a:gradFill rotWithShape="1">
            <a:gsLst>
              <a:gs pos="0">
                <a:srgbClr val="76B900">
                  <a:alpha val="6000"/>
                </a:srgbClr>
              </a:gs>
              <a:gs pos="10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10" name="Text 8">
            <a:extLst>
              <a:ext uri="{FF2B5EF4-FFF2-40B4-BE49-F238E27FC236}">
                <a16:creationId xmlns:a16="http://schemas.microsoft.com/office/drawing/2014/main" id="{6422585B-A123-1BD8-82F2-504719251E7D}"/>
              </a:ext>
            </a:extLst>
          </p:cNvPr>
          <p:cNvSpPr/>
          <p:nvPr/>
        </p:nvSpPr>
        <p:spPr>
          <a:xfrm>
            <a:off x="241442" y="299386"/>
            <a:ext cx="8229600" cy="500000"/>
          </a:xfrm>
          <a:prstGeom prst="rect">
            <a:avLst/>
          </a:prstGeom>
          <a:noFill/>
          <a:ln/>
        </p:spPr>
        <p:txBody>
          <a:bodyPr wrap="none" lIns="0" tIns="0" rIns="0" bIns="0" rtlCol="0" anchor="ctr"/>
          <a:lstStyle/>
          <a:p>
            <a:pPr marL="0" indent="0">
              <a:lnSpc>
                <a:spcPts val="3045"/>
              </a:lnSpc>
              <a:buNone/>
            </a:pPr>
            <a:r>
              <a:rPr lang="en-US" kern="0" spc="60" dirty="0">
                <a:solidFill>
                  <a:srgbClr val="E2E8F0"/>
                </a:solidFill>
                <a:latin typeface="Consolas" pitchFamily="34" charset="0"/>
              </a:rPr>
              <a:t>THE NEW HARSH REALITY OF AI CODE</a:t>
            </a:r>
            <a:endParaRPr lang="en-US" sz="2030" dirty="0"/>
          </a:p>
        </p:txBody>
      </p:sp>
      <p:sp>
        <p:nvSpPr>
          <p:cNvPr id="40" name="CenterCard"/>
          <p:cNvSpPr/>
          <p:nvPr/>
        </p:nvSpPr>
        <p:spPr>
          <a:xfrm>
            <a:off x="1822000" y="1313053"/>
            <a:ext cx="5500000" cy="2600000"/>
          </a:xfrm>
          <a:prstGeom prst="roundRect">
            <a:avLst>
              <a:gd name="adj" fmla="val 6379"/>
            </a:avLst>
          </a:prstGeom>
          <a:solidFill>
            <a:srgbClr val="1A2332"/>
          </a:solidFill>
          <a:ln w="9525">
            <a:solidFill>
              <a:srgbClr val="76B900">
                <a:alpha val="15000"/>
              </a:srgbClr>
            </a:solidFill>
          </a:ln>
        </p:spPr>
        <p:txBody>
          <a:bodyPr wrap="square" rtlCol="0" anchor="t"/>
          <a:lstStyle/>
          <a:p>
            <a:pPr marL="0" indent="0">
              <a:buNone/>
            </a:pPr>
            <a:endParaRPr lang="en-US"/>
          </a:p>
        </p:txBody>
      </p:sp>
      <p:sp>
        <p:nvSpPr>
          <p:cNvPr id="41" name="CenterAccent"/>
          <p:cNvSpPr/>
          <p:nvPr/>
        </p:nvSpPr>
        <p:spPr>
          <a:xfrm>
            <a:off x="1831525" y="1309525"/>
            <a:ext cx="5480950" cy="21580"/>
          </a:xfrm>
          <a:prstGeom prst="rect">
            <a:avLst/>
          </a:prstGeom>
          <a:solidFill>
            <a:srgbClr val="76B900">
              <a:alpha val="60000"/>
            </a:srgbClr>
          </a:solidFill>
          <a:ln/>
        </p:spPr>
        <p:txBody>
          <a:bodyPr wrap="none" rtlCol="0" anchor="t"/>
          <a:lstStyle/>
          <a:p>
            <a:pPr marL="0" indent="0">
              <a:buNone/>
            </a:pPr>
            <a:endParaRPr lang="en-US"/>
          </a:p>
        </p:txBody>
      </p:sp>
      <p:sp>
        <p:nvSpPr>
          <p:cNvPr id="42" name="QuoteOpen"/>
          <p:cNvSpPr/>
          <p:nvPr/>
        </p:nvSpPr>
        <p:spPr>
          <a:xfrm>
            <a:off x="1922000" y="1441105"/>
            <a:ext cx="600000" cy="500000"/>
          </a:xfrm>
          <a:prstGeom prst="rect">
            <a:avLst/>
          </a:prstGeom>
          <a:noFill/>
          <a:ln/>
        </p:spPr>
        <p:txBody>
          <a:bodyPr wrap="square" lIns="0" tIns="0" rIns="0" bIns="0" rtlCol="0" anchor="t"/>
          <a:lstStyle/>
          <a:p>
            <a:pPr marL="0" indent="0" algn="l">
              <a:buNone/>
            </a:pPr>
            <a:r>
              <a:rPr lang="en-US" sz="6000" dirty="0">
                <a:solidFill>
                  <a:srgbClr val="76B900">
                    <a:alpha val="30000"/>
                  </a:srgbClr>
                </a:solidFill>
                <a:latin typeface="Georgia"/>
                <a:ea typeface="Georgia"/>
                <a:cs typeface="Georgia"/>
              </a:rPr>
              <a:t>“</a:t>
            </a:r>
            <a:endParaRPr lang="en-US" dirty="0"/>
          </a:p>
        </p:txBody>
      </p:sp>
      <p:sp>
        <p:nvSpPr>
          <p:cNvPr id="43" name="QuoteText"/>
          <p:cNvSpPr/>
          <p:nvPr/>
        </p:nvSpPr>
        <p:spPr>
          <a:xfrm>
            <a:off x="2222000" y="1880000"/>
            <a:ext cx="4700000" cy="800000"/>
          </a:xfrm>
          <a:prstGeom prst="rect">
            <a:avLst/>
          </a:prstGeom>
          <a:noFill/>
          <a:ln/>
        </p:spPr>
        <p:txBody>
          <a:bodyPr wrap="square" lIns="0" tIns="0" rIns="0" bIns="0" rtlCol="0" anchor="ctr"/>
          <a:lstStyle/>
          <a:p>
            <a:pPr algn="ctr">
              <a:lnSpc>
                <a:spcPts val="3200"/>
              </a:lnSpc>
            </a:pPr>
            <a:endParaRPr lang="en-US" sz="2400" kern="0" spc="60" dirty="0">
              <a:solidFill>
                <a:srgbClr val="E2E8F0"/>
              </a:solidFill>
              <a:latin typeface="Consolas" pitchFamily="34" charset="0"/>
              <a:ea typeface="Consolas" pitchFamily="34" charset="-122"/>
              <a:cs typeface="Consolas" pitchFamily="34" charset="-120"/>
            </a:endParaRPr>
          </a:p>
          <a:p>
            <a:pPr algn="ctr">
              <a:lnSpc>
                <a:spcPts val="3200"/>
              </a:lnSpc>
            </a:pPr>
            <a:endParaRPr lang="en-US" sz="2400" kern="0" spc="60" dirty="0">
              <a:solidFill>
                <a:srgbClr val="E2E8F0"/>
              </a:solidFill>
              <a:latin typeface="Consolas" pitchFamily="34" charset="0"/>
              <a:ea typeface="Consolas" pitchFamily="34" charset="-122"/>
              <a:cs typeface="Consolas" pitchFamily="34" charset="-120"/>
            </a:endParaRPr>
          </a:p>
          <a:p>
            <a:pPr algn="ctr">
              <a:lnSpc>
                <a:spcPts val="3200"/>
              </a:lnSpc>
            </a:pPr>
            <a:r>
              <a:rPr lang="en-US" sz="2400" kern="0" spc="60" dirty="0">
                <a:solidFill>
                  <a:srgbClr val="E2E8F0"/>
                </a:solidFill>
                <a:latin typeface="Consolas" pitchFamily="34" charset="0"/>
                <a:ea typeface="Consolas" pitchFamily="34" charset="-122"/>
                <a:cs typeface="Consolas" pitchFamily="34" charset="-120"/>
              </a:rPr>
              <a:t>The business doesn't care what language your program is written in!</a:t>
            </a:r>
          </a:p>
          <a:p>
            <a:pPr algn="ctr">
              <a:lnSpc>
                <a:spcPts val="3200"/>
              </a:lnSpc>
            </a:pPr>
            <a:endParaRPr lang="en-US" sz="3200" dirty="0"/>
          </a:p>
          <a:p>
            <a:pPr marL="0" indent="0" algn="ctr">
              <a:lnSpc>
                <a:spcPts val="3200"/>
              </a:lnSpc>
              <a:buNone/>
            </a:pPr>
            <a:r>
              <a:rPr lang="en-US" sz="2200" b="1" dirty="0">
                <a:solidFill>
                  <a:srgbClr val="E2E8F0"/>
                </a:solidFill>
                <a:latin typeface="Calibri" pitchFamily="34"/>
                <a:ea typeface="Calibri" pitchFamily="34"/>
                <a:cs typeface="Calibri" pitchFamily="34"/>
              </a:rPr>
              <a:t>Ship value. Ship fast. Ship now.</a:t>
            </a:r>
            <a:endParaRPr lang="en-US" dirty="0"/>
          </a:p>
        </p:txBody>
      </p:sp>
      <p:sp>
        <p:nvSpPr>
          <p:cNvPr id="44" name="QuoteClose"/>
          <p:cNvSpPr/>
          <p:nvPr/>
        </p:nvSpPr>
        <p:spPr>
          <a:xfrm>
            <a:off x="6483645" y="3006500"/>
            <a:ext cx="600000" cy="500000"/>
          </a:xfrm>
          <a:prstGeom prst="rect">
            <a:avLst/>
          </a:prstGeom>
          <a:noFill/>
          <a:ln/>
        </p:spPr>
        <p:txBody>
          <a:bodyPr wrap="square" lIns="0" tIns="0" rIns="0" bIns="0" rtlCol="0" anchor="b"/>
          <a:lstStyle/>
          <a:p>
            <a:pPr marL="0" indent="0" algn="r">
              <a:buNone/>
            </a:pPr>
            <a:r>
              <a:rPr lang="en-US" sz="6000" dirty="0">
                <a:solidFill>
                  <a:srgbClr val="76B900">
                    <a:alpha val="30000"/>
                  </a:srgbClr>
                </a:solidFill>
                <a:latin typeface="Georgia"/>
                <a:ea typeface="Georgia"/>
                <a:cs typeface="Georgia"/>
              </a:rPr>
              <a:t>”</a:t>
            </a:r>
            <a:endParaRPr lang="en-US" dirty="0"/>
          </a:p>
        </p:txBody>
      </p:sp>
      <p:sp>
        <p:nvSpPr>
          <p:cNvPr id="45" name="Tagline"/>
          <p:cNvSpPr/>
          <p:nvPr/>
        </p:nvSpPr>
        <p:spPr>
          <a:xfrm>
            <a:off x="1822000" y="4050000"/>
            <a:ext cx="5500000" cy="300000"/>
          </a:xfrm>
          <a:prstGeom prst="rect">
            <a:avLst/>
          </a:prstGeom>
          <a:noFill/>
          <a:ln/>
        </p:spPr>
        <p:txBody>
          <a:bodyPr wrap="square" lIns="0" tIns="0" rIns="0" bIns="0" rtlCol="0" anchor="t"/>
          <a:lstStyle/>
          <a:p>
            <a:pPr marL="0" indent="0" algn="ctr">
              <a:buNone/>
            </a:pPr>
            <a:r>
              <a:rPr lang="en-US" sz="1000">
                <a:solidFill>
                  <a:srgbClr val="8B9CB6"/>
                </a:solidFill>
                <a:latin typeface="Calibri" pitchFamily="34"/>
                <a:ea typeface="Calibri" pitchFamily="34"/>
                <a:cs typeface="Calibri" pitchFamily="34"/>
              </a:rPr>
              <a:t>Results are what matter — tools are just the means.</a:t>
            </a:r>
            <a:endParaRPr lang="en-US"/>
          </a:p>
        </p:txBody>
      </p:sp>
    </p:spTree>
    <p:extLst>
      <p:ext uri="{BB962C8B-B14F-4D97-AF65-F5344CB8AC3E}">
        <p14:creationId xmlns:p14="http://schemas.microsoft.com/office/powerpoint/2010/main" val="1128630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1000"/>
                </a:srgbClr>
              </a:gs>
              <a:gs pos="50000">
                <a:srgbClr val="000000">
                  <a:alpha val="0"/>
                </a:srgbClr>
              </a:gs>
            </a:gsLst>
            <a:path path="circle">
              <a:fillToRect l="80000" t="70000" r="20000" b="30000"/>
            </a:path>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8B9CB6">
                  <a:alpha val="1000"/>
                </a:srgbClr>
              </a:gs>
              <a:gs pos="50000">
                <a:srgbClr val="000000">
                  <a:alpha val="0"/>
                </a:srgbClr>
              </a:gs>
            </a:gsLst>
            <a:path path="circle">
              <a:fillToRect l="20000" t="30000" r="80000" b="70000"/>
            </a:path>
          </a:gradFill>
          <a:ln/>
        </p:spPr>
        <p:txBody>
          <a:bodyPr wrap="square" rtlCol="0" anchor="t"/>
          <a:lstStyle/>
          <a:p>
            <a:pPr marL="0" indent="0">
              <a:buNone/>
            </a:pPr>
            <a:endParaRPr lang="en-US" dirty="0"/>
          </a:p>
        </p:txBody>
      </p:sp>
      <p:sp>
        <p:nvSpPr>
          <p:cNvPr id="4" name="Text 2"/>
          <p:cNvSpPr/>
          <p:nvPr/>
        </p:nvSpPr>
        <p:spPr>
          <a:xfrm>
            <a:off x="457200" y="375196"/>
            <a:ext cx="342900" cy="342900"/>
          </a:xfrm>
          <a:prstGeom prst="roundRect">
            <a:avLst>
              <a:gd name="adj" fmla="val 20741"/>
            </a:avLst>
          </a:prstGeom>
          <a:solidFill>
            <a:srgbClr val="76B900">
              <a:alpha val="12000"/>
            </a:srgbClr>
          </a:solidFill>
          <a:ln/>
        </p:spPr>
        <p:txBody>
          <a:bodyPr wrap="square" rtlCol="0" anchor="t"/>
          <a:lstStyle/>
          <a:p>
            <a:pPr marL="0" indent="0">
              <a:buNone/>
            </a:pPr>
            <a:endParaRPr lang="en-US"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147" y="477143"/>
            <a:ext cx="139005" cy="139005"/>
          </a:xfrm>
          <a:prstGeom prst="rect">
            <a:avLst/>
          </a:prstGeom>
        </p:spPr>
      </p:pic>
      <p:sp>
        <p:nvSpPr>
          <p:cNvPr id="6" name="Text 3"/>
          <p:cNvSpPr/>
          <p:nvPr/>
        </p:nvSpPr>
        <p:spPr>
          <a:xfrm>
            <a:off x="914400" y="342900"/>
            <a:ext cx="4614156" cy="407640"/>
          </a:xfrm>
          <a:prstGeom prst="rect">
            <a:avLst/>
          </a:prstGeom>
          <a:noFill/>
          <a:ln/>
        </p:spPr>
        <p:txBody>
          <a:bodyPr wrap="none" lIns="0" tIns="0" rIns="0" bIns="0" rtlCol="0" anchor="ctr"/>
          <a:lstStyle/>
          <a:p>
            <a:pPr marL="0" indent="0" algn="l">
              <a:lnSpc>
                <a:spcPts val="3210"/>
              </a:lnSpc>
              <a:buNone/>
            </a:pPr>
            <a:r>
              <a:rPr lang="en-US" sz="2140" b="1" kern="0" spc="-30" dirty="0">
                <a:solidFill>
                  <a:srgbClr val="E2E8F0"/>
                </a:solidFill>
                <a:latin typeface="Consolas" pitchFamily="34" charset="0"/>
                <a:ea typeface="Consolas" pitchFamily="34" charset="-122"/>
                <a:cs typeface="Consolas" pitchFamily="34" charset="-120"/>
              </a:rPr>
              <a:t>Why You Might Skip Local AI</a:t>
            </a:r>
            <a:endParaRPr lang="en-US" sz="2140" dirty="0"/>
          </a:p>
        </p:txBody>
      </p:sp>
      <p:sp>
        <p:nvSpPr>
          <p:cNvPr id="7" name="Text 4"/>
          <p:cNvSpPr/>
          <p:nvPr/>
        </p:nvSpPr>
        <p:spPr>
          <a:xfrm>
            <a:off x="594360" y="807690"/>
            <a:ext cx="8549640" cy="182880"/>
          </a:xfrm>
          <a:prstGeom prst="rect">
            <a:avLst/>
          </a:prstGeom>
          <a:noFill/>
          <a:ln/>
        </p:spPr>
        <p:txBody>
          <a:bodyPr wrap="none" lIns="0" tIns="0" rIns="0" bIns="0" rtlCol="0" anchor="t"/>
          <a:lstStyle/>
          <a:p>
            <a:pPr marL="0" indent="0" algn="l">
              <a:lnSpc>
                <a:spcPts val="1350"/>
              </a:lnSpc>
              <a:buNone/>
            </a:pPr>
            <a:r>
              <a:rPr lang="en-US" sz="900" i="1" dirty="0">
                <a:solidFill>
                  <a:srgbClr val="8B9CB6"/>
                </a:solidFill>
                <a:latin typeface="Calibri" pitchFamily="34" charset="0"/>
                <a:ea typeface="Calibri" pitchFamily="34" charset="-122"/>
                <a:cs typeface="Calibri" pitchFamily="34" charset="-120"/>
              </a:rPr>
              <a:t>Honest counterpoints — and that's okay (for now)</a:t>
            </a:r>
            <a:endParaRPr lang="en-US" sz="900" dirty="0"/>
          </a:p>
        </p:txBody>
      </p:sp>
      <p:sp>
        <p:nvSpPr>
          <p:cNvPr id="8" name="Text 5"/>
          <p:cNvSpPr/>
          <p:nvPr/>
        </p:nvSpPr>
        <p:spPr>
          <a:xfrm>
            <a:off x="457200" y="1179761"/>
            <a:ext cx="4064645" cy="989856"/>
          </a:xfrm>
          <a:prstGeom prst="roundRect">
            <a:avLst>
              <a:gd name="adj" fmla="val 8725"/>
            </a:avLst>
          </a:prstGeom>
          <a:solidFill>
            <a:srgbClr val="1A2332"/>
          </a:solidFill>
          <a:ln w="9525">
            <a:solidFill>
              <a:srgbClr val="8B9CB6">
                <a:alpha val="12000"/>
              </a:srgbClr>
            </a:solidFill>
          </a:ln>
        </p:spPr>
        <p:txBody>
          <a:bodyPr wrap="square" rtlCol="0" anchor="t"/>
          <a:lstStyle/>
          <a:p>
            <a:pPr marL="0" indent="0">
              <a:buNone/>
            </a:pPr>
            <a:endParaRPr lang="en-US" dirty="0"/>
          </a:p>
        </p:txBody>
      </p:sp>
      <p:sp>
        <p:nvSpPr>
          <p:cNvPr id="9" name="Text 6"/>
          <p:cNvSpPr/>
          <p:nvPr/>
        </p:nvSpPr>
        <p:spPr>
          <a:xfrm>
            <a:off x="638175" y="1545729"/>
            <a:ext cx="257770" cy="283547"/>
          </a:xfrm>
          <a:prstGeom prst="ellipse">
            <a:avLst/>
          </a:prstGeom>
          <a:solidFill>
            <a:srgbClr val="8B9CB6">
              <a:alpha val="10000"/>
            </a:srgbClr>
          </a:solidFill>
          <a:ln w="9525">
            <a:solidFill>
              <a:srgbClr val="8B9CB6">
                <a:alpha val="25000"/>
              </a:srgbClr>
            </a:solidFill>
          </a:ln>
        </p:spPr>
        <p:txBody>
          <a:bodyPr wrap="none" lIns="0" tIns="0" rIns="0" bIns="0" rtlCol="0" anchor="ctr"/>
          <a:lstStyle/>
          <a:p>
            <a:pPr marL="0" indent="0" algn="ctr">
              <a:buNone/>
            </a:pPr>
            <a:r>
              <a:rPr lang="en-US" sz="840" b="1" dirty="0">
                <a:solidFill>
                  <a:srgbClr val="8B9CB6"/>
                </a:solidFill>
                <a:latin typeface="Consolas" pitchFamily="34" charset="0"/>
                <a:ea typeface="Consolas" pitchFamily="34" charset="-122"/>
                <a:cs typeface="Consolas" pitchFamily="34" charset="-120"/>
              </a:rPr>
              <a:t>1</a:t>
            </a:r>
            <a:endParaRPr lang="en-US" sz="840" dirty="0"/>
          </a:p>
        </p:txBody>
      </p:sp>
      <p:sp>
        <p:nvSpPr>
          <p:cNvPr id="10" name="Text 7"/>
          <p:cNvSpPr/>
          <p:nvPr/>
        </p:nvSpPr>
        <p:spPr>
          <a:xfrm>
            <a:off x="1024086" y="1531739"/>
            <a:ext cx="285750" cy="285750"/>
          </a:xfrm>
          <a:prstGeom prst="roundRect">
            <a:avLst>
              <a:gd name="adj" fmla="val 24889"/>
            </a:avLst>
          </a:prstGeom>
          <a:solidFill>
            <a:srgbClr val="8B9CB6">
              <a:alpha val="8000"/>
            </a:srgbClr>
          </a:solidFill>
          <a:ln/>
        </p:spPr>
        <p:txBody>
          <a:bodyPr wrap="square" rtlCol="0" anchor="t"/>
          <a:lstStyle/>
          <a:p>
            <a:pPr marL="0" indent="0">
              <a:buNone/>
            </a:pPr>
            <a:endParaRPr lang="en-US" dirty="0"/>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00593" y="1608246"/>
            <a:ext cx="132588" cy="132588"/>
          </a:xfrm>
          <a:prstGeom prst="rect">
            <a:avLst/>
          </a:prstGeom>
        </p:spPr>
      </p:pic>
      <p:sp>
        <p:nvSpPr>
          <p:cNvPr id="12" name="Text 8"/>
          <p:cNvSpPr/>
          <p:nvPr/>
        </p:nvSpPr>
        <p:spPr>
          <a:xfrm>
            <a:off x="1437977" y="1589336"/>
            <a:ext cx="3193182" cy="170557"/>
          </a:xfrm>
          <a:prstGeom prst="rect">
            <a:avLst/>
          </a:prstGeom>
          <a:noFill/>
          <a:ln/>
        </p:spPr>
        <p:txBody>
          <a:bodyPr wrap="none" lIns="0" tIns="0" rIns="0" bIns="0" rtlCol="0" anchor="ctr"/>
          <a:lstStyle/>
          <a:p>
            <a:pPr marL="0" indent="0" algn="l">
              <a:lnSpc>
                <a:spcPts val="1344"/>
              </a:lnSpc>
              <a:buNone/>
            </a:pPr>
            <a:r>
              <a:rPr lang="en-US" sz="960" dirty="0">
                <a:solidFill>
                  <a:srgbClr val="E2E8F0"/>
                </a:solidFill>
                <a:latin typeface="Calibri" pitchFamily="34" charset="0"/>
                <a:ea typeface="Calibri" pitchFamily="34" charset="-122"/>
                <a:cs typeface="Calibri" pitchFamily="34" charset="-120"/>
              </a:rPr>
              <a:t>Don't know where to start</a:t>
            </a:r>
            <a:endParaRPr lang="en-US" sz="960" dirty="0"/>
          </a:p>
        </p:txBody>
      </p:sp>
      <p:sp>
        <p:nvSpPr>
          <p:cNvPr id="13" name="Text 9"/>
          <p:cNvSpPr/>
          <p:nvPr/>
        </p:nvSpPr>
        <p:spPr>
          <a:xfrm>
            <a:off x="4622155" y="1179761"/>
            <a:ext cx="4064645" cy="989856"/>
          </a:xfrm>
          <a:prstGeom prst="roundRect">
            <a:avLst>
              <a:gd name="adj" fmla="val 8725"/>
            </a:avLst>
          </a:prstGeom>
          <a:solidFill>
            <a:srgbClr val="1A2332"/>
          </a:solidFill>
          <a:ln w="9525">
            <a:solidFill>
              <a:srgbClr val="8B9CB6">
                <a:alpha val="12000"/>
              </a:srgbClr>
            </a:solidFill>
          </a:ln>
        </p:spPr>
        <p:txBody>
          <a:bodyPr wrap="square" rtlCol="0" anchor="t"/>
          <a:lstStyle/>
          <a:p>
            <a:pPr marL="0" indent="0">
              <a:buNone/>
            </a:pPr>
            <a:endParaRPr lang="en-US" dirty="0"/>
          </a:p>
        </p:txBody>
      </p:sp>
      <p:sp>
        <p:nvSpPr>
          <p:cNvPr id="14" name="Text 10"/>
          <p:cNvSpPr/>
          <p:nvPr/>
        </p:nvSpPr>
        <p:spPr>
          <a:xfrm>
            <a:off x="4803130" y="1545729"/>
            <a:ext cx="257770" cy="283547"/>
          </a:xfrm>
          <a:prstGeom prst="ellipse">
            <a:avLst/>
          </a:prstGeom>
          <a:solidFill>
            <a:srgbClr val="8B9CB6">
              <a:alpha val="10000"/>
            </a:srgbClr>
          </a:solidFill>
          <a:ln w="9525">
            <a:solidFill>
              <a:srgbClr val="8B9CB6">
                <a:alpha val="25000"/>
              </a:srgbClr>
            </a:solidFill>
          </a:ln>
        </p:spPr>
        <p:txBody>
          <a:bodyPr wrap="none" lIns="0" tIns="0" rIns="0" bIns="0" rtlCol="0" anchor="ctr"/>
          <a:lstStyle/>
          <a:p>
            <a:pPr marL="0" indent="0" algn="ctr">
              <a:buNone/>
            </a:pPr>
            <a:r>
              <a:rPr lang="en-US" sz="840" b="1" dirty="0">
                <a:solidFill>
                  <a:srgbClr val="8B9CB6"/>
                </a:solidFill>
                <a:latin typeface="Consolas" pitchFamily="34" charset="0"/>
                <a:ea typeface="Consolas" pitchFamily="34" charset="-122"/>
                <a:cs typeface="Consolas" pitchFamily="34" charset="-120"/>
              </a:rPr>
              <a:t>2</a:t>
            </a:r>
            <a:endParaRPr lang="en-US" sz="840" dirty="0"/>
          </a:p>
        </p:txBody>
      </p:sp>
      <p:sp>
        <p:nvSpPr>
          <p:cNvPr id="15" name="Text 11"/>
          <p:cNvSpPr/>
          <p:nvPr/>
        </p:nvSpPr>
        <p:spPr>
          <a:xfrm>
            <a:off x="5189041" y="1531739"/>
            <a:ext cx="285750" cy="285750"/>
          </a:xfrm>
          <a:prstGeom prst="roundRect">
            <a:avLst>
              <a:gd name="adj" fmla="val 24889"/>
            </a:avLst>
          </a:prstGeom>
          <a:solidFill>
            <a:srgbClr val="8B9CB6">
              <a:alpha val="8000"/>
            </a:srgbClr>
          </a:solidFill>
          <a:ln/>
        </p:spPr>
        <p:txBody>
          <a:bodyPr wrap="square" rtlCol="0" anchor="t"/>
          <a:lstStyle/>
          <a:p>
            <a:pPr marL="0" indent="0">
              <a:buNone/>
            </a:pPr>
            <a:endParaRPr lang="en-US" dirty="0"/>
          </a:p>
        </p:txBody>
      </p:sp>
      <p:pic>
        <p:nvPicPr>
          <p:cNvPr id="16"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265548" y="1608246"/>
            <a:ext cx="132588" cy="132588"/>
          </a:xfrm>
          <a:prstGeom prst="rect">
            <a:avLst/>
          </a:prstGeom>
        </p:spPr>
      </p:pic>
      <p:sp>
        <p:nvSpPr>
          <p:cNvPr id="17" name="Text 12"/>
          <p:cNvSpPr/>
          <p:nvPr/>
        </p:nvSpPr>
        <p:spPr>
          <a:xfrm>
            <a:off x="5602932" y="1589336"/>
            <a:ext cx="3193182" cy="170557"/>
          </a:xfrm>
          <a:prstGeom prst="rect">
            <a:avLst/>
          </a:prstGeom>
          <a:noFill/>
          <a:ln/>
        </p:spPr>
        <p:txBody>
          <a:bodyPr wrap="none" lIns="0" tIns="0" rIns="0" bIns="0" rtlCol="0" anchor="ctr"/>
          <a:lstStyle/>
          <a:p>
            <a:pPr marL="0" indent="0" algn="l">
              <a:lnSpc>
                <a:spcPts val="1344"/>
              </a:lnSpc>
              <a:buNone/>
            </a:pPr>
            <a:r>
              <a:rPr lang="en-US" sz="960" dirty="0">
                <a:solidFill>
                  <a:srgbClr val="E2E8F0"/>
                </a:solidFill>
                <a:latin typeface="Calibri" pitchFamily="34" charset="0"/>
                <a:ea typeface="Calibri" pitchFamily="34" charset="-122"/>
                <a:cs typeface="Calibri" pitchFamily="34" charset="-120"/>
              </a:rPr>
              <a:t>Just asking AI is good enough for you</a:t>
            </a:r>
            <a:endParaRPr lang="en-US" sz="960" dirty="0"/>
          </a:p>
        </p:txBody>
      </p:sp>
      <p:sp>
        <p:nvSpPr>
          <p:cNvPr id="18" name="Text 13"/>
          <p:cNvSpPr/>
          <p:nvPr/>
        </p:nvSpPr>
        <p:spPr>
          <a:xfrm>
            <a:off x="457200" y="2269927"/>
            <a:ext cx="4064645" cy="989856"/>
          </a:xfrm>
          <a:prstGeom prst="roundRect">
            <a:avLst>
              <a:gd name="adj" fmla="val 8725"/>
            </a:avLst>
          </a:prstGeom>
          <a:solidFill>
            <a:srgbClr val="1A2332"/>
          </a:solidFill>
          <a:ln w="9525">
            <a:solidFill>
              <a:srgbClr val="8B9CB6">
                <a:alpha val="12000"/>
              </a:srgbClr>
            </a:solidFill>
          </a:ln>
        </p:spPr>
        <p:txBody>
          <a:bodyPr wrap="square" rtlCol="0" anchor="t"/>
          <a:lstStyle/>
          <a:p>
            <a:pPr marL="0" indent="0">
              <a:buNone/>
            </a:pPr>
            <a:endParaRPr lang="en-US" dirty="0"/>
          </a:p>
        </p:txBody>
      </p:sp>
      <p:sp>
        <p:nvSpPr>
          <p:cNvPr id="19" name="Text 14"/>
          <p:cNvSpPr/>
          <p:nvPr/>
        </p:nvSpPr>
        <p:spPr>
          <a:xfrm>
            <a:off x="638175" y="2635895"/>
            <a:ext cx="257770" cy="283547"/>
          </a:xfrm>
          <a:prstGeom prst="ellipse">
            <a:avLst/>
          </a:prstGeom>
          <a:solidFill>
            <a:srgbClr val="8B9CB6">
              <a:alpha val="10000"/>
            </a:srgbClr>
          </a:solidFill>
          <a:ln w="9525">
            <a:solidFill>
              <a:srgbClr val="8B9CB6">
                <a:alpha val="25000"/>
              </a:srgbClr>
            </a:solidFill>
          </a:ln>
        </p:spPr>
        <p:txBody>
          <a:bodyPr wrap="none" lIns="0" tIns="0" rIns="0" bIns="0" rtlCol="0" anchor="ctr"/>
          <a:lstStyle/>
          <a:p>
            <a:pPr marL="0" indent="0" algn="ctr">
              <a:buNone/>
            </a:pPr>
            <a:r>
              <a:rPr lang="en-US" sz="840" b="1" dirty="0">
                <a:solidFill>
                  <a:srgbClr val="8B9CB6"/>
                </a:solidFill>
                <a:latin typeface="Consolas" pitchFamily="34" charset="0"/>
                <a:ea typeface="Consolas" pitchFamily="34" charset="-122"/>
                <a:cs typeface="Consolas" pitchFamily="34" charset="-120"/>
              </a:rPr>
              <a:t>3</a:t>
            </a:r>
            <a:endParaRPr lang="en-US" sz="840" dirty="0"/>
          </a:p>
        </p:txBody>
      </p:sp>
      <p:sp>
        <p:nvSpPr>
          <p:cNvPr id="20" name="Text 15"/>
          <p:cNvSpPr/>
          <p:nvPr/>
        </p:nvSpPr>
        <p:spPr>
          <a:xfrm>
            <a:off x="1024086" y="2621905"/>
            <a:ext cx="285750" cy="285750"/>
          </a:xfrm>
          <a:prstGeom prst="roundRect">
            <a:avLst>
              <a:gd name="adj" fmla="val 24889"/>
            </a:avLst>
          </a:prstGeom>
          <a:solidFill>
            <a:srgbClr val="8B9CB6">
              <a:alpha val="8000"/>
            </a:srgbClr>
          </a:solidFill>
          <a:ln/>
        </p:spPr>
        <p:txBody>
          <a:bodyPr wrap="square" rtlCol="0" anchor="t"/>
          <a:lstStyle/>
          <a:p>
            <a:pPr marL="0" indent="0">
              <a:buNone/>
            </a:pPr>
            <a:endParaRPr lang="en-US"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0593" y="2698412"/>
            <a:ext cx="132588" cy="132588"/>
          </a:xfrm>
          <a:prstGeom prst="rect">
            <a:avLst/>
          </a:prstGeom>
        </p:spPr>
      </p:pic>
      <p:sp>
        <p:nvSpPr>
          <p:cNvPr id="22" name="Text 16"/>
          <p:cNvSpPr/>
          <p:nvPr/>
        </p:nvSpPr>
        <p:spPr>
          <a:xfrm>
            <a:off x="1437977" y="2679502"/>
            <a:ext cx="3193182" cy="170557"/>
          </a:xfrm>
          <a:prstGeom prst="rect">
            <a:avLst/>
          </a:prstGeom>
          <a:noFill/>
          <a:ln/>
        </p:spPr>
        <p:txBody>
          <a:bodyPr wrap="none" lIns="0" tIns="0" rIns="0" bIns="0" rtlCol="0" anchor="ctr"/>
          <a:lstStyle/>
          <a:p>
            <a:pPr marL="0" indent="0" algn="l">
              <a:lnSpc>
                <a:spcPts val="1344"/>
              </a:lnSpc>
              <a:buNone/>
            </a:pPr>
            <a:r>
              <a:rPr lang="en-US" sz="960" dirty="0">
                <a:solidFill>
                  <a:srgbClr val="E2E8F0"/>
                </a:solidFill>
                <a:latin typeface="Calibri" pitchFamily="34" charset="0"/>
                <a:ea typeface="Calibri" pitchFamily="34" charset="-122"/>
                <a:cs typeface="Calibri" pitchFamily="34" charset="-120"/>
              </a:rPr>
              <a:t>Don't care about persistent memory</a:t>
            </a:r>
            <a:endParaRPr lang="en-US" sz="960" dirty="0"/>
          </a:p>
        </p:txBody>
      </p:sp>
      <p:sp>
        <p:nvSpPr>
          <p:cNvPr id="23" name="Text 17"/>
          <p:cNvSpPr/>
          <p:nvPr/>
        </p:nvSpPr>
        <p:spPr>
          <a:xfrm>
            <a:off x="4622155" y="2269927"/>
            <a:ext cx="4064645" cy="989856"/>
          </a:xfrm>
          <a:prstGeom prst="roundRect">
            <a:avLst>
              <a:gd name="adj" fmla="val 8725"/>
            </a:avLst>
          </a:prstGeom>
          <a:solidFill>
            <a:srgbClr val="1A2332"/>
          </a:solidFill>
          <a:ln w="9525">
            <a:solidFill>
              <a:srgbClr val="8B9CB6">
                <a:alpha val="12000"/>
              </a:srgbClr>
            </a:solidFill>
          </a:ln>
        </p:spPr>
        <p:txBody>
          <a:bodyPr wrap="square" rtlCol="0" anchor="t"/>
          <a:lstStyle/>
          <a:p>
            <a:pPr marL="0" indent="0">
              <a:buNone/>
            </a:pPr>
            <a:endParaRPr lang="en-US" dirty="0"/>
          </a:p>
        </p:txBody>
      </p:sp>
      <p:sp>
        <p:nvSpPr>
          <p:cNvPr id="24" name="Text 18"/>
          <p:cNvSpPr/>
          <p:nvPr/>
        </p:nvSpPr>
        <p:spPr>
          <a:xfrm>
            <a:off x="4803130" y="2635895"/>
            <a:ext cx="257770" cy="283547"/>
          </a:xfrm>
          <a:prstGeom prst="ellipse">
            <a:avLst/>
          </a:prstGeom>
          <a:solidFill>
            <a:srgbClr val="8B9CB6">
              <a:alpha val="10000"/>
            </a:srgbClr>
          </a:solidFill>
          <a:ln w="9525">
            <a:solidFill>
              <a:srgbClr val="8B9CB6">
                <a:alpha val="25000"/>
              </a:srgbClr>
            </a:solidFill>
          </a:ln>
        </p:spPr>
        <p:txBody>
          <a:bodyPr wrap="none" lIns="0" tIns="0" rIns="0" bIns="0" rtlCol="0" anchor="ctr"/>
          <a:lstStyle/>
          <a:p>
            <a:pPr marL="0" indent="0" algn="ctr">
              <a:buNone/>
            </a:pPr>
            <a:r>
              <a:rPr lang="en-US" sz="840" b="1" dirty="0">
                <a:solidFill>
                  <a:srgbClr val="8B9CB6"/>
                </a:solidFill>
                <a:latin typeface="Consolas" pitchFamily="34" charset="0"/>
                <a:ea typeface="Consolas" pitchFamily="34" charset="-122"/>
                <a:cs typeface="Consolas" pitchFamily="34" charset="-120"/>
              </a:rPr>
              <a:t>4</a:t>
            </a:r>
            <a:endParaRPr lang="en-US" sz="840" dirty="0"/>
          </a:p>
        </p:txBody>
      </p:sp>
      <p:sp>
        <p:nvSpPr>
          <p:cNvPr id="25" name="Text 19"/>
          <p:cNvSpPr/>
          <p:nvPr/>
        </p:nvSpPr>
        <p:spPr>
          <a:xfrm>
            <a:off x="5189041" y="2621905"/>
            <a:ext cx="285750" cy="285750"/>
          </a:xfrm>
          <a:prstGeom prst="roundRect">
            <a:avLst>
              <a:gd name="adj" fmla="val 24889"/>
            </a:avLst>
          </a:prstGeom>
          <a:solidFill>
            <a:srgbClr val="8B9CB6">
              <a:alpha val="8000"/>
            </a:srgbClr>
          </a:solidFill>
          <a:ln/>
        </p:spPr>
        <p:txBody>
          <a:bodyPr wrap="square" rtlCol="0" anchor="t"/>
          <a:lstStyle/>
          <a:p>
            <a:pPr marL="0" indent="0">
              <a:buNone/>
            </a:pPr>
            <a:endParaRPr lang="en-US" dirty="0"/>
          </a:p>
        </p:txBody>
      </p:sp>
      <p:pic>
        <p:nvPicPr>
          <p:cNvPr id="26"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265548" y="2698412"/>
            <a:ext cx="132588" cy="132588"/>
          </a:xfrm>
          <a:prstGeom prst="rect">
            <a:avLst/>
          </a:prstGeom>
        </p:spPr>
      </p:pic>
      <p:sp>
        <p:nvSpPr>
          <p:cNvPr id="27" name="Text 20"/>
          <p:cNvSpPr/>
          <p:nvPr/>
        </p:nvSpPr>
        <p:spPr>
          <a:xfrm>
            <a:off x="5602932" y="2679502"/>
            <a:ext cx="3193182" cy="170557"/>
          </a:xfrm>
          <a:prstGeom prst="rect">
            <a:avLst/>
          </a:prstGeom>
          <a:noFill/>
          <a:ln/>
        </p:spPr>
        <p:txBody>
          <a:bodyPr wrap="none" lIns="0" tIns="0" rIns="0" bIns="0" rtlCol="0" anchor="ctr"/>
          <a:lstStyle/>
          <a:p>
            <a:pPr marL="0" indent="0" algn="l">
              <a:lnSpc>
                <a:spcPts val="1344"/>
              </a:lnSpc>
              <a:buNone/>
            </a:pPr>
            <a:r>
              <a:rPr lang="en-US" sz="960" dirty="0">
                <a:solidFill>
                  <a:srgbClr val="E2E8F0"/>
                </a:solidFill>
                <a:latin typeface="Calibri" pitchFamily="34" charset="0"/>
                <a:ea typeface="Calibri" pitchFamily="34" charset="-122"/>
                <a:cs typeface="Calibri" pitchFamily="34" charset="-120"/>
              </a:rPr>
              <a:t>Don't want to buy expensive hardware</a:t>
            </a:r>
            <a:endParaRPr lang="en-US" sz="960" dirty="0"/>
          </a:p>
        </p:txBody>
      </p:sp>
      <p:sp>
        <p:nvSpPr>
          <p:cNvPr id="28" name="Text 21"/>
          <p:cNvSpPr/>
          <p:nvPr/>
        </p:nvSpPr>
        <p:spPr>
          <a:xfrm>
            <a:off x="457200" y="3360093"/>
            <a:ext cx="4064645" cy="989856"/>
          </a:xfrm>
          <a:prstGeom prst="roundRect">
            <a:avLst>
              <a:gd name="adj" fmla="val 8725"/>
            </a:avLst>
          </a:prstGeom>
          <a:solidFill>
            <a:srgbClr val="1A2332"/>
          </a:solidFill>
          <a:ln w="9525">
            <a:solidFill>
              <a:srgbClr val="8B9CB6">
                <a:alpha val="12000"/>
              </a:srgbClr>
            </a:solidFill>
          </a:ln>
        </p:spPr>
        <p:txBody>
          <a:bodyPr wrap="square" rtlCol="0" anchor="t"/>
          <a:lstStyle/>
          <a:p>
            <a:pPr marL="0" indent="0">
              <a:buNone/>
            </a:pPr>
            <a:endParaRPr lang="en-US" dirty="0"/>
          </a:p>
        </p:txBody>
      </p:sp>
      <p:sp>
        <p:nvSpPr>
          <p:cNvPr id="29" name="Text 22"/>
          <p:cNvSpPr/>
          <p:nvPr/>
        </p:nvSpPr>
        <p:spPr>
          <a:xfrm>
            <a:off x="638175" y="3726061"/>
            <a:ext cx="257770" cy="283547"/>
          </a:xfrm>
          <a:prstGeom prst="ellipse">
            <a:avLst/>
          </a:prstGeom>
          <a:solidFill>
            <a:srgbClr val="8B9CB6">
              <a:alpha val="10000"/>
            </a:srgbClr>
          </a:solidFill>
          <a:ln w="9525">
            <a:solidFill>
              <a:srgbClr val="8B9CB6">
                <a:alpha val="25000"/>
              </a:srgbClr>
            </a:solidFill>
          </a:ln>
        </p:spPr>
        <p:txBody>
          <a:bodyPr wrap="none" lIns="0" tIns="0" rIns="0" bIns="0" rtlCol="0" anchor="ctr"/>
          <a:lstStyle/>
          <a:p>
            <a:pPr marL="0" indent="0" algn="ctr">
              <a:buNone/>
            </a:pPr>
            <a:r>
              <a:rPr lang="en-US" sz="840" b="1" dirty="0">
                <a:solidFill>
                  <a:srgbClr val="8B9CB6"/>
                </a:solidFill>
                <a:latin typeface="Consolas" pitchFamily="34" charset="0"/>
                <a:ea typeface="Consolas" pitchFamily="34" charset="-122"/>
                <a:cs typeface="Consolas" pitchFamily="34" charset="-120"/>
              </a:rPr>
              <a:t>5</a:t>
            </a:r>
            <a:endParaRPr lang="en-US" sz="840" dirty="0"/>
          </a:p>
        </p:txBody>
      </p:sp>
      <p:sp>
        <p:nvSpPr>
          <p:cNvPr id="30" name="Text 23"/>
          <p:cNvSpPr/>
          <p:nvPr/>
        </p:nvSpPr>
        <p:spPr>
          <a:xfrm>
            <a:off x="1024086" y="3712071"/>
            <a:ext cx="285750" cy="285750"/>
          </a:xfrm>
          <a:prstGeom prst="roundRect">
            <a:avLst>
              <a:gd name="adj" fmla="val 24889"/>
            </a:avLst>
          </a:prstGeom>
          <a:solidFill>
            <a:srgbClr val="8B9CB6">
              <a:alpha val="8000"/>
            </a:srgbClr>
          </a:solidFill>
          <a:ln/>
        </p:spPr>
        <p:txBody>
          <a:bodyPr wrap="square" rtlCol="0" anchor="t"/>
          <a:lstStyle/>
          <a:p>
            <a:pPr marL="0" indent="0">
              <a:buNone/>
            </a:pPr>
            <a:endParaRPr lang="en-US" dirty="0"/>
          </a:p>
        </p:txBody>
      </p:sp>
      <p:pic>
        <p:nvPicPr>
          <p:cNvPr id="31"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00593" y="3788578"/>
            <a:ext cx="132588" cy="132588"/>
          </a:xfrm>
          <a:prstGeom prst="rect">
            <a:avLst/>
          </a:prstGeom>
        </p:spPr>
      </p:pic>
      <p:sp>
        <p:nvSpPr>
          <p:cNvPr id="32" name="Text 24"/>
          <p:cNvSpPr/>
          <p:nvPr/>
        </p:nvSpPr>
        <p:spPr>
          <a:xfrm>
            <a:off x="1437977" y="3684389"/>
            <a:ext cx="2960950" cy="358170"/>
          </a:xfrm>
          <a:prstGeom prst="rect">
            <a:avLst/>
          </a:prstGeom>
          <a:noFill/>
          <a:ln/>
        </p:spPr>
        <p:txBody>
          <a:bodyPr wrap="square" lIns="0" tIns="0" rIns="0" bIns="0" rtlCol="0" anchor="ctr"/>
          <a:lstStyle/>
          <a:p>
            <a:pPr marL="0" indent="0" algn="l">
              <a:lnSpc>
                <a:spcPts val="1344"/>
              </a:lnSpc>
              <a:buNone/>
            </a:pPr>
            <a:r>
              <a:rPr lang="en-US" sz="960" dirty="0">
                <a:solidFill>
                  <a:srgbClr val="E2E8F0"/>
                </a:solidFill>
                <a:latin typeface="Calibri" pitchFamily="34" charset="0"/>
                <a:ea typeface="Calibri" pitchFamily="34" charset="-122"/>
                <a:cs typeface="Calibri" pitchFamily="34" charset="-120"/>
              </a:rPr>
              <a:t>Subscription costs &amp; company lock-in don't bother you</a:t>
            </a:r>
            <a:endParaRPr lang="en-US" sz="960" dirty="0"/>
          </a:p>
        </p:txBody>
      </p:sp>
      <p:sp>
        <p:nvSpPr>
          <p:cNvPr id="33" name="Text 25"/>
          <p:cNvSpPr/>
          <p:nvPr/>
        </p:nvSpPr>
        <p:spPr>
          <a:xfrm>
            <a:off x="4622155" y="3360093"/>
            <a:ext cx="4064645" cy="989856"/>
          </a:xfrm>
          <a:prstGeom prst="roundRect">
            <a:avLst>
              <a:gd name="adj" fmla="val 8725"/>
            </a:avLst>
          </a:prstGeom>
          <a:solidFill>
            <a:srgbClr val="1A2332"/>
          </a:solidFill>
          <a:ln w="9525">
            <a:solidFill>
              <a:srgbClr val="8B9CB6">
                <a:alpha val="12000"/>
              </a:srgbClr>
            </a:solidFill>
          </a:ln>
        </p:spPr>
        <p:txBody>
          <a:bodyPr wrap="square" rtlCol="0" anchor="t"/>
          <a:lstStyle/>
          <a:p>
            <a:pPr marL="0" indent="0">
              <a:buNone/>
            </a:pPr>
            <a:endParaRPr lang="en-US" dirty="0"/>
          </a:p>
        </p:txBody>
      </p:sp>
      <p:sp>
        <p:nvSpPr>
          <p:cNvPr id="34" name="Text 26"/>
          <p:cNvSpPr/>
          <p:nvPr/>
        </p:nvSpPr>
        <p:spPr>
          <a:xfrm>
            <a:off x="4803130" y="3726061"/>
            <a:ext cx="257770" cy="283547"/>
          </a:xfrm>
          <a:prstGeom prst="ellipse">
            <a:avLst/>
          </a:prstGeom>
          <a:solidFill>
            <a:srgbClr val="8B9CB6">
              <a:alpha val="10000"/>
            </a:srgbClr>
          </a:solidFill>
          <a:ln w="9525">
            <a:solidFill>
              <a:srgbClr val="8B9CB6">
                <a:alpha val="25000"/>
              </a:srgbClr>
            </a:solidFill>
          </a:ln>
        </p:spPr>
        <p:txBody>
          <a:bodyPr wrap="none" lIns="0" tIns="0" rIns="0" bIns="0" rtlCol="0" anchor="ctr"/>
          <a:lstStyle/>
          <a:p>
            <a:pPr marL="0" indent="0" algn="ctr">
              <a:buNone/>
            </a:pPr>
            <a:r>
              <a:rPr lang="en-US" sz="840" b="1" dirty="0">
                <a:solidFill>
                  <a:srgbClr val="8B9CB6"/>
                </a:solidFill>
                <a:latin typeface="Consolas" pitchFamily="34" charset="0"/>
                <a:ea typeface="Consolas" pitchFamily="34" charset="-122"/>
                <a:cs typeface="Consolas" pitchFamily="34" charset="-120"/>
              </a:rPr>
              <a:t>6</a:t>
            </a:r>
            <a:endParaRPr lang="en-US" sz="840" dirty="0"/>
          </a:p>
        </p:txBody>
      </p:sp>
      <p:sp>
        <p:nvSpPr>
          <p:cNvPr id="35" name="Text 27"/>
          <p:cNvSpPr/>
          <p:nvPr/>
        </p:nvSpPr>
        <p:spPr>
          <a:xfrm>
            <a:off x="5189041" y="3712071"/>
            <a:ext cx="285750" cy="285750"/>
          </a:xfrm>
          <a:prstGeom prst="roundRect">
            <a:avLst>
              <a:gd name="adj" fmla="val 24889"/>
            </a:avLst>
          </a:prstGeom>
          <a:solidFill>
            <a:srgbClr val="8B9CB6">
              <a:alpha val="8000"/>
            </a:srgbClr>
          </a:solidFill>
          <a:ln/>
        </p:spPr>
        <p:txBody>
          <a:bodyPr wrap="square" rtlCol="0" anchor="t"/>
          <a:lstStyle/>
          <a:p>
            <a:pPr marL="0" indent="0">
              <a:buNone/>
            </a:pPr>
            <a:endParaRPr lang="en-US" dirty="0"/>
          </a:p>
        </p:txBody>
      </p:sp>
      <p:pic>
        <p:nvPicPr>
          <p:cNvPr id="36"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65548" y="3788578"/>
            <a:ext cx="132588" cy="132588"/>
          </a:xfrm>
          <a:prstGeom prst="rect">
            <a:avLst/>
          </a:prstGeom>
        </p:spPr>
      </p:pic>
      <p:sp>
        <p:nvSpPr>
          <p:cNvPr id="37" name="Text 28"/>
          <p:cNvSpPr/>
          <p:nvPr/>
        </p:nvSpPr>
        <p:spPr>
          <a:xfrm>
            <a:off x="5602932" y="3769668"/>
            <a:ext cx="3193182" cy="170557"/>
          </a:xfrm>
          <a:prstGeom prst="rect">
            <a:avLst/>
          </a:prstGeom>
          <a:noFill/>
          <a:ln/>
        </p:spPr>
        <p:txBody>
          <a:bodyPr wrap="none" lIns="0" tIns="0" rIns="0" bIns="0" rtlCol="0" anchor="ctr"/>
          <a:lstStyle/>
          <a:p>
            <a:pPr marL="0" indent="0" algn="l">
              <a:lnSpc>
                <a:spcPts val="1344"/>
              </a:lnSpc>
              <a:buNone/>
            </a:pPr>
            <a:r>
              <a:rPr lang="en-US" sz="960" dirty="0">
                <a:solidFill>
                  <a:srgbClr val="E2E8F0"/>
                </a:solidFill>
                <a:latin typeface="Calibri" pitchFamily="34" charset="0"/>
                <a:ea typeface="Calibri" pitchFamily="34" charset="-122"/>
                <a:cs typeface="Calibri" pitchFamily="34" charset="-120"/>
              </a:rPr>
              <a:t>Comfortable sending everything to the cloud</a:t>
            </a:r>
            <a:endParaRPr lang="en-US" sz="960" dirty="0"/>
          </a:p>
        </p:txBody>
      </p:sp>
      <p:sp>
        <p:nvSpPr>
          <p:cNvPr id="38" name="Text 29"/>
          <p:cNvSpPr/>
          <p:nvPr/>
        </p:nvSpPr>
        <p:spPr>
          <a:xfrm>
            <a:off x="457200" y="4478089"/>
            <a:ext cx="8229600" cy="379661"/>
          </a:xfrm>
          <a:prstGeom prst="roundRect">
            <a:avLst>
              <a:gd name="adj" fmla="val 18733"/>
            </a:avLst>
          </a:prstGeom>
          <a:solidFill>
            <a:srgbClr val="76B900">
              <a:alpha val="6000"/>
            </a:srgbClr>
          </a:solidFill>
          <a:ln w="9525">
            <a:solidFill>
              <a:srgbClr val="76B900">
                <a:alpha val="18000"/>
              </a:srgbClr>
            </a:solidFill>
          </a:ln>
        </p:spPr>
        <p:txBody>
          <a:bodyPr wrap="square" rtlCol="0" anchor="t"/>
          <a:lstStyle/>
          <a:p>
            <a:pPr marL="0" indent="0">
              <a:buNone/>
            </a:pPr>
            <a:endParaRPr lang="en-US" dirty="0"/>
          </a:p>
        </p:txBody>
      </p:sp>
      <p:pic>
        <p:nvPicPr>
          <p:cNvPr id="39"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91973" y="4601551"/>
            <a:ext cx="132588" cy="132588"/>
          </a:xfrm>
          <a:prstGeom prst="rect">
            <a:avLst/>
          </a:prstGeom>
        </p:spPr>
      </p:pic>
      <p:sp>
        <p:nvSpPr>
          <p:cNvPr id="40" name="Text 30"/>
          <p:cNvSpPr/>
          <p:nvPr/>
        </p:nvSpPr>
        <p:spPr>
          <a:xfrm>
            <a:off x="777329" y="4587925"/>
            <a:ext cx="2678638" cy="159990"/>
          </a:xfrm>
          <a:prstGeom prst="rect">
            <a:avLst/>
          </a:prstGeom>
          <a:noFill/>
          <a:ln/>
        </p:spPr>
        <p:txBody>
          <a:bodyPr wrap="none" lIns="0" tIns="0" rIns="0" bIns="0" rtlCol="0" anchor="ctr"/>
          <a:lstStyle/>
          <a:p>
            <a:pPr marL="0" indent="0" algn="l">
              <a:lnSpc>
                <a:spcPts val="1260"/>
              </a:lnSpc>
              <a:buNone/>
            </a:pPr>
            <a:r>
              <a:rPr lang="en-US" sz="840" i="1" dirty="0">
                <a:solidFill>
                  <a:srgbClr val="76B900"/>
                </a:solidFill>
                <a:latin typeface="Calibri" pitchFamily="34" charset="0"/>
                <a:ea typeface="Calibri" pitchFamily="34" charset="-122"/>
                <a:cs typeface="Calibri" pitchFamily="34" charset="-120"/>
              </a:rPr>
              <a:t>We'll address most of these in the next 100 minutes</a:t>
            </a:r>
            <a:endParaRPr lang="en-US" sz="840" dirty="0"/>
          </a:p>
        </p:txBody>
      </p:sp>
      <p:sp>
        <p:nvSpPr>
          <p:cNvPr id="41" name="Text 31"/>
          <p:cNvSpPr/>
          <p:nvPr/>
        </p:nvSpPr>
        <p:spPr>
          <a:xfrm>
            <a:off x="466725" y="1189286"/>
            <a:ext cx="29170" cy="970807"/>
          </a:xfrm>
          <a:custGeom>
            <a:avLst/>
            <a:gdLst/>
            <a:ahLst/>
            <a:cxnLst/>
            <a:rect l="l" t="t" r="r" b="b"/>
            <a:pathLst>
              <a:path w="29170" h="970807">
                <a:moveTo>
                  <a:pt x="0" y="86360"/>
                </a:moveTo>
                <a:lnTo>
                  <a:pt x="3646" y="61531"/>
                </a:lnTo>
                <a:lnTo>
                  <a:pt x="7293" y="51627"/>
                </a:lnTo>
                <a:lnTo>
                  <a:pt x="10939" y="44292"/>
                </a:lnTo>
                <a:lnTo>
                  <a:pt x="14585" y="38335"/>
                </a:lnTo>
                <a:lnTo>
                  <a:pt x="18231" y="33289"/>
                </a:lnTo>
                <a:lnTo>
                  <a:pt x="21878" y="28914"/>
                </a:lnTo>
                <a:lnTo>
                  <a:pt x="25524" y="25065"/>
                </a:lnTo>
                <a:lnTo>
                  <a:pt x="29170" y="21650"/>
                </a:lnTo>
                <a:lnTo>
                  <a:pt x="29170" y="949157"/>
                </a:lnTo>
                <a:lnTo>
                  <a:pt x="25524" y="945742"/>
                </a:lnTo>
                <a:lnTo>
                  <a:pt x="21878" y="941893"/>
                </a:lnTo>
                <a:lnTo>
                  <a:pt x="18231" y="937518"/>
                </a:lnTo>
                <a:lnTo>
                  <a:pt x="14585" y="932472"/>
                </a:lnTo>
                <a:lnTo>
                  <a:pt x="10939" y="926515"/>
                </a:lnTo>
                <a:lnTo>
                  <a:pt x="7293" y="919180"/>
                </a:lnTo>
                <a:lnTo>
                  <a:pt x="3646" y="909276"/>
                </a:lnTo>
                <a:lnTo>
                  <a:pt x="0" y="884447"/>
                </a:lnTo>
                <a:close/>
              </a:path>
            </a:pathLst>
          </a:custGeom>
          <a:solidFill>
            <a:srgbClr val="8B9CB6">
              <a:alpha val="25000"/>
            </a:srgbClr>
          </a:solidFill>
          <a:ln/>
        </p:spPr>
        <p:txBody>
          <a:bodyPr wrap="square" rtlCol="0" anchor="t"/>
          <a:lstStyle/>
          <a:p>
            <a:pPr marL="0" indent="0">
              <a:buNone/>
            </a:pPr>
            <a:endParaRPr lang="en-US" dirty="0"/>
          </a:p>
        </p:txBody>
      </p:sp>
      <p:sp>
        <p:nvSpPr>
          <p:cNvPr id="42" name="Text 32"/>
          <p:cNvSpPr/>
          <p:nvPr/>
        </p:nvSpPr>
        <p:spPr>
          <a:xfrm>
            <a:off x="4631680" y="1189286"/>
            <a:ext cx="29170" cy="970807"/>
          </a:xfrm>
          <a:custGeom>
            <a:avLst/>
            <a:gdLst/>
            <a:ahLst/>
            <a:cxnLst/>
            <a:rect l="l" t="t" r="r" b="b"/>
            <a:pathLst>
              <a:path w="29170" h="970807">
                <a:moveTo>
                  <a:pt x="0" y="86360"/>
                </a:moveTo>
                <a:lnTo>
                  <a:pt x="3646" y="61531"/>
                </a:lnTo>
                <a:lnTo>
                  <a:pt x="7293" y="51627"/>
                </a:lnTo>
                <a:lnTo>
                  <a:pt x="10939" y="44292"/>
                </a:lnTo>
                <a:lnTo>
                  <a:pt x="14585" y="38335"/>
                </a:lnTo>
                <a:lnTo>
                  <a:pt x="18231" y="33289"/>
                </a:lnTo>
                <a:lnTo>
                  <a:pt x="21878" y="28914"/>
                </a:lnTo>
                <a:lnTo>
                  <a:pt x="25524" y="25065"/>
                </a:lnTo>
                <a:lnTo>
                  <a:pt x="29170" y="21650"/>
                </a:lnTo>
                <a:lnTo>
                  <a:pt x="29170" y="949157"/>
                </a:lnTo>
                <a:lnTo>
                  <a:pt x="25524" y="945742"/>
                </a:lnTo>
                <a:lnTo>
                  <a:pt x="21878" y="941893"/>
                </a:lnTo>
                <a:lnTo>
                  <a:pt x="18231" y="937518"/>
                </a:lnTo>
                <a:lnTo>
                  <a:pt x="14585" y="932472"/>
                </a:lnTo>
                <a:lnTo>
                  <a:pt x="10939" y="926515"/>
                </a:lnTo>
                <a:lnTo>
                  <a:pt x="7293" y="919180"/>
                </a:lnTo>
                <a:lnTo>
                  <a:pt x="3646" y="909276"/>
                </a:lnTo>
                <a:lnTo>
                  <a:pt x="0" y="884447"/>
                </a:lnTo>
                <a:close/>
              </a:path>
            </a:pathLst>
          </a:custGeom>
          <a:solidFill>
            <a:srgbClr val="8B9CB6">
              <a:alpha val="25000"/>
            </a:srgbClr>
          </a:solidFill>
          <a:ln/>
        </p:spPr>
        <p:txBody>
          <a:bodyPr wrap="square" rtlCol="0" anchor="t"/>
          <a:lstStyle/>
          <a:p>
            <a:pPr marL="0" indent="0">
              <a:buNone/>
            </a:pPr>
            <a:endParaRPr lang="en-US" dirty="0"/>
          </a:p>
        </p:txBody>
      </p:sp>
      <p:sp>
        <p:nvSpPr>
          <p:cNvPr id="43" name="Text 33"/>
          <p:cNvSpPr/>
          <p:nvPr/>
        </p:nvSpPr>
        <p:spPr>
          <a:xfrm>
            <a:off x="466725" y="2279452"/>
            <a:ext cx="29170" cy="970807"/>
          </a:xfrm>
          <a:custGeom>
            <a:avLst/>
            <a:gdLst/>
            <a:ahLst/>
            <a:cxnLst/>
            <a:rect l="l" t="t" r="r" b="b"/>
            <a:pathLst>
              <a:path w="29170" h="970807">
                <a:moveTo>
                  <a:pt x="0" y="86360"/>
                </a:moveTo>
                <a:lnTo>
                  <a:pt x="3646" y="61531"/>
                </a:lnTo>
                <a:lnTo>
                  <a:pt x="7293" y="51627"/>
                </a:lnTo>
                <a:lnTo>
                  <a:pt x="10939" y="44292"/>
                </a:lnTo>
                <a:lnTo>
                  <a:pt x="14585" y="38335"/>
                </a:lnTo>
                <a:lnTo>
                  <a:pt x="18231" y="33289"/>
                </a:lnTo>
                <a:lnTo>
                  <a:pt x="21878" y="28914"/>
                </a:lnTo>
                <a:lnTo>
                  <a:pt x="25524" y="25065"/>
                </a:lnTo>
                <a:lnTo>
                  <a:pt x="29170" y="21650"/>
                </a:lnTo>
                <a:lnTo>
                  <a:pt x="29170" y="949157"/>
                </a:lnTo>
                <a:lnTo>
                  <a:pt x="25524" y="945742"/>
                </a:lnTo>
                <a:lnTo>
                  <a:pt x="21878" y="941893"/>
                </a:lnTo>
                <a:lnTo>
                  <a:pt x="18231" y="937518"/>
                </a:lnTo>
                <a:lnTo>
                  <a:pt x="14585" y="932472"/>
                </a:lnTo>
                <a:lnTo>
                  <a:pt x="10939" y="926515"/>
                </a:lnTo>
                <a:lnTo>
                  <a:pt x="7293" y="919180"/>
                </a:lnTo>
                <a:lnTo>
                  <a:pt x="3646" y="909276"/>
                </a:lnTo>
                <a:lnTo>
                  <a:pt x="0" y="884447"/>
                </a:lnTo>
                <a:close/>
              </a:path>
            </a:pathLst>
          </a:custGeom>
          <a:solidFill>
            <a:srgbClr val="8B9CB6">
              <a:alpha val="25000"/>
            </a:srgbClr>
          </a:solidFill>
          <a:ln/>
        </p:spPr>
        <p:txBody>
          <a:bodyPr wrap="square" rtlCol="0" anchor="t"/>
          <a:lstStyle/>
          <a:p>
            <a:pPr marL="0" indent="0">
              <a:buNone/>
            </a:pPr>
            <a:endParaRPr lang="en-US" dirty="0"/>
          </a:p>
        </p:txBody>
      </p:sp>
      <p:sp>
        <p:nvSpPr>
          <p:cNvPr id="44" name="Text 34"/>
          <p:cNvSpPr/>
          <p:nvPr/>
        </p:nvSpPr>
        <p:spPr>
          <a:xfrm>
            <a:off x="4631680" y="2279452"/>
            <a:ext cx="29170" cy="970807"/>
          </a:xfrm>
          <a:custGeom>
            <a:avLst/>
            <a:gdLst/>
            <a:ahLst/>
            <a:cxnLst/>
            <a:rect l="l" t="t" r="r" b="b"/>
            <a:pathLst>
              <a:path w="29170" h="970807">
                <a:moveTo>
                  <a:pt x="0" y="86360"/>
                </a:moveTo>
                <a:lnTo>
                  <a:pt x="3646" y="61531"/>
                </a:lnTo>
                <a:lnTo>
                  <a:pt x="7293" y="51627"/>
                </a:lnTo>
                <a:lnTo>
                  <a:pt x="10939" y="44292"/>
                </a:lnTo>
                <a:lnTo>
                  <a:pt x="14585" y="38335"/>
                </a:lnTo>
                <a:lnTo>
                  <a:pt x="18231" y="33289"/>
                </a:lnTo>
                <a:lnTo>
                  <a:pt x="21878" y="28914"/>
                </a:lnTo>
                <a:lnTo>
                  <a:pt x="25524" y="25065"/>
                </a:lnTo>
                <a:lnTo>
                  <a:pt x="29170" y="21650"/>
                </a:lnTo>
                <a:lnTo>
                  <a:pt x="29170" y="949157"/>
                </a:lnTo>
                <a:lnTo>
                  <a:pt x="25524" y="945742"/>
                </a:lnTo>
                <a:lnTo>
                  <a:pt x="21878" y="941893"/>
                </a:lnTo>
                <a:lnTo>
                  <a:pt x="18231" y="937518"/>
                </a:lnTo>
                <a:lnTo>
                  <a:pt x="14585" y="932472"/>
                </a:lnTo>
                <a:lnTo>
                  <a:pt x="10939" y="926515"/>
                </a:lnTo>
                <a:lnTo>
                  <a:pt x="7293" y="919180"/>
                </a:lnTo>
                <a:lnTo>
                  <a:pt x="3646" y="909276"/>
                </a:lnTo>
                <a:lnTo>
                  <a:pt x="0" y="884447"/>
                </a:lnTo>
                <a:close/>
              </a:path>
            </a:pathLst>
          </a:custGeom>
          <a:solidFill>
            <a:srgbClr val="8B9CB6">
              <a:alpha val="25000"/>
            </a:srgbClr>
          </a:solidFill>
          <a:ln/>
        </p:spPr>
        <p:txBody>
          <a:bodyPr wrap="square" rtlCol="0" anchor="t"/>
          <a:lstStyle/>
          <a:p>
            <a:pPr marL="0" indent="0">
              <a:buNone/>
            </a:pPr>
            <a:endParaRPr lang="en-US" dirty="0"/>
          </a:p>
        </p:txBody>
      </p:sp>
      <p:sp>
        <p:nvSpPr>
          <p:cNvPr id="45" name="Text 35"/>
          <p:cNvSpPr/>
          <p:nvPr/>
        </p:nvSpPr>
        <p:spPr>
          <a:xfrm>
            <a:off x="466725" y="3369618"/>
            <a:ext cx="29170" cy="970807"/>
          </a:xfrm>
          <a:custGeom>
            <a:avLst/>
            <a:gdLst/>
            <a:ahLst/>
            <a:cxnLst/>
            <a:rect l="l" t="t" r="r" b="b"/>
            <a:pathLst>
              <a:path w="29170" h="970807">
                <a:moveTo>
                  <a:pt x="0" y="86360"/>
                </a:moveTo>
                <a:lnTo>
                  <a:pt x="3646" y="61531"/>
                </a:lnTo>
                <a:lnTo>
                  <a:pt x="7293" y="51627"/>
                </a:lnTo>
                <a:lnTo>
                  <a:pt x="10939" y="44292"/>
                </a:lnTo>
                <a:lnTo>
                  <a:pt x="14585" y="38335"/>
                </a:lnTo>
                <a:lnTo>
                  <a:pt x="18231" y="33289"/>
                </a:lnTo>
                <a:lnTo>
                  <a:pt x="21878" y="28914"/>
                </a:lnTo>
                <a:lnTo>
                  <a:pt x="25524" y="25065"/>
                </a:lnTo>
                <a:lnTo>
                  <a:pt x="29170" y="21650"/>
                </a:lnTo>
                <a:lnTo>
                  <a:pt x="29170" y="949157"/>
                </a:lnTo>
                <a:lnTo>
                  <a:pt x="25524" y="945742"/>
                </a:lnTo>
                <a:lnTo>
                  <a:pt x="21878" y="941893"/>
                </a:lnTo>
                <a:lnTo>
                  <a:pt x="18231" y="937518"/>
                </a:lnTo>
                <a:lnTo>
                  <a:pt x="14585" y="932472"/>
                </a:lnTo>
                <a:lnTo>
                  <a:pt x="10939" y="926515"/>
                </a:lnTo>
                <a:lnTo>
                  <a:pt x="7293" y="919180"/>
                </a:lnTo>
                <a:lnTo>
                  <a:pt x="3646" y="909276"/>
                </a:lnTo>
                <a:lnTo>
                  <a:pt x="0" y="884447"/>
                </a:lnTo>
                <a:close/>
              </a:path>
            </a:pathLst>
          </a:custGeom>
          <a:solidFill>
            <a:srgbClr val="8B9CB6">
              <a:alpha val="25000"/>
            </a:srgbClr>
          </a:solidFill>
          <a:ln/>
        </p:spPr>
        <p:txBody>
          <a:bodyPr wrap="square" rtlCol="0" anchor="t"/>
          <a:lstStyle/>
          <a:p>
            <a:pPr marL="0" indent="0">
              <a:buNone/>
            </a:pPr>
            <a:endParaRPr lang="en-US" dirty="0"/>
          </a:p>
        </p:txBody>
      </p:sp>
      <p:sp>
        <p:nvSpPr>
          <p:cNvPr id="46" name="Text 36"/>
          <p:cNvSpPr/>
          <p:nvPr/>
        </p:nvSpPr>
        <p:spPr>
          <a:xfrm>
            <a:off x="4631680" y="3369618"/>
            <a:ext cx="29170" cy="970807"/>
          </a:xfrm>
          <a:custGeom>
            <a:avLst/>
            <a:gdLst/>
            <a:ahLst/>
            <a:cxnLst/>
            <a:rect l="l" t="t" r="r" b="b"/>
            <a:pathLst>
              <a:path w="29170" h="970807">
                <a:moveTo>
                  <a:pt x="0" y="86360"/>
                </a:moveTo>
                <a:lnTo>
                  <a:pt x="3646" y="61531"/>
                </a:lnTo>
                <a:lnTo>
                  <a:pt x="7293" y="51627"/>
                </a:lnTo>
                <a:lnTo>
                  <a:pt x="10939" y="44292"/>
                </a:lnTo>
                <a:lnTo>
                  <a:pt x="14585" y="38335"/>
                </a:lnTo>
                <a:lnTo>
                  <a:pt x="18231" y="33289"/>
                </a:lnTo>
                <a:lnTo>
                  <a:pt x="21878" y="28914"/>
                </a:lnTo>
                <a:lnTo>
                  <a:pt x="25524" y="25065"/>
                </a:lnTo>
                <a:lnTo>
                  <a:pt x="29170" y="21650"/>
                </a:lnTo>
                <a:lnTo>
                  <a:pt x="29170" y="949157"/>
                </a:lnTo>
                <a:lnTo>
                  <a:pt x="25524" y="945742"/>
                </a:lnTo>
                <a:lnTo>
                  <a:pt x="21878" y="941893"/>
                </a:lnTo>
                <a:lnTo>
                  <a:pt x="18231" y="937518"/>
                </a:lnTo>
                <a:lnTo>
                  <a:pt x="14585" y="932472"/>
                </a:lnTo>
                <a:lnTo>
                  <a:pt x="10939" y="926515"/>
                </a:lnTo>
                <a:lnTo>
                  <a:pt x="7293" y="919180"/>
                </a:lnTo>
                <a:lnTo>
                  <a:pt x="3646" y="909276"/>
                </a:lnTo>
                <a:lnTo>
                  <a:pt x="0" y="884447"/>
                </a:lnTo>
                <a:close/>
              </a:path>
            </a:pathLst>
          </a:custGeom>
          <a:solidFill>
            <a:srgbClr val="8B9CB6">
              <a:alpha val="25000"/>
            </a:srgbClr>
          </a:solidFill>
          <a:ln/>
        </p:spPr>
        <p:txBody>
          <a:bodyPr wrap="square" rtlCol="0" anchor="t"/>
          <a:lstStyle/>
          <a:p>
            <a:pPr marL="0" indent="0">
              <a:buNone/>
            </a:pP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157460"/>
            <a:ext cx="9144000" cy="281242"/>
          </a:xfrm>
          <a:prstGeom prst="rect">
            <a:avLst/>
          </a:prstGeom>
          <a:noFill/>
          <a:ln/>
        </p:spPr>
        <p:txBody>
          <a:bodyPr wrap="none" lIns="0" tIns="0" rIns="0" bIns="0" rtlCol="0" anchor="t"/>
          <a:lstStyle/>
          <a:p>
            <a:pPr marL="0" indent="0" algn="ctr">
              <a:lnSpc>
                <a:spcPts val="2370"/>
              </a:lnSpc>
              <a:buNone/>
            </a:pPr>
            <a:r>
              <a:rPr lang="en-US" sz="1580" kern="0" spc="-30" dirty="0">
                <a:solidFill>
                  <a:srgbClr val="E2E8F0"/>
                </a:solidFill>
                <a:latin typeface="Consolas" pitchFamily="34" charset="0"/>
                <a:ea typeface="Consolas" pitchFamily="34" charset="-122"/>
                <a:cs typeface="Consolas" pitchFamily="34" charset="-120"/>
              </a:rPr>
              <a:t>The Home Tinkerer Dream — </a:t>
            </a:r>
            <a:r>
              <a:rPr lang="en-US" sz="1580" b="1" kern="0" spc="-30" dirty="0">
                <a:solidFill>
                  <a:srgbClr val="76B900"/>
                </a:solidFill>
                <a:latin typeface="Consolas" pitchFamily="34" charset="0"/>
                <a:ea typeface="Consolas" pitchFamily="34" charset="-122"/>
                <a:cs typeface="Consolas" pitchFamily="34" charset="-120"/>
              </a:rPr>
              <a:t>A Timeline</a:t>
            </a:r>
            <a:endParaRPr lang="en-US" sz="1580" dirty="0"/>
          </a:p>
        </p:txBody>
      </p:sp>
      <p:sp>
        <p:nvSpPr>
          <p:cNvPr id="3" name="Text 1"/>
          <p:cNvSpPr/>
          <p:nvPr/>
        </p:nvSpPr>
        <p:spPr>
          <a:xfrm>
            <a:off x="4561210" y="628650"/>
            <a:ext cx="21580" cy="3943350"/>
          </a:xfrm>
          <a:prstGeom prst="rect">
            <a:avLst/>
          </a:prstGeom>
          <a:gradFill rotWithShape="1">
            <a:gsLst>
              <a:gs pos="0">
                <a:srgbClr val="2A3A50"/>
              </a:gs>
              <a:gs pos="85000">
                <a:srgbClr val="76B900"/>
              </a:gs>
              <a:gs pos="100000">
                <a:srgbClr val="76B900"/>
              </a:gs>
            </a:gsLst>
            <a:lin ang="5400000" scaled="1"/>
          </a:gradFill>
          <a:ln/>
        </p:spPr>
        <p:txBody>
          <a:bodyPr wrap="square" rtlCol="0" anchor="t"/>
          <a:lstStyle/>
          <a:p>
            <a:pPr marL="0" indent="0">
              <a:buNone/>
            </a:pPr>
            <a:endParaRPr lang="en-US" dirty="0"/>
          </a:p>
        </p:txBody>
      </p:sp>
      <p:sp>
        <p:nvSpPr>
          <p:cNvPr id="4" name="Text 2"/>
          <p:cNvSpPr/>
          <p:nvPr/>
        </p:nvSpPr>
        <p:spPr>
          <a:xfrm>
            <a:off x="4428381" y="742801"/>
            <a:ext cx="143470" cy="7590"/>
          </a:xfrm>
          <a:prstGeom prst="rect">
            <a:avLst/>
          </a:prstGeom>
          <a:solidFill>
            <a:srgbClr val="2A3A50"/>
          </a:solidFill>
          <a:ln/>
        </p:spPr>
        <p:txBody>
          <a:bodyPr wrap="none" rtlCol="0" anchor="t"/>
          <a:lstStyle/>
          <a:p>
            <a:pPr marL="0" indent="0">
              <a:buNone/>
            </a:pPr>
            <a:endParaRPr lang="en-US" dirty="0"/>
          </a:p>
        </p:txBody>
      </p:sp>
      <p:sp>
        <p:nvSpPr>
          <p:cNvPr id="5" name="Text 3"/>
          <p:cNvSpPr/>
          <p:nvPr/>
        </p:nvSpPr>
        <p:spPr>
          <a:xfrm>
            <a:off x="2799159" y="524024"/>
            <a:ext cx="1572220" cy="437555"/>
          </a:xfrm>
          <a:prstGeom prst="roundRect">
            <a:avLst>
              <a:gd name="adj" fmla="val 13061"/>
            </a:avLst>
          </a:prstGeom>
          <a:solidFill>
            <a:srgbClr val="1A2332"/>
          </a:solidFill>
          <a:ln w="9525">
            <a:solidFill>
              <a:srgbClr val="2A3A50"/>
            </a:solidFill>
          </a:ln>
        </p:spPr>
        <p:txBody>
          <a:bodyPr wrap="square" rtlCol="0" anchor="t"/>
          <a:lstStyle/>
          <a:p>
            <a:pPr marL="0" indent="0">
              <a:buNone/>
            </a:pPr>
            <a:endParaRPr lang="en-US" dirty="0"/>
          </a:p>
        </p:txBody>
      </p:sp>
      <p:pic>
        <p:nvPicPr>
          <p:cNvPr id="6" name="Image 0" descr="preencoded.png"/>
          <p:cNvPicPr>
            <a:picLocks noChangeAspect="1"/>
          </p:cNvPicPr>
          <p:nvPr/>
        </p:nvPicPr>
        <p:blipFill>
          <a:blip>
            <a:alphaModFix amt="60000"/>
            <a:extLst>
              <a:ext uri="{96DAC541-7B7A-43D3-8B79-37D633B846F1}">
                <asvg:svgBlip xmlns:asvg="http://schemas.microsoft.com/office/drawing/2016/SVG/main" r:embed="rId3"/>
              </a:ext>
            </a:extLst>
          </a:blip>
          <a:stretch>
            <a:fillRect/>
          </a:stretch>
        </p:blipFill>
        <p:spPr>
          <a:xfrm>
            <a:off x="2928426" y="610130"/>
            <a:ext cx="132588" cy="132588"/>
          </a:xfrm>
          <a:prstGeom prst="rect">
            <a:avLst/>
          </a:prstGeom>
        </p:spPr>
      </p:pic>
      <p:sp>
        <p:nvSpPr>
          <p:cNvPr id="7" name="Text 4"/>
          <p:cNvSpPr/>
          <p:nvPr/>
        </p:nvSpPr>
        <p:spPr>
          <a:xfrm>
            <a:off x="3123605" y="590699"/>
            <a:ext cx="406822" cy="159990"/>
          </a:xfrm>
          <a:prstGeom prst="rect">
            <a:avLst/>
          </a:prstGeom>
          <a:noFill/>
          <a:ln/>
        </p:spPr>
        <p:txBody>
          <a:bodyPr wrap="none" lIns="0" tIns="0" rIns="0" bIns="0" rtlCol="0" anchor="t"/>
          <a:lstStyle/>
          <a:p>
            <a:pPr marL="0" indent="0" algn="l">
              <a:lnSpc>
                <a:spcPts val="1260"/>
              </a:lnSpc>
              <a:buNone/>
            </a:pPr>
            <a:r>
              <a:rPr lang="en-US" sz="840" b="1" kern="0" spc="60" dirty="0">
                <a:solidFill>
                  <a:srgbClr val="8B9CB6"/>
                </a:solidFill>
                <a:latin typeface="Consolas" pitchFamily="34" charset="0"/>
                <a:ea typeface="Consolas" pitchFamily="34" charset="-122"/>
                <a:cs typeface="Consolas" pitchFamily="34" charset="-120"/>
              </a:rPr>
              <a:t>1950s</a:t>
            </a:r>
            <a:endParaRPr lang="en-US" sz="840" dirty="0"/>
          </a:p>
        </p:txBody>
      </p:sp>
      <p:sp>
        <p:nvSpPr>
          <p:cNvPr id="8" name="Text 5"/>
          <p:cNvSpPr/>
          <p:nvPr/>
        </p:nvSpPr>
        <p:spPr>
          <a:xfrm>
            <a:off x="3123605" y="764530"/>
            <a:ext cx="406822" cy="130373"/>
          </a:xfrm>
          <a:prstGeom prst="rect">
            <a:avLst/>
          </a:prstGeom>
          <a:noFill/>
          <a:ln/>
        </p:spPr>
        <p:txBody>
          <a:bodyPr wrap="none" lIns="0" tIns="0" rIns="0" bIns="0" rtlCol="0" anchor="t"/>
          <a:lstStyle/>
          <a:p>
            <a:pPr marL="0" indent="0" algn="l">
              <a:lnSpc>
                <a:spcPts val="1026"/>
              </a:lnSpc>
              <a:buNone/>
            </a:pPr>
            <a:r>
              <a:rPr lang="en-US" sz="760" dirty="0">
                <a:solidFill>
                  <a:srgbClr val="E2E8F0"/>
                </a:solidFill>
                <a:latin typeface="Calibri" pitchFamily="34" charset="0"/>
                <a:ea typeface="Calibri" pitchFamily="34" charset="-122"/>
                <a:cs typeface="Calibri" pitchFamily="34" charset="-120"/>
              </a:rPr>
              <a:t>Hot-rods</a:t>
            </a:r>
            <a:endParaRPr lang="en-US" sz="760" dirty="0"/>
          </a:p>
        </p:txBody>
      </p:sp>
      <p:sp>
        <p:nvSpPr>
          <p:cNvPr id="9" name="Text 6"/>
          <p:cNvSpPr/>
          <p:nvPr/>
        </p:nvSpPr>
        <p:spPr>
          <a:xfrm>
            <a:off x="4572149" y="1229320"/>
            <a:ext cx="143470" cy="7590"/>
          </a:xfrm>
          <a:prstGeom prst="rect">
            <a:avLst/>
          </a:prstGeom>
          <a:solidFill>
            <a:srgbClr val="2A3A50"/>
          </a:solidFill>
          <a:ln/>
        </p:spPr>
        <p:txBody>
          <a:bodyPr wrap="none" rtlCol="0" anchor="t"/>
          <a:lstStyle/>
          <a:p>
            <a:pPr marL="0" indent="0">
              <a:buNone/>
            </a:pPr>
            <a:endParaRPr lang="en-US" dirty="0"/>
          </a:p>
        </p:txBody>
      </p:sp>
      <p:sp>
        <p:nvSpPr>
          <p:cNvPr id="10" name="Text 7"/>
          <p:cNvSpPr/>
          <p:nvPr/>
        </p:nvSpPr>
        <p:spPr>
          <a:xfrm>
            <a:off x="4772620" y="1010543"/>
            <a:ext cx="1572220" cy="437555"/>
          </a:xfrm>
          <a:prstGeom prst="roundRect">
            <a:avLst>
              <a:gd name="adj" fmla="val 13061"/>
            </a:avLst>
          </a:prstGeom>
          <a:solidFill>
            <a:srgbClr val="1A2332"/>
          </a:solidFill>
          <a:ln w="9525">
            <a:solidFill>
              <a:srgbClr val="2A3A50"/>
            </a:solidFill>
          </a:ln>
        </p:spPr>
        <p:txBody>
          <a:bodyPr wrap="square" rtlCol="0" anchor="t"/>
          <a:lstStyle/>
          <a:p>
            <a:pPr marL="0" indent="0">
              <a:buNone/>
            </a:pPr>
            <a:endParaRPr lang="en-US" dirty="0"/>
          </a:p>
        </p:txBody>
      </p:sp>
      <p:pic>
        <p:nvPicPr>
          <p:cNvPr id="11" name="Image 1" descr="preencoded.png"/>
          <p:cNvPicPr>
            <a:picLocks noChangeAspect="1"/>
          </p:cNvPicPr>
          <p:nvPr/>
        </p:nvPicPr>
        <p:blipFill>
          <a:blip>
            <a:alphaModFix amt="60000"/>
            <a:extLst>
              <a:ext uri="{96DAC541-7B7A-43D3-8B79-37D633B846F1}">
                <asvg:svgBlip xmlns:asvg="http://schemas.microsoft.com/office/drawing/2016/SVG/main" r:embed="rId4"/>
              </a:ext>
            </a:extLst>
          </a:blip>
          <a:stretch>
            <a:fillRect/>
          </a:stretch>
        </p:blipFill>
        <p:spPr>
          <a:xfrm>
            <a:off x="4901886" y="1096649"/>
            <a:ext cx="132588" cy="132588"/>
          </a:xfrm>
          <a:prstGeom prst="rect">
            <a:avLst/>
          </a:prstGeom>
        </p:spPr>
      </p:pic>
      <p:sp>
        <p:nvSpPr>
          <p:cNvPr id="12" name="Text 8"/>
          <p:cNvSpPr/>
          <p:nvPr/>
        </p:nvSpPr>
        <p:spPr>
          <a:xfrm>
            <a:off x="5097066" y="1077218"/>
            <a:ext cx="925785" cy="159990"/>
          </a:xfrm>
          <a:prstGeom prst="rect">
            <a:avLst/>
          </a:prstGeom>
          <a:noFill/>
          <a:ln/>
        </p:spPr>
        <p:txBody>
          <a:bodyPr wrap="none" lIns="0" tIns="0" rIns="0" bIns="0" rtlCol="0" anchor="t"/>
          <a:lstStyle/>
          <a:p>
            <a:pPr marL="0" indent="0" algn="l">
              <a:lnSpc>
                <a:spcPts val="1260"/>
              </a:lnSpc>
              <a:buNone/>
            </a:pPr>
            <a:r>
              <a:rPr lang="en-US" sz="840" b="1" kern="0" spc="60" dirty="0">
                <a:solidFill>
                  <a:srgbClr val="8B9CB6"/>
                </a:solidFill>
                <a:latin typeface="Consolas" pitchFamily="34" charset="0"/>
                <a:ea typeface="Consolas" pitchFamily="34" charset="-122"/>
                <a:cs typeface="Consolas" pitchFamily="34" charset="-120"/>
              </a:rPr>
              <a:t>1960s</a:t>
            </a:r>
            <a:endParaRPr lang="en-US" sz="840" dirty="0"/>
          </a:p>
        </p:txBody>
      </p:sp>
      <p:sp>
        <p:nvSpPr>
          <p:cNvPr id="13" name="Text 9"/>
          <p:cNvSpPr/>
          <p:nvPr/>
        </p:nvSpPr>
        <p:spPr>
          <a:xfrm>
            <a:off x="5097066" y="1251049"/>
            <a:ext cx="925785" cy="130373"/>
          </a:xfrm>
          <a:prstGeom prst="rect">
            <a:avLst/>
          </a:prstGeom>
          <a:noFill/>
          <a:ln/>
        </p:spPr>
        <p:txBody>
          <a:bodyPr wrap="none" lIns="0" tIns="0" rIns="0" bIns="0" rtlCol="0" anchor="t"/>
          <a:lstStyle/>
          <a:p>
            <a:pPr marL="0" indent="0" algn="l">
              <a:lnSpc>
                <a:spcPts val="1026"/>
              </a:lnSpc>
              <a:buNone/>
            </a:pPr>
            <a:r>
              <a:rPr lang="en-US" sz="760" dirty="0">
                <a:solidFill>
                  <a:srgbClr val="E2E8F0"/>
                </a:solidFill>
                <a:latin typeface="Calibri" pitchFamily="34" charset="0"/>
                <a:ea typeface="Calibri" pitchFamily="34" charset="-122"/>
                <a:cs typeface="Calibri" pitchFamily="34" charset="-120"/>
              </a:rPr>
              <a:t>Amateur rocketeers</a:t>
            </a:r>
            <a:endParaRPr lang="en-US" sz="760" dirty="0"/>
          </a:p>
        </p:txBody>
      </p:sp>
      <p:sp>
        <p:nvSpPr>
          <p:cNvPr id="14" name="Text 10"/>
          <p:cNvSpPr/>
          <p:nvPr/>
        </p:nvSpPr>
        <p:spPr>
          <a:xfrm>
            <a:off x="4428381" y="1714351"/>
            <a:ext cx="143470" cy="7590"/>
          </a:xfrm>
          <a:prstGeom prst="rect">
            <a:avLst/>
          </a:prstGeom>
          <a:solidFill>
            <a:srgbClr val="2A3A50"/>
          </a:solidFill>
          <a:ln/>
        </p:spPr>
        <p:txBody>
          <a:bodyPr wrap="none" rtlCol="0" anchor="t"/>
          <a:lstStyle/>
          <a:p>
            <a:pPr marL="0" indent="0">
              <a:buNone/>
            </a:pPr>
            <a:endParaRPr lang="en-US" dirty="0"/>
          </a:p>
        </p:txBody>
      </p:sp>
      <p:sp>
        <p:nvSpPr>
          <p:cNvPr id="15" name="Text 11"/>
          <p:cNvSpPr/>
          <p:nvPr/>
        </p:nvSpPr>
        <p:spPr>
          <a:xfrm>
            <a:off x="2799159" y="1495574"/>
            <a:ext cx="1572220" cy="437555"/>
          </a:xfrm>
          <a:prstGeom prst="roundRect">
            <a:avLst>
              <a:gd name="adj" fmla="val 13061"/>
            </a:avLst>
          </a:prstGeom>
          <a:solidFill>
            <a:srgbClr val="1A2332"/>
          </a:solidFill>
          <a:ln w="9525">
            <a:solidFill>
              <a:srgbClr val="2A3A50"/>
            </a:solidFill>
          </a:ln>
        </p:spPr>
        <p:txBody>
          <a:bodyPr wrap="square" rtlCol="0" anchor="t"/>
          <a:lstStyle/>
          <a:p>
            <a:pPr marL="0" indent="0">
              <a:buNone/>
            </a:pPr>
            <a:endParaRPr lang="en-US" dirty="0"/>
          </a:p>
        </p:txBody>
      </p:sp>
      <p:pic>
        <p:nvPicPr>
          <p:cNvPr id="16" name="Image 2" descr="preencoded.png"/>
          <p:cNvPicPr>
            <a:picLocks noChangeAspect="1"/>
          </p:cNvPicPr>
          <p:nvPr/>
        </p:nvPicPr>
        <p:blipFill>
          <a:blip>
            <a:alphaModFix amt="60000"/>
            <a:extLst>
              <a:ext uri="{96DAC541-7B7A-43D3-8B79-37D633B846F1}">
                <asvg:svgBlip xmlns:asvg="http://schemas.microsoft.com/office/drawing/2016/SVG/main" r:embed="rId5"/>
              </a:ext>
            </a:extLst>
          </a:blip>
          <a:stretch>
            <a:fillRect/>
          </a:stretch>
        </p:blipFill>
        <p:spPr>
          <a:xfrm>
            <a:off x="2928426" y="1581680"/>
            <a:ext cx="132588" cy="132588"/>
          </a:xfrm>
          <a:prstGeom prst="rect">
            <a:avLst/>
          </a:prstGeom>
        </p:spPr>
      </p:pic>
      <p:sp>
        <p:nvSpPr>
          <p:cNvPr id="17" name="Text 12"/>
          <p:cNvSpPr/>
          <p:nvPr/>
        </p:nvSpPr>
        <p:spPr>
          <a:xfrm>
            <a:off x="3123605" y="1562249"/>
            <a:ext cx="960983" cy="159990"/>
          </a:xfrm>
          <a:prstGeom prst="rect">
            <a:avLst/>
          </a:prstGeom>
          <a:noFill/>
          <a:ln/>
        </p:spPr>
        <p:txBody>
          <a:bodyPr wrap="none" lIns="0" tIns="0" rIns="0" bIns="0" rtlCol="0" anchor="t"/>
          <a:lstStyle/>
          <a:p>
            <a:pPr marL="0" indent="0" algn="l">
              <a:lnSpc>
                <a:spcPts val="1260"/>
              </a:lnSpc>
              <a:buNone/>
            </a:pPr>
            <a:r>
              <a:rPr lang="en-US" sz="840" b="1" kern="0" spc="60" dirty="0">
                <a:solidFill>
                  <a:srgbClr val="8B9CB6"/>
                </a:solidFill>
                <a:latin typeface="Consolas" pitchFamily="34" charset="0"/>
                <a:ea typeface="Consolas" pitchFamily="34" charset="-122"/>
                <a:cs typeface="Consolas" pitchFamily="34" charset="-120"/>
              </a:rPr>
              <a:t>1970s</a:t>
            </a:r>
            <a:endParaRPr lang="en-US" sz="840" dirty="0"/>
          </a:p>
        </p:txBody>
      </p:sp>
      <p:sp>
        <p:nvSpPr>
          <p:cNvPr id="18" name="Text 13"/>
          <p:cNvSpPr/>
          <p:nvPr/>
        </p:nvSpPr>
        <p:spPr>
          <a:xfrm>
            <a:off x="3123605" y="1736080"/>
            <a:ext cx="960983" cy="130373"/>
          </a:xfrm>
          <a:prstGeom prst="rect">
            <a:avLst/>
          </a:prstGeom>
          <a:noFill/>
          <a:ln/>
        </p:spPr>
        <p:txBody>
          <a:bodyPr wrap="none" lIns="0" tIns="0" rIns="0" bIns="0" rtlCol="0" anchor="t"/>
          <a:lstStyle/>
          <a:p>
            <a:pPr marL="0" indent="0" algn="l">
              <a:lnSpc>
                <a:spcPts val="1026"/>
              </a:lnSpc>
              <a:buNone/>
            </a:pPr>
            <a:r>
              <a:rPr lang="en-US" sz="760" dirty="0">
                <a:solidFill>
                  <a:srgbClr val="E2E8F0"/>
                </a:solidFill>
                <a:latin typeface="Calibri" pitchFamily="34" charset="0"/>
                <a:ea typeface="Calibri" pitchFamily="34" charset="-122"/>
                <a:cs typeface="Calibri" pitchFamily="34" charset="-120"/>
              </a:rPr>
              <a:t>Custom motorcycles</a:t>
            </a:r>
            <a:endParaRPr lang="en-US" sz="760" dirty="0"/>
          </a:p>
        </p:txBody>
      </p:sp>
      <p:sp>
        <p:nvSpPr>
          <p:cNvPr id="19" name="Text 14"/>
          <p:cNvSpPr/>
          <p:nvPr/>
        </p:nvSpPr>
        <p:spPr>
          <a:xfrm>
            <a:off x="4572149" y="2200870"/>
            <a:ext cx="143470" cy="7590"/>
          </a:xfrm>
          <a:prstGeom prst="rect">
            <a:avLst/>
          </a:prstGeom>
          <a:solidFill>
            <a:srgbClr val="2A3A50"/>
          </a:solidFill>
          <a:ln/>
        </p:spPr>
        <p:txBody>
          <a:bodyPr wrap="none" rtlCol="0" anchor="t"/>
          <a:lstStyle/>
          <a:p>
            <a:pPr marL="0" indent="0">
              <a:buNone/>
            </a:pPr>
            <a:endParaRPr lang="en-US" dirty="0"/>
          </a:p>
        </p:txBody>
      </p:sp>
      <p:sp>
        <p:nvSpPr>
          <p:cNvPr id="20" name="Text 15"/>
          <p:cNvSpPr/>
          <p:nvPr/>
        </p:nvSpPr>
        <p:spPr>
          <a:xfrm>
            <a:off x="4772620" y="1916906"/>
            <a:ext cx="1572220" cy="567928"/>
          </a:xfrm>
          <a:prstGeom prst="roundRect">
            <a:avLst>
              <a:gd name="adj" fmla="val 10063"/>
            </a:avLst>
          </a:prstGeom>
          <a:solidFill>
            <a:srgbClr val="1A2332"/>
          </a:solidFill>
          <a:ln w="9525">
            <a:solidFill>
              <a:srgbClr val="2A3A50"/>
            </a:solidFill>
          </a:ln>
        </p:spPr>
        <p:txBody>
          <a:bodyPr wrap="square" rtlCol="0" anchor="t"/>
          <a:lstStyle/>
          <a:p>
            <a:pPr marL="0" indent="0">
              <a:buNone/>
            </a:pPr>
            <a:endParaRPr lang="en-US" dirty="0"/>
          </a:p>
        </p:txBody>
      </p:sp>
      <p:pic>
        <p:nvPicPr>
          <p:cNvPr id="21" name="Image 3" descr="preencoded.png"/>
          <p:cNvPicPr>
            <a:picLocks noChangeAspect="1"/>
          </p:cNvPicPr>
          <p:nvPr/>
        </p:nvPicPr>
        <p:blipFill>
          <a:blip>
            <a:alphaModFix amt="60000"/>
            <a:extLst>
              <a:ext uri="{96DAC541-7B7A-43D3-8B79-37D633B846F1}">
                <asvg:svgBlip xmlns:asvg="http://schemas.microsoft.com/office/drawing/2016/SVG/main" r:embed="rId6"/>
              </a:ext>
            </a:extLst>
          </a:blip>
          <a:stretch>
            <a:fillRect/>
          </a:stretch>
        </p:blipFill>
        <p:spPr>
          <a:xfrm>
            <a:off x="4901886" y="2003012"/>
            <a:ext cx="132588" cy="132588"/>
          </a:xfrm>
          <a:prstGeom prst="rect">
            <a:avLst/>
          </a:prstGeom>
        </p:spPr>
      </p:pic>
      <p:sp>
        <p:nvSpPr>
          <p:cNvPr id="22" name="Text 16"/>
          <p:cNvSpPr/>
          <p:nvPr/>
        </p:nvSpPr>
        <p:spPr>
          <a:xfrm>
            <a:off x="5097066" y="1983581"/>
            <a:ext cx="1251734" cy="159990"/>
          </a:xfrm>
          <a:prstGeom prst="rect">
            <a:avLst/>
          </a:prstGeom>
          <a:noFill/>
          <a:ln/>
        </p:spPr>
        <p:txBody>
          <a:bodyPr wrap="none" lIns="0" tIns="0" rIns="0" bIns="0" rtlCol="0" anchor="t"/>
          <a:lstStyle/>
          <a:p>
            <a:pPr marL="0" indent="0" algn="l">
              <a:lnSpc>
                <a:spcPts val="1260"/>
              </a:lnSpc>
              <a:buNone/>
            </a:pPr>
            <a:r>
              <a:rPr lang="en-US" sz="840" b="1" kern="0" spc="60" dirty="0">
                <a:solidFill>
                  <a:srgbClr val="8B9CB6"/>
                </a:solidFill>
                <a:latin typeface="Consolas" pitchFamily="34" charset="0"/>
                <a:ea typeface="Consolas" pitchFamily="34" charset="-122"/>
                <a:cs typeface="Consolas" pitchFamily="34" charset="-120"/>
              </a:rPr>
              <a:t>1980s</a:t>
            </a:r>
            <a:endParaRPr lang="en-US" sz="840" dirty="0"/>
          </a:p>
        </p:txBody>
      </p:sp>
      <p:sp>
        <p:nvSpPr>
          <p:cNvPr id="23" name="Text 17"/>
          <p:cNvSpPr/>
          <p:nvPr/>
        </p:nvSpPr>
        <p:spPr>
          <a:xfrm>
            <a:off x="5097066" y="2157413"/>
            <a:ext cx="1160699" cy="273784"/>
          </a:xfrm>
          <a:prstGeom prst="rect">
            <a:avLst/>
          </a:prstGeom>
          <a:noFill/>
          <a:ln/>
        </p:spPr>
        <p:txBody>
          <a:bodyPr wrap="square" lIns="0" tIns="0" rIns="0" bIns="0" rtlCol="0" anchor="t"/>
          <a:lstStyle/>
          <a:p>
            <a:pPr marL="0" indent="0" algn="l">
              <a:lnSpc>
                <a:spcPts val="1026"/>
              </a:lnSpc>
              <a:buNone/>
            </a:pPr>
            <a:r>
              <a:rPr lang="en-US" sz="760" dirty="0">
                <a:solidFill>
                  <a:srgbClr val="E2E8F0"/>
                </a:solidFill>
                <a:latin typeface="Calibri" pitchFamily="34" charset="0"/>
                <a:ea typeface="Calibri" pitchFamily="34" charset="-122"/>
                <a:cs typeface="Calibri" pitchFamily="34" charset="-120"/>
              </a:rPr>
              <a:t>Home video games &amp; arcade cabinets</a:t>
            </a:r>
            <a:endParaRPr lang="en-US" sz="760" dirty="0"/>
          </a:p>
        </p:txBody>
      </p:sp>
      <p:sp>
        <p:nvSpPr>
          <p:cNvPr id="24" name="Text 18"/>
          <p:cNvSpPr/>
          <p:nvPr/>
        </p:nvSpPr>
        <p:spPr>
          <a:xfrm>
            <a:off x="4428381" y="2685901"/>
            <a:ext cx="143470" cy="7590"/>
          </a:xfrm>
          <a:prstGeom prst="rect">
            <a:avLst/>
          </a:prstGeom>
          <a:solidFill>
            <a:srgbClr val="2A3A50"/>
          </a:solidFill>
          <a:ln/>
        </p:spPr>
        <p:txBody>
          <a:bodyPr wrap="none" rtlCol="0" anchor="t"/>
          <a:lstStyle/>
          <a:p>
            <a:pPr marL="0" indent="0">
              <a:buNone/>
            </a:pPr>
            <a:endParaRPr lang="en-US" dirty="0"/>
          </a:p>
        </p:txBody>
      </p:sp>
      <p:sp>
        <p:nvSpPr>
          <p:cNvPr id="25" name="Text 19"/>
          <p:cNvSpPr/>
          <p:nvPr/>
        </p:nvSpPr>
        <p:spPr>
          <a:xfrm>
            <a:off x="2799159" y="2467124"/>
            <a:ext cx="1572220" cy="437555"/>
          </a:xfrm>
          <a:prstGeom prst="roundRect">
            <a:avLst>
              <a:gd name="adj" fmla="val 13061"/>
            </a:avLst>
          </a:prstGeom>
          <a:solidFill>
            <a:srgbClr val="1A2332"/>
          </a:solidFill>
          <a:ln w="9525">
            <a:solidFill>
              <a:srgbClr val="2A3A50"/>
            </a:solidFill>
          </a:ln>
        </p:spPr>
        <p:txBody>
          <a:bodyPr wrap="square" rtlCol="0" anchor="t"/>
          <a:lstStyle/>
          <a:p>
            <a:pPr marL="0" indent="0">
              <a:buNone/>
            </a:pPr>
            <a:endParaRPr lang="en-US" dirty="0"/>
          </a:p>
        </p:txBody>
      </p:sp>
      <p:pic>
        <p:nvPicPr>
          <p:cNvPr id="26" name="Image 4" descr="preencoded.png"/>
          <p:cNvPicPr>
            <a:picLocks noChangeAspect="1"/>
          </p:cNvPicPr>
          <p:nvPr/>
        </p:nvPicPr>
        <p:blipFill>
          <a:blip>
            <a:alphaModFix amt="60000"/>
            <a:extLst>
              <a:ext uri="{96DAC541-7B7A-43D3-8B79-37D633B846F1}">
                <asvg:svgBlip xmlns:asvg="http://schemas.microsoft.com/office/drawing/2016/SVG/main" r:embed="rId7"/>
              </a:ext>
            </a:extLst>
          </a:blip>
          <a:stretch>
            <a:fillRect/>
          </a:stretch>
        </p:blipFill>
        <p:spPr>
          <a:xfrm>
            <a:off x="2928426" y="2553230"/>
            <a:ext cx="132588" cy="132588"/>
          </a:xfrm>
          <a:prstGeom prst="rect">
            <a:avLst/>
          </a:prstGeom>
        </p:spPr>
      </p:pic>
      <p:sp>
        <p:nvSpPr>
          <p:cNvPr id="27" name="Text 20"/>
          <p:cNvSpPr/>
          <p:nvPr/>
        </p:nvSpPr>
        <p:spPr>
          <a:xfrm>
            <a:off x="3123605" y="2533799"/>
            <a:ext cx="1108650" cy="159990"/>
          </a:xfrm>
          <a:prstGeom prst="rect">
            <a:avLst/>
          </a:prstGeom>
          <a:noFill/>
          <a:ln/>
        </p:spPr>
        <p:txBody>
          <a:bodyPr wrap="none" lIns="0" tIns="0" rIns="0" bIns="0" rtlCol="0" anchor="t"/>
          <a:lstStyle/>
          <a:p>
            <a:pPr marL="0" indent="0" algn="l">
              <a:lnSpc>
                <a:spcPts val="1260"/>
              </a:lnSpc>
              <a:buNone/>
            </a:pPr>
            <a:r>
              <a:rPr lang="en-US" sz="840" b="1" kern="0" spc="60" dirty="0">
                <a:solidFill>
                  <a:srgbClr val="8B9CB6"/>
                </a:solidFill>
                <a:latin typeface="Consolas" pitchFamily="34" charset="0"/>
                <a:ea typeface="Consolas" pitchFamily="34" charset="-122"/>
                <a:cs typeface="Consolas" pitchFamily="34" charset="-120"/>
              </a:rPr>
              <a:t>1990s</a:t>
            </a:r>
            <a:endParaRPr lang="en-US" sz="840" dirty="0"/>
          </a:p>
        </p:txBody>
      </p:sp>
      <p:sp>
        <p:nvSpPr>
          <p:cNvPr id="28" name="Text 21"/>
          <p:cNvSpPr/>
          <p:nvPr/>
        </p:nvSpPr>
        <p:spPr>
          <a:xfrm>
            <a:off x="3123605" y="2707630"/>
            <a:ext cx="1108650" cy="130373"/>
          </a:xfrm>
          <a:prstGeom prst="rect">
            <a:avLst/>
          </a:prstGeom>
          <a:noFill/>
          <a:ln/>
        </p:spPr>
        <p:txBody>
          <a:bodyPr wrap="none" lIns="0" tIns="0" rIns="0" bIns="0" rtlCol="0" anchor="t"/>
          <a:lstStyle/>
          <a:p>
            <a:pPr marL="0" indent="0" algn="l">
              <a:lnSpc>
                <a:spcPts val="1026"/>
              </a:lnSpc>
              <a:buNone/>
            </a:pPr>
            <a:r>
              <a:rPr lang="en-US" sz="760" dirty="0">
                <a:solidFill>
                  <a:srgbClr val="E2E8F0"/>
                </a:solidFill>
                <a:latin typeface="Calibri" pitchFamily="34" charset="0"/>
                <a:ea typeface="Calibri" pitchFamily="34" charset="-122"/>
                <a:cs typeface="Calibri" pitchFamily="34" charset="-120"/>
              </a:rPr>
              <a:t>Building IBM PC clones</a:t>
            </a:r>
            <a:endParaRPr lang="en-US" sz="760" dirty="0"/>
          </a:p>
        </p:txBody>
      </p:sp>
      <p:sp>
        <p:nvSpPr>
          <p:cNvPr id="29" name="Text 22"/>
          <p:cNvSpPr/>
          <p:nvPr/>
        </p:nvSpPr>
        <p:spPr>
          <a:xfrm>
            <a:off x="4572149" y="3172420"/>
            <a:ext cx="143470" cy="7590"/>
          </a:xfrm>
          <a:prstGeom prst="rect">
            <a:avLst/>
          </a:prstGeom>
          <a:solidFill>
            <a:srgbClr val="2A3A50"/>
          </a:solidFill>
          <a:ln/>
        </p:spPr>
        <p:txBody>
          <a:bodyPr wrap="none" rtlCol="0" anchor="t"/>
          <a:lstStyle/>
          <a:p>
            <a:pPr marL="0" indent="0">
              <a:buNone/>
            </a:pPr>
            <a:endParaRPr lang="en-US" dirty="0"/>
          </a:p>
        </p:txBody>
      </p:sp>
      <p:sp>
        <p:nvSpPr>
          <p:cNvPr id="30" name="Text 23"/>
          <p:cNvSpPr/>
          <p:nvPr/>
        </p:nvSpPr>
        <p:spPr>
          <a:xfrm>
            <a:off x="4772620" y="2888456"/>
            <a:ext cx="1572220" cy="567928"/>
          </a:xfrm>
          <a:prstGeom prst="roundRect">
            <a:avLst>
              <a:gd name="adj" fmla="val 10063"/>
            </a:avLst>
          </a:prstGeom>
          <a:solidFill>
            <a:srgbClr val="1A2332"/>
          </a:solidFill>
          <a:ln w="9525">
            <a:solidFill>
              <a:srgbClr val="2A3A50"/>
            </a:solidFill>
          </a:ln>
        </p:spPr>
        <p:txBody>
          <a:bodyPr wrap="square" rtlCol="0" anchor="t"/>
          <a:lstStyle/>
          <a:p>
            <a:pPr marL="0" indent="0">
              <a:buNone/>
            </a:pPr>
            <a:endParaRPr lang="en-US" dirty="0"/>
          </a:p>
        </p:txBody>
      </p:sp>
      <p:pic>
        <p:nvPicPr>
          <p:cNvPr id="31" name="Image 5" descr="preencoded.png"/>
          <p:cNvPicPr>
            <a:picLocks noChangeAspect="1"/>
          </p:cNvPicPr>
          <p:nvPr/>
        </p:nvPicPr>
        <p:blipFill>
          <a:blip>
            <a:alphaModFix amt="60000"/>
            <a:extLst>
              <a:ext uri="{96DAC541-7B7A-43D3-8B79-37D633B846F1}">
                <asvg:svgBlip xmlns:asvg="http://schemas.microsoft.com/office/drawing/2016/SVG/main" r:embed="rId8"/>
              </a:ext>
            </a:extLst>
          </a:blip>
          <a:stretch>
            <a:fillRect/>
          </a:stretch>
        </p:blipFill>
        <p:spPr>
          <a:xfrm>
            <a:off x="4901886" y="2974562"/>
            <a:ext cx="132588" cy="132588"/>
          </a:xfrm>
          <a:prstGeom prst="rect">
            <a:avLst/>
          </a:prstGeom>
        </p:spPr>
      </p:pic>
      <p:sp>
        <p:nvSpPr>
          <p:cNvPr id="32" name="Text 24"/>
          <p:cNvSpPr/>
          <p:nvPr/>
        </p:nvSpPr>
        <p:spPr>
          <a:xfrm>
            <a:off x="5097066" y="2955131"/>
            <a:ext cx="1251734" cy="159990"/>
          </a:xfrm>
          <a:prstGeom prst="rect">
            <a:avLst/>
          </a:prstGeom>
          <a:noFill/>
          <a:ln/>
        </p:spPr>
        <p:txBody>
          <a:bodyPr wrap="none" lIns="0" tIns="0" rIns="0" bIns="0" rtlCol="0" anchor="t"/>
          <a:lstStyle/>
          <a:p>
            <a:pPr marL="0" indent="0" algn="l">
              <a:lnSpc>
                <a:spcPts val="1260"/>
              </a:lnSpc>
              <a:buNone/>
            </a:pPr>
            <a:r>
              <a:rPr lang="en-US" sz="840" b="1" kern="0" spc="60" dirty="0">
                <a:solidFill>
                  <a:srgbClr val="8B9CB6"/>
                </a:solidFill>
                <a:latin typeface="Consolas" pitchFamily="34" charset="0"/>
                <a:ea typeface="Consolas" pitchFamily="34" charset="-122"/>
                <a:cs typeface="Consolas" pitchFamily="34" charset="-120"/>
              </a:rPr>
              <a:t>2000s</a:t>
            </a:r>
            <a:endParaRPr lang="en-US" sz="840" dirty="0"/>
          </a:p>
        </p:txBody>
      </p:sp>
      <p:sp>
        <p:nvSpPr>
          <p:cNvPr id="33" name="Text 25"/>
          <p:cNvSpPr/>
          <p:nvPr/>
        </p:nvSpPr>
        <p:spPr>
          <a:xfrm>
            <a:off x="5097066" y="3128963"/>
            <a:ext cx="1160699" cy="273784"/>
          </a:xfrm>
          <a:prstGeom prst="rect">
            <a:avLst/>
          </a:prstGeom>
          <a:noFill/>
          <a:ln/>
        </p:spPr>
        <p:txBody>
          <a:bodyPr wrap="square" lIns="0" tIns="0" rIns="0" bIns="0" rtlCol="0" anchor="t"/>
          <a:lstStyle/>
          <a:p>
            <a:pPr marL="0" indent="0" algn="l">
              <a:lnSpc>
                <a:spcPts val="1026"/>
              </a:lnSpc>
              <a:buNone/>
            </a:pPr>
            <a:r>
              <a:rPr lang="en-US" sz="760" dirty="0">
                <a:solidFill>
                  <a:srgbClr val="E2E8F0"/>
                </a:solidFill>
                <a:latin typeface="Calibri" pitchFamily="34" charset="0"/>
                <a:ea typeface="Calibri" pitchFamily="34" charset="-122"/>
                <a:cs typeface="Calibri" pitchFamily="34" charset="-120"/>
              </a:rPr>
              <a:t>Consoles, Custom gaming PCs &amp; home servers</a:t>
            </a:r>
            <a:endParaRPr lang="en-US" sz="760" dirty="0"/>
          </a:p>
        </p:txBody>
      </p:sp>
      <p:sp>
        <p:nvSpPr>
          <p:cNvPr id="34" name="Text 26"/>
          <p:cNvSpPr/>
          <p:nvPr/>
        </p:nvSpPr>
        <p:spPr>
          <a:xfrm>
            <a:off x="4428381" y="3657451"/>
            <a:ext cx="143470" cy="7590"/>
          </a:xfrm>
          <a:prstGeom prst="rect">
            <a:avLst/>
          </a:prstGeom>
          <a:solidFill>
            <a:srgbClr val="2A3A50"/>
          </a:solidFill>
          <a:ln/>
        </p:spPr>
        <p:txBody>
          <a:bodyPr wrap="none" rtlCol="0" anchor="t"/>
          <a:lstStyle/>
          <a:p>
            <a:pPr marL="0" indent="0">
              <a:buNone/>
            </a:pPr>
            <a:endParaRPr lang="en-US" dirty="0"/>
          </a:p>
        </p:txBody>
      </p:sp>
      <p:sp>
        <p:nvSpPr>
          <p:cNvPr id="35" name="Text 27"/>
          <p:cNvSpPr/>
          <p:nvPr/>
        </p:nvSpPr>
        <p:spPr>
          <a:xfrm>
            <a:off x="2799159" y="3373487"/>
            <a:ext cx="1572220" cy="567928"/>
          </a:xfrm>
          <a:prstGeom prst="roundRect">
            <a:avLst>
              <a:gd name="adj" fmla="val 10063"/>
            </a:avLst>
          </a:prstGeom>
          <a:solidFill>
            <a:srgbClr val="1A2332"/>
          </a:solidFill>
          <a:ln w="9525">
            <a:solidFill>
              <a:srgbClr val="2A3A50"/>
            </a:solidFill>
          </a:ln>
        </p:spPr>
        <p:txBody>
          <a:bodyPr wrap="square" rtlCol="0" anchor="t"/>
          <a:lstStyle/>
          <a:p>
            <a:pPr marL="0" indent="0">
              <a:buNone/>
            </a:pPr>
            <a:endParaRPr lang="en-US" dirty="0"/>
          </a:p>
        </p:txBody>
      </p:sp>
      <p:pic>
        <p:nvPicPr>
          <p:cNvPr id="36" name="Image 6" descr="preencoded.png"/>
          <p:cNvPicPr>
            <a:picLocks noChangeAspect="1"/>
          </p:cNvPicPr>
          <p:nvPr/>
        </p:nvPicPr>
        <p:blipFill>
          <a:blip>
            <a:alphaModFix amt="60000"/>
            <a:extLst>
              <a:ext uri="{96DAC541-7B7A-43D3-8B79-37D633B846F1}">
                <asvg:svgBlip xmlns:asvg="http://schemas.microsoft.com/office/drawing/2016/SVG/main" r:embed="rId9"/>
              </a:ext>
            </a:extLst>
          </a:blip>
          <a:stretch>
            <a:fillRect/>
          </a:stretch>
        </p:blipFill>
        <p:spPr>
          <a:xfrm>
            <a:off x="2928426" y="3459593"/>
            <a:ext cx="132588" cy="132588"/>
          </a:xfrm>
          <a:prstGeom prst="rect">
            <a:avLst/>
          </a:prstGeom>
        </p:spPr>
      </p:pic>
      <p:sp>
        <p:nvSpPr>
          <p:cNvPr id="37" name="Text 28"/>
          <p:cNvSpPr/>
          <p:nvPr/>
        </p:nvSpPr>
        <p:spPr>
          <a:xfrm>
            <a:off x="3123605" y="3440162"/>
            <a:ext cx="1251734" cy="159990"/>
          </a:xfrm>
          <a:prstGeom prst="rect">
            <a:avLst/>
          </a:prstGeom>
          <a:noFill/>
          <a:ln/>
        </p:spPr>
        <p:txBody>
          <a:bodyPr wrap="none" lIns="0" tIns="0" rIns="0" bIns="0" rtlCol="0" anchor="t"/>
          <a:lstStyle/>
          <a:p>
            <a:pPr marL="0" indent="0" algn="l">
              <a:lnSpc>
                <a:spcPts val="1260"/>
              </a:lnSpc>
              <a:buNone/>
            </a:pPr>
            <a:r>
              <a:rPr lang="en-US" sz="840" b="1" kern="0" spc="60" dirty="0">
                <a:solidFill>
                  <a:srgbClr val="8B9CB6"/>
                </a:solidFill>
                <a:latin typeface="Consolas" pitchFamily="34" charset="0"/>
                <a:ea typeface="Consolas" pitchFamily="34" charset="-122"/>
                <a:cs typeface="Consolas" pitchFamily="34" charset="-120"/>
              </a:rPr>
              <a:t>2010s</a:t>
            </a:r>
            <a:endParaRPr lang="en-US" sz="840" dirty="0"/>
          </a:p>
        </p:txBody>
      </p:sp>
      <p:sp>
        <p:nvSpPr>
          <p:cNvPr id="38" name="Text 29"/>
          <p:cNvSpPr/>
          <p:nvPr/>
        </p:nvSpPr>
        <p:spPr>
          <a:xfrm>
            <a:off x="3123605" y="3613993"/>
            <a:ext cx="1160699" cy="273784"/>
          </a:xfrm>
          <a:prstGeom prst="rect">
            <a:avLst/>
          </a:prstGeom>
          <a:noFill/>
          <a:ln/>
        </p:spPr>
        <p:txBody>
          <a:bodyPr wrap="square" lIns="0" tIns="0" rIns="0" bIns="0" rtlCol="0" anchor="t"/>
          <a:lstStyle/>
          <a:p>
            <a:pPr marL="0" indent="0" algn="l">
              <a:lnSpc>
                <a:spcPts val="1026"/>
              </a:lnSpc>
              <a:buNone/>
            </a:pPr>
            <a:r>
              <a:rPr lang="en-US" sz="760" dirty="0">
                <a:solidFill>
                  <a:srgbClr val="E2E8F0"/>
                </a:solidFill>
                <a:latin typeface="Calibri" pitchFamily="34" charset="0"/>
                <a:ea typeface="Calibri" pitchFamily="34" charset="-122"/>
                <a:cs typeface="Calibri" pitchFamily="34" charset="-120"/>
              </a:rPr>
              <a:t>Arduino, 3D printers, maker projects</a:t>
            </a:r>
            <a:endParaRPr lang="en-US" sz="760" dirty="0"/>
          </a:p>
        </p:txBody>
      </p:sp>
      <p:sp>
        <p:nvSpPr>
          <p:cNvPr id="39" name="Text 30"/>
          <p:cNvSpPr/>
          <p:nvPr/>
        </p:nvSpPr>
        <p:spPr>
          <a:xfrm>
            <a:off x="4572149" y="4172545"/>
            <a:ext cx="143470" cy="13841"/>
          </a:xfrm>
          <a:prstGeom prst="rect">
            <a:avLst/>
          </a:prstGeom>
          <a:solidFill>
            <a:srgbClr val="76B900"/>
          </a:solidFill>
          <a:ln/>
          <a:effectLst>
            <a:outerShdw blurRad="43180" dist="50800" dir="16200000" algn="bl" rotWithShape="0">
              <a:srgbClr val="76B900">
                <a:alpha val="30000"/>
              </a:srgbClr>
            </a:outerShdw>
          </a:effectLst>
        </p:spPr>
        <p:txBody>
          <a:bodyPr wrap="none" rtlCol="0" anchor="t"/>
          <a:lstStyle/>
          <a:p>
            <a:pPr marL="0" indent="0">
              <a:buNone/>
            </a:pPr>
            <a:endParaRPr lang="en-US" dirty="0"/>
          </a:p>
        </p:txBody>
      </p:sp>
      <p:sp>
        <p:nvSpPr>
          <p:cNvPr id="40" name="Text 31"/>
          <p:cNvSpPr/>
          <p:nvPr/>
        </p:nvSpPr>
        <p:spPr>
          <a:xfrm>
            <a:off x="4772620" y="3853086"/>
            <a:ext cx="1714500" cy="638919"/>
          </a:xfrm>
          <a:prstGeom prst="roundRect">
            <a:avLst>
              <a:gd name="adj" fmla="val 8945"/>
            </a:avLst>
          </a:prstGeom>
          <a:gradFill rotWithShape="1">
            <a:gsLst>
              <a:gs pos="0">
                <a:srgbClr val="76B900">
                  <a:alpha val="15000"/>
                </a:srgbClr>
              </a:gs>
              <a:gs pos="100000">
                <a:srgbClr val="1A2332"/>
              </a:gs>
            </a:gsLst>
            <a:lin ang="2700000" scaled="1"/>
          </a:gradFill>
          <a:ln w="9525">
            <a:solidFill>
              <a:srgbClr val="76B900"/>
            </a:solidFill>
          </a:ln>
          <a:effectLst>
            <a:outerShdw blurRad="143510" dist="50800" dir="16200000" algn="bl" rotWithShape="0">
              <a:srgbClr val="76B900">
                <a:alpha val="12000"/>
              </a:srgbClr>
            </a:outerShdw>
          </a:effectLst>
        </p:spPr>
        <p:txBody>
          <a:bodyPr wrap="square" rtlCol="0" anchor="t"/>
          <a:lstStyle/>
          <a:p>
            <a:pPr marL="0" indent="0">
              <a:buNone/>
            </a:pPr>
            <a:endParaRPr lang="en-US" dirty="0"/>
          </a:p>
        </p:txBody>
      </p:sp>
      <p:pic>
        <p:nvPicPr>
          <p:cNvPr id="41"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915802" y="3952958"/>
            <a:ext cx="132588" cy="132588"/>
          </a:xfrm>
          <a:prstGeom prst="rect">
            <a:avLst/>
          </a:prstGeom>
        </p:spPr>
      </p:pic>
      <p:sp>
        <p:nvSpPr>
          <p:cNvPr id="42" name="Text 32"/>
          <p:cNvSpPr/>
          <p:nvPr/>
        </p:nvSpPr>
        <p:spPr>
          <a:xfrm>
            <a:off x="5111055" y="3933602"/>
            <a:ext cx="1377464" cy="182761"/>
          </a:xfrm>
          <a:prstGeom prst="rect">
            <a:avLst/>
          </a:prstGeom>
          <a:noFill/>
          <a:ln/>
        </p:spPr>
        <p:txBody>
          <a:bodyPr wrap="none" lIns="0" tIns="0" rIns="0" bIns="0" rtlCol="0" anchor="t"/>
          <a:lstStyle/>
          <a:p>
            <a:pPr marL="0" indent="0" algn="l">
              <a:lnSpc>
                <a:spcPts val="1440"/>
              </a:lnSpc>
              <a:buNone/>
            </a:pPr>
            <a:r>
              <a:rPr lang="en-US" sz="960" b="1" kern="0" spc="60" dirty="0">
                <a:solidFill>
                  <a:srgbClr val="76B900"/>
                </a:solidFill>
                <a:latin typeface="Consolas" pitchFamily="34" charset="0"/>
                <a:ea typeface="Consolas" pitchFamily="34" charset="-122"/>
                <a:cs typeface="Consolas" pitchFamily="34" charset="-120"/>
              </a:rPr>
              <a:t>2020s</a:t>
            </a:r>
            <a:endParaRPr lang="en-US" sz="960" dirty="0"/>
          </a:p>
        </p:txBody>
      </p:sp>
      <p:sp>
        <p:nvSpPr>
          <p:cNvPr id="43" name="Text 33"/>
          <p:cNvSpPr/>
          <p:nvPr/>
        </p:nvSpPr>
        <p:spPr>
          <a:xfrm>
            <a:off x="5111055" y="4130204"/>
            <a:ext cx="1277285" cy="295349"/>
          </a:xfrm>
          <a:prstGeom prst="rect">
            <a:avLst/>
          </a:prstGeom>
          <a:noFill/>
          <a:ln/>
        </p:spPr>
        <p:txBody>
          <a:bodyPr wrap="square" lIns="0" tIns="0" rIns="0" bIns="0" rtlCol="0" anchor="t"/>
          <a:lstStyle/>
          <a:p>
            <a:pPr marL="0" indent="0" algn="l">
              <a:lnSpc>
                <a:spcPts val="1107"/>
              </a:lnSpc>
              <a:buNone/>
            </a:pPr>
            <a:r>
              <a:rPr lang="en-US" sz="820" b="1" dirty="0">
                <a:solidFill>
                  <a:srgbClr val="76B900"/>
                </a:solidFill>
                <a:latin typeface="Calibri" pitchFamily="34" charset="0"/>
                <a:ea typeface="Calibri" pitchFamily="34" charset="-122"/>
                <a:cs typeface="Calibri" pitchFamily="34" charset="-120"/>
              </a:rPr>
              <a:t>Personal AI Agents (OpenClaw + Hermes)</a:t>
            </a:r>
            <a:endParaRPr lang="en-US" sz="820" dirty="0"/>
          </a:p>
        </p:txBody>
      </p:sp>
      <p:sp>
        <p:nvSpPr>
          <p:cNvPr id="44" name="Text 34"/>
          <p:cNvSpPr/>
          <p:nvPr/>
        </p:nvSpPr>
        <p:spPr>
          <a:xfrm>
            <a:off x="2561578" y="4822924"/>
            <a:ext cx="4185598" cy="192435"/>
          </a:xfrm>
          <a:prstGeom prst="rect">
            <a:avLst/>
          </a:prstGeom>
          <a:noFill/>
          <a:ln/>
        </p:spPr>
        <p:txBody>
          <a:bodyPr wrap="none" lIns="0" tIns="0" rIns="0" bIns="0" rtlCol="0" anchor="ctr"/>
          <a:lstStyle/>
          <a:p>
            <a:pPr marL="0" indent="0" algn="ctr">
              <a:lnSpc>
                <a:spcPts val="1515"/>
              </a:lnSpc>
              <a:buNone/>
            </a:pPr>
            <a:r>
              <a:rPr lang="en-US" sz="1010" b="1" kern="0" spc="30" dirty="0">
                <a:solidFill>
                  <a:srgbClr val="76B900"/>
                </a:solidFill>
                <a:latin typeface="Consolas" pitchFamily="34" charset="0"/>
                <a:ea typeface="Consolas" pitchFamily="34" charset="-122"/>
                <a:cs typeface="Consolas" pitchFamily="34" charset="-120"/>
              </a:rPr>
              <a:t>You are living in the 2020s garage revolution.</a:t>
            </a:r>
            <a:endParaRPr lang="en-US" sz="1010" dirty="0"/>
          </a:p>
        </p:txBody>
      </p:sp>
      <p:pic>
        <p:nvPicPr>
          <p:cNvPr id="45"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2574587" y="4852848"/>
            <a:ext cx="132588" cy="132588"/>
          </a:xfrm>
          <a:prstGeom prst="rect">
            <a:avLst/>
          </a:prstGeom>
        </p:spPr>
      </p:pic>
      <p:sp>
        <p:nvSpPr>
          <p:cNvPr id="46" name="Text 35"/>
          <p:cNvSpPr/>
          <p:nvPr/>
        </p:nvSpPr>
        <p:spPr>
          <a:xfrm>
            <a:off x="4521845" y="692646"/>
            <a:ext cx="100310" cy="100310"/>
          </a:xfrm>
          <a:prstGeom prst="ellipse">
            <a:avLst/>
          </a:prstGeom>
          <a:solidFill>
            <a:srgbClr val="1A2332"/>
          </a:solidFill>
          <a:ln w="9525">
            <a:solidFill>
              <a:srgbClr val="3A4F6A"/>
            </a:solidFill>
          </a:ln>
        </p:spPr>
        <p:txBody>
          <a:bodyPr wrap="none" rtlCol="0" anchor="t"/>
          <a:lstStyle/>
          <a:p>
            <a:pPr marL="0" indent="0">
              <a:buNone/>
            </a:pPr>
            <a:endParaRPr lang="en-US" dirty="0"/>
          </a:p>
        </p:txBody>
      </p:sp>
      <p:sp>
        <p:nvSpPr>
          <p:cNvPr id="47" name="Text 36"/>
          <p:cNvSpPr/>
          <p:nvPr/>
        </p:nvSpPr>
        <p:spPr>
          <a:xfrm>
            <a:off x="4521845" y="1179165"/>
            <a:ext cx="100310" cy="100310"/>
          </a:xfrm>
          <a:prstGeom prst="ellipse">
            <a:avLst/>
          </a:prstGeom>
          <a:solidFill>
            <a:srgbClr val="1A2332"/>
          </a:solidFill>
          <a:ln w="9525">
            <a:solidFill>
              <a:srgbClr val="3A4F6A"/>
            </a:solidFill>
          </a:ln>
        </p:spPr>
        <p:txBody>
          <a:bodyPr wrap="none" rtlCol="0" anchor="t"/>
          <a:lstStyle/>
          <a:p>
            <a:pPr marL="0" indent="0">
              <a:buNone/>
            </a:pPr>
            <a:endParaRPr lang="en-US" dirty="0"/>
          </a:p>
        </p:txBody>
      </p:sp>
      <p:sp>
        <p:nvSpPr>
          <p:cNvPr id="48" name="Text 37"/>
          <p:cNvSpPr/>
          <p:nvPr/>
        </p:nvSpPr>
        <p:spPr>
          <a:xfrm>
            <a:off x="4521845" y="1664196"/>
            <a:ext cx="100310" cy="100310"/>
          </a:xfrm>
          <a:prstGeom prst="ellipse">
            <a:avLst/>
          </a:prstGeom>
          <a:solidFill>
            <a:srgbClr val="1A2332"/>
          </a:solidFill>
          <a:ln w="9525">
            <a:solidFill>
              <a:srgbClr val="3A4F6A"/>
            </a:solidFill>
          </a:ln>
        </p:spPr>
        <p:txBody>
          <a:bodyPr wrap="none" rtlCol="0" anchor="t"/>
          <a:lstStyle/>
          <a:p>
            <a:pPr marL="0" indent="0">
              <a:buNone/>
            </a:pPr>
            <a:endParaRPr lang="en-US" dirty="0"/>
          </a:p>
        </p:txBody>
      </p:sp>
      <p:sp>
        <p:nvSpPr>
          <p:cNvPr id="49" name="Text 38"/>
          <p:cNvSpPr/>
          <p:nvPr/>
        </p:nvSpPr>
        <p:spPr>
          <a:xfrm>
            <a:off x="4521845" y="2150715"/>
            <a:ext cx="100310" cy="100310"/>
          </a:xfrm>
          <a:prstGeom prst="ellipse">
            <a:avLst/>
          </a:prstGeom>
          <a:solidFill>
            <a:srgbClr val="1A2332"/>
          </a:solidFill>
          <a:ln w="9525">
            <a:solidFill>
              <a:srgbClr val="3A4F6A"/>
            </a:solidFill>
          </a:ln>
        </p:spPr>
        <p:txBody>
          <a:bodyPr wrap="none" rtlCol="0" anchor="t"/>
          <a:lstStyle/>
          <a:p>
            <a:pPr marL="0" indent="0">
              <a:buNone/>
            </a:pPr>
            <a:endParaRPr lang="en-US" dirty="0"/>
          </a:p>
        </p:txBody>
      </p:sp>
      <p:sp>
        <p:nvSpPr>
          <p:cNvPr id="50" name="Text 39"/>
          <p:cNvSpPr/>
          <p:nvPr/>
        </p:nvSpPr>
        <p:spPr>
          <a:xfrm>
            <a:off x="4521845" y="2635746"/>
            <a:ext cx="100310" cy="100310"/>
          </a:xfrm>
          <a:prstGeom prst="ellipse">
            <a:avLst/>
          </a:prstGeom>
          <a:solidFill>
            <a:srgbClr val="1A2332"/>
          </a:solidFill>
          <a:ln w="9525">
            <a:solidFill>
              <a:srgbClr val="3A4F6A"/>
            </a:solidFill>
          </a:ln>
        </p:spPr>
        <p:txBody>
          <a:bodyPr wrap="none" rtlCol="0" anchor="t"/>
          <a:lstStyle/>
          <a:p>
            <a:pPr marL="0" indent="0">
              <a:buNone/>
            </a:pPr>
            <a:endParaRPr lang="en-US" dirty="0"/>
          </a:p>
        </p:txBody>
      </p:sp>
      <p:sp>
        <p:nvSpPr>
          <p:cNvPr id="51" name="Text 40"/>
          <p:cNvSpPr/>
          <p:nvPr/>
        </p:nvSpPr>
        <p:spPr>
          <a:xfrm>
            <a:off x="4521845" y="3122265"/>
            <a:ext cx="100310" cy="100310"/>
          </a:xfrm>
          <a:prstGeom prst="ellipse">
            <a:avLst/>
          </a:prstGeom>
          <a:solidFill>
            <a:srgbClr val="1A2332"/>
          </a:solidFill>
          <a:ln w="9525">
            <a:solidFill>
              <a:srgbClr val="3A4F6A"/>
            </a:solidFill>
          </a:ln>
        </p:spPr>
        <p:txBody>
          <a:bodyPr wrap="none" rtlCol="0" anchor="t"/>
          <a:lstStyle/>
          <a:p>
            <a:pPr marL="0" indent="0">
              <a:buNone/>
            </a:pPr>
            <a:endParaRPr lang="en-US" dirty="0"/>
          </a:p>
        </p:txBody>
      </p:sp>
      <p:sp>
        <p:nvSpPr>
          <p:cNvPr id="52" name="Text 41"/>
          <p:cNvSpPr/>
          <p:nvPr/>
        </p:nvSpPr>
        <p:spPr>
          <a:xfrm>
            <a:off x="4521845" y="3607296"/>
            <a:ext cx="100310" cy="100310"/>
          </a:xfrm>
          <a:prstGeom prst="ellipse">
            <a:avLst/>
          </a:prstGeom>
          <a:solidFill>
            <a:srgbClr val="1A2332"/>
          </a:solidFill>
          <a:ln w="9525">
            <a:solidFill>
              <a:srgbClr val="3A4F6A"/>
            </a:solidFill>
          </a:ln>
        </p:spPr>
        <p:txBody>
          <a:bodyPr wrap="none" rtlCol="0" anchor="t"/>
          <a:lstStyle/>
          <a:p>
            <a:pPr marL="0" indent="0">
              <a:buNone/>
            </a:pPr>
            <a:endParaRPr lang="en-US" dirty="0"/>
          </a:p>
        </p:txBody>
      </p:sp>
      <p:sp>
        <p:nvSpPr>
          <p:cNvPr id="53" name="Text 42"/>
          <p:cNvSpPr/>
          <p:nvPr/>
        </p:nvSpPr>
        <p:spPr>
          <a:xfrm>
            <a:off x="4507929" y="4108475"/>
            <a:ext cx="128141" cy="128141"/>
          </a:xfrm>
          <a:prstGeom prst="ellipse">
            <a:avLst/>
          </a:prstGeom>
          <a:solidFill>
            <a:srgbClr val="76B900"/>
          </a:solidFill>
          <a:ln w="9525">
            <a:solidFill>
              <a:srgbClr val="76B900"/>
            </a:solidFill>
          </a:ln>
          <a:effectLst>
            <a:outerShdw blurRad="114300" dist="50800" dir="16200000" algn="bl" rotWithShape="0">
              <a:srgbClr val="76B900">
                <a:alpha val="50000"/>
              </a:srgbClr>
            </a:outerShdw>
          </a:effectLst>
        </p:spPr>
        <p:txBody>
          <a:bodyPr wrap="none" rtlCol="0" anchor="t"/>
          <a:lstStyle/>
          <a:p>
            <a:pPr marL="0" indent="0">
              <a:buNone/>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429220" y="364778"/>
            <a:ext cx="342900" cy="342900"/>
          </a:xfrm>
          <a:prstGeom prst="roundRect">
            <a:avLst>
              <a:gd name="adj" fmla="val 25185"/>
            </a:avLst>
          </a:prstGeom>
          <a:solidFill>
            <a:srgbClr val="76B900">
              <a:alpha val="12000"/>
            </a:srgbClr>
          </a:solidFill>
          <a:ln/>
        </p:spPr>
        <p:txBody>
          <a:bodyPr wrap="square" rtlCol="0" anchor="t"/>
          <a:lstStyle/>
          <a:p>
            <a:pPr marL="0" indent="0">
              <a:buNone/>
            </a:pPr>
            <a:endParaRPr lang="en-US"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5363" y="460921"/>
            <a:ext cx="150465" cy="150465"/>
          </a:xfrm>
          <a:prstGeom prst="rect">
            <a:avLst/>
          </a:prstGeom>
        </p:spPr>
      </p:pic>
      <p:sp>
        <p:nvSpPr>
          <p:cNvPr id="4" name="Text 1"/>
          <p:cNvSpPr/>
          <p:nvPr/>
        </p:nvSpPr>
        <p:spPr>
          <a:xfrm>
            <a:off x="886420" y="342900"/>
            <a:ext cx="1323176" cy="386655"/>
          </a:xfrm>
          <a:prstGeom prst="rect">
            <a:avLst/>
          </a:prstGeom>
          <a:noFill/>
          <a:ln/>
        </p:spPr>
        <p:txBody>
          <a:bodyPr wrap="none" lIns="0" tIns="0" rIns="0" bIns="0" rtlCol="0" anchor="ctr"/>
          <a:lstStyle/>
          <a:p>
            <a:pPr marL="0" indent="0" algn="l">
              <a:lnSpc>
                <a:spcPts val="3045"/>
              </a:lnSpc>
              <a:buNone/>
            </a:pPr>
            <a:r>
              <a:rPr lang="en-US" sz="2030" kern="0" spc="-30" dirty="0">
                <a:solidFill>
                  <a:srgbClr val="E2E8F0"/>
                </a:solidFill>
                <a:latin typeface="Consolas" pitchFamily="34" charset="0"/>
                <a:ea typeface="Consolas" pitchFamily="34" charset="-122"/>
                <a:cs typeface="Consolas" pitchFamily="34" charset="-120"/>
              </a:rPr>
              <a:t>Vocabulary</a:t>
            </a:r>
            <a:endParaRPr lang="en-US" sz="2030" dirty="0"/>
          </a:p>
        </p:txBody>
      </p:sp>
      <p:sp>
        <p:nvSpPr>
          <p:cNvPr id="5" name="Text 2"/>
          <p:cNvSpPr/>
          <p:nvPr/>
        </p:nvSpPr>
        <p:spPr>
          <a:xfrm>
            <a:off x="7547521" y="421779"/>
            <a:ext cx="1167259" cy="251787"/>
          </a:xfrm>
          <a:prstGeom prst="roundRect">
            <a:avLst>
              <a:gd name="adj" fmla="val 56997"/>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730" dirty="0">
                <a:solidFill>
                  <a:srgbClr val="8B9CB6"/>
                </a:solidFill>
                <a:latin typeface="Consolas" pitchFamily="34" charset="0"/>
                <a:ea typeface="Consolas" pitchFamily="34" charset="-122"/>
                <a:cs typeface="Consolas" pitchFamily="34" charset="-120"/>
              </a:rPr>
              <a:t>Key terms to know</a:t>
            </a:r>
            <a:endParaRPr lang="en-US" sz="730" dirty="0"/>
          </a:p>
        </p:txBody>
      </p:sp>
      <p:sp>
        <p:nvSpPr>
          <p:cNvPr id="6" name="Text 3"/>
          <p:cNvSpPr/>
          <p:nvPr/>
        </p:nvSpPr>
        <p:spPr>
          <a:xfrm>
            <a:off x="429220" y="987326"/>
            <a:ext cx="2666107" cy="1863477"/>
          </a:xfrm>
          <a:prstGeom prst="roundRect">
            <a:avLst>
              <a:gd name="adj" fmla="val 5384"/>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7" name="Text 4"/>
          <p:cNvSpPr/>
          <p:nvPr/>
        </p:nvSpPr>
        <p:spPr>
          <a:xfrm>
            <a:off x="610195" y="1197471"/>
            <a:ext cx="285750" cy="285750"/>
          </a:xfrm>
          <a:prstGeom prst="roundRect">
            <a:avLst>
              <a:gd name="adj" fmla="val 24889"/>
            </a:avLst>
          </a:prstGeom>
          <a:solidFill>
            <a:srgbClr val="76B900">
              <a:alpha val="10000"/>
            </a:srgbClr>
          </a:solidFill>
          <a:ln/>
        </p:spPr>
        <p:txBody>
          <a:bodyPr wrap="square" rtlCol="0" anchor="t"/>
          <a:lstStyle/>
          <a:p>
            <a:pPr marL="0" indent="0">
              <a:buNone/>
            </a:pPr>
            <a:endParaRPr lang="en-US"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6702" y="1273978"/>
            <a:ext cx="132588" cy="132588"/>
          </a:xfrm>
          <a:prstGeom prst="rect">
            <a:avLst/>
          </a:prstGeom>
        </p:spPr>
      </p:pic>
      <p:sp>
        <p:nvSpPr>
          <p:cNvPr id="9" name="Text 5"/>
          <p:cNvSpPr/>
          <p:nvPr/>
        </p:nvSpPr>
        <p:spPr>
          <a:xfrm>
            <a:off x="610195" y="1554212"/>
            <a:ext cx="646003" cy="236190"/>
          </a:xfrm>
          <a:prstGeom prst="rect">
            <a:avLst/>
          </a:prstGeom>
          <a:noFill/>
          <a:ln/>
        </p:spPr>
        <p:txBody>
          <a:bodyPr wrap="none" lIns="0" tIns="0" rIns="0" bIns="0" rtlCol="0" anchor="t"/>
          <a:lstStyle/>
          <a:p>
            <a:pPr marL="0" indent="0" algn="l">
              <a:lnSpc>
                <a:spcPts val="1860"/>
              </a:lnSpc>
              <a:buNone/>
            </a:pPr>
            <a:r>
              <a:rPr lang="en-US" sz="1240" b="1" kern="0" spc="25" dirty="0">
                <a:solidFill>
                  <a:srgbClr val="76B900"/>
                </a:solidFill>
                <a:latin typeface="Consolas" pitchFamily="34" charset="0"/>
                <a:ea typeface="Consolas" pitchFamily="34" charset="-122"/>
                <a:cs typeface="Consolas" pitchFamily="34" charset="-120"/>
              </a:rPr>
              <a:t>Tokens</a:t>
            </a:r>
            <a:endParaRPr lang="en-US" sz="1240" dirty="0"/>
          </a:p>
        </p:txBody>
      </p:sp>
      <p:sp>
        <p:nvSpPr>
          <p:cNvPr id="10" name="Text 6"/>
          <p:cNvSpPr/>
          <p:nvPr/>
        </p:nvSpPr>
        <p:spPr>
          <a:xfrm>
            <a:off x="610195" y="1861393"/>
            <a:ext cx="2350240" cy="335979"/>
          </a:xfrm>
          <a:prstGeom prst="rect">
            <a:avLst/>
          </a:prstGeom>
          <a:noFill/>
          <a:ln/>
        </p:spPr>
        <p:txBody>
          <a:bodyPr wrap="square" lIns="0" tIns="0" rIns="0" bIns="0" rtlCol="0" anchor="t"/>
          <a:lstStyle/>
          <a:p>
            <a:pPr marL="0" indent="0" algn="l">
              <a:lnSpc>
                <a:spcPts val="1262"/>
              </a:lnSpc>
              <a:buNone/>
            </a:pPr>
            <a:r>
              <a:rPr lang="en-US" sz="870" dirty="0">
                <a:solidFill>
                  <a:srgbClr val="8B9CB6"/>
                </a:solidFill>
                <a:latin typeface="Calibri" pitchFamily="34" charset="0"/>
                <a:ea typeface="Calibri" pitchFamily="34" charset="-122"/>
                <a:cs typeface="Calibri" pitchFamily="34" charset="-120"/>
              </a:rPr>
              <a:t>Small chunks of text (~3‑4 characters). The fundamental unit LLMs read and generate.</a:t>
            </a:r>
            <a:endParaRPr lang="en-US" sz="870" dirty="0"/>
          </a:p>
        </p:txBody>
      </p:sp>
      <p:sp>
        <p:nvSpPr>
          <p:cNvPr id="11" name="Text 7"/>
          <p:cNvSpPr/>
          <p:nvPr/>
        </p:nvSpPr>
        <p:spPr>
          <a:xfrm>
            <a:off x="3238798" y="987326"/>
            <a:ext cx="2666256" cy="1863477"/>
          </a:xfrm>
          <a:prstGeom prst="roundRect">
            <a:avLst>
              <a:gd name="adj" fmla="val 5384"/>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12" name="Text 8"/>
          <p:cNvSpPr/>
          <p:nvPr/>
        </p:nvSpPr>
        <p:spPr>
          <a:xfrm>
            <a:off x="3419773" y="1197471"/>
            <a:ext cx="285750" cy="285750"/>
          </a:xfrm>
          <a:prstGeom prst="roundRect">
            <a:avLst>
              <a:gd name="adj" fmla="val 24889"/>
            </a:avLst>
          </a:prstGeom>
          <a:solidFill>
            <a:srgbClr val="76B900">
              <a:alpha val="10000"/>
            </a:srgbClr>
          </a:solidFill>
          <a:ln/>
        </p:spPr>
        <p:txBody>
          <a:bodyPr wrap="square" rtlCol="0" anchor="t"/>
          <a:lstStyle/>
          <a:p>
            <a:pPr marL="0" indent="0">
              <a:buNone/>
            </a:pPr>
            <a:endParaRPr lang="en-US" dirty="0"/>
          </a:p>
        </p:txBody>
      </p:sp>
      <p:pic>
        <p:nvPicPr>
          <p:cNvPr id="1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496279" y="1273978"/>
            <a:ext cx="132588" cy="132588"/>
          </a:xfrm>
          <a:prstGeom prst="rect">
            <a:avLst/>
          </a:prstGeom>
        </p:spPr>
      </p:pic>
      <p:sp>
        <p:nvSpPr>
          <p:cNvPr id="14" name="Text 9"/>
          <p:cNvSpPr/>
          <p:nvPr/>
        </p:nvSpPr>
        <p:spPr>
          <a:xfrm>
            <a:off x="3419773" y="1554212"/>
            <a:ext cx="538282" cy="236190"/>
          </a:xfrm>
          <a:prstGeom prst="rect">
            <a:avLst/>
          </a:prstGeom>
          <a:noFill/>
          <a:ln/>
        </p:spPr>
        <p:txBody>
          <a:bodyPr wrap="none" lIns="0" tIns="0" rIns="0" bIns="0" rtlCol="0" anchor="t"/>
          <a:lstStyle/>
          <a:p>
            <a:pPr marL="0" indent="0" algn="l">
              <a:lnSpc>
                <a:spcPts val="1860"/>
              </a:lnSpc>
              <a:buNone/>
            </a:pPr>
            <a:r>
              <a:rPr lang="en-US" sz="1240" b="1" kern="0" spc="25" dirty="0">
                <a:solidFill>
                  <a:srgbClr val="76B900"/>
                </a:solidFill>
                <a:latin typeface="Consolas" pitchFamily="34" charset="0"/>
                <a:ea typeface="Consolas" pitchFamily="34" charset="-122"/>
                <a:cs typeface="Consolas" pitchFamily="34" charset="-120"/>
              </a:rPr>
              <a:t>Model</a:t>
            </a:r>
            <a:endParaRPr lang="en-US" sz="1240" dirty="0"/>
          </a:p>
        </p:txBody>
      </p:sp>
      <p:sp>
        <p:nvSpPr>
          <p:cNvPr id="15" name="Text 10"/>
          <p:cNvSpPr/>
          <p:nvPr/>
        </p:nvSpPr>
        <p:spPr>
          <a:xfrm>
            <a:off x="3419773" y="1861393"/>
            <a:ext cx="2350392" cy="335979"/>
          </a:xfrm>
          <a:prstGeom prst="rect">
            <a:avLst/>
          </a:prstGeom>
          <a:noFill/>
          <a:ln/>
        </p:spPr>
        <p:txBody>
          <a:bodyPr wrap="square" lIns="0" tIns="0" rIns="0" bIns="0" rtlCol="0" anchor="t"/>
          <a:lstStyle/>
          <a:p>
            <a:pPr marL="0" indent="0" algn="l">
              <a:lnSpc>
                <a:spcPts val="1262"/>
              </a:lnSpc>
              <a:buNone/>
            </a:pPr>
            <a:r>
              <a:rPr lang="en-US" sz="870" dirty="0">
                <a:solidFill>
                  <a:srgbClr val="8B9CB6"/>
                </a:solidFill>
                <a:latin typeface="Calibri" pitchFamily="34" charset="0"/>
                <a:ea typeface="Calibri" pitchFamily="34" charset="-122"/>
                <a:cs typeface="Calibri" pitchFamily="34" charset="-120"/>
              </a:rPr>
              <a:t>The actual AI brain — Qwen, Llama, GLM, etc. Weights trained on billions of tokens.</a:t>
            </a:r>
            <a:endParaRPr lang="en-US" sz="870" dirty="0"/>
          </a:p>
        </p:txBody>
      </p:sp>
      <p:sp>
        <p:nvSpPr>
          <p:cNvPr id="16" name="Text 11"/>
          <p:cNvSpPr/>
          <p:nvPr/>
        </p:nvSpPr>
        <p:spPr>
          <a:xfrm>
            <a:off x="6048524" y="987326"/>
            <a:ext cx="2666107" cy="1863477"/>
          </a:xfrm>
          <a:prstGeom prst="roundRect">
            <a:avLst>
              <a:gd name="adj" fmla="val 5384"/>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17" name="Text 12"/>
          <p:cNvSpPr/>
          <p:nvPr/>
        </p:nvSpPr>
        <p:spPr>
          <a:xfrm>
            <a:off x="6229499" y="1197471"/>
            <a:ext cx="285750" cy="285750"/>
          </a:xfrm>
          <a:prstGeom prst="roundRect">
            <a:avLst>
              <a:gd name="adj" fmla="val 24889"/>
            </a:avLst>
          </a:prstGeom>
          <a:solidFill>
            <a:srgbClr val="76B900">
              <a:alpha val="10000"/>
            </a:srgbClr>
          </a:solidFill>
          <a:ln/>
        </p:spPr>
        <p:txBody>
          <a:bodyPr wrap="square" rtlCol="0" anchor="t"/>
          <a:lstStyle/>
          <a:p>
            <a:pPr marL="0" indent="0">
              <a:buNone/>
            </a:pPr>
            <a:endParaRPr lang="en-US" dirty="0"/>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06005" y="1273978"/>
            <a:ext cx="132588" cy="132588"/>
          </a:xfrm>
          <a:prstGeom prst="rect">
            <a:avLst/>
          </a:prstGeom>
        </p:spPr>
      </p:pic>
      <p:sp>
        <p:nvSpPr>
          <p:cNvPr id="19" name="Text 13"/>
          <p:cNvSpPr/>
          <p:nvPr/>
        </p:nvSpPr>
        <p:spPr>
          <a:xfrm>
            <a:off x="6229499" y="1554212"/>
            <a:ext cx="1399401" cy="236190"/>
          </a:xfrm>
          <a:prstGeom prst="rect">
            <a:avLst/>
          </a:prstGeom>
          <a:noFill/>
          <a:ln/>
        </p:spPr>
        <p:txBody>
          <a:bodyPr wrap="none" lIns="0" tIns="0" rIns="0" bIns="0" rtlCol="0" anchor="t"/>
          <a:lstStyle/>
          <a:p>
            <a:pPr marL="0" indent="0" algn="l">
              <a:lnSpc>
                <a:spcPts val="1860"/>
              </a:lnSpc>
              <a:buNone/>
            </a:pPr>
            <a:r>
              <a:rPr lang="en-US" sz="1240" b="1" kern="0" spc="25" dirty="0">
                <a:solidFill>
                  <a:srgbClr val="76B900"/>
                </a:solidFill>
                <a:latin typeface="Consolas" pitchFamily="34" charset="0"/>
                <a:ea typeface="Consolas" pitchFamily="34" charset="-122"/>
                <a:cs typeface="Consolas" pitchFamily="34" charset="-120"/>
              </a:rPr>
              <a:t>Context Cache</a:t>
            </a:r>
            <a:endParaRPr lang="en-US" sz="1240" dirty="0"/>
          </a:p>
        </p:txBody>
      </p:sp>
      <p:sp>
        <p:nvSpPr>
          <p:cNvPr id="20" name="Text 14"/>
          <p:cNvSpPr/>
          <p:nvPr/>
        </p:nvSpPr>
        <p:spPr>
          <a:xfrm>
            <a:off x="6229499" y="1861393"/>
            <a:ext cx="2350240" cy="335979"/>
          </a:xfrm>
          <a:prstGeom prst="rect">
            <a:avLst/>
          </a:prstGeom>
          <a:noFill/>
          <a:ln/>
        </p:spPr>
        <p:txBody>
          <a:bodyPr wrap="square" lIns="0" tIns="0" rIns="0" bIns="0" rtlCol="0" anchor="t"/>
          <a:lstStyle/>
          <a:p>
            <a:pPr marL="0" indent="0" algn="l">
              <a:lnSpc>
                <a:spcPts val="1262"/>
              </a:lnSpc>
              <a:buNone/>
            </a:pPr>
            <a:r>
              <a:rPr lang="en-US" sz="870" dirty="0">
                <a:solidFill>
                  <a:srgbClr val="8B9CB6"/>
                </a:solidFill>
                <a:latin typeface="Calibri" pitchFamily="34" charset="0"/>
                <a:ea typeface="Calibri" pitchFamily="34" charset="-122"/>
                <a:cs typeface="Calibri" pitchFamily="34" charset="-120"/>
              </a:rPr>
              <a:t>Short-term working memory. Everything the model can "see" in the current conversation.</a:t>
            </a:r>
            <a:endParaRPr lang="en-US" sz="870" dirty="0"/>
          </a:p>
        </p:txBody>
      </p:sp>
      <p:sp>
        <p:nvSpPr>
          <p:cNvPr id="21" name="Text 15"/>
          <p:cNvSpPr/>
          <p:nvPr/>
        </p:nvSpPr>
        <p:spPr>
          <a:xfrm>
            <a:off x="429220" y="2994273"/>
            <a:ext cx="2666107" cy="1863477"/>
          </a:xfrm>
          <a:prstGeom prst="roundRect">
            <a:avLst>
              <a:gd name="adj" fmla="val 5384"/>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22" name="Text 16"/>
          <p:cNvSpPr/>
          <p:nvPr/>
        </p:nvSpPr>
        <p:spPr>
          <a:xfrm>
            <a:off x="610195" y="3204418"/>
            <a:ext cx="285750" cy="285750"/>
          </a:xfrm>
          <a:prstGeom prst="roundRect">
            <a:avLst>
              <a:gd name="adj" fmla="val 24889"/>
            </a:avLst>
          </a:prstGeom>
          <a:solidFill>
            <a:srgbClr val="76B900">
              <a:alpha val="10000"/>
            </a:srgbClr>
          </a:solidFill>
          <a:ln/>
        </p:spPr>
        <p:txBody>
          <a:bodyPr wrap="square" rtlCol="0" anchor="t"/>
          <a:lstStyle/>
          <a:p>
            <a:pPr marL="0" indent="0">
              <a:buNone/>
            </a:pPr>
            <a:endParaRPr lang="en-US"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86702" y="3280925"/>
            <a:ext cx="132588" cy="132588"/>
          </a:xfrm>
          <a:prstGeom prst="rect">
            <a:avLst/>
          </a:prstGeom>
        </p:spPr>
      </p:pic>
      <p:sp>
        <p:nvSpPr>
          <p:cNvPr id="24" name="Text 17"/>
          <p:cNvSpPr/>
          <p:nvPr/>
        </p:nvSpPr>
        <p:spPr>
          <a:xfrm>
            <a:off x="610195" y="3561159"/>
            <a:ext cx="1830125" cy="236190"/>
          </a:xfrm>
          <a:prstGeom prst="rect">
            <a:avLst/>
          </a:prstGeom>
          <a:noFill/>
          <a:ln/>
        </p:spPr>
        <p:txBody>
          <a:bodyPr wrap="none" lIns="0" tIns="0" rIns="0" bIns="0" rtlCol="0" anchor="t"/>
          <a:lstStyle/>
          <a:p>
            <a:pPr marL="0" indent="0" algn="l">
              <a:lnSpc>
                <a:spcPts val="1860"/>
              </a:lnSpc>
              <a:buNone/>
            </a:pPr>
            <a:r>
              <a:rPr lang="en-US" sz="1240" b="1" kern="0" spc="25" dirty="0">
                <a:solidFill>
                  <a:srgbClr val="76B900"/>
                </a:solidFill>
                <a:latin typeface="Consolas" pitchFamily="34" charset="0"/>
                <a:ea typeface="Consolas" pitchFamily="34" charset="-122"/>
                <a:cs typeface="Consolas" pitchFamily="34" charset="-120"/>
              </a:rPr>
              <a:t>Contiguous Memory</a:t>
            </a:r>
            <a:endParaRPr lang="en-US" sz="1240" dirty="0"/>
          </a:p>
        </p:txBody>
      </p:sp>
      <p:sp>
        <p:nvSpPr>
          <p:cNvPr id="25" name="Text 18"/>
          <p:cNvSpPr/>
          <p:nvPr/>
        </p:nvSpPr>
        <p:spPr>
          <a:xfrm>
            <a:off x="610195" y="3868341"/>
            <a:ext cx="2350240" cy="503969"/>
          </a:xfrm>
          <a:prstGeom prst="rect">
            <a:avLst/>
          </a:prstGeom>
          <a:noFill/>
          <a:ln/>
        </p:spPr>
        <p:txBody>
          <a:bodyPr wrap="square" lIns="0" tIns="0" rIns="0" bIns="0" rtlCol="0" anchor="t"/>
          <a:lstStyle/>
          <a:p>
            <a:pPr marL="0" indent="0" algn="l">
              <a:lnSpc>
                <a:spcPts val="1262"/>
              </a:lnSpc>
              <a:buNone/>
            </a:pPr>
            <a:r>
              <a:rPr lang="en-US" sz="870" dirty="0">
                <a:solidFill>
                  <a:srgbClr val="8B9CB6"/>
                </a:solidFill>
                <a:latin typeface="Calibri" pitchFamily="34" charset="0"/>
                <a:ea typeface="Calibri" pitchFamily="34" charset="-122"/>
                <a:cs typeface="Calibri" pitchFamily="34" charset="-120"/>
              </a:rPr>
              <a:t>Must stay in one unbroken block. Why GPU VRAM matters — fragmentation kills performance.</a:t>
            </a:r>
            <a:endParaRPr lang="en-US" sz="870" dirty="0"/>
          </a:p>
        </p:txBody>
      </p:sp>
      <p:sp>
        <p:nvSpPr>
          <p:cNvPr id="26" name="Text 19"/>
          <p:cNvSpPr/>
          <p:nvPr/>
        </p:nvSpPr>
        <p:spPr>
          <a:xfrm>
            <a:off x="3238798" y="2994273"/>
            <a:ext cx="2666256" cy="1863477"/>
          </a:xfrm>
          <a:prstGeom prst="roundRect">
            <a:avLst>
              <a:gd name="adj" fmla="val 5384"/>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27" name="Text 20"/>
          <p:cNvSpPr/>
          <p:nvPr/>
        </p:nvSpPr>
        <p:spPr>
          <a:xfrm>
            <a:off x="3419773" y="3204418"/>
            <a:ext cx="285750" cy="285750"/>
          </a:xfrm>
          <a:prstGeom prst="roundRect">
            <a:avLst>
              <a:gd name="adj" fmla="val 24889"/>
            </a:avLst>
          </a:prstGeom>
          <a:solidFill>
            <a:srgbClr val="76B900">
              <a:alpha val="10000"/>
            </a:srgbClr>
          </a:solidFill>
          <a:ln/>
        </p:spPr>
        <p:txBody>
          <a:bodyPr wrap="square" rtlCol="0" anchor="t"/>
          <a:lstStyle/>
          <a:p>
            <a:pPr marL="0" indent="0">
              <a:buNone/>
            </a:pPr>
            <a:endParaRPr lang="en-US" dirty="0"/>
          </a:p>
        </p:txBody>
      </p:sp>
      <p:pic>
        <p:nvPicPr>
          <p:cNvPr id="28"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496279" y="3280925"/>
            <a:ext cx="132588" cy="132588"/>
          </a:xfrm>
          <a:prstGeom prst="rect">
            <a:avLst/>
          </a:prstGeom>
        </p:spPr>
      </p:pic>
      <p:sp>
        <p:nvSpPr>
          <p:cNvPr id="29" name="Text 21"/>
          <p:cNvSpPr/>
          <p:nvPr/>
        </p:nvSpPr>
        <p:spPr>
          <a:xfrm>
            <a:off x="3419773" y="3561159"/>
            <a:ext cx="323002" cy="236190"/>
          </a:xfrm>
          <a:prstGeom prst="rect">
            <a:avLst/>
          </a:prstGeom>
          <a:noFill/>
          <a:ln/>
        </p:spPr>
        <p:txBody>
          <a:bodyPr wrap="none" lIns="0" tIns="0" rIns="0" bIns="0" rtlCol="0" anchor="t"/>
          <a:lstStyle/>
          <a:p>
            <a:pPr marL="0" indent="0" algn="l">
              <a:lnSpc>
                <a:spcPts val="1860"/>
              </a:lnSpc>
              <a:buNone/>
            </a:pPr>
            <a:r>
              <a:rPr lang="en-US" sz="1240" b="1" kern="0" spc="25" dirty="0">
                <a:solidFill>
                  <a:srgbClr val="76B900"/>
                </a:solidFill>
                <a:latin typeface="Consolas" pitchFamily="34" charset="0"/>
                <a:ea typeface="Consolas" pitchFamily="34" charset="-122"/>
                <a:cs typeface="Consolas" pitchFamily="34" charset="-120"/>
              </a:rPr>
              <a:t>RAG</a:t>
            </a:r>
            <a:endParaRPr lang="en-US" sz="1240" dirty="0"/>
          </a:p>
        </p:txBody>
      </p:sp>
      <p:sp>
        <p:nvSpPr>
          <p:cNvPr id="30" name="Text 22"/>
          <p:cNvSpPr/>
          <p:nvPr/>
        </p:nvSpPr>
        <p:spPr>
          <a:xfrm>
            <a:off x="3419773" y="3868341"/>
            <a:ext cx="2350392" cy="335979"/>
          </a:xfrm>
          <a:prstGeom prst="rect">
            <a:avLst/>
          </a:prstGeom>
          <a:noFill/>
          <a:ln/>
        </p:spPr>
        <p:txBody>
          <a:bodyPr wrap="square" lIns="0" tIns="0" rIns="0" bIns="0" rtlCol="0" anchor="t"/>
          <a:lstStyle/>
          <a:p>
            <a:pPr marL="0" indent="0" algn="l">
              <a:lnSpc>
                <a:spcPts val="1262"/>
              </a:lnSpc>
              <a:buNone/>
            </a:pPr>
            <a:r>
              <a:rPr lang="en-US" sz="870" dirty="0">
                <a:solidFill>
                  <a:srgbClr val="8B9CB6"/>
                </a:solidFill>
                <a:latin typeface="Calibri" pitchFamily="34" charset="0"/>
                <a:ea typeface="Calibri" pitchFamily="34" charset="-122"/>
                <a:cs typeface="Calibri" pitchFamily="34" charset="-120"/>
              </a:rPr>
              <a:t>Retrieval-Augmented Generation. Pulls your personal files &amp; docs into the model's context.</a:t>
            </a:r>
            <a:endParaRPr lang="en-US" sz="870" dirty="0"/>
          </a:p>
        </p:txBody>
      </p:sp>
      <p:sp>
        <p:nvSpPr>
          <p:cNvPr id="31" name="Text 23"/>
          <p:cNvSpPr/>
          <p:nvPr/>
        </p:nvSpPr>
        <p:spPr>
          <a:xfrm>
            <a:off x="6048524" y="2994273"/>
            <a:ext cx="2666107" cy="1863477"/>
          </a:xfrm>
          <a:prstGeom prst="roundRect">
            <a:avLst>
              <a:gd name="adj" fmla="val 5384"/>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32" name="Text 24"/>
          <p:cNvSpPr/>
          <p:nvPr/>
        </p:nvSpPr>
        <p:spPr>
          <a:xfrm>
            <a:off x="6229499" y="3204418"/>
            <a:ext cx="285750" cy="285750"/>
          </a:xfrm>
          <a:prstGeom prst="roundRect">
            <a:avLst>
              <a:gd name="adj" fmla="val 24889"/>
            </a:avLst>
          </a:prstGeom>
          <a:solidFill>
            <a:srgbClr val="76B900">
              <a:alpha val="10000"/>
            </a:srgbClr>
          </a:solidFill>
          <a:ln/>
        </p:spPr>
        <p:txBody>
          <a:bodyPr wrap="square" rtlCol="0" anchor="t"/>
          <a:lstStyle/>
          <a:p>
            <a:pPr marL="0" indent="0">
              <a:buNone/>
            </a:pPr>
            <a:endParaRPr lang="en-US" dirty="0"/>
          </a:p>
        </p:txBody>
      </p:sp>
      <p:pic>
        <p:nvPicPr>
          <p:cNvPr id="33"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06005" y="3280925"/>
            <a:ext cx="132588" cy="132588"/>
          </a:xfrm>
          <a:prstGeom prst="rect">
            <a:avLst/>
          </a:prstGeom>
        </p:spPr>
      </p:pic>
      <p:sp>
        <p:nvSpPr>
          <p:cNvPr id="34" name="Text 25"/>
          <p:cNvSpPr/>
          <p:nvPr/>
        </p:nvSpPr>
        <p:spPr>
          <a:xfrm>
            <a:off x="6229499" y="3561159"/>
            <a:ext cx="538282" cy="236190"/>
          </a:xfrm>
          <a:prstGeom prst="rect">
            <a:avLst/>
          </a:prstGeom>
          <a:noFill/>
          <a:ln/>
        </p:spPr>
        <p:txBody>
          <a:bodyPr wrap="none" lIns="0" tIns="0" rIns="0" bIns="0" rtlCol="0" anchor="t"/>
          <a:lstStyle/>
          <a:p>
            <a:pPr marL="0" indent="0" algn="l">
              <a:lnSpc>
                <a:spcPts val="1860"/>
              </a:lnSpc>
              <a:buNone/>
            </a:pPr>
            <a:r>
              <a:rPr lang="en-US" sz="1240" b="1" kern="0" spc="25" dirty="0">
                <a:solidFill>
                  <a:srgbClr val="76B900"/>
                </a:solidFill>
                <a:latin typeface="Consolas" pitchFamily="34" charset="0"/>
                <a:ea typeface="Consolas" pitchFamily="34" charset="-122"/>
                <a:cs typeface="Consolas" pitchFamily="34" charset="-120"/>
              </a:rPr>
              <a:t>Agent</a:t>
            </a:r>
            <a:endParaRPr lang="en-US" sz="1240" dirty="0"/>
          </a:p>
        </p:txBody>
      </p:sp>
      <p:sp>
        <p:nvSpPr>
          <p:cNvPr id="35" name="Text 26"/>
          <p:cNvSpPr/>
          <p:nvPr/>
        </p:nvSpPr>
        <p:spPr>
          <a:xfrm>
            <a:off x="6229499" y="3868341"/>
            <a:ext cx="2350240" cy="335979"/>
          </a:xfrm>
          <a:prstGeom prst="rect">
            <a:avLst/>
          </a:prstGeom>
          <a:noFill/>
          <a:ln/>
        </p:spPr>
        <p:txBody>
          <a:bodyPr wrap="square" lIns="0" tIns="0" rIns="0" bIns="0" rtlCol="0" anchor="t"/>
          <a:lstStyle/>
          <a:p>
            <a:pPr marL="0" indent="0" algn="l">
              <a:lnSpc>
                <a:spcPts val="1262"/>
              </a:lnSpc>
              <a:buNone/>
            </a:pPr>
            <a:r>
              <a:rPr lang="en-US" sz="870" dirty="0">
                <a:solidFill>
                  <a:srgbClr val="8B9CB6"/>
                </a:solidFill>
                <a:latin typeface="Calibri" pitchFamily="34" charset="0"/>
                <a:ea typeface="Calibri" pitchFamily="34" charset="-122"/>
                <a:cs typeface="Calibri" pitchFamily="34" charset="-120"/>
              </a:rPr>
              <a:t>AI that acts, not just chats. Executes tools, browses, writes files, and automates tasks.</a:t>
            </a:r>
            <a:endParaRPr lang="en-US" sz="870" dirty="0"/>
          </a:p>
        </p:txBody>
      </p:sp>
      <p:sp>
        <p:nvSpPr>
          <p:cNvPr id="36" name="Text 27"/>
          <p:cNvSpPr/>
          <p:nvPr/>
        </p:nvSpPr>
        <p:spPr>
          <a:xfrm>
            <a:off x="438745" y="996851"/>
            <a:ext cx="2647055" cy="21580"/>
          </a:xfrm>
          <a:custGeom>
            <a:avLst/>
            <a:gdLst/>
            <a:ahLst/>
            <a:cxnLst/>
            <a:rect l="l" t="t" r="r" b="b"/>
            <a:pathLst>
              <a:path w="2647055" h="21580">
                <a:moveTo>
                  <a:pt x="100330" y="0"/>
                </a:moveTo>
                <a:lnTo>
                  <a:pt x="2546725" y="0"/>
                </a:lnTo>
                <a:lnTo>
                  <a:pt x="2569833" y="2698"/>
                </a:lnTo>
                <a:lnTo>
                  <a:pt x="2579182" y="5395"/>
                </a:lnTo>
                <a:lnTo>
                  <a:pt x="2586201" y="8093"/>
                </a:lnTo>
                <a:lnTo>
                  <a:pt x="2591987" y="10790"/>
                </a:lnTo>
                <a:lnTo>
                  <a:pt x="2596969" y="13488"/>
                </a:lnTo>
                <a:lnTo>
                  <a:pt x="2601367" y="16185"/>
                </a:lnTo>
                <a:lnTo>
                  <a:pt x="2605312" y="18883"/>
                </a:lnTo>
                <a:lnTo>
                  <a:pt x="2608890"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37" name="Text 28"/>
          <p:cNvSpPr/>
          <p:nvPr/>
        </p:nvSpPr>
        <p:spPr>
          <a:xfrm>
            <a:off x="3248323" y="996851"/>
            <a:ext cx="2647207" cy="21580"/>
          </a:xfrm>
          <a:custGeom>
            <a:avLst/>
            <a:gdLst/>
            <a:ahLst/>
            <a:cxnLst/>
            <a:rect l="l" t="t" r="r" b="b"/>
            <a:pathLst>
              <a:path w="2647207" h="21580">
                <a:moveTo>
                  <a:pt x="100330" y="0"/>
                </a:moveTo>
                <a:lnTo>
                  <a:pt x="2546877" y="0"/>
                </a:lnTo>
                <a:lnTo>
                  <a:pt x="2569986" y="2698"/>
                </a:lnTo>
                <a:lnTo>
                  <a:pt x="2579334" y="5395"/>
                </a:lnTo>
                <a:lnTo>
                  <a:pt x="2586353" y="8093"/>
                </a:lnTo>
                <a:lnTo>
                  <a:pt x="2592140" y="10790"/>
                </a:lnTo>
                <a:lnTo>
                  <a:pt x="2597122" y="13488"/>
                </a:lnTo>
                <a:lnTo>
                  <a:pt x="2601519" y="16185"/>
                </a:lnTo>
                <a:lnTo>
                  <a:pt x="2605464" y="18883"/>
                </a:lnTo>
                <a:lnTo>
                  <a:pt x="2609043"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38" name="Text 29"/>
          <p:cNvSpPr/>
          <p:nvPr/>
        </p:nvSpPr>
        <p:spPr>
          <a:xfrm>
            <a:off x="6058049" y="996851"/>
            <a:ext cx="2647055" cy="21580"/>
          </a:xfrm>
          <a:custGeom>
            <a:avLst/>
            <a:gdLst/>
            <a:ahLst/>
            <a:cxnLst/>
            <a:rect l="l" t="t" r="r" b="b"/>
            <a:pathLst>
              <a:path w="2647055" h="21580">
                <a:moveTo>
                  <a:pt x="100330" y="0"/>
                </a:moveTo>
                <a:lnTo>
                  <a:pt x="2546725" y="0"/>
                </a:lnTo>
                <a:lnTo>
                  <a:pt x="2569833" y="2698"/>
                </a:lnTo>
                <a:lnTo>
                  <a:pt x="2579182" y="5395"/>
                </a:lnTo>
                <a:lnTo>
                  <a:pt x="2586201" y="8093"/>
                </a:lnTo>
                <a:lnTo>
                  <a:pt x="2591987" y="10790"/>
                </a:lnTo>
                <a:lnTo>
                  <a:pt x="2596969" y="13488"/>
                </a:lnTo>
                <a:lnTo>
                  <a:pt x="2601367" y="16185"/>
                </a:lnTo>
                <a:lnTo>
                  <a:pt x="2605312" y="18883"/>
                </a:lnTo>
                <a:lnTo>
                  <a:pt x="2608890"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39" name="Text 30"/>
          <p:cNvSpPr/>
          <p:nvPr/>
        </p:nvSpPr>
        <p:spPr>
          <a:xfrm>
            <a:off x="438745" y="3003798"/>
            <a:ext cx="2647055" cy="21580"/>
          </a:xfrm>
          <a:custGeom>
            <a:avLst/>
            <a:gdLst/>
            <a:ahLst/>
            <a:cxnLst/>
            <a:rect l="l" t="t" r="r" b="b"/>
            <a:pathLst>
              <a:path w="2647055" h="21580">
                <a:moveTo>
                  <a:pt x="100330" y="0"/>
                </a:moveTo>
                <a:lnTo>
                  <a:pt x="2546725" y="0"/>
                </a:lnTo>
                <a:lnTo>
                  <a:pt x="2569833" y="2698"/>
                </a:lnTo>
                <a:lnTo>
                  <a:pt x="2579182" y="5395"/>
                </a:lnTo>
                <a:lnTo>
                  <a:pt x="2586201" y="8093"/>
                </a:lnTo>
                <a:lnTo>
                  <a:pt x="2591987" y="10790"/>
                </a:lnTo>
                <a:lnTo>
                  <a:pt x="2596969" y="13488"/>
                </a:lnTo>
                <a:lnTo>
                  <a:pt x="2601367" y="16185"/>
                </a:lnTo>
                <a:lnTo>
                  <a:pt x="2605312" y="18883"/>
                </a:lnTo>
                <a:lnTo>
                  <a:pt x="2608890"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40" name="Text 31"/>
          <p:cNvSpPr/>
          <p:nvPr/>
        </p:nvSpPr>
        <p:spPr>
          <a:xfrm>
            <a:off x="3248323" y="3003798"/>
            <a:ext cx="2647207" cy="21580"/>
          </a:xfrm>
          <a:custGeom>
            <a:avLst/>
            <a:gdLst/>
            <a:ahLst/>
            <a:cxnLst/>
            <a:rect l="l" t="t" r="r" b="b"/>
            <a:pathLst>
              <a:path w="2647207" h="21580">
                <a:moveTo>
                  <a:pt x="100330" y="0"/>
                </a:moveTo>
                <a:lnTo>
                  <a:pt x="2546877" y="0"/>
                </a:lnTo>
                <a:lnTo>
                  <a:pt x="2569986" y="2698"/>
                </a:lnTo>
                <a:lnTo>
                  <a:pt x="2579334" y="5395"/>
                </a:lnTo>
                <a:lnTo>
                  <a:pt x="2586353" y="8093"/>
                </a:lnTo>
                <a:lnTo>
                  <a:pt x="2592140" y="10790"/>
                </a:lnTo>
                <a:lnTo>
                  <a:pt x="2597122" y="13488"/>
                </a:lnTo>
                <a:lnTo>
                  <a:pt x="2601519" y="16185"/>
                </a:lnTo>
                <a:lnTo>
                  <a:pt x="2605464" y="18883"/>
                </a:lnTo>
                <a:lnTo>
                  <a:pt x="2609043"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
        <p:nvSpPr>
          <p:cNvPr id="41" name="Text 32"/>
          <p:cNvSpPr/>
          <p:nvPr/>
        </p:nvSpPr>
        <p:spPr>
          <a:xfrm>
            <a:off x="6058049" y="3003798"/>
            <a:ext cx="2647055" cy="21580"/>
          </a:xfrm>
          <a:custGeom>
            <a:avLst/>
            <a:gdLst/>
            <a:ahLst/>
            <a:cxnLst/>
            <a:rect l="l" t="t" r="r" b="b"/>
            <a:pathLst>
              <a:path w="2647055" h="21580">
                <a:moveTo>
                  <a:pt x="100330" y="0"/>
                </a:moveTo>
                <a:lnTo>
                  <a:pt x="2546725" y="0"/>
                </a:lnTo>
                <a:lnTo>
                  <a:pt x="2569833" y="2698"/>
                </a:lnTo>
                <a:lnTo>
                  <a:pt x="2579182" y="5395"/>
                </a:lnTo>
                <a:lnTo>
                  <a:pt x="2586201" y="8093"/>
                </a:lnTo>
                <a:lnTo>
                  <a:pt x="2591987" y="10790"/>
                </a:lnTo>
                <a:lnTo>
                  <a:pt x="2596969" y="13488"/>
                </a:lnTo>
                <a:lnTo>
                  <a:pt x="2601367" y="16185"/>
                </a:lnTo>
                <a:lnTo>
                  <a:pt x="2605312" y="18883"/>
                </a:lnTo>
                <a:lnTo>
                  <a:pt x="2608890"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gradFill rotWithShape="1">
            <a:gsLst>
              <a:gs pos="0">
                <a:srgbClr val="76B900"/>
              </a:gs>
              <a:gs pos="100000">
                <a:srgbClr val="76B900">
                  <a:alpha val="20000"/>
                </a:srgbClr>
              </a:gs>
            </a:gsLst>
            <a:lin ang="0" scaled="1"/>
          </a:gradFill>
          <a:ln/>
        </p:spPr>
        <p:txBody>
          <a:bodyPr wrap="none" rtlCol="0" anchor="t"/>
          <a:lstStyle/>
          <a:p>
            <a:pPr marL="0" indent="0">
              <a:buNone/>
            </a:pP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What Is a Token">
    <p:bg>
      <p:bgPr>
        <a:solidFill>
          <a:srgbClr val="0A0F1A"/>
        </a:solidFill>
        <a:effectLst/>
      </p:bgPr>
    </p:bg>
    <p:spTree>
      <p:nvGrpSpPr>
        <p:cNvPr id="1" name=""/>
        <p:cNvGrpSpPr/>
        <p:nvPr/>
      </p:nvGrpSpPr>
      <p:grpSpPr>
        <a:xfrm>
          <a:off x="0" y="0"/>
          <a:ext cx="0" cy="0"/>
          <a:chOff x="0" y="0"/>
          <a:chExt cx="0" cy="0"/>
        </a:xfrm>
      </p:grpSpPr>
      <p:sp>
        <p:nvSpPr>
          <p:cNvPr id="2" name="BgGrad"/>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a:p>
        </p:txBody>
      </p:sp>
      <p:sp>
        <p:nvSpPr>
          <p:cNvPr id="3" name="Title"/>
          <p:cNvSpPr/>
          <p:nvPr/>
        </p:nvSpPr>
        <p:spPr>
          <a:xfrm>
            <a:off x="169164" y="200000"/>
            <a:ext cx="8805672" cy="340000"/>
          </a:xfrm>
          <a:prstGeom prst="rect">
            <a:avLst/>
          </a:prstGeom>
          <a:noFill/>
          <a:ln/>
        </p:spPr>
        <p:txBody>
          <a:bodyPr wrap="none" lIns="0" tIns="0" rIns="0" bIns="0" rtlCol="0" anchor="t"/>
          <a:lstStyle/>
          <a:p>
            <a:pPr marL="0" indent="0" algn="ctr">
              <a:lnSpc>
                <a:spcPts val="2800"/>
              </a:lnSpc>
              <a:buNone/>
            </a:pPr>
            <a:r>
              <a:rPr lang="en-US" sz="2030" b="1" kern="0" spc="-30">
                <a:solidFill>
                  <a:srgbClr val="E2E8F0"/>
                </a:solidFill>
                <a:latin typeface="Consolas" pitchFamily="34" charset="0"/>
                <a:ea typeface="Consolas" pitchFamily="34" charset="-122"/>
                <a:cs typeface="Consolas" pitchFamily="34" charset="-120"/>
              </a:rPr>
              <a:t>What Is a </a:t>
            </a:r>
            <a:r>
              <a:rPr lang="en-US" sz="2030" b="1" kern="0" spc="-30">
                <a:solidFill>
                  <a:srgbClr val="76B900"/>
                </a:solidFill>
                <a:latin typeface="Consolas" pitchFamily="34" charset="0"/>
                <a:ea typeface="Consolas" pitchFamily="34" charset="-122"/>
                <a:cs typeface="Consolas" pitchFamily="34" charset="-120"/>
              </a:rPr>
              <a:t>Token?</a:t>
            </a:r>
          </a:p>
        </p:txBody>
      </p:sp>
      <p:sp>
        <p:nvSpPr>
          <p:cNvPr id="4" name="Subtitle"/>
          <p:cNvSpPr/>
          <p:nvPr/>
        </p:nvSpPr>
        <p:spPr>
          <a:xfrm>
            <a:off x="169164" y="560000"/>
            <a:ext cx="8805672" cy="200000"/>
          </a:xfrm>
          <a:prstGeom prst="rect">
            <a:avLst/>
          </a:prstGeom>
          <a:noFill/>
          <a:ln/>
        </p:spPr>
        <p:txBody>
          <a:bodyPr wrap="none" lIns="0" tIns="0" rIns="0" bIns="0" rtlCol="0" anchor="t"/>
          <a:lstStyle/>
          <a:p>
            <a:pPr marL="0" indent="0" algn="ctr">
              <a:lnSpc>
                <a:spcPts val="1350"/>
              </a:lnSpc>
              <a:buNone/>
            </a:pPr>
            <a:r>
              <a:rPr lang="en-US" sz="900">
                <a:solidFill>
                  <a:srgbClr val="8B9CB6"/>
                </a:solidFill>
                <a:latin typeface="Calibri" pitchFamily="34" charset="0"/>
              </a:rPr>
              <a:t>The fundamental unit LLMs use to read and generate text</a:t>
            </a:r>
          </a:p>
        </p:txBody>
      </p:sp>
      <p:sp>
        <p:nvSpPr>
          <p:cNvPr id="5" name="AccentBar1"/>
          <p:cNvSpPr/>
          <p:nvPr/>
        </p:nvSpPr>
        <p:spPr>
          <a:xfrm>
            <a:off x="440000" y="830000"/>
            <a:ext cx="4150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6" name="AccentBar2"/>
          <p:cNvSpPr/>
          <p:nvPr/>
        </p:nvSpPr>
        <p:spPr>
          <a:xfrm>
            <a:off x="4710000" y="830000"/>
            <a:ext cx="3994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10" name="DefCardBg"/>
          <p:cNvSpPr/>
          <p:nvPr/>
        </p:nvSpPr>
        <p:spPr>
          <a:xfrm>
            <a:off x="440000" y="870000"/>
            <a:ext cx="4150000" cy="165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11" name="DefCardContent"/>
          <p:cNvSpPr/>
          <p:nvPr/>
        </p:nvSpPr>
        <p:spPr>
          <a:xfrm>
            <a:off x="560000" y="930000"/>
            <a:ext cx="3910000" cy="1530000"/>
          </a:xfrm>
          <a:prstGeom prst="rect">
            <a:avLst/>
          </a:prstGeom>
          <a:noFill/>
          <a:ln/>
        </p:spPr>
        <p:txBody>
          <a:bodyPr wrap="square" lIns="0" tIns="0" rIns="0" bIns="0" rtlCol="0" anchor="t"/>
          <a:lstStyle/>
          <a:p>
            <a:pPr marL="0" indent="0" algn="l">
              <a:lnSpc>
                <a:spcPts val="1200"/>
              </a:lnSpc>
              <a:buNone/>
            </a:pPr>
            <a:r>
              <a:rPr lang="en-US" sz="900" b="1" spc="100">
                <a:solidFill>
                  <a:srgbClr val="76B900"/>
                </a:solidFill>
                <a:latin typeface="Consolas" pitchFamily="34" charset="0"/>
              </a:rPr>
              <a:t>DEFINITION</a:t>
            </a:r>
          </a:p>
          <a:p>
            <a:pPr marL="0" indent="0" algn="l">
              <a:lnSpc>
                <a:spcPts val="1200"/>
              </a:lnSpc>
              <a:spcBef>
                <a:spcPts val="250"/>
              </a:spcBef>
              <a:buNone/>
            </a:pPr>
            <a:r>
              <a:rPr lang="en-US" sz="850">
                <a:solidFill>
                  <a:srgbClr val="E2E8F0"/>
                </a:solidFill>
                <a:latin typeface="Calibri" pitchFamily="34" charset="0"/>
              </a:rPr>
              <a:t>A </a:t>
            </a:r>
            <a:r>
              <a:rPr lang="en-US" sz="850" b="1">
                <a:solidFill>
                  <a:srgbClr val="76B900"/>
                </a:solidFill>
                <a:latin typeface="Calibri" pitchFamily="34" charset="0"/>
              </a:rPr>
              <a:t>token</a:t>
            </a:r>
            <a:r>
              <a:rPr lang="en-US" sz="850">
                <a:solidFill>
                  <a:srgbClr val="E2E8F0"/>
                </a:solidFill>
                <a:latin typeface="Calibri" pitchFamily="34" charset="0"/>
              </a:rPr>
              <a:t> is a chunk of text that an LLM processes as a single unit. Before a model reads your prompt, a </a:t>
            </a:r>
            <a:r>
              <a:rPr lang="en-US" sz="850" b="1">
                <a:solidFill>
                  <a:srgbClr val="76B900"/>
                </a:solidFill>
                <a:latin typeface="Calibri" pitchFamily="34" charset="0"/>
              </a:rPr>
              <a:t>tokenizer</a:t>
            </a:r>
            <a:r>
              <a:rPr lang="en-US" sz="850">
                <a:solidFill>
                  <a:srgbClr val="E2E8F0"/>
                </a:solidFill>
                <a:latin typeface="Calibri" pitchFamily="34" charset="0"/>
              </a:rPr>
              <a:t> splits the text into these pieces. Tokens can be whole words, parts of words, punctuation, or even spaces.</a:t>
            </a:r>
          </a:p>
          <a:p>
            <a:pPr marL="0" indent="0" algn="l">
              <a:lnSpc>
                <a:spcPts val="1200"/>
              </a:lnSpc>
              <a:spcBef>
                <a:spcPts val="350"/>
              </a:spcBef>
              <a:buNone/>
            </a:pPr>
            <a:r>
              <a:rPr lang="en-US" sz="800" b="1" spc="100">
                <a:solidFill>
                  <a:srgbClr val="76B900"/>
                </a:solidFill>
                <a:latin typeface="Consolas" pitchFamily="34" charset="0"/>
              </a:rPr>
              <a:t>EXAMPLE</a:t>
            </a:r>
          </a:p>
          <a:p>
            <a:pPr marL="0" indent="0" algn="l">
              <a:lnSpc>
                <a:spcPts val="1200"/>
              </a:lnSpc>
              <a:spcBef>
                <a:spcPts val="200"/>
              </a:spcBef>
              <a:buNone/>
            </a:pPr>
            <a:r>
              <a:rPr lang="en-US" sz="800">
                <a:solidFill>
                  <a:srgbClr val="8B9CB6"/>
                </a:solidFill>
                <a:latin typeface="Calibri" pitchFamily="34" charset="0"/>
              </a:rPr>
              <a:t>"Hello, how are you?"   →   </a:t>
            </a:r>
            <a:r>
              <a:rPr lang="en-US" sz="800" b="1">
                <a:solidFill>
                  <a:srgbClr val="76B900"/>
                </a:solidFill>
                <a:latin typeface="Consolas" pitchFamily="34" charset="0"/>
              </a:rPr>
              <a:t>[Hello] [,] [ how] [ are] [ you] [?]</a:t>
            </a:r>
            <a:r>
              <a:rPr lang="en-US" sz="800">
                <a:solidFill>
                  <a:srgbClr val="8B9CB6"/>
                </a:solidFill>
                <a:latin typeface="Calibri" pitchFamily="34" charset="0"/>
              </a:rPr>
              <a:t>  =  6 tokens</a:t>
            </a:r>
          </a:p>
          <a:p>
            <a:pPr marL="0" indent="0" algn="l">
              <a:lnSpc>
                <a:spcPts val="1200"/>
              </a:lnSpc>
              <a:spcBef>
                <a:spcPts val="100"/>
              </a:spcBef>
              <a:buNone/>
            </a:pPr>
            <a:r>
              <a:rPr lang="en-US" sz="800">
                <a:solidFill>
                  <a:srgbClr val="8B9CB6"/>
                </a:solidFill>
                <a:latin typeface="Calibri" pitchFamily="34" charset="0"/>
              </a:rPr>
              <a:t>"unbelievably"   →   </a:t>
            </a:r>
            <a:r>
              <a:rPr lang="en-US" sz="800" b="1">
                <a:solidFill>
                  <a:srgbClr val="76B900"/>
                </a:solidFill>
                <a:latin typeface="Consolas" pitchFamily="34" charset="0"/>
              </a:rPr>
              <a:t>[un] [believ] [ably]</a:t>
            </a:r>
            <a:r>
              <a:rPr lang="en-US" sz="800">
                <a:solidFill>
                  <a:srgbClr val="8B9CB6"/>
                </a:solidFill>
                <a:latin typeface="Calibri" pitchFamily="34" charset="0"/>
              </a:rPr>
              <a:t>  =  3 tokens</a:t>
            </a:r>
          </a:p>
        </p:txBody>
      </p:sp>
      <p:sp>
        <p:nvSpPr>
          <p:cNvPr id="20" name="WhyCardBg"/>
          <p:cNvSpPr/>
          <p:nvPr/>
        </p:nvSpPr>
        <p:spPr>
          <a:xfrm>
            <a:off x="4710000" y="870000"/>
            <a:ext cx="3994000" cy="165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21" name="WhyCardContent"/>
          <p:cNvSpPr/>
          <p:nvPr/>
        </p:nvSpPr>
        <p:spPr>
          <a:xfrm>
            <a:off x="4830000" y="930000"/>
            <a:ext cx="3754000" cy="1530000"/>
          </a:xfrm>
          <a:prstGeom prst="rect">
            <a:avLst/>
          </a:prstGeom>
          <a:noFill/>
          <a:ln/>
        </p:spPr>
        <p:txBody>
          <a:bodyPr wrap="square" lIns="0" tIns="0" rIns="0" bIns="0" rtlCol="0" anchor="t"/>
          <a:lstStyle/>
          <a:p>
            <a:pPr marL="0" indent="0" algn="l">
              <a:lnSpc>
                <a:spcPts val="1200"/>
              </a:lnSpc>
              <a:buNone/>
            </a:pPr>
            <a:r>
              <a:rPr lang="en-US" sz="900" b="1" spc="100">
                <a:solidFill>
                  <a:srgbClr val="76B900"/>
                </a:solidFill>
                <a:latin typeface="Consolas" pitchFamily="34" charset="0"/>
              </a:rPr>
              <a:t>WHY IT MATTERS</a:t>
            </a:r>
          </a:p>
          <a:p>
            <a:pPr marL="0" indent="0" algn="l">
              <a:lnSpc>
                <a:spcPts val="1100"/>
              </a:lnSpc>
              <a:spcBef>
                <a:spcPts val="250"/>
              </a:spcBef>
              <a:buNone/>
            </a:pPr>
            <a:r>
              <a:rPr lang="en-US" sz="750">
                <a:solidFill>
                  <a:srgbClr val="76B900"/>
                </a:solidFill>
                <a:latin typeface="Consolas" pitchFamily="34" charset="0"/>
              </a:rPr>
              <a:t>▸ </a:t>
            </a:r>
            <a:r>
              <a:rPr lang="en-US" sz="750" b="1">
                <a:solidFill>
                  <a:srgbClr val="E2E8F0"/>
                </a:solidFill>
                <a:latin typeface="Calibri" pitchFamily="34" charset="0"/>
              </a:rPr>
              <a:t>Speed</a:t>
            </a:r>
            <a:r>
              <a:rPr lang="en-US" sz="750">
                <a:solidFill>
                  <a:srgbClr val="8B9CB6"/>
                </a:solidFill>
                <a:latin typeface="Calibri" pitchFamily="34" charset="0"/>
              </a:rPr>
              <a:t> — Models generate one token per step, so tokens per second = perceived speed</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Context limits</a:t>
            </a:r>
            <a:r>
              <a:rPr lang="en-US" sz="750">
                <a:solidFill>
                  <a:srgbClr val="8B9CB6"/>
                </a:solidFill>
                <a:latin typeface="Calibri" pitchFamily="34" charset="0"/>
              </a:rPr>
              <a:t> — Context window is measured in tokens, not words or characters</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RAM usage</a:t>
            </a:r>
            <a:r>
              <a:rPr lang="en-US" sz="750">
                <a:solidFill>
                  <a:srgbClr val="8B9CB6"/>
                </a:solidFill>
                <a:latin typeface="Calibri" pitchFamily="34" charset="0"/>
              </a:rPr>
              <a:t> — More tokens in context = more memory consumed during inference</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Model size</a:t>
            </a:r>
            <a:r>
              <a:rPr lang="en-US" sz="750">
                <a:solidFill>
                  <a:srgbClr val="8B9CB6"/>
                </a:solidFill>
                <a:latin typeface="Calibri" pitchFamily="34" charset="0"/>
              </a:rPr>
              <a:t> — Vocabulary size (number of unique tokens) affects the model's parameter count</a:t>
            </a:r>
          </a:p>
        </p:txBody>
      </p:sp>
      <p:sp>
        <p:nvSpPr>
          <p:cNvPr id="30" name="AccentBar3"/>
          <p:cNvSpPr/>
          <p:nvPr/>
        </p:nvSpPr>
        <p:spPr>
          <a:xfrm>
            <a:off x="440000" y="2670000"/>
            <a:ext cx="8264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40" name="Stat1Bg"/>
          <p:cNvSpPr/>
          <p:nvPr/>
        </p:nvSpPr>
        <p:spPr>
          <a:xfrm>
            <a:off x="440000" y="2710000"/>
            <a:ext cx="268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41" name="Stat1Content"/>
          <p:cNvSpPr/>
          <p:nvPr/>
        </p:nvSpPr>
        <p:spPr>
          <a:xfrm>
            <a:off x="540000" y="2770000"/>
            <a:ext cx="2480000" cy="1680000"/>
          </a:xfrm>
          <a:prstGeom prst="rect">
            <a:avLst/>
          </a:prstGeom>
          <a:noFill/>
          <a:ln/>
        </p:spPr>
        <p:txBody>
          <a:bodyPr wrap="square" lIns="0" tIns="0" rIns="0" bIns="0" rtlCol="0" anchor="t"/>
          <a:lstStyle/>
          <a:p>
            <a:pPr marL="0" indent="0" algn="ctr">
              <a:lnSpc>
                <a:spcPts val="3200"/>
              </a:lnSpc>
              <a:buNone/>
            </a:pPr>
            <a:r>
              <a:rPr lang="en-US" sz="2800" b="1">
                <a:solidFill>
                  <a:srgbClr val="76B900"/>
                </a:solidFill>
                <a:latin typeface="Consolas" pitchFamily="34" charset="0"/>
              </a:rPr>
              <a:t>~4</a:t>
            </a:r>
          </a:p>
          <a:p>
            <a:pPr marL="0" indent="0" algn="ctr">
              <a:lnSpc>
                <a:spcPts val="1200"/>
              </a:lnSpc>
              <a:spcBef>
                <a:spcPts val="100"/>
              </a:spcBef>
              <a:buNone/>
            </a:pPr>
            <a:r>
              <a:rPr lang="en-US" sz="900" b="1">
                <a:solidFill>
                  <a:srgbClr val="E2E8F0"/>
                </a:solidFill>
                <a:latin typeface="Calibri" pitchFamily="34" charset="0"/>
              </a:rPr>
              <a:t>characters per token</a:t>
            </a:r>
          </a:p>
          <a:p>
            <a:pPr marL="0" indent="0" algn="ctr">
              <a:lnSpc>
                <a:spcPts val="1100"/>
              </a:lnSpc>
              <a:spcBef>
                <a:spcPts val="200"/>
              </a:spcBef>
              <a:buNone/>
            </a:pPr>
            <a:r>
              <a:rPr lang="en-US" sz="750">
                <a:solidFill>
                  <a:srgbClr val="8B9CB6"/>
                </a:solidFill>
                <a:latin typeface="Calibri" pitchFamily="34" charset="0"/>
              </a:rPr>
              <a:t>On average in English text. Short common words are single tokens; longer or rare words get split into subwords.</a:t>
            </a:r>
          </a:p>
        </p:txBody>
      </p:sp>
      <p:sp>
        <p:nvSpPr>
          <p:cNvPr id="50" name="Stat2Bg"/>
          <p:cNvSpPr/>
          <p:nvPr/>
        </p:nvSpPr>
        <p:spPr>
          <a:xfrm>
            <a:off x="3232000" y="2710000"/>
            <a:ext cx="268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51" name="Stat2Content"/>
          <p:cNvSpPr/>
          <p:nvPr/>
        </p:nvSpPr>
        <p:spPr>
          <a:xfrm>
            <a:off x="3332000" y="2770000"/>
            <a:ext cx="2480000" cy="1680000"/>
          </a:xfrm>
          <a:prstGeom prst="rect">
            <a:avLst/>
          </a:prstGeom>
          <a:noFill/>
          <a:ln/>
        </p:spPr>
        <p:txBody>
          <a:bodyPr wrap="square" lIns="0" tIns="0" rIns="0" bIns="0" rtlCol="0" anchor="t"/>
          <a:lstStyle/>
          <a:p>
            <a:pPr marL="0" indent="0" algn="ctr">
              <a:lnSpc>
                <a:spcPts val="3200"/>
              </a:lnSpc>
              <a:buNone/>
            </a:pPr>
            <a:r>
              <a:rPr lang="en-US" sz="2800" b="1">
                <a:solidFill>
                  <a:srgbClr val="76B900"/>
                </a:solidFill>
                <a:latin typeface="Consolas" pitchFamily="34" charset="0"/>
              </a:rPr>
              <a:t>≈0.75</a:t>
            </a:r>
          </a:p>
          <a:p>
            <a:pPr marL="0" indent="0" algn="ctr">
              <a:lnSpc>
                <a:spcPts val="1200"/>
              </a:lnSpc>
              <a:spcBef>
                <a:spcPts val="100"/>
              </a:spcBef>
              <a:buNone/>
            </a:pPr>
            <a:r>
              <a:rPr lang="en-US" sz="900" b="1">
                <a:solidFill>
                  <a:srgbClr val="E2E8F0"/>
                </a:solidFill>
                <a:latin typeface="Calibri" pitchFamily="34" charset="0"/>
              </a:rPr>
              <a:t>words per token</a:t>
            </a:r>
          </a:p>
          <a:p>
            <a:pPr marL="0" indent="0" algn="ctr">
              <a:lnSpc>
                <a:spcPts val="1100"/>
              </a:lnSpc>
              <a:spcBef>
                <a:spcPts val="200"/>
              </a:spcBef>
              <a:buNone/>
            </a:pPr>
            <a:r>
              <a:rPr lang="en-US" sz="750">
                <a:solidFill>
                  <a:srgbClr val="8B9CB6"/>
                </a:solidFill>
                <a:latin typeface="Calibri" pitchFamily="34" charset="0"/>
              </a:rPr>
              <a:t>Quick mental math: multiply your word count by 1.3 to estimate tokens. A 1,000-word doc ≈ 1,300 tokens.</a:t>
            </a:r>
          </a:p>
        </p:txBody>
      </p:sp>
      <p:sp>
        <p:nvSpPr>
          <p:cNvPr id="60" name="Stat3Bg"/>
          <p:cNvSpPr/>
          <p:nvPr/>
        </p:nvSpPr>
        <p:spPr>
          <a:xfrm>
            <a:off x="6024000" y="2710000"/>
            <a:ext cx="268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61" name="Stat3Content"/>
          <p:cNvSpPr/>
          <p:nvPr/>
        </p:nvSpPr>
        <p:spPr>
          <a:xfrm>
            <a:off x="6124000" y="2770000"/>
            <a:ext cx="2480000" cy="1680000"/>
          </a:xfrm>
          <a:prstGeom prst="rect">
            <a:avLst/>
          </a:prstGeom>
          <a:noFill/>
          <a:ln/>
        </p:spPr>
        <p:txBody>
          <a:bodyPr wrap="square" lIns="0" tIns="0" rIns="0" bIns="0" rtlCol="0" anchor="t"/>
          <a:lstStyle/>
          <a:p>
            <a:pPr marL="0" indent="0" algn="ctr">
              <a:lnSpc>
                <a:spcPts val="3200"/>
              </a:lnSpc>
              <a:buNone/>
            </a:pPr>
            <a:r>
              <a:rPr lang="en-US" sz="2800" b="1">
                <a:solidFill>
                  <a:srgbClr val="76B900"/>
                </a:solidFill>
                <a:latin typeface="Consolas" pitchFamily="34" charset="0"/>
              </a:rPr>
              <a:t>~130</a:t>
            </a:r>
          </a:p>
          <a:p>
            <a:pPr marL="0" indent="0" algn="ctr">
              <a:lnSpc>
                <a:spcPts val="1200"/>
              </a:lnSpc>
              <a:spcBef>
                <a:spcPts val="100"/>
              </a:spcBef>
              <a:buNone/>
            </a:pPr>
            <a:r>
              <a:rPr lang="en-US" sz="900" b="1">
                <a:solidFill>
                  <a:srgbClr val="E2E8F0"/>
                </a:solidFill>
                <a:latin typeface="Calibri" pitchFamily="34" charset="0"/>
              </a:rPr>
              <a:t>tokens per 100 words</a:t>
            </a:r>
          </a:p>
          <a:p>
            <a:pPr marL="0" indent="0" algn="ctr">
              <a:lnSpc>
                <a:spcPts val="1100"/>
              </a:lnSpc>
              <a:spcBef>
                <a:spcPts val="200"/>
              </a:spcBef>
              <a:buNone/>
            </a:pPr>
            <a:r>
              <a:rPr lang="en-US" sz="750">
                <a:solidFill>
                  <a:srgbClr val="8B9CB6"/>
                </a:solidFill>
                <a:latin typeface="Calibri" pitchFamily="34" charset="0"/>
              </a:rPr>
              <a:t>Code and non-English text tokenize less efficiently — expect 150–200+ tokens per 100 words.</a:t>
            </a:r>
          </a:p>
        </p:txBody>
      </p:sp>
      <p:sp>
        <p:nvSpPr>
          <p:cNvPr id="70" name="FooterTip"/>
          <p:cNvSpPr/>
          <p:nvPr/>
        </p:nvSpPr>
        <p:spPr>
          <a:xfrm>
            <a:off x="440000" y="4650000"/>
            <a:ext cx="8264000" cy="200000"/>
          </a:xfrm>
          <a:prstGeom prst="rect">
            <a:avLst/>
          </a:prstGeom>
          <a:noFill/>
          <a:ln/>
        </p:spPr>
        <p:txBody>
          <a:bodyPr wrap="square" lIns="0" tIns="0" rIns="0" bIns="0" rtlCol="0" anchor="t"/>
          <a:lstStyle/>
          <a:p>
            <a:pPr marL="0" indent="0" algn="ctr">
              <a:lnSpc>
                <a:spcPts val="1100"/>
              </a:lnSpc>
              <a:buNone/>
            </a:pPr>
            <a:r>
              <a:rPr lang="en-US" sz="650" b="1">
                <a:solidFill>
                  <a:srgbClr val="76B900"/>
                </a:solidFill>
                <a:latin typeface="Consolas" pitchFamily="34" charset="0"/>
              </a:rPr>
              <a:t>TIP</a:t>
            </a:r>
            <a:r>
              <a:rPr lang="en-US" sz="650">
                <a:solidFill>
                  <a:srgbClr val="8B9CB6"/>
                </a:solidFill>
                <a:latin typeface="Calibri" pitchFamily="34" charset="0"/>
              </a:rPr>
              <a:t>  —  Use Ollama's built-in tokenizer to count exactly:  </a:t>
            </a:r>
            <a:r>
              <a:rPr lang="en-US" sz="650">
                <a:solidFill>
                  <a:srgbClr val="76B900"/>
                </a:solidFill>
                <a:latin typeface="Consolas" pitchFamily="34" charset="0"/>
              </a:rPr>
              <a:t>ollama run llama3.3 --verbose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Quantization">
    <p:bg>
      <p:bgPr>
        <a:solidFill>
          <a:srgbClr val="0A0F1A"/>
        </a:solidFill>
        <a:effectLst/>
      </p:bgPr>
    </p:bg>
    <p:spTree>
      <p:nvGrpSpPr>
        <p:cNvPr id="1" name=""/>
        <p:cNvGrpSpPr/>
        <p:nvPr/>
      </p:nvGrpSpPr>
      <p:grpSpPr>
        <a:xfrm>
          <a:off x="0" y="0"/>
          <a:ext cx="0" cy="0"/>
          <a:chOff x="0" y="0"/>
          <a:chExt cx="0" cy="0"/>
        </a:xfrm>
      </p:grpSpPr>
      <p:sp>
        <p:nvSpPr>
          <p:cNvPr id="2" name="BgGrad"/>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a:p>
        </p:txBody>
      </p:sp>
      <p:sp>
        <p:nvSpPr>
          <p:cNvPr id="3" name="Title"/>
          <p:cNvSpPr/>
          <p:nvPr/>
        </p:nvSpPr>
        <p:spPr>
          <a:xfrm>
            <a:off x="169164" y="200000"/>
            <a:ext cx="8805672" cy="340000"/>
          </a:xfrm>
          <a:prstGeom prst="rect">
            <a:avLst/>
          </a:prstGeom>
          <a:noFill/>
          <a:ln/>
        </p:spPr>
        <p:txBody>
          <a:bodyPr wrap="none" lIns="0" tIns="0" rIns="0" bIns="0" rtlCol="0" anchor="t"/>
          <a:lstStyle/>
          <a:p>
            <a:pPr marL="0" indent="0" algn="ctr">
              <a:lnSpc>
                <a:spcPts val="2800"/>
              </a:lnSpc>
              <a:buNone/>
            </a:pPr>
            <a:r>
              <a:rPr lang="en-US" sz="2030" b="1" kern="0" spc="-30">
                <a:solidFill>
                  <a:srgbClr val="76B900"/>
                </a:solidFill>
                <a:latin typeface="Consolas" pitchFamily="34" charset="0"/>
                <a:ea typeface="Consolas" pitchFamily="34" charset="-122"/>
                <a:cs typeface="Consolas" pitchFamily="34" charset="-120"/>
              </a:rPr>
              <a:t>Quantization</a:t>
            </a:r>
            <a:r>
              <a:rPr lang="en-US" sz="2030" b="1" kern="0" spc="-30">
                <a:solidFill>
                  <a:srgbClr val="E2E8F0"/>
                </a:solidFill>
                <a:latin typeface="Consolas" pitchFamily="34" charset="0"/>
                <a:ea typeface="Consolas" pitchFamily="34" charset="-122"/>
                <a:cs typeface="Consolas" pitchFamily="34" charset="-120"/>
              </a:rPr>
              <a:t> Explained</a:t>
            </a:r>
          </a:p>
        </p:txBody>
      </p:sp>
      <p:sp>
        <p:nvSpPr>
          <p:cNvPr id="4" name="Subtitle"/>
          <p:cNvSpPr/>
          <p:nvPr/>
        </p:nvSpPr>
        <p:spPr>
          <a:xfrm>
            <a:off x="169164" y="560000"/>
            <a:ext cx="8805672" cy="200000"/>
          </a:xfrm>
          <a:prstGeom prst="rect">
            <a:avLst/>
          </a:prstGeom>
          <a:noFill/>
          <a:ln/>
        </p:spPr>
        <p:txBody>
          <a:bodyPr wrap="none" lIns="0" tIns="0" rIns="0" bIns="0" rtlCol="0" anchor="t"/>
          <a:lstStyle/>
          <a:p>
            <a:pPr marL="0" indent="0" algn="ctr">
              <a:lnSpc>
                <a:spcPts val="1350"/>
              </a:lnSpc>
              <a:buNone/>
            </a:pPr>
            <a:r>
              <a:rPr lang="en-US" sz="900">
                <a:solidFill>
                  <a:srgbClr val="8B9CB6"/>
                </a:solidFill>
                <a:latin typeface="Calibri" pitchFamily="34" charset="0"/>
              </a:rPr>
              <a:t>How models shrink to fit your hardware — trade a tiny bit of quality for massive RAM savings</a:t>
            </a:r>
          </a:p>
        </p:txBody>
      </p:sp>
      <p:sp>
        <p:nvSpPr>
          <p:cNvPr id="5" name="AccentBar1"/>
          <p:cNvSpPr/>
          <p:nvPr/>
        </p:nvSpPr>
        <p:spPr>
          <a:xfrm>
            <a:off x="440000" y="830000"/>
            <a:ext cx="4150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6" name="AccentBar2"/>
          <p:cNvSpPr/>
          <p:nvPr/>
        </p:nvSpPr>
        <p:spPr>
          <a:xfrm>
            <a:off x="4710000" y="830000"/>
            <a:ext cx="3994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10" name="DefCardBg"/>
          <p:cNvSpPr/>
          <p:nvPr/>
        </p:nvSpPr>
        <p:spPr>
          <a:xfrm>
            <a:off x="440000" y="870000"/>
            <a:ext cx="4150000" cy="165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11" name="DefCardContent"/>
          <p:cNvSpPr/>
          <p:nvPr/>
        </p:nvSpPr>
        <p:spPr>
          <a:xfrm>
            <a:off x="560000" y="930000"/>
            <a:ext cx="3910000" cy="1530000"/>
          </a:xfrm>
          <a:prstGeom prst="rect">
            <a:avLst/>
          </a:prstGeom>
          <a:noFill/>
          <a:ln/>
        </p:spPr>
        <p:txBody>
          <a:bodyPr wrap="square" lIns="0" tIns="0" rIns="0" bIns="0" rtlCol="0" anchor="t"/>
          <a:lstStyle/>
          <a:p>
            <a:pPr marL="0" indent="0" algn="l">
              <a:lnSpc>
                <a:spcPts val="1200"/>
              </a:lnSpc>
              <a:buNone/>
            </a:pPr>
            <a:r>
              <a:rPr lang="en-US" sz="900" b="1" spc="100">
                <a:solidFill>
                  <a:srgbClr val="76B900"/>
                </a:solidFill>
                <a:latin typeface="Consolas" pitchFamily="34" charset="0"/>
              </a:rPr>
              <a:t>WHAT IS IT?</a:t>
            </a:r>
          </a:p>
          <a:p>
            <a:pPr marL="0" indent="0" algn="l">
              <a:lnSpc>
                <a:spcPts val="1200"/>
              </a:lnSpc>
              <a:spcBef>
                <a:spcPts val="250"/>
              </a:spcBef>
              <a:buNone/>
            </a:pPr>
            <a:r>
              <a:rPr lang="en-US" sz="850">
                <a:solidFill>
                  <a:srgbClr val="E2E8F0"/>
                </a:solidFill>
                <a:latin typeface="Calibri" pitchFamily="34" charset="0"/>
              </a:rPr>
              <a:t>Model weights are stored as numbers. </a:t>
            </a:r>
            <a:r>
              <a:rPr lang="en-US" sz="850" b="1">
                <a:solidFill>
                  <a:srgbClr val="76B900"/>
                </a:solidFill>
                <a:latin typeface="Calibri" pitchFamily="34" charset="0"/>
              </a:rPr>
              <a:t>Quantization</a:t>
            </a:r>
            <a:r>
              <a:rPr lang="en-US" sz="850">
                <a:solidFill>
                  <a:srgbClr val="E2E8F0"/>
                </a:solidFill>
                <a:latin typeface="Calibri" pitchFamily="34" charset="0"/>
              </a:rPr>
              <a:t> reduces the precision of those numbers — for example, from 16-bit floats down to 4-bit integers — shrinking the file size and RAM footprint dramatically.</a:t>
            </a:r>
          </a:p>
          <a:p>
            <a:pPr marL="0" indent="0" algn="l">
              <a:lnSpc>
                <a:spcPts val="1200"/>
              </a:lnSpc>
              <a:spcBef>
                <a:spcPts val="350"/>
              </a:spcBef>
              <a:buNone/>
            </a:pPr>
            <a:r>
              <a:rPr lang="en-US" sz="800" b="1" spc="100">
                <a:solidFill>
                  <a:srgbClr val="76B900"/>
                </a:solidFill>
                <a:latin typeface="Consolas" pitchFamily="34" charset="0"/>
              </a:rPr>
              <a:t>ANALOGY</a:t>
            </a:r>
          </a:p>
          <a:p>
            <a:pPr marL="0" indent="0" algn="l">
              <a:lnSpc>
                <a:spcPts val="1200"/>
              </a:lnSpc>
              <a:spcBef>
                <a:spcPts val="200"/>
              </a:spcBef>
              <a:buNone/>
            </a:pPr>
            <a:r>
              <a:rPr lang="en-US" sz="800">
                <a:solidFill>
                  <a:srgbClr val="8B9CB6"/>
                </a:solidFill>
                <a:latin typeface="Calibri" pitchFamily="34" charset="0"/>
              </a:rPr>
              <a:t>Think of it like saving a photo as JPEG instead of RAW. The file gets much smaller. Most people can't tell the difference — but the data is technically less precise.</a:t>
            </a:r>
          </a:p>
        </p:txBody>
      </p:sp>
      <p:sp>
        <p:nvSpPr>
          <p:cNvPr id="20" name="TradeCardBg"/>
          <p:cNvSpPr/>
          <p:nvPr/>
        </p:nvSpPr>
        <p:spPr>
          <a:xfrm>
            <a:off x="4710000" y="870000"/>
            <a:ext cx="3994000" cy="165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21" name="TradeCardContent"/>
          <p:cNvSpPr/>
          <p:nvPr/>
        </p:nvSpPr>
        <p:spPr>
          <a:xfrm>
            <a:off x="4830000" y="930000"/>
            <a:ext cx="3754000" cy="1530000"/>
          </a:xfrm>
          <a:prstGeom prst="rect">
            <a:avLst/>
          </a:prstGeom>
          <a:noFill/>
          <a:ln/>
        </p:spPr>
        <p:txBody>
          <a:bodyPr wrap="square" lIns="0" tIns="0" rIns="0" bIns="0" rtlCol="0" anchor="t"/>
          <a:lstStyle/>
          <a:p>
            <a:pPr marL="0" indent="0" algn="l">
              <a:lnSpc>
                <a:spcPts val="1200"/>
              </a:lnSpc>
              <a:buNone/>
            </a:pPr>
            <a:r>
              <a:rPr lang="en-US" sz="900" b="1" spc="100">
                <a:solidFill>
                  <a:srgbClr val="76B900"/>
                </a:solidFill>
                <a:latin typeface="Consolas" pitchFamily="34" charset="0"/>
              </a:rPr>
              <a:t>THE TRADEOFF</a:t>
            </a:r>
          </a:p>
          <a:p>
            <a:pPr marL="0" indent="0" algn="l">
              <a:lnSpc>
                <a:spcPts val="1100"/>
              </a:lnSpc>
              <a:spcBef>
                <a:spcPts val="250"/>
              </a:spcBef>
              <a:buNone/>
            </a:pPr>
            <a:r>
              <a:rPr lang="en-US" sz="750">
                <a:solidFill>
                  <a:srgbClr val="76B900"/>
                </a:solidFill>
                <a:latin typeface="Consolas" pitchFamily="34" charset="0"/>
              </a:rPr>
              <a:t>▸ </a:t>
            </a:r>
            <a:r>
              <a:rPr lang="en-US" sz="750" b="1">
                <a:solidFill>
                  <a:srgbClr val="E2E8F0"/>
                </a:solidFill>
                <a:latin typeface="Calibri" pitchFamily="34" charset="0"/>
              </a:rPr>
              <a:t>Lower bits = smaller file</a:t>
            </a:r>
            <a:r>
              <a:rPr lang="en-US" sz="750">
                <a:solidFill>
                  <a:srgbClr val="8B9CB6"/>
                </a:solidFill>
                <a:latin typeface="Calibri" pitchFamily="34" charset="0"/>
              </a:rPr>
              <a:t> — Q4 is ~4× smaller than F16</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Quality loss is minimal</a:t>
            </a:r>
            <a:r>
              <a:rPr lang="en-US" sz="750">
                <a:solidFill>
                  <a:srgbClr val="8B9CB6"/>
                </a:solidFill>
                <a:latin typeface="Calibri" pitchFamily="34" charset="0"/>
              </a:rPr>
              <a:t> — Q4_K_M retains ~99% of F16 quality on benchmarks</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Speed boost</a:t>
            </a:r>
            <a:r>
              <a:rPr lang="en-US" sz="750">
                <a:solidFill>
                  <a:srgbClr val="8B9CB6"/>
                </a:solidFill>
                <a:latin typeface="Calibri" pitchFamily="34" charset="0"/>
              </a:rPr>
              <a:t> — Smaller models load faster and infer faster on limited hardware</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Sweet spot: Q4_K_M</a:t>
            </a:r>
            <a:r>
              <a:rPr lang="en-US" sz="750">
                <a:solidFill>
                  <a:srgbClr val="8B9CB6"/>
                </a:solidFill>
                <a:latin typeface="Calibri" pitchFamily="34" charset="0"/>
              </a:rPr>
              <a:t> — Best balance of size and quality; Ollama's default</a:t>
            </a:r>
          </a:p>
        </p:txBody>
      </p:sp>
      <p:sp>
        <p:nvSpPr>
          <p:cNvPr id="30" name="AccentBar3"/>
          <p:cNvSpPr/>
          <p:nvPr/>
        </p:nvSpPr>
        <p:spPr>
          <a:xfrm>
            <a:off x="440000" y="2670000"/>
            <a:ext cx="8264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40" name="Q16Bg"/>
          <p:cNvSpPr/>
          <p:nvPr/>
        </p:nvSpPr>
        <p:spPr>
          <a:xfrm>
            <a:off x="440000" y="2710000"/>
            <a:ext cx="197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41" name="Q16Content"/>
          <p:cNvSpPr/>
          <p:nvPr/>
        </p:nvSpPr>
        <p:spPr>
          <a:xfrm>
            <a:off x="540000" y="2770000"/>
            <a:ext cx="1770000" cy="1680000"/>
          </a:xfrm>
          <a:prstGeom prst="rect">
            <a:avLst/>
          </a:prstGeom>
          <a:noFill/>
          <a:ln/>
        </p:spPr>
        <p:txBody>
          <a:bodyPr wrap="square" lIns="0" tIns="0" rIns="0" bIns="0" rtlCol="0" anchor="t"/>
          <a:lstStyle/>
          <a:p>
            <a:pPr marL="0" indent="0" algn="ctr">
              <a:lnSpc>
                <a:spcPts val="1100"/>
              </a:lnSpc>
              <a:buNone/>
            </a:pPr>
            <a:r>
              <a:rPr lang="en-US" sz="700" b="1" spc="120">
                <a:solidFill>
                  <a:srgbClr val="8B9CB6"/>
                </a:solidFill>
                <a:latin typeface="Consolas" pitchFamily="34" charset="0"/>
              </a:rPr>
              <a:t>ORIGINAL</a:t>
            </a:r>
          </a:p>
          <a:p>
            <a:pPr marL="0" indent="0" algn="ctr">
              <a:lnSpc>
                <a:spcPts val="2600"/>
              </a:lnSpc>
              <a:spcBef>
                <a:spcPts val="150"/>
              </a:spcBef>
              <a:buNone/>
            </a:pPr>
            <a:r>
              <a:rPr lang="en-US" sz="2200" b="1">
                <a:solidFill>
                  <a:srgbClr val="E2E8F0"/>
                </a:solidFill>
                <a:latin typeface="Consolas" pitchFamily="34" charset="0"/>
              </a:rPr>
              <a:t>F16</a:t>
            </a:r>
          </a:p>
          <a:p>
            <a:pPr marL="0" indent="0" algn="ctr">
              <a:lnSpc>
                <a:spcPts val="1100"/>
              </a:lnSpc>
              <a:spcBef>
                <a:spcPts val="150"/>
              </a:spcBef>
              <a:buNone/>
            </a:pPr>
            <a:r>
              <a:rPr lang="en-US" sz="750">
                <a:solidFill>
                  <a:srgbClr val="8B9CB6"/>
                </a:solidFill>
                <a:latin typeface="Calibri" pitchFamily="34" charset="0"/>
              </a:rPr>
              <a:t>16-bit float</a:t>
            </a:r>
          </a:p>
          <a:p>
            <a:pPr marL="0" indent="0" algn="ctr">
              <a:lnSpc>
                <a:spcPts val="1100"/>
              </a:lnSpc>
              <a:spcBef>
                <a:spcPts val="100"/>
              </a:spcBef>
              <a:buNone/>
            </a:pPr>
            <a:r>
              <a:rPr lang="en-US" sz="750" b="1">
                <a:solidFill>
                  <a:srgbClr val="E2E8F0"/>
                </a:solidFill>
                <a:latin typeface="Calibri" pitchFamily="34" charset="0"/>
              </a:rPr>
              <a:t>2 bytes/weight</a:t>
            </a:r>
          </a:p>
          <a:p>
            <a:pPr marL="0" indent="0" algn="ctr">
              <a:lnSpc>
                <a:spcPts val="1100"/>
              </a:lnSpc>
              <a:spcBef>
                <a:spcPts val="200"/>
              </a:spcBef>
              <a:buNone/>
            </a:pPr>
            <a:r>
              <a:rPr lang="en-US" sz="700">
                <a:solidFill>
                  <a:srgbClr val="8B9CB6"/>
                </a:solidFill>
                <a:latin typeface="Calibri" pitchFamily="34" charset="0"/>
              </a:rPr>
              <a:t>100% quality baseline</a:t>
            </a:r>
          </a:p>
          <a:p>
            <a:pPr marL="0" indent="0" algn="ctr">
              <a:lnSpc>
                <a:spcPts val="1100"/>
              </a:lnSpc>
              <a:spcBef>
                <a:spcPts val="100"/>
              </a:spcBef>
              <a:buNone/>
            </a:pPr>
            <a:r>
              <a:rPr lang="en-US" sz="700">
                <a:solidFill>
                  <a:srgbClr val="8B9CB6"/>
                </a:solidFill>
                <a:latin typeface="Calibri" pitchFamily="34" charset="0"/>
              </a:rPr>
              <a:t>8B model ≈ 16 GB RAM</a:t>
            </a:r>
          </a:p>
        </p:txBody>
      </p:sp>
      <p:sp>
        <p:nvSpPr>
          <p:cNvPr id="50" name="Q8Bg"/>
          <p:cNvSpPr/>
          <p:nvPr/>
        </p:nvSpPr>
        <p:spPr>
          <a:xfrm>
            <a:off x="2538000" y="2710000"/>
            <a:ext cx="197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51" name="Q8Content"/>
          <p:cNvSpPr/>
          <p:nvPr/>
        </p:nvSpPr>
        <p:spPr>
          <a:xfrm>
            <a:off x="2638000" y="2770000"/>
            <a:ext cx="1770000" cy="1680000"/>
          </a:xfrm>
          <a:prstGeom prst="rect">
            <a:avLst/>
          </a:prstGeom>
          <a:noFill/>
          <a:ln/>
        </p:spPr>
        <p:txBody>
          <a:bodyPr wrap="square" lIns="0" tIns="0" rIns="0" bIns="0" rtlCol="0" anchor="t"/>
          <a:lstStyle/>
          <a:p>
            <a:pPr marL="0" indent="0" algn="ctr">
              <a:lnSpc>
                <a:spcPts val="1100"/>
              </a:lnSpc>
              <a:buNone/>
            </a:pPr>
            <a:r>
              <a:rPr lang="en-US" sz="700" b="1" spc="120">
                <a:solidFill>
                  <a:srgbClr val="8B9CB6"/>
                </a:solidFill>
                <a:latin typeface="Consolas" pitchFamily="34" charset="0"/>
              </a:rPr>
              <a:t>HIGH FIDELITY</a:t>
            </a:r>
          </a:p>
          <a:p>
            <a:pPr marL="0" indent="0" algn="ctr">
              <a:lnSpc>
                <a:spcPts val="2600"/>
              </a:lnSpc>
              <a:spcBef>
                <a:spcPts val="150"/>
              </a:spcBef>
              <a:buNone/>
            </a:pPr>
            <a:r>
              <a:rPr lang="en-US" sz="2200" b="1">
                <a:solidFill>
                  <a:srgbClr val="E2E8F0"/>
                </a:solidFill>
                <a:latin typeface="Consolas" pitchFamily="34" charset="0"/>
              </a:rPr>
              <a:t>Q8</a:t>
            </a:r>
          </a:p>
          <a:p>
            <a:pPr marL="0" indent="0" algn="ctr">
              <a:lnSpc>
                <a:spcPts val="1100"/>
              </a:lnSpc>
              <a:spcBef>
                <a:spcPts val="150"/>
              </a:spcBef>
              <a:buNone/>
            </a:pPr>
            <a:r>
              <a:rPr lang="en-US" sz="750">
                <a:solidFill>
                  <a:srgbClr val="8B9CB6"/>
                </a:solidFill>
                <a:latin typeface="Calibri" pitchFamily="34" charset="0"/>
              </a:rPr>
              <a:t>8-bit integer</a:t>
            </a:r>
          </a:p>
          <a:p>
            <a:pPr marL="0" indent="0" algn="ctr">
              <a:lnSpc>
                <a:spcPts val="1100"/>
              </a:lnSpc>
              <a:spcBef>
                <a:spcPts val="100"/>
              </a:spcBef>
              <a:buNone/>
            </a:pPr>
            <a:r>
              <a:rPr lang="en-US" sz="750" b="1">
                <a:solidFill>
                  <a:srgbClr val="E2E8F0"/>
                </a:solidFill>
                <a:latin typeface="Calibri" pitchFamily="34" charset="0"/>
              </a:rPr>
              <a:t>1 byte/weight</a:t>
            </a:r>
          </a:p>
          <a:p>
            <a:pPr marL="0" indent="0" algn="ctr">
              <a:lnSpc>
                <a:spcPts val="1100"/>
              </a:lnSpc>
              <a:spcBef>
                <a:spcPts val="200"/>
              </a:spcBef>
              <a:buNone/>
            </a:pPr>
            <a:r>
              <a:rPr lang="en-US" sz="700">
                <a:solidFill>
                  <a:srgbClr val="8B9CB6"/>
                </a:solidFill>
                <a:latin typeface="Calibri" pitchFamily="34" charset="0"/>
              </a:rPr>
              <a:t>~99.5% quality</a:t>
            </a:r>
          </a:p>
          <a:p>
            <a:pPr marL="0" indent="0" algn="ctr">
              <a:lnSpc>
                <a:spcPts val="1100"/>
              </a:lnSpc>
              <a:spcBef>
                <a:spcPts val="100"/>
              </a:spcBef>
              <a:buNone/>
            </a:pPr>
            <a:r>
              <a:rPr lang="en-US" sz="700">
                <a:solidFill>
                  <a:srgbClr val="8B9CB6"/>
                </a:solidFill>
                <a:latin typeface="Calibri" pitchFamily="34" charset="0"/>
              </a:rPr>
              <a:t>8B model ≈ 8 GB RAM</a:t>
            </a:r>
          </a:p>
        </p:txBody>
      </p:sp>
      <p:sp>
        <p:nvSpPr>
          <p:cNvPr id="55" name="Q5Bg"/>
          <p:cNvSpPr/>
          <p:nvPr/>
        </p:nvSpPr>
        <p:spPr>
          <a:xfrm>
            <a:off x="4636000" y="2710000"/>
            <a:ext cx="197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56" name="Q5Content"/>
          <p:cNvSpPr/>
          <p:nvPr/>
        </p:nvSpPr>
        <p:spPr>
          <a:xfrm>
            <a:off x="4736000" y="2770000"/>
            <a:ext cx="1770000" cy="1680000"/>
          </a:xfrm>
          <a:prstGeom prst="rect">
            <a:avLst/>
          </a:prstGeom>
          <a:noFill/>
          <a:ln/>
        </p:spPr>
        <p:txBody>
          <a:bodyPr wrap="square" lIns="0" tIns="0" rIns="0" bIns="0" rtlCol="0" anchor="t"/>
          <a:lstStyle/>
          <a:p>
            <a:pPr marL="0" indent="0" algn="ctr">
              <a:lnSpc>
                <a:spcPts val="1100"/>
              </a:lnSpc>
              <a:buNone/>
            </a:pPr>
            <a:r>
              <a:rPr lang="en-US" sz="700" b="1" spc="120">
                <a:solidFill>
                  <a:srgbClr val="8B9CB6"/>
                </a:solidFill>
                <a:latin typeface="Consolas" pitchFamily="34" charset="0"/>
              </a:rPr>
              <a:t>BALANCED</a:t>
            </a:r>
          </a:p>
          <a:p>
            <a:pPr marL="0" indent="0" algn="ctr">
              <a:lnSpc>
                <a:spcPts val="2600"/>
              </a:lnSpc>
              <a:spcBef>
                <a:spcPts val="150"/>
              </a:spcBef>
              <a:buNone/>
            </a:pPr>
            <a:r>
              <a:rPr lang="en-US" sz="2200" b="1">
                <a:solidFill>
                  <a:srgbClr val="E2E8F0"/>
                </a:solidFill>
                <a:latin typeface="Consolas" pitchFamily="34" charset="0"/>
              </a:rPr>
              <a:t>Q5</a:t>
            </a:r>
          </a:p>
          <a:p>
            <a:pPr marL="0" indent="0" algn="ctr">
              <a:lnSpc>
                <a:spcPts val="1100"/>
              </a:lnSpc>
              <a:spcBef>
                <a:spcPts val="150"/>
              </a:spcBef>
              <a:buNone/>
            </a:pPr>
            <a:r>
              <a:rPr lang="en-US" sz="750">
                <a:solidFill>
                  <a:srgbClr val="8B9CB6"/>
                </a:solidFill>
                <a:latin typeface="Calibri" pitchFamily="34" charset="0"/>
              </a:rPr>
              <a:t>5-bit mixed (K_M)</a:t>
            </a:r>
          </a:p>
          <a:p>
            <a:pPr marL="0" indent="0" algn="ctr">
              <a:lnSpc>
                <a:spcPts val="1100"/>
              </a:lnSpc>
              <a:spcBef>
                <a:spcPts val="100"/>
              </a:spcBef>
              <a:buNone/>
            </a:pPr>
            <a:r>
              <a:rPr lang="en-US" sz="750" b="1">
                <a:solidFill>
                  <a:srgbClr val="E2E8F0"/>
                </a:solidFill>
                <a:latin typeface="Calibri" pitchFamily="34" charset="0"/>
              </a:rPr>
              <a:t>0.63 bytes/weight</a:t>
            </a:r>
          </a:p>
          <a:p>
            <a:pPr marL="0" indent="0" algn="ctr">
              <a:lnSpc>
                <a:spcPts val="1100"/>
              </a:lnSpc>
              <a:spcBef>
                <a:spcPts val="200"/>
              </a:spcBef>
              <a:buNone/>
            </a:pPr>
            <a:r>
              <a:rPr lang="en-US" sz="700">
                <a:solidFill>
                  <a:srgbClr val="8B9CB6"/>
                </a:solidFill>
                <a:latin typeface="Calibri" pitchFamily="34" charset="0"/>
              </a:rPr>
              <a:t>~99% quality</a:t>
            </a:r>
          </a:p>
          <a:p>
            <a:pPr marL="0" indent="0" algn="ctr">
              <a:lnSpc>
                <a:spcPts val="1100"/>
              </a:lnSpc>
              <a:spcBef>
                <a:spcPts val="100"/>
              </a:spcBef>
              <a:buNone/>
            </a:pPr>
            <a:r>
              <a:rPr lang="en-US" sz="700">
                <a:solidFill>
                  <a:srgbClr val="8B9CB6"/>
                </a:solidFill>
                <a:latin typeface="Calibri" pitchFamily="34" charset="0"/>
              </a:rPr>
              <a:t>8B model ≈ 5.5 GB RAM</a:t>
            </a:r>
          </a:p>
        </p:txBody>
      </p:sp>
      <p:sp>
        <p:nvSpPr>
          <p:cNvPr id="60" name="Q4Bg"/>
          <p:cNvSpPr/>
          <p:nvPr/>
        </p:nvSpPr>
        <p:spPr>
          <a:xfrm>
            <a:off x="6734000" y="2710000"/>
            <a:ext cx="1970000" cy="1800000"/>
          </a:xfrm>
          <a:prstGeom prst="roundRect">
            <a:avLst>
              <a:gd name="adj" fmla="val 3000"/>
            </a:avLst>
          </a:prstGeom>
          <a:solidFill>
            <a:srgbClr val="131C2A"/>
          </a:solidFill>
          <a:ln w="12700">
            <a:solidFill>
              <a:srgbClr val="76B900">
                <a:alpha val="50000"/>
              </a:srgbClr>
            </a:solidFill>
          </a:ln>
        </p:spPr>
        <p:txBody>
          <a:bodyPr wrap="square" rtlCol="0" anchor="t"/>
          <a:lstStyle/>
          <a:p>
            <a:pPr marL="0" indent="0">
              <a:buNone/>
            </a:pPr>
            <a:endParaRPr lang="en-US"/>
          </a:p>
        </p:txBody>
      </p:sp>
      <p:sp>
        <p:nvSpPr>
          <p:cNvPr id="61" name="Q4Content"/>
          <p:cNvSpPr/>
          <p:nvPr/>
        </p:nvSpPr>
        <p:spPr>
          <a:xfrm>
            <a:off x="6834000" y="2770000"/>
            <a:ext cx="1770000" cy="1680000"/>
          </a:xfrm>
          <a:prstGeom prst="rect">
            <a:avLst/>
          </a:prstGeom>
          <a:noFill/>
          <a:ln/>
        </p:spPr>
        <p:txBody>
          <a:bodyPr wrap="square" lIns="0" tIns="0" rIns="0" bIns="0" rtlCol="0" anchor="t"/>
          <a:lstStyle/>
          <a:p>
            <a:pPr marL="0" indent="0" algn="ctr">
              <a:lnSpc>
                <a:spcPts val="1100"/>
              </a:lnSpc>
              <a:buNone/>
            </a:pPr>
            <a:r>
              <a:rPr lang="en-US" sz="700" b="1" spc="120">
                <a:solidFill>
                  <a:srgbClr val="76B900"/>
                </a:solidFill>
                <a:latin typeface="Consolas" pitchFamily="34" charset="0"/>
              </a:rPr>
              <a:t>★ RECOMMENDED</a:t>
            </a:r>
          </a:p>
          <a:p>
            <a:pPr marL="0" indent="0" algn="ctr">
              <a:lnSpc>
                <a:spcPts val="2600"/>
              </a:lnSpc>
              <a:spcBef>
                <a:spcPts val="150"/>
              </a:spcBef>
              <a:buNone/>
            </a:pPr>
            <a:r>
              <a:rPr lang="en-US" sz="2200" b="1">
                <a:solidFill>
                  <a:srgbClr val="76B900"/>
                </a:solidFill>
                <a:latin typeface="Consolas" pitchFamily="34" charset="0"/>
              </a:rPr>
              <a:t>Q4</a:t>
            </a:r>
          </a:p>
          <a:p>
            <a:pPr marL="0" indent="0" algn="ctr">
              <a:lnSpc>
                <a:spcPts val="1100"/>
              </a:lnSpc>
              <a:spcBef>
                <a:spcPts val="150"/>
              </a:spcBef>
              <a:buNone/>
            </a:pPr>
            <a:r>
              <a:rPr lang="en-US" sz="750">
                <a:solidFill>
                  <a:srgbClr val="8B9CB6"/>
                </a:solidFill>
                <a:latin typeface="Calibri" pitchFamily="34" charset="0"/>
              </a:rPr>
              <a:t>4-bit mixed (K_M)</a:t>
            </a:r>
          </a:p>
          <a:p>
            <a:pPr marL="0" indent="0" algn="ctr">
              <a:lnSpc>
                <a:spcPts val="1100"/>
              </a:lnSpc>
              <a:spcBef>
                <a:spcPts val="100"/>
              </a:spcBef>
              <a:buNone/>
            </a:pPr>
            <a:r>
              <a:rPr lang="en-US" sz="750" b="1">
                <a:solidFill>
                  <a:srgbClr val="E2E8F0"/>
                </a:solidFill>
                <a:latin typeface="Calibri" pitchFamily="34" charset="0"/>
              </a:rPr>
              <a:t>0.5 bytes/weight</a:t>
            </a:r>
          </a:p>
          <a:p>
            <a:pPr marL="0" indent="0" algn="ctr">
              <a:lnSpc>
                <a:spcPts val="1100"/>
              </a:lnSpc>
              <a:spcBef>
                <a:spcPts val="200"/>
              </a:spcBef>
              <a:buNone/>
            </a:pPr>
            <a:r>
              <a:rPr lang="en-US" sz="700">
                <a:solidFill>
                  <a:srgbClr val="8B9CB6"/>
                </a:solidFill>
                <a:latin typeface="Calibri" pitchFamily="34" charset="0"/>
              </a:rPr>
              <a:t>~98% quality</a:t>
            </a:r>
          </a:p>
          <a:p>
            <a:pPr marL="0" indent="0" algn="ctr">
              <a:lnSpc>
                <a:spcPts val="1100"/>
              </a:lnSpc>
              <a:spcBef>
                <a:spcPts val="100"/>
              </a:spcBef>
              <a:buNone/>
            </a:pPr>
            <a:r>
              <a:rPr lang="en-US" sz="700">
                <a:solidFill>
                  <a:srgbClr val="8B9CB6"/>
                </a:solidFill>
                <a:latin typeface="Calibri" pitchFamily="34" charset="0"/>
              </a:rPr>
              <a:t>8B model ≈ 4.7 GB RAM</a:t>
            </a:r>
          </a:p>
        </p:txBody>
      </p:sp>
      <p:sp>
        <p:nvSpPr>
          <p:cNvPr id="70" name="FooterTip"/>
          <p:cNvSpPr/>
          <p:nvPr/>
        </p:nvSpPr>
        <p:spPr>
          <a:xfrm>
            <a:off x="440000" y="4650000"/>
            <a:ext cx="8264000" cy="200000"/>
          </a:xfrm>
          <a:prstGeom prst="rect">
            <a:avLst/>
          </a:prstGeom>
          <a:noFill/>
          <a:ln/>
        </p:spPr>
        <p:txBody>
          <a:bodyPr wrap="square" lIns="0" tIns="0" rIns="0" bIns="0" rtlCol="0" anchor="t"/>
          <a:lstStyle/>
          <a:p>
            <a:pPr marL="0" indent="0" algn="ctr">
              <a:lnSpc>
                <a:spcPts val="1100"/>
              </a:lnSpc>
              <a:buNone/>
            </a:pPr>
            <a:r>
              <a:rPr lang="en-US" sz="650" b="1">
                <a:solidFill>
                  <a:srgbClr val="76B900"/>
                </a:solidFill>
                <a:latin typeface="Consolas" pitchFamily="34" charset="0"/>
              </a:rPr>
              <a:t>TIP</a:t>
            </a:r>
            <a:r>
              <a:rPr lang="en-US" sz="650">
                <a:solidFill>
                  <a:srgbClr val="8B9CB6"/>
                </a:solidFill>
                <a:latin typeface="Calibri" pitchFamily="34" charset="0"/>
              </a:rPr>
              <a:t>  —  Ollama auto-selects Q4_K_M by default. To choose a different quant:  </a:t>
            </a:r>
            <a:r>
              <a:rPr lang="en-US" sz="650">
                <a:solidFill>
                  <a:srgbClr val="76B900"/>
                </a:solidFill>
                <a:latin typeface="Consolas" pitchFamily="34" charset="0"/>
              </a:rPr>
              <a:t>ollama pull llama3.3:8b-q8_0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4">
    <p:bg>
      <p:bgPr>
        <a:solidFill>
          <a:srgbClr val="0A0F1A"/>
        </a:solidFill>
        <a:effectLst/>
      </p:bgPr>
    </p:bg>
    <p:spTree>
      <p:nvGrpSpPr>
        <p:cNvPr id="1" name=""/>
        <p:cNvGrpSpPr/>
        <p:nvPr/>
      </p:nvGrpSpPr>
      <p:grpSpPr>
        <a:xfrm>
          <a:off x="0" y="0"/>
          <a:ext cx="0" cy="0"/>
          <a:chOff x="0" y="0"/>
          <a:chExt cx="0" cy="0"/>
        </a:xfrm>
      </p:grpSpPr>
      <p:sp>
        <p:nvSpPr>
          <p:cNvPr id="2" name="BgGrad"/>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dirty="0"/>
          </a:p>
        </p:txBody>
      </p:sp>
      <p:sp>
        <p:nvSpPr>
          <p:cNvPr id="3" name="Title"/>
          <p:cNvSpPr/>
          <p:nvPr/>
        </p:nvSpPr>
        <p:spPr>
          <a:xfrm>
            <a:off x="169164" y="260000"/>
            <a:ext cx="8805672" cy="340000"/>
          </a:xfrm>
          <a:prstGeom prst="rect">
            <a:avLst/>
          </a:prstGeom>
          <a:noFill/>
          <a:ln/>
        </p:spPr>
        <p:txBody>
          <a:bodyPr wrap="none" lIns="0" tIns="0" rIns="0" bIns="0" rtlCol="0" anchor="t"/>
          <a:lstStyle/>
          <a:p>
            <a:pPr marL="0" indent="0" algn="ctr">
              <a:lnSpc>
                <a:spcPts val="2800"/>
              </a:lnSpc>
              <a:buNone/>
            </a:pPr>
            <a:r>
              <a:rPr lang="en-US" sz="2030" b="1" kern="0" spc="-30">
                <a:solidFill>
                  <a:srgbClr val="E2E8F0"/>
                </a:solidFill>
                <a:latin typeface="Consolas" pitchFamily="34" charset="0"/>
                <a:ea typeface="Consolas" pitchFamily="34" charset="-122"/>
                <a:cs typeface="Consolas" pitchFamily="34" charset="-120"/>
              </a:rPr>
              <a:t>Recommended Models </a:t>
            </a:r>
            <a:r>
              <a:rPr lang="en-US" sz="2030" b="1" kern="0" spc="-30">
                <a:solidFill>
                  <a:srgbClr val="76B900"/>
                </a:solidFill>
                <a:latin typeface="Consolas" pitchFamily="34" charset="0"/>
                <a:ea typeface="Consolas" pitchFamily="34" charset="-122"/>
                <a:cs typeface="Consolas" pitchFamily="34" charset="-120"/>
              </a:rPr>
              <a:t>by Hardware</a:t>
            </a:r>
          </a:p>
        </p:txBody>
      </p:sp>
      <p:sp>
        <p:nvSpPr>
          <p:cNvPr id="4" name="Subtitle"/>
          <p:cNvSpPr/>
          <p:nvPr/>
        </p:nvSpPr>
        <p:spPr>
          <a:xfrm>
            <a:off x="169164" y="650000"/>
            <a:ext cx="8805672" cy="200000"/>
          </a:xfrm>
          <a:prstGeom prst="rect">
            <a:avLst/>
          </a:prstGeom>
          <a:noFill/>
          <a:ln/>
        </p:spPr>
        <p:txBody>
          <a:bodyPr wrap="none" lIns="0" tIns="0" rIns="0" bIns="0" rtlCol="0" anchor="t"/>
          <a:lstStyle/>
          <a:p>
            <a:pPr marL="0" indent="0" algn="ctr">
              <a:lnSpc>
                <a:spcPts val="1350"/>
              </a:lnSpc>
              <a:buNone/>
            </a:pPr>
            <a:r>
              <a:rPr lang="en-US" sz="900">
                <a:solidFill>
                  <a:srgbClr val="8B9CB6"/>
                </a:solidFill>
                <a:latin typeface="Calibri" pitchFamily="34" charset="0"/>
              </a:rPr>
              <a:t>Pick the best Ollama model for your available RAM — from lightweight testing to near-frontier quality</a:t>
            </a:r>
          </a:p>
        </p:txBody>
      </p:sp>
      <p:sp>
        <p:nvSpPr>
          <p:cNvPr id="5" name="AccentBar1"/>
          <p:cNvSpPr/>
          <p:nvPr/>
        </p:nvSpPr>
        <p:spPr>
          <a:xfrm>
            <a:off x="440000" y="940000"/>
            <a:ext cx="1970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dirty="0"/>
          </a:p>
        </p:txBody>
      </p:sp>
      <p:sp>
        <p:nvSpPr>
          <p:cNvPr id="6" name="AccentBar2"/>
          <p:cNvSpPr/>
          <p:nvPr/>
        </p:nvSpPr>
        <p:spPr>
          <a:xfrm>
            <a:off x="2538000" y="940000"/>
            <a:ext cx="1970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dirty="0"/>
          </a:p>
        </p:txBody>
      </p:sp>
      <p:sp>
        <p:nvSpPr>
          <p:cNvPr id="7" name="AccentBar3"/>
          <p:cNvSpPr/>
          <p:nvPr/>
        </p:nvSpPr>
        <p:spPr>
          <a:xfrm>
            <a:off x="4636000" y="940000"/>
            <a:ext cx="1970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dirty="0"/>
          </a:p>
        </p:txBody>
      </p:sp>
      <p:sp>
        <p:nvSpPr>
          <p:cNvPr id="8" name="AccentBar4"/>
          <p:cNvSpPr/>
          <p:nvPr/>
        </p:nvSpPr>
        <p:spPr>
          <a:xfrm>
            <a:off x="6734000" y="940000"/>
            <a:ext cx="1970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10" name="Card1Bg"/>
          <p:cNvSpPr/>
          <p:nvPr/>
        </p:nvSpPr>
        <p:spPr>
          <a:xfrm>
            <a:off x="440000" y="980000"/>
            <a:ext cx="1970000" cy="2900000"/>
          </a:xfrm>
          <a:prstGeom prst="roundRect">
            <a:avLst>
              <a:gd name="adj" fmla="val 4000"/>
            </a:avLst>
          </a:prstGeom>
          <a:solidFill>
            <a:srgbClr val="131C2A"/>
          </a:solidFill>
          <a:ln w="9525">
            <a:solidFill>
              <a:srgbClr val="76B900">
                <a:alpha val="15000"/>
              </a:srgbClr>
            </a:solidFill>
          </a:ln>
        </p:spPr>
        <p:txBody>
          <a:bodyPr wrap="square" rtlCol="0" anchor="t"/>
          <a:lstStyle/>
          <a:p>
            <a:pPr marL="0" indent="0">
              <a:buNone/>
            </a:pPr>
            <a:endParaRPr lang="en-US" dirty="0"/>
          </a:p>
        </p:txBody>
      </p:sp>
      <p:sp>
        <p:nvSpPr>
          <p:cNvPr id="11" name="Card1Content"/>
          <p:cNvSpPr/>
          <p:nvPr/>
        </p:nvSpPr>
        <p:spPr>
          <a:xfrm>
            <a:off x="540000" y="1040000"/>
            <a:ext cx="1770000" cy="2770000"/>
          </a:xfrm>
          <a:prstGeom prst="rect">
            <a:avLst/>
          </a:prstGeom>
          <a:noFill/>
          <a:ln/>
        </p:spPr>
        <p:txBody>
          <a:bodyPr wrap="square" lIns="0" tIns="0" rIns="0" bIns="0" rtlCol="0" anchor="t"/>
          <a:lstStyle/>
          <a:p>
            <a:pPr marL="0" indent="0" algn="ctr">
              <a:lnSpc>
                <a:spcPts val="1100"/>
              </a:lnSpc>
              <a:buNone/>
            </a:pPr>
            <a:r>
              <a:rPr lang="en-US" sz="700" b="1" spc="120">
                <a:solidFill>
                  <a:srgbClr val="76B900"/>
                </a:solidFill>
                <a:latin typeface="Consolas" pitchFamily="34" charset="0"/>
              </a:rPr>
              <a:t>STARTER</a:t>
            </a:r>
          </a:p>
          <a:p>
            <a:pPr marL="0" indent="0" algn="ctr">
              <a:lnSpc>
                <a:spcPts val="2400"/>
              </a:lnSpc>
              <a:spcBef>
                <a:spcPts val="200"/>
              </a:spcBef>
              <a:buNone/>
            </a:pPr>
            <a:r>
              <a:rPr lang="en-US" sz="2200" b="1">
                <a:solidFill>
                  <a:srgbClr val="E2E8F0"/>
                </a:solidFill>
                <a:latin typeface="Consolas" pitchFamily="34" charset="0"/>
              </a:rPr>
              <a:t>8 GB</a:t>
            </a:r>
          </a:p>
          <a:p>
            <a:pPr marL="0" indent="0" algn="ctr">
              <a:lnSpc>
                <a:spcPts val="1500"/>
              </a:lnSpc>
              <a:spcBef>
                <a:spcPts val="100"/>
              </a:spcBef>
              <a:buNone/>
            </a:pPr>
            <a:r>
              <a:rPr lang="en-US" sz="1100" b="1">
                <a:solidFill>
                  <a:srgbClr val="76B900"/>
                </a:solidFill>
                <a:latin typeface="Consolas" pitchFamily="34" charset="0"/>
              </a:rPr>
              <a:t>Gemma 3 4B</a:t>
            </a:r>
          </a:p>
          <a:p>
            <a:pPr marL="0" indent="0" algn="ctr">
              <a:lnSpc>
                <a:spcPts val="1000"/>
              </a:lnSpc>
              <a:spcBef>
                <a:spcPts val="100"/>
              </a:spcBef>
              <a:buNone/>
            </a:pPr>
            <a:r>
              <a:rPr lang="en-US" sz="650">
                <a:solidFill>
                  <a:srgbClr val="8B9CB6"/>
                </a:solidFill>
                <a:latin typeface="Calibri" pitchFamily="34" charset="0"/>
              </a:rPr>
              <a:t>2.8 GB download  •  4B params</a:t>
            </a:r>
          </a:p>
          <a:p>
            <a:pPr marL="0" indent="0" algn="ctr">
              <a:lnSpc>
                <a:spcPts val="1100"/>
              </a:lnSpc>
              <a:spcBef>
                <a:spcPts val="300"/>
              </a:spcBef>
              <a:buNone/>
            </a:pPr>
            <a:r>
              <a:rPr lang="en-US" sz="650">
                <a:solidFill>
                  <a:srgbClr val="76B900"/>
                </a:solidFill>
                <a:latin typeface="Consolas" pitchFamily="34" charset="0"/>
              </a:rPr>
              <a:t>ollama pull gemma3:4b</a:t>
            </a:r>
          </a:p>
          <a:p>
            <a:pPr marL="0" indent="0" algn="ctr">
              <a:lnSpc>
                <a:spcPts val="600"/>
              </a:lnSpc>
              <a:spcBef>
                <a:spcPts val="200"/>
              </a:spcBef>
              <a:buNone/>
            </a:pPr>
            <a:r>
              <a:rPr lang="en-US" sz="500">
                <a:solidFill>
                  <a:srgbClr val="76B900">
                    <a:alpha val="30000"/>
                  </a:srgbClr>
                </a:solidFill>
                <a:latin typeface="Calibri" pitchFamily="34" charset="0"/>
              </a:rPr>
              <a:t>──────────────────────</a:t>
            </a:r>
          </a:p>
          <a:p>
            <a:pPr marL="0" indent="0" algn="l">
              <a:lnSpc>
                <a:spcPts val="1000"/>
              </a:lnSpc>
              <a:spcBef>
                <a:spcPts val="200"/>
              </a:spcBef>
              <a:buNone/>
            </a:pPr>
            <a:r>
              <a:rPr lang="en-US" sz="650" b="1">
                <a:solidFill>
                  <a:srgbClr val="E2E8F0"/>
                </a:solidFill>
                <a:latin typeface="Calibri" pitchFamily="34" charset="0"/>
              </a:rPr>
              <a:t>Why this model:</a:t>
            </a:r>
          </a:p>
          <a:p>
            <a:pPr marL="0" indent="0" algn="l">
              <a:lnSpc>
                <a:spcPts val="1000"/>
              </a:lnSpc>
              <a:spcBef>
                <a:spcPts val="100"/>
              </a:spcBef>
              <a:buNone/>
            </a:pPr>
            <a:r>
              <a:rPr lang="en-US" sz="620">
                <a:solidFill>
                  <a:srgbClr val="76B900"/>
                </a:solidFill>
                <a:latin typeface="Consolas" pitchFamily="34" charset="0"/>
              </a:rPr>
              <a:t>▸ </a:t>
            </a:r>
            <a:r>
              <a:rPr lang="en-US" sz="620">
                <a:solidFill>
                  <a:srgbClr val="8B9CB6"/>
                </a:solidFill>
                <a:latin typeface="Calibri" pitchFamily="34" charset="0"/>
              </a:rPr>
              <a:t>Runs on almost any hardware including laptops and Raspberry Pi</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Built-in vision — understands images natively</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40–60 tok/s on GPU, near-instant feel</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Quality close to 8B general models at half the size</a:t>
            </a:r>
          </a:p>
          <a:p>
            <a:pPr marL="0" indent="0" algn="l">
              <a:lnSpc>
                <a:spcPts val="1000"/>
              </a:lnSpc>
              <a:spcBef>
                <a:spcPts val="250"/>
              </a:spcBef>
              <a:buNone/>
            </a:pPr>
            <a:r>
              <a:rPr lang="en-US" sz="600" b="1">
                <a:solidFill>
                  <a:srgbClr val="76B900"/>
                </a:solidFill>
                <a:latin typeface="Calibri" pitchFamily="34" charset="0"/>
              </a:rPr>
              <a:t>Best for: </a:t>
            </a:r>
            <a:r>
              <a:rPr lang="en-US" sz="600">
                <a:solidFill>
                  <a:srgbClr val="8B9CB6"/>
                </a:solidFill>
                <a:latin typeface="Calibri" pitchFamily="34" charset="0"/>
              </a:rPr>
              <a:t>Quick testing, edge devices, constrained hardware</a:t>
            </a:r>
          </a:p>
        </p:txBody>
      </p:sp>
      <p:sp>
        <p:nvSpPr>
          <p:cNvPr id="20" name="Card2Bg"/>
          <p:cNvSpPr/>
          <p:nvPr/>
        </p:nvSpPr>
        <p:spPr>
          <a:xfrm>
            <a:off x="2538000" y="980000"/>
            <a:ext cx="1970000" cy="2900000"/>
          </a:xfrm>
          <a:prstGeom prst="roundRect">
            <a:avLst>
              <a:gd name="adj" fmla="val 4000"/>
            </a:avLst>
          </a:prstGeom>
          <a:solidFill>
            <a:srgbClr val="131C2A"/>
          </a:solidFill>
          <a:ln w="9525">
            <a:solidFill>
              <a:srgbClr val="76B900">
                <a:alpha val="15000"/>
              </a:srgbClr>
            </a:solidFill>
          </a:ln>
        </p:spPr>
        <p:txBody>
          <a:bodyPr wrap="square" rtlCol="0" anchor="t"/>
          <a:lstStyle/>
          <a:p>
            <a:pPr marL="0" indent="0">
              <a:buNone/>
            </a:pPr>
            <a:endParaRPr lang="en-US" dirty="0"/>
          </a:p>
        </p:txBody>
      </p:sp>
      <p:sp>
        <p:nvSpPr>
          <p:cNvPr id="21" name="Card2Content"/>
          <p:cNvSpPr/>
          <p:nvPr/>
        </p:nvSpPr>
        <p:spPr>
          <a:xfrm>
            <a:off x="2638000" y="1040000"/>
            <a:ext cx="1770000" cy="2770000"/>
          </a:xfrm>
          <a:prstGeom prst="rect">
            <a:avLst/>
          </a:prstGeom>
          <a:noFill/>
          <a:ln/>
        </p:spPr>
        <p:txBody>
          <a:bodyPr wrap="square" lIns="0" tIns="0" rIns="0" bIns="0" rtlCol="0" anchor="t"/>
          <a:lstStyle/>
          <a:p>
            <a:pPr marL="0" indent="0" algn="ctr">
              <a:lnSpc>
                <a:spcPts val="1100"/>
              </a:lnSpc>
              <a:buNone/>
            </a:pPr>
            <a:r>
              <a:rPr lang="en-US" sz="700" b="1" spc="120">
                <a:solidFill>
                  <a:srgbClr val="76B900"/>
                </a:solidFill>
                <a:latin typeface="Consolas" pitchFamily="34" charset="0"/>
              </a:rPr>
              <a:t>SWEET SPOT</a:t>
            </a:r>
          </a:p>
          <a:p>
            <a:pPr marL="0" indent="0" algn="ctr">
              <a:lnSpc>
                <a:spcPts val="2400"/>
              </a:lnSpc>
              <a:spcBef>
                <a:spcPts val="200"/>
              </a:spcBef>
              <a:buNone/>
            </a:pPr>
            <a:r>
              <a:rPr lang="en-US" sz="2200" b="1">
                <a:solidFill>
                  <a:srgbClr val="E2E8F0"/>
                </a:solidFill>
                <a:latin typeface="Consolas" pitchFamily="34" charset="0"/>
              </a:rPr>
              <a:t>16 GB</a:t>
            </a:r>
          </a:p>
          <a:p>
            <a:pPr marL="0" indent="0" algn="ctr">
              <a:lnSpc>
                <a:spcPts val="1500"/>
              </a:lnSpc>
              <a:spcBef>
                <a:spcPts val="100"/>
              </a:spcBef>
              <a:buNone/>
            </a:pPr>
            <a:r>
              <a:rPr lang="en-US" sz="1100" b="1">
                <a:solidFill>
                  <a:srgbClr val="76B900"/>
                </a:solidFill>
                <a:latin typeface="Consolas" pitchFamily="34" charset="0"/>
              </a:rPr>
              <a:t>Llama 3.3 8B</a:t>
            </a:r>
          </a:p>
          <a:p>
            <a:pPr marL="0" indent="0" algn="ctr">
              <a:lnSpc>
                <a:spcPts val="1000"/>
              </a:lnSpc>
              <a:spcBef>
                <a:spcPts val="100"/>
              </a:spcBef>
              <a:buNone/>
            </a:pPr>
            <a:r>
              <a:rPr lang="en-US" sz="650">
                <a:solidFill>
                  <a:srgbClr val="8B9CB6"/>
                </a:solidFill>
                <a:latin typeface="Calibri" pitchFamily="34" charset="0"/>
              </a:rPr>
              <a:t>4.7 GB download  •  8B params</a:t>
            </a:r>
          </a:p>
          <a:p>
            <a:pPr marL="0" indent="0" algn="ctr">
              <a:lnSpc>
                <a:spcPts val="1100"/>
              </a:lnSpc>
              <a:spcBef>
                <a:spcPts val="300"/>
              </a:spcBef>
              <a:buNone/>
            </a:pPr>
            <a:r>
              <a:rPr lang="en-US" sz="650">
                <a:solidFill>
                  <a:srgbClr val="76B900"/>
                </a:solidFill>
                <a:latin typeface="Consolas" pitchFamily="34" charset="0"/>
              </a:rPr>
              <a:t>ollama pull llama3.3</a:t>
            </a:r>
          </a:p>
          <a:p>
            <a:pPr marL="0" indent="0" algn="ctr">
              <a:lnSpc>
                <a:spcPts val="600"/>
              </a:lnSpc>
              <a:spcBef>
                <a:spcPts val="200"/>
              </a:spcBef>
              <a:buNone/>
            </a:pPr>
            <a:r>
              <a:rPr lang="en-US" sz="500">
                <a:solidFill>
                  <a:srgbClr val="76B900">
                    <a:alpha val="30000"/>
                  </a:srgbClr>
                </a:solidFill>
                <a:latin typeface="Calibri" pitchFamily="34" charset="0"/>
              </a:rPr>
              <a:t>──────────────────────</a:t>
            </a:r>
          </a:p>
          <a:p>
            <a:pPr marL="0" indent="0" algn="l">
              <a:lnSpc>
                <a:spcPts val="1000"/>
              </a:lnSpc>
              <a:spcBef>
                <a:spcPts val="200"/>
              </a:spcBef>
              <a:buNone/>
            </a:pPr>
            <a:r>
              <a:rPr lang="en-US" sz="650" b="1">
                <a:solidFill>
                  <a:srgbClr val="E2E8F0"/>
                </a:solidFill>
                <a:latin typeface="Calibri" pitchFamily="34" charset="0"/>
              </a:rPr>
              <a:t>Why this model:</a:t>
            </a:r>
          </a:p>
          <a:p>
            <a:pPr marL="0" indent="0" algn="l">
              <a:lnSpc>
                <a:spcPts val="1000"/>
              </a:lnSpc>
              <a:spcBef>
                <a:spcPts val="100"/>
              </a:spcBef>
              <a:buNone/>
            </a:pPr>
            <a:r>
              <a:rPr lang="en-US" sz="620">
                <a:solidFill>
                  <a:srgbClr val="76B900"/>
                </a:solidFill>
                <a:latin typeface="Consolas" pitchFamily="34" charset="0"/>
              </a:rPr>
              <a:t>▸ </a:t>
            </a:r>
            <a:r>
              <a:rPr lang="en-US" sz="620">
                <a:solidFill>
                  <a:srgbClr val="8B9CB6"/>
                </a:solidFill>
                <a:latin typeface="Calibri" pitchFamily="34" charset="0"/>
              </a:rPr>
              <a:t>111M+ downloads — most popular model on Ollama</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128K context window for long documents and code</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Strong at chat, coding, analysis, and summarization</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Reliable instruction following across every task type</a:t>
            </a:r>
          </a:p>
          <a:p>
            <a:pPr marL="0" indent="0" algn="l">
              <a:lnSpc>
                <a:spcPts val="1000"/>
              </a:lnSpc>
              <a:spcBef>
                <a:spcPts val="250"/>
              </a:spcBef>
              <a:buNone/>
            </a:pPr>
            <a:r>
              <a:rPr lang="en-US" sz="600" b="1">
                <a:solidFill>
                  <a:srgbClr val="76B900"/>
                </a:solidFill>
                <a:latin typeface="Calibri" pitchFamily="34" charset="0"/>
              </a:rPr>
              <a:t>Best for: </a:t>
            </a:r>
            <a:r>
              <a:rPr lang="en-US" sz="600">
                <a:solidFill>
                  <a:srgbClr val="8B9CB6"/>
                </a:solidFill>
                <a:latin typeface="Calibri" pitchFamily="34" charset="0"/>
              </a:rPr>
              <a:t>Daily driver, general purpose, AI assistants</a:t>
            </a:r>
          </a:p>
        </p:txBody>
      </p:sp>
      <p:sp>
        <p:nvSpPr>
          <p:cNvPr id="30" name="Card3Bg"/>
          <p:cNvSpPr/>
          <p:nvPr/>
        </p:nvSpPr>
        <p:spPr>
          <a:xfrm>
            <a:off x="4636000" y="980000"/>
            <a:ext cx="1970000" cy="2900000"/>
          </a:xfrm>
          <a:prstGeom prst="roundRect">
            <a:avLst>
              <a:gd name="adj" fmla="val 4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31" name="Card3Content"/>
          <p:cNvSpPr/>
          <p:nvPr/>
        </p:nvSpPr>
        <p:spPr>
          <a:xfrm>
            <a:off x="4736000" y="1040000"/>
            <a:ext cx="1770000" cy="2770000"/>
          </a:xfrm>
          <a:prstGeom prst="rect">
            <a:avLst/>
          </a:prstGeom>
          <a:noFill/>
          <a:ln/>
        </p:spPr>
        <p:txBody>
          <a:bodyPr wrap="square" lIns="0" tIns="0" rIns="0" bIns="0" rtlCol="0" anchor="t"/>
          <a:lstStyle/>
          <a:p>
            <a:pPr marL="0" indent="0" algn="ctr">
              <a:lnSpc>
                <a:spcPts val="1100"/>
              </a:lnSpc>
              <a:buNone/>
            </a:pPr>
            <a:r>
              <a:rPr lang="en-US" sz="700" b="1" spc="120">
                <a:solidFill>
                  <a:srgbClr val="76B900"/>
                </a:solidFill>
                <a:latin typeface="Consolas" pitchFamily="34" charset="0"/>
              </a:rPr>
              <a:t>POWERHOUSE</a:t>
            </a:r>
          </a:p>
          <a:p>
            <a:pPr marL="0" indent="0" algn="ctr">
              <a:lnSpc>
                <a:spcPts val="2400"/>
              </a:lnSpc>
              <a:spcBef>
                <a:spcPts val="200"/>
              </a:spcBef>
              <a:buNone/>
            </a:pPr>
            <a:r>
              <a:rPr lang="en-US" sz="2200" b="1">
                <a:solidFill>
                  <a:srgbClr val="E2E8F0"/>
                </a:solidFill>
                <a:latin typeface="Consolas" pitchFamily="34" charset="0"/>
              </a:rPr>
              <a:t>32 GB</a:t>
            </a:r>
          </a:p>
          <a:p>
            <a:pPr marL="0" indent="0" algn="ctr">
              <a:lnSpc>
                <a:spcPts val="1500"/>
              </a:lnSpc>
              <a:spcBef>
                <a:spcPts val="100"/>
              </a:spcBef>
              <a:buNone/>
            </a:pPr>
            <a:r>
              <a:rPr lang="en-US" sz="1000" b="1">
                <a:solidFill>
                  <a:srgbClr val="76B900"/>
                </a:solidFill>
                <a:latin typeface="Consolas" pitchFamily="34" charset="0"/>
              </a:rPr>
              <a:t>DeepSeek R1 32B</a:t>
            </a:r>
          </a:p>
          <a:p>
            <a:pPr marL="0" indent="0" algn="ctr">
              <a:lnSpc>
                <a:spcPts val="1000"/>
              </a:lnSpc>
              <a:spcBef>
                <a:spcPts val="100"/>
              </a:spcBef>
              <a:buNone/>
            </a:pPr>
            <a:r>
              <a:rPr lang="en-US" sz="650">
                <a:solidFill>
                  <a:srgbClr val="8B9CB6"/>
                </a:solidFill>
                <a:latin typeface="Calibri" pitchFamily="34" charset="0"/>
              </a:rPr>
              <a:t>20 GB download  •  32B params</a:t>
            </a:r>
          </a:p>
          <a:p>
            <a:pPr marL="0" indent="0" algn="ctr">
              <a:lnSpc>
                <a:spcPts val="1100"/>
              </a:lnSpc>
              <a:spcBef>
                <a:spcPts val="300"/>
              </a:spcBef>
              <a:buNone/>
            </a:pPr>
            <a:r>
              <a:rPr lang="en-US" sz="650">
                <a:solidFill>
                  <a:srgbClr val="76B900"/>
                </a:solidFill>
                <a:latin typeface="Consolas" pitchFamily="34" charset="0"/>
              </a:rPr>
              <a:t>ollama pull deepseek-r1:32b</a:t>
            </a:r>
          </a:p>
          <a:p>
            <a:pPr marL="0" indent="0" algn="ctr">
              <a:lnSpc>
                <a:spcPts val="600"/>
              </a:lnSpc>
              <a:spcBef>
                <a:spcPts val="200"/>
              </a:spcBef>
              <a:buNone/>
            </a:pPr>
            <a:r>
              <a:rPr lang="en-US" sz="500">
                <a:solidFill>
                  <a:srgbClr val="76B900">
                    <a:alpha val="30000"/>
                  </a:srgbClr>
                </a:solidFill>
                <a:latin typeface="Calibri" pitchFamily="34" charset="0"/>
              </a:rPr>
              <a:t>──────────────────────</a:t>
            </a:r>
          </a:p>
          <a:p>
            <a:pPr marL="0" indent="0" algn="l">
              <a:lnSpc>
                <a:spcPts val="1000"/>
              </a:lnSpc>
              <a:spcBef>
                <a:spcPts val="200"/>
              </a:spcBef>
              <a:buNone/>
            </a:pPr>
            <a:r>
              <a:rPr lang="en-US" sz="650" b="1">
                <a:solidFill>
                  <a:srgbClr val="E2E8F0"/>
                </a:solidFill>
                <a:latin typeface="Calibri" pitchFamily="34" charset="0"/>
              </a:rPr>
              <a:t>Why this model:</a:t>
            </a:r>
          </a:p>
          <a:p>
            <a:pPr marL="0" indent="0" algn="l">
              <a:lnSpc>
                <a:spcPts val="1000"/>
              </a:lnSpc>
              <a:spcBef>
                <a:spcPts val="100"/>
              </a:spcBef>
              <a:buNone/>
            </a:pPr>
            <a:r>
              <a:rPr lang="en-US" sz="620">
                <a:solidFill>
                  <a:srgbClr val="76B900"/>
                </a:solidFill>
                <a:latin typeface="Consolas" pitchFamily="34" charset="0"/>
              </a:rPr>
              <a:t>▸ </a:t>
            </a:r>
            <a:r>
              <a:rPr lang="en-US" sz="620">
                <a:solidFill>
                  <a:srgbClr val="8B9CB6"/>
                </a:solidFill>
                <a:latin typeface="Calibri" pitchFamily="34" charset="0"/>
              </a:rPr>
              <a:t>Chain-of-thought reasoning — thinks step by step like o1</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79.8% MATH-500, rivaling top proprietary models</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79M downloads — 2nd most popular on Ollama</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Excels at debugging, logic puzzles, and complex code</a:t>
            </a:r>
          </a:p>
          <a:p>
            <a:pPr marL="0" indent="0" algn="l">
              <a:lnSpc>
                <a:spcPts val="1000"/>
              </a:lnSpc>
              <a:spcBef>
                <a:spcPts val="250"/>
              </a:spcBef>
              <a:buNone/>
            </a:pPr>
            <a:r>
              <a:rPr lang="en-US" sz="600" b="1">
                <a:solidFill>
                  <a:srgbClr val="76B900"/>
                </a:solidFill>
                <a:latin typeface="Calibri" pitchFamily="34" charset="0"/>
              </a:rPr>
              <a:t>Best for: </a:t>
            </a:r>
            <a:r>
              <a:rPr lang="en-US" sz="600">
                <a:solidFill>
                  <a:srgbClr val="8B9CB6"/>
                </a:solidFill>
                <a:latin typeface="Calibri" pitchFamily="34" charset="0"/>
              </a:rPr>
              <a:t>Math, reasoning, code review, complex analysis</a:t>
            </a:r>
          </a:p>
        </p:txBody>
      </p:sp>
      <p:sp>
        <p:nvSpPr>
          <p:cNvPr id="40" name="Card4Bg"/>
          <p:cNvSpPr/>
          <p:nvPr/>
        </p:nvSpPr>
        <p:spPr>
          <a:xfrm>
            <a:off x="6734000" y="980000"/>
            <a:ext cx="1970000" cy="2900000"/>
          </a:xfrm>
          <a:prstGeom prst="roundRect">
            <a:avLst>
              <a:gd name="adj" fmla="val 4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41" name="Card4Content"/>
          <p:cNvSpPr/>
          <p:nvPr/>
        </p:nvSpPr>
        <p:spPr>
          <a:xfrm>
            <a:off x="6834000" y="1040000"/>
            <a:ext cx="1770000" cy="2770000"/>
          </a:xfrm>
          <a:prstGeom prst="rect">
            <a:avLst/>
          </a:prstGeom>
          <a:noFill/>
          <a:ln/>
        </p:spPr>
        <p:txBody>
          <a:bodyPr wrap="square" lIns="0" tIns="0" rIns="0" bIns="0" rtlCol="0" anchor="t"/>
          <a:lstStyle/>
          <a:p>
            <a:pPr marL="0" indent="0" algn="ctr">
              <a:lnSpc>
                <a:spcPts val="1100"/>
              </a:lnSpc>
              <a:buNone/>
            </a:pPr>
            <a:r>
              <a:rPr lang="en-US" sz="700" b="1" spc="120">
                <a:solidFill>
                  <a:srgbClr val="76B900"/>
                </a:solidFill>
                <a:latin typeface="Consolas" pitchFamily="34" charset="0"/>
              </a:rPr>
              <a:t>FRONTIER</a:t>
            </a:r>
          </a:p>
          <a:p>
            <a:pPr marL="0" indent="0" algn="ctr">
              <a:lnSpc>
                <a:spcPts val="2400"/>
              </a:lnSpc>
              <a:spcBef>
                <a:spcPts val="200"/>
              </a:spcBef>
              <a:buNone/>
            </a:pPr>
            <a:r>
              <a:rPr lang="en-US" sz="2200" b="1">
                <a:solidFill>
                  <a:srgbClr val="E2E8F0"/>
                </a:solidFill>
                <a:latin typeface="Consolas" pitchFamily="34" charset="0"/>
              </a:rPr>
              <a:t>64 GB</a:t>
            </a:r>
          </a:p>
          <a:p>
            <a:pPr marL="0" indent="0" algn="ctr">
              <a:lnSpc>
                <a:spcPts val="1500"/>
              </a:lnSpc>
              <a:spcBef>
                <a:spcPts val="100"/>
              </a:spcBef>
              <a:buNone/>
            </a:pPr>
            <a:r>
              <a:rPr lang="en-US" sz="1000" b="1">
                <a:solidFill>
                  <a:srgbClr val="76B900"/>
                </a:solidFill>
                <a:latin typeface="Consolas" pitchFamily="34" charset="0"/>
              </a:rPr>
              <a:t>Llama 3.3 70B</a:t>
            </a:r>
          </a:p>
          <a:p>
            <a:pPr marL="0" indent="0" algn="ctr">
              <a:lnSpc>
                <a:spcPts val="1000"/>
              </a:lnSpc>
              <a:spcBef>
                <a:spcPts val="100"/>
              </a:spcBef>
              <a:buNone/>
            </a:pPr>
            <a:r>
              <a:rPr lang="en-US" sz="650">
                <a:solidFill>
                  <a:srgbClr val="8B9CB6"/>
                </a:solidFill>
                <a:latin typeface="Calibri" pitchFamily="34" charset="0"/>
              </a:rPr>
              <a:t>40 GB download  •  70B params</a:t>
            </a:r>
          </a:p>
          <a:p>
            <a:pPr marL="0" indent="0" algn="ctr">
              <a:lnSpc>
                <a:spcPts val="1100"/>
              </a:lnSpc>
              <a:spcBef>
                <a:spcPts val="300"/>
              </a:spcBef>
              <a:buNone/>
            </a:pPr>
            <a:r>
              <a:rPr lang="en-US" sz="650">
                <a:solidFill>
                  <a:srgbClr val="76B900"/>
                </a:solidFill>
                <a:latin typeface="Consolas" pitchFamily="34" charset="0"/>
              </a:rPr>
              <a:t>ollama pull llama3.3:70b</a:t>
            </a:r>
          </a:p>
          <a:p>
            <a:pPr marL="0" indent="0" algn="ctr">
              <a:lnSpc>
                <a:spcPts val="600"/>
              </a:lnSpc>
              <a:spcBef>
                <a:spcPts val="200"/>
              </a:spcBef>
              <a:buNone/>
            </a:pPr>
            <a:r>
              <a:rPr lang="en-US" sz="500">
                <a:solidFill>
                  <a:srgbClr val="76B900">
                    <a:alpha val="30000"/>
                  </a:srgbClr>
                </a:solidFill>
                <a:latin typeface="Calibri" pitchFamily="34" charset="0"/>
              </a:rPr>
              <a:t>──────────────────────</a:t>
            </a:r>
          </a:p>
          <a:p>
            <a:pPr marL="0" indent="0" algn="l">
              <a:lnSpc>
                <a:spcPts val="1000"/>
              </a:lnSpc>
              <a:spcBef>
                <a:spcPts val="200"/>
              </a:spcBef>
              <a:buNone/>
            </a:pPr>
            <a:r>
              <a:rPr lang="en-US" sz="650" b="1">
                <a:solidFill>
                  <a:srgbClr val="E2E8F0"/>
                </a:solidFill>
                <a:latin typeface="Calibri" pitchFamily="34" charset="0"/>
              </a:rPr>
              <a:t>Why this model:</a:t>
            </a:r>
          </a:p>
          <a:p>
            <a:pPr marL="0" indent="0" algn="l">
              <a:lnSpc>
                <a:spcPts val="1000"/>
              </a:lnSpc>
              <a:spcBef>
                <a:spcPts val="100"/>
              </a:spcBef>
              <a:buNone/>
            </a:pPr>
            <a:r>
              <a:rPr lang="en-US" sz="620">
                <a:solidFill>
                  <a:srgbClr val="76B900"/>
                </a:solidFill>
                <a:latin typeface="Consolas" pitchFamily="34" charset="0"/>
              </a:rPr>
              <a:t>▸ </a:t>
            </a:r>
            <a:r>
              <a:rPr lang="en-US" sz="620">
                <a:solidFill>
                  <a:srgbClr val="8B9CB6"/>
                </a:solidFill>
                <a:latin typeface="Calibri" pitchFamily="34" charset="0"/>
              </a:rPr>
              <a:t>Near-GPT-4o quality — 86.9 MMLU, 85% HumanEval</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Best open model for complex reasoning and document analysis</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Clinical instruction following — does exactly what you ask</a:t>
            </a:r>
          </a:p>
          <a:p>
            <a:pPr marL="0" indent="0" algn="l">
              <a:lnSpc>
                <a:spcPts val="1000"/>
              </a:lnSpc>
              <a:spcBef>
                <a:spcPts val="80"/>
              </a:spcBef>
              <a:buNone/>
            </a:pPr>
            <a:r>
              <a:rPr lang="en-US" sz="620">
                <a:solidFill>
                  <a:srgbClr val="76B900"/>
                </a:solidFill>
                <a:latin typeface="Consolas" pitchFamily="34" charset="0"/>
              </a:rPr>
              <a:t>▸ </a:t>
            </a:r>
            <a:r>
              <a:rPr lang="en-US" sz="620">
                <a:solidFill>
                  <a:srgbClr val="8B9CB6"/>
                </a:solidFill>
                <a:latin typeface="Calibri" pitchFamily="34" charset="0"/>
              </a:rPr>
              <a:t>Use Q4_K_M quantization — saves 50% RAM, invisible quality loss</a:t>
            </a:r>
          </a:p>
          <a:p>
            <a:pPr marL="0" indent="0" algn="l">
              <a:lnSpc>
                <a:spcPts val="1000"/>
              </a:lnSpc>
              <a:spcBef>
                <a:spcPts val="250"/>
              </a:spcBef>
              <a:buNone/>
            </a:pPr>
            <a:r>
              <a:rPr lang="en-US" sz="600" b="1">
                <a:solidFill>
                  <a:srgbClr val="76B900"/>
                </a:solidFill>
                <a:latin typeface="Calibri" pitchFamily="34" charset="0"/>
              </a:rPr>
              <a:t>Best for: </a:t>
            </a:r>
            <a:r>
              <a:rPr lang="en-US" sz="600">
                <a:solidFill>
                  <a:srgbClr val="8B9CB6"/>
                </a:solidFill>
                <a:latin typeface="Calibri" pitchFamily="34" charset="0"/>
              </a:rPr>
              <a:t>Production AI, sensitive docs, maximum local quality</a:t>
            </a:r>
          </a:p>
        </p:txBody>
      </p:sp>
      <p:sp>
        <p:nvSpPr>
          <p:cNvPr id="50" name="FooterTip"/>
          <p:cNvSpPr/>
          <p:nvPr/>
        </p:nvSpPr>
        <p:spPr>
          <a:xfrm>
            <a:off x="440000" y="4050000"/>
            <a:ext cx="8264000" cy="200000"/>
          </a:xfrm>
          <a:prstGeom prst="rect">
            <a:avLst/>
          </a:prstGeom>
          <a:noFill/>
          <a:ln/>
        </p:spPr>
        <p:txBody>
          <a:bodyPr wrap="square" lIns="0" tIns="0" rIns="0" bIns="0" rtlCol="0" anchor="t"/>
          <a:lstStyle/>
          <a:p>
            <a:pPr marL="0" indent="0" algn="ctr">
              <a:lnSpc>
                <a:spcPts val="1100"/>
              </a:lnSpc>
              <a:buNone/>
            </a:pPr>
            <a:r>
              <a:rPr lang="en-US" sz="650" b="1">
                <a:solidFill>
                  <a:srgbClr val="76B900"/>
                </a:solidFill>
                <a:latin typeface="Consolas" pitchFamily="34" charset="0"/>
              </a:rPr>
              <a:t>TIP</a:t>
            </a:r>
            <a:r>
              <a:rPr lang="en-US" sz="650">
                <a:solidFill>
                  <a:srgbClr val="8B9CB6"/>
                </a:solidFill>
                <a:latin typeface="Calibri" pitchFamily="34" charset="0"/>
              </a:rPr>
              <a:t>  —  Rule of thumb: model download size ≈ RAM needed. Always leave 2–3 GB free for OS overhead.  •  Rankings as of April 2026</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6000"/>
                </a:srgbClr>
              </a:gs>
              <a:gs pos="10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3" name="Text 1"/>
          <p:cNvSpPr/>
          <p:nvPr/>
        </p:nvSpPr>
        <p:spPr>
          <a:xfrm>
            <a:off x="409575" y="846981"/>
            <a:ext cx="2666552" cy="21580"/>
          </a:xfrm>
          <a:custGeom>
            <a:avLst/>
            <a:gdLst/>
            <a:ahLst/>
            <a:cxnLst/>
            <a:rect l="l" t="t" r="r" b="b"/>
            <a:pathLst>
              <a:path w="2666552" h="21580">
                <a:moveTo>
                  <a:pt x="114300" y="0"/>
                </a:moveTo>
                <a:lnTo>
                  <a:pt x="2552252" y="0"/>
                </a:lnTo>
                <a:lnTo>
                  <a:pt x="2576938" y="2698"/>
                </a:lnTo>
                <a:lnTo>
                  <a:pt x="2586954" y="5395"/>
                </a:lnTo>
                <a:lnTo>
                  <a:pt x="2594495" y="8093"/>
                </a:lnTo>
                <a:lnTo>
                  <a:pt x="2600731" y="10790"/>
                </a:lnTo>
                <a:lnTo>
                  <a:pt x="2606116" y="13488"/>
                </a:lnTo>
                <a:lnTo>
                  <a:pt x="2610886" y="16185"/>
                </a:lnTo>
                <a:lnTo>
                  <a:pt x="2615181" y="18883"/>
                </a:lnTo>
                <a:lnTo>
                  <a:pt x="2619092"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70000"/>
                </a:srgbClr>
              </a:gs>
              <a:gs pos="100000">
                <a:srgbClr val="000000">
                  <a:alpha val="0"/>
                </a:srgbClr>
              </a:gs>
            </a:gsLst>
            <a:lin ang="0" scaled="1"/>
          </a:gradFill>
          <a:ln/>
        </p:spPr>
        <p:txBody>
          <a:bodyPr wrap="none" rtlCol="0" anchor="t"/>
          <a:lstStyle/>
          <a:p>
            <a:pPr marL="0" indent="0">
              <a:buNone/>
            </a:pPr>
            <a:endParaRPr lang="en-US" dirty="0"/>
          </a:p>
        </p:txBody>
      </p:sp>
      <p:sp>
        <p:nvSpPr>
          <p:cNvPr id="4" name="Text 2"/>
          <p:cNvSpPr/>
          <p:nvPr/>
        </p:nvSpPr>
        <p:spPr>
          <a:xfrm>
            <a:off x="3238649" y="846981"/>
            <a:ext cx="2666552" cy="21580"/>
          </a:xfrm>
          <a:custGeom>
            <a:avLst/>
            <a:gdLst/>
            <a:ahLst/>
            <a:cxnLst/>
            <a:rect l="l" t="t" r="r" b="b"/>
            <a:pathLst>
              <a:path w="2666552" h="21580">
                <a:moveTo>
                  <a:pt x="114300" y="0"/>
                </a:moveTo>
                <a:lnTo>
                  <a:pt x="2552252" y="0"/>
                </a:lnTo>
                <a:lnTo>
                  <a:pt x="2576938" y="2698"/>
                </a:lnTo>
                <a:lnTo>
                  <a:pt x="2586954" y="5395"/>
                </a:lnTo>
                <a:lnTo>
                  <a:pt x="2594495" y="8093"/>
                </a:lnTo>
                <a:lnTo>
                  <a:pt x="2600731" y="10790"/>
                </a:lnTo>
                <a:lnTo>
                  <a:pt x="2606116" y="13488"/>
                </a:lnTo>
                <a:lnTo>
                  <a:pt x="2610886" y="16185"/>
                </a:lnTo>
                <a:lnTo>
                  <a:pt x="2615181" y="18883"/>
                </a:lnTo>
                <a:lnTo>
                  <a:pt x="2619092"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70000"/>
                </a:srgbClr>
              </a:gs>
              <a:gs pos="100000">
                <a:srgbClr val="000000">
                  <a:alpha val="0"/>
                </a:srgbClr>
              </a:gs>
            </a:gsLst>
            <a:lin ang="0" scaled="1"/>
          </a:gradFill>
          <a:ln/>
        </p:spPr>
        <p:txBody>
          <a:bodyPr wrap="none" rtlCol="0" anchor="t"/>
          <a:lstStyle/>
          <a:p>
            <a:pPr marL="0" indent="0">
              <a:buNone/>
            </a:pPr>
            <a:endParaRPr lang="en-US" dirty="0"/>
          </a:p>
        </p:txBody>
      </p:sp>
      <p:sp>
        <p:nvSpPr>
          <p:cNvPr id="5" name="Text 3"/>
          <p:cNvSpPr/>
          <p:nvPr/>
        </p:nvSpPr>
        <p:spPr>
          <a:xfrm>
            <a:off x="6067723" y="846981"/>
            <a:ext cx="2666705" cy="21580"/>
          </a:xfrm>
          <a:custGeom>
            <a:avLst/>
            <a:gdLst/>
            <a:ahLst/>
            <a:cxnLst/>
            <a:rect l="l" t="t" r="r" b="b"/>
            <a:pathLst>
              <a:path w="2666705" h="21580">
                <a:moveTo>
                  <a:pt x="114300" y="0"/>
                </a:moveTo>
                <a:lnTo>
                  <a:pt x="2552405" y="0"/>
                </a:lnTo>
                <a:lnTo>
                  <a:pt x="2577090" y="2698"/>
                </a:lnTo>
                <a:lnTo>
                  <a:pt x="2587106" y="5395"/>
                </a:lnTo>
                <a:lnTo>
                  <a:pt x="2594648" y="8093"/>
                </a:lnTo>
                <a:lnTo>
                  <a:pt x="2600883" y="10790"/>
                </a:lnTo>
                <a:lnTo>
                  <a:pt x="2606269" y="13488"/>
                </a:lnTo>
                <a:lnTo>
                  <a:pt x="2611039" y="16185"/>
                </a:lnTo>
                <a:lnTo>
                  <a:pt x="2615333" y="18883"/>
                </a:lnTo>
                <a:lnTo>
                  <a:pt x="2619244"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70000"/>
                </a:srgbClr>
              </a:gs>
              <a:gs pos="100000">
                <a:srgbClr val="000000">
                  <a:alpha val="0"/>
                </a:srgbClr>
              </a:gs>
            </a:gsLst>
            <a:lin ang="0" scaled="1"/>
          </a:gradFill>
          <a:ln/>
        </p:spPr>
        <p:txBody>
          <a:bodyPr wrap="none" rtlCol="0" anchor="t"/>
          <a:lstStyle/>
          <a:p>
            <a:pPr marL="0" indent="0">
              <a:buNone/>
            </a:pPr>
            <a:endParaRPr lang="en-US" dirty="0"/>
          </a:p>
        </p:txBody>
      </p:sp>
      <p:sp>
        <p:nvSpPr>
          <p:cNvPr id="6" name="Text 4"/>
          <p:cNvSpPr/>
          <p:nvPr/>
        </p:nvSpPr>
        <p:spPr>
          <a:xfrm>
            <a:off x="409575" y="2928789"/>
            <a:ext cx="2666552" cy="21580"/>
          </a:xfrm>
          <a:custGeom>
            <a:avLst/>
            <a:gdLst/>
            <a:ahLst/>
            <a:cxnLst/>
            <a:rect l="l" t="t" r="r" b="b"/>
            <a:pathLst>
              <a:path w="2666552" h="21580">
                <a:moveTo>
                  <a:pt x="114300" y="0"/>
                </a:moveTo>
                <a:lnTo>
                  <a:pt x="2552252" y="0"/>
                </a:lnTo>
                <a:lnTo>
                  <a:pt x="2576938" y="2698"/>
                </a:lnTo>
                <a:lnTo>
                  <a:pt x="2586954" y="5395"/>
                </a:lnTo>
                <a:lnTo>
                  <a:pt x="2594495" y="8093"/>
                </a:lnTo>
                <a:lnTo>
                  <a:pt x="2600731" y="10790"/>
                </a:lnTo>
                <a:lnTo>
                  <a:pt x="2606116" y="13488"/>
                </a:lnTo>
                <a:lnTo>
                  <a:pt x="2610886" y="16185"/>
                </a:lnTo>
                <a:lnTo>
                  <a:pt x="2615181" y="18883"/>
                </a:lnTo>
                <a:lnTo>
                  <a:pt x="2619092"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70000"/>
                </a:srgbClr>
              </a:gs>
              <a:gs pos="100000">
                <a:srgbClr val="000000">
                  <a:alpha val="0"/>
                </a:srgbClr>
              </a:gs>
            </a:gsLst>
            <a:lin ang="0" scaled="1"/>
          </a:gradFill>
          <a:ln/>
        </p:spPr>
        <p:txBody>
          <a:bodyPr wrap="none" rtlCol="0" anchor="t"/>
          <a:lstStyle/>
          <a:p>
            <a:pPr marL="0" indent="0">
              <a:buNone/>
            </a:pPr>
            <a:endParaRPr lang="en-US" dirty="0"/>
          </a:p>
        </p:txBody>
      </p:sp>
      <p:sp>
        <p:nvSpPr>
          <p:cNvPr id="7" name="Text 5"/>
          <p:cNvSpPr/>
          <p:nvPr/>
        </p:nvSpPr>
        <p:spPr>
          <a:xfrm>
            <a:off x="3238649" y="2928789"/>
            <a:ext cx="2666552" cy="21580"/>
          </a:xfrm>
          <a:custGeom>
            <a:avLst/>
            <a:gdLst/>
            <a:ahLst/>
            <a:cxnLst/>
            <a:rect l="l" t="t" r="r" b="b"/>
            <a:pathLst>
              <a:path w="2666552" h="21580">
                <a:moveTo>
                  <a:pt x="114300" y="0"/>
                </a:moveTo>
                <a:lnTo>
                  <a:pt x="2552252" y="0"/>
                </a:lnTo>
                <a:lnTo>
                  <a:pt x="2576938" y="2698"/>
                </a:lnTo>
                <a:lnTo>
                  <a:pt x="2586954" y="5395"/>
                </a:lnTo>
                <a:lnTo>
                  <a:pt x="2594495" y="8093"/>
                </a:lnTo>
                <a:lnTo>
                  <a:pt x="2600731" y="10790"/>
                </a:lnTo>
                <a:lnTo>
                  <a:pt x="2606116" y="13488"/>
                </a:lnTo>
                <a:lnTo>
                  <a:pt x="2610886" y="16185"/>
                </a:lnTo>
                <a:lnTo>
                  <a:pt x="2615181" y="18883"/>
                </a:lnTo>
                <a:lnTo>
                  <a:pt x="2619092"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70000"/>
                </a:srgbClr>
              </a:gs>
              <a:gs pos="100000">
                <a:srgbClr val="000000">
                  <a:alpha val="0"/>
                </a:srgbClr>
              </a:gs>
            </a:gsLst>
            <a:lin ang="0" scaled="1"/>
          </a:gradFill>
          <a:ln/>
        </p:spPr>
        <p:txBody>
          <a:bodyPr wrap="none" rtlCol="0" anchor="t"/>
          <a:lstStyle/>
          <a:p>
            <a:pPr marL="0" indent="0">
              <a:buNone/>
            </a:pPr>
            <a:endParaRPr lang="en-US" dirty="0"/>
          </a:p>
        </p:txBody>
      </p:sp>
      <p:sp>
        <p:nvSpPr>
          <p:cNvPr id="8" name="Text 6"/>
          <p:cNvSpPr/>
          <p:nvPr/>
        </p:nvSpPr>
        <p:spPr>
          <a:xfrm>
            <a:off x="400050" y="346918"/>
            <a:ext cx="35421" cy="257770"/>
          </a:xfrm>
          <a:prstGeom prst="roundRect">
            <a:avLst>
              <a:gd name="adj" fmla="val 60953"/>
            </a:avLst>
          </a:prstGeom>
          <a:solidFill>
            <a:srgbClr val="76B900"/>
          </a:solidFill>
          <a:ln/>
        </p:spPr>
        <p:txBody>
          <a:bodyPr wrap="none" rtlCol="0" anchor="t"/>
          <a:lstStyle/>
          <a:p>
            <a:pPr marL="0" indent="0">
              <a:buNone/>
            </a:pPr>
            <a:endParaRPr lang="en-US" dirty="0"/>
          </a:p>
        </p:txBody>
      </p:sp>
      <p:sp>
        <p:nvSpPr>
          <p:cNvPr id="9" name="Text 7"/>
          <p:cNvSpPr/>
          <p:nvPr/>
        </p:nvSpPr>
        <p:spPr>
          <a:xfrm>
            <a:off x="535781" y="314920"/>
            <a:ext cx="3210401" cy="321915"/>
          </a:xfrm>
          <a:prstGeom prst="rect">
            <a:avLst/>
          </a:prstGeom>
          <a:noFill/>
          <a:ln/>
        </p:spPr>
        <p:txBody>
          <a:bodyPr wrap="none" lIns="0" tIns="0" rIns="0" bIns="0" rtlCol="0" anchor="ctr"/>
          <a:lstStyle/>
          <a:p>
            <a:pPr marL="0" indent="0" algn="l">
              <a:lnSpc>
                <a:spcPts val="2535"/>
              </a:lnSpc>
              <a:buNone/>
            </a:pPr>
            <a:r>
              <a:rPr lang="en-US" sz="1690" kern="0" spc="-30" dirty="0">
                <a:solidFill>
                  <a:srgbClr val="E2E8F0"/>
                </a:solidFill>
                <a:latin typeface="Consolas" pitchFamily="34" charset="0"/>
                <a:ea typeface="Consolas" pitchFamily="34" charset="-122"/>
                <a:cs typeface="Consolas" pitchFamily="34" charset="-120"/>
              </a:rPr>
              <a:t>Local AI Framework Comparison</a:t>
            </a:r>
            <a:endParaRPr lang="en-US" sz="1690" dirty="0"/>
          </a:p>
        </p:txBody>
      </p:sp>
      <p:sp>
        <p:nvSpPr>
          <p:cNvPr id="10" name="Text 8"/>
          <p:cNvSpPr/>
          <p:nvPr/>
        </p:nvSpPr>
        <p:spPr>
          <a:xfrm>
            <a:off x="7701260" y="371921"/>
            <a:ext cx="1042690" cy="228704"/>
          </a:xfrm>
          <a:prstGeom prst="roundRect">
            <a:avLst>
              <a:gd name="adj" fmla="val 62749"/>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620" dirty="0">
                <a:solidFill>
                  <a:srgbClr val="8B9CB6"/>
                </a:solidFill>
                <a:latin typeface="Consolas" pitchFamily="34" charset="0"/>
                <a:ea typeface="Consolas" pitchFamily="34" charset="-122"/>
                <a:cs typeface="Consolas" pitchFamily="34" charset="-120"/>
              </a:rPr>
              <a:t>PICK YOUR PATH</a:t>
            </a:r>
            <a:endParaRPr lang="en-US" sz="620" dirty="0"/>
          </a:p>
        </p:txBody>
      </p:sp>
      <p:sp>
        <p:nvSpPr>
          <p:cNvPr id="11" name="Text 9"/>
          <p:cNvSpPr/>
          <p:nvPr/>
        </p:nvSpPr>
        <p:spPr>
          <a:xfrm>
            <a:off x="400050" y="837456"/>
            <a:ext cx="2685604" cy="1938337"/>
          </a:xfrm>
          <a:prstGeom prst="roundRect">
            <a:avLst>
              <a:gd name="adj" fmla="val 5897"/>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12" name="Text 10"/>
          <p:cNvSpPr/>
          <p:nvPr/>
        </p:nvSpPr>
        <p:spPr>
          <a:xfrm>
            <a:off x="581025" y="1047601"/>
            <a:ext cx="342900" cy="342900"/>
          </a:xfrm>
          <a:prstGeom prst="roundRect">
            <a:avLst>
              <a:gd name="adj" fmla="val 25185"/>
            </a:avLst>
          </a:prstGeom>
          <a:solidFill>
            <a:srgbClr val="76B900">
              <a:alpha val="10000"/>
            </a:srgbClr>
          </a:solidFill>
          <a:ln/>
        </p:spPr>
        <p:txBody>
          <a:bodyPr wrap="square" rtlCol="0" anchor="t"/>
          <a:lstStyle/>
          <a:p>
            <a:pPr marL="0" indent="0">
              <a:buNone/>
            </a:pPr>
            <a:endParaRPr lang="en-US" dirty="0"/>
          </a:p>
        </p:txBody>
      </p:sp>
      <p:pic>
        <p:nvPicPr>
          <p:cNvPr id="1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2972" y="1149548"/>
            <a:ext cx="139005" cy="139005"/>
          </a:xfrm>
          <a:prstGeom prst="rect">
            <a:avLst/>
          </a:prstGeom>
        </p:spPr>
      </p:pic>
      <p:sp>
        <p:nvSpPr>
          <p:cNvPr id="14" name="Text 11"/>
          <p:cNvSpPr/>
          <p:nvPr/>
        </p:nvSpPr>
        <p:spPr>
          <a:xfrm>
            <a:off x="1024235" y="1047601"/>
            <a:ext cx="762729" cy="118021"/>
          </a:xfrm>
          <a:prstGeom prst="rect">
            <a:avLst/>
          </a:prstGeom>
          <a:noFill/>
          <a:ln/>
        </p:spPr>
        <p:txBody>
          <a:bodyPr wrap="none" lIns="0" tIns="0" rIns="0" bIns="0" rtlCol="0" anchor="t"/>
          <a:lstStyle/>
          <a:p>
            <a:pPr marL="0" indent="0" algn="l">
              <a:lnSpc>
                <a:spcPts val="930"/>
              </a:lnSpc>
              <a:buNone/>
            </a:pPr>
            <a:r>
              <a:rPr lang="en-US" sz="620" b="1" kern="0" spc="140" dirty="0">
                <a:solidFill>
                  <a:srgbClr val="76B900"/>
                </a:solidFill>
                <a:latin typeface="Consolas" pitchFamily="34" charset="0"/>
                <a:ea typeface="Consolas" pitchFamily="34" charset="-122"/>
                <a:cs typeface="Consolas" pitchFamily="34" charset="-120"/>
              </a:rPr>
              <a:t>EASIEST GUI</a:t>
            </a:r>
            <a:endParaRPr lang="en-US" sz="620" dirty="0"/>
          </a:p>
        </p:txBody>
      </p:sp>
      <p:sp>
        <p:nvSpPr>
          <p:cNvPr id="15" name="Text 12"/>
          <p:cNvSpPr/>
          <p:nvPr/>
        </p:nvSpPr>
        <p:spPr>
          <a:xfrm>
            <a:off x="581025" y="1461492"/>
            <a:ext cx="2556019" cy="158353"/>
          </a:xfrm>
          <a:prstGeom prst="rect">
            <a:avLst/>
          </a:prstGeom>
          <a:noFill/>
          <a:ln/>
        </p:spPr>
        <p:txBody>
          <a:bodyPr wrap="none" lIns="0" tIns="0" rIns="0" bIns="0" rtlCol="0" anchor="ctr"/>
          <a:lstStyle/>
          <a:p>
            <a:pPr marL="0" indent="0" algn="l">
              <a:lnSpc>
                <a:spcPts val="1248"/>
              </a:lnSpc>
              <a:buNone/>
            </a:pPr>
            <a:r>
              <a:rPr lang="en-US" sz="960" b="1" dirty="0">
                <a:solidFill>
                  <a:srgbClr val="76B900"/>
                </a:solidFill>
                <a:latin typeface="Consolas" pitchFamily="34" charset="0"/>
                <a:ea typeface="Consolas" pitchFamily="34" charset="-122"/>
                <a:cs typeface="Consolas" pitchFamily="34" charset="-120"/>
              </a:rPr>
              <a:t>LM Studio </a:t>
            </a:r>
            <a:r>
              <a:rPr lang="en-US" sz="960" b="1" dirty="0">
                <a:solidFill>
                  <a:srgbClr val="8B9CB6"/>
                </a:solidFill>
                <a:latin typeface="Consolas" pitchFamily="34" charset="0"/>
                <a:ea typeface="Consolas" pitchFamily="34" charset="-122"/>
                <a:cs typeface="Consolas" pitchFamily="34" charset="-120"/>
              </a:rPr>
              <a:t>or</a:t>
            </a:r>
            <a:r>
              <a:rPr lang="en-US" sz="960" b="1" dirty="0">
                <a:solidFill>
                  <a:srgbClr val="76B900"/>
                </a:solidFill>
                <a:latin typeface="Consolas" pitchFamily="34" charset="0"/>
                <a:ea typeface="Consolas" pitchFamily="34" charset="-122"/>
                <a:cs typeface="Consolas" pitchFamily="34" charset="-120"/>
              </a:rPr>
              <a:t> Jan</a:t>
            </a:r>
            <a:endParaRPr lang="en-US" sz="960" dirty="0"/>
          </a:p>
        </p:txBody>
      </p:sp>
      <p:sp>
        <p:nvSpPr>
          <p:cNvPr id="16" name="Text 13"/>
          <p:cNvSpPr/>
          <p:nvPr/>
        </p:nvSpPr>
        <p:spPr>
          <a:xfrm>
            <a:off x="581025" y="1690836"/>
            <a:ext cx="2370127" cy="291911"/>
          </a:xfrm>
          <a:prstGeom prst="rect">
            <a:avLst/>
          </a:prstGeom>
          <a:noFill/>
          <a:ln/>
        </p:spPr>
        <p:txBody>
          <a:bodyPr wrap="square" lIns="0" tIns="0" rIns="0" bIns="0" rtlCol="0" anchor="t"/>
          <a:lstStyle/>
          <a:p>
            <a:pPr marL="0" indent="0" algn="l">
              <a:lnSpc>
                <a:spcPts val="1095"/>
              </a:lnSpc>
              <a:buNone/>
            </a:pPr>
            <a:r>
              <a:rPr lang="en-US" sz="730" dirty="0">
                <a:solidFill>
                  <a:srgbClr val="8B9CB6"/>
                </a:solidFill>
                <a:latin typeface="Calibri" pitchFamily="34" charset="0"/>
                <a:ea typeface="Calibri" pitchFamily="34" charset="-122"/>
                <a:cs typeface="Calibri" pitchFamily="34" charset="-120"/>
              </a:rPr>
              <a:t>Point-and-click interface for downloading &amp; chatting with models instantly</a:t>
            </a:r>
            <a:endParaRPr lang="en-US" sz="730" dirty="0"/>
          </a:p>
        </p:txBody>
      </p:sp>
      <p:sp>
        <p:nvSpPr>
          <p:cNvPr id="17" name="Text 14"/>
          <p:cNvSpPr/>
          <p:nvPr/>
        </p:nvSpPr>
        <p:spPr>
          <a:xfrm>
            <a:off x="3229124" y="837456"/>
            <a:ext cx="2685604" cy="1938337"/>
          </a:xfrm>
          <a:prstGeom prst="roundRect">
            <a:avLst>
              <a:gd name="adj" fmla="val 5897"/>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18" name="Text 15"/>
          <p:cNvSpPr/>
          <p:nvPr/>
        </p:nvSpPr>
        <p:spPr>
          <a:xfrm>
            <a:off x="3410099" y="1047601"/>
            <a:ext cx="342900" cy="342900"/>
          </a:xfrm>
          <a:prstGeom prst="roundRect">
            <a:avLst>
              <a:gd name="adj" fmla="val 25185"/>
            </a:avLst>
          </a:prstGeom>
          <a:solidFill>
            <a:srgbClr val="76B900">
              <a:alpha val="10000"/>
            </a:srgbClr>
          </a:solidFill>
          <a:ln/>
        </p:spPr>
        <p:txBody>
          <a:bodyPr wrap="square" rtlCol="0" anchor="t"/>
          <a:lstStyle/>
          <a:p>
            <a:pPr marL="0" indent="0">
              <a:buNone/>
            </a:pPr>
            <a:endParaRPr lang="en-US" dirty="0"/>
          </a:p>
        </p:txBody>
      </p:sp>
      <p:pic>
        <p:nvPicPr>
          <p:cNvPr id="1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512046" y="1149548"/>
            <a:ext cx="139005" cy="139005"/>
          </a:xfrm>
          <a:prstGeom prst="rect">
            <a:avLst/>
          </a:prstGeom>
        </p:spPr>
      </p:pic>
      <p:sp>
        <p:nvSpPr>
          <p:cNvPr id="20" name="Text 16"/>
          <p:cNvSpPr/>
          <p:nvPr/>
        </p:nvSpPr>
        <p:spPr>
          <a:xfrm>
            <a:off x="3853309" y="1047601"/>
            <a:ext cx="1186741" cy="118021"/>
          </a:xfrm>
          <a:prstGeom prst="rect">
            <a:avLst/>
          </a:prstGeom>
          <a:noFill/>
          <a:ln/>
        </p:spPr>
        <p:txBody>
          <a:bodyPr wrap="none" lIns="0" tIns="0" rIns="0" bIns="0" rtlCol="0" anchor="t"/>
          <a:lstStyle/>
          <a:p>
            <a:pPr marL="0" indent="0" algn="l">
              <a:lnSpc>
                <a:spcPts val="930"/>
              </a:lnSpc>
              <a:buNone/>
            </a:pPr>
            <a:r>
              <a:rPr lang="en-US" sz="620" b="1" kern="0" spc="140" dirty="0">
                <a:solidFill>
                  <a:srgbClr val="76B900"/>
                </a:solidFill>
                <a:latin typeface="Consolas" pitchFamily="34" charset="0"/>
                <a:ea typeface="Consolas" pitchFamily="34" charset="-122"/>
                <a:cs typeface="Consolas" pitchFamily="34" charset="-120"/>
              </a:rPr>
              <a:t>MAX PERFORMANCE</a:t>
            </a:r>
            <a:endParaRPr lang="en-US" sz="620" dirty="0"/>
          </a:p>
        </p:txBody>
      </p:sp>
      <p:sp>
        <p:nvSpPr>
          <p:cNvPr id="21" name="Text 17"/>
          <p:cNvSpPr/>
          <p:nvPr/>
        </p:nvSpPr>
        <p:spPr>
          <a:xfrm>
            <a:off x="3410099" y="1461492"/>
            <a:ext cx="2556019" cy="158353"/>
          </a:xfrm>
          <a:prstGeom prst="rect">
            <a:avLst/>
          </a:prstGeom>
          <a:noFill/>
          <a:ln/>
        </p:spPr>
        <p:txBody>
          <a:bodyPr wrap="none" lIns="0" tIns="0" rIns="0" bIns="0" rtlCol="0" anchor="t"/>
          <a:lstStyle/>
          <a:p>
            <a:pPr marL="0" indent="0" algn="l">
              <a:lnSpc>
                <a:spcPts val="1248"/>
              </a:lnSpc>
              <a:buNone/>
            </a:pPr>
            <a:r>
              <a:rPr lang="en-US" sz="960" b="1" dirty="0">
                <a:solidFill>
                  <a:srgbClr val="76B900"/>
                </a:solidFill>
                <a:latin typeface="Consolas" pitchFamily="34" charset="0"/>
                <a:ea typeface="Consolas" pitchFamily="34" charset="-122"/>
                <a:cs typeface="Consolas" pitchFamily="34" charset="-120"/>
              </a:rPr>
              <a:t>llama.cpp</a:t>
            </a:r>
            <a:endParaRPr lang="en-US" sz="960" dirty="0"/>
          </a:p>
        </p:txBody>
      </p:sp>
      <p:sp>
        <p:nvSpPr>
          <p:cNvPr id="22" name="Text 18"/>
          <p:cNvSpPr/>
          <p:nvPr/>
        </p:nvSpPr>
        <p:spPr>
          <a:xfrm>
            <a:off x="3410099" y="1690836"/>
            <a:ext cx="2370127" cy="291911"/>
          </a:xfrm>
          <a:prstGeom prst="rect">
            <a:avLst/>
          </a:prstGeom>
          <a:noFill/>
          <a:ln/>
        </p:spPr>
        <p:txBody>
          <a:bodyPr wrap="square" lIns="0" tIns="0" rIns="0" bIns="0" rtlCol="0" anchor="t"/>
          <a:lstStyle/>
          <a:p>
            <a:pPr marL="0" indent="0" algn="l">
              <a:lnSpc>
                <a:spcPts val="1095"/>
              </a:lnSpc>
              <a:buNone/>
            </a:pPr>
            <a:r>
              <a:rPr lang="en-US" sz="730" dirty="0">
                <a:solidFill>
                  <a:srgbClr val="8B9CB6"/>
                </a:solidFill>
                <a:latin typeface="Calibri" pitchFamily="34" charset="0"/>
                <a:ea typeface="Calibri" pitchFamily="34" charset="-122"/>
                <a:cs typeface="Calibri" pitchFamily="34" charset="-120"/>
              </a:rPr>
              <a:t>Bare-metal C++ inference engine with full hardware control &amp; optimization</a:t>
            </a:r>
            <a:endParaRPr lang="en-US" sz="730" dirty="0"/>
          </a:p>
        </p:txBody>
      </p:sp>
      <p:sp>
        <p:nvSpPr>
          <p:cNvPr id="23" name="Text 19"/>
          <p:cNvSpPr/>
          <p:nvPr/>
        </p:nvSpPr>
        <p:spPr>
          <a:xfrm>
            <a:off x="6058198" y="837456"/>
            <a:ext cx="2685752" cy="1938337"/>
          </a:xfrm>
          <a:prstGeom prst="roundRect">
            <a:avLst>
              <a:gd name="adj" fmla="val 5897"/>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24" name="Text 20"/>
          <p:cNvSpPr/>
          <p:nvPr/>
        </p:nvSpPr>
        <p:spPr>
          <a:xfrm>
            <a:off x="6239173" y="1047601"/>
            <a:ext cx="342900" cy="342900"/>
          </a:xfrm>
          <a:prstGeom prst="roundRect">
            <a:avLst>
              <a:gd name="adj" fmla="val 25185"/>
            </a:avLst>
          </a:prstGeom>
          <a:solidFill>
            <a:srgbClr val="76B900">
              <a:alpha val="10000"/>
            </a:srgbClr>
          </a:solidFill>
          <a:ln/>
        </p:spPr>
        <p:txBody>
          <a:bodyPr wrap="square" rtlCol="0" anchor="t"/>
          <a:lstStyle/>
          <a:p>
            <a:pPr marL="0" indent="0">
              <a:buNone/>
            </a:pPr>
            <a:endParaRPr lang="en-US" dirty="0"/>
          </a:p>
        </p:txBody>
      </p:sp>
      <p:pic>
        <p:nvPicPr>
          <p:cNvPr id="2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41120" y="1149548"/>
            <a:ext cx="139005" cy="139005"/>
          </a:xfrm>
          <a:prstGeom prst="rect">
            <a:avLst/>
          </a:prstGeom>
        </p:spPr>
      </p:pic>
      <p:sp>
        <p:nvSpPr>
          <p:cNvPr id="26" name="Text 21"/>
          <p:cNvSpPr/>
          <p:nvPr/>
        </p:nvSpPr>
        <p:spPr>
          <a:xfrm>
            <a:off x="6682383" y="1047601"/>
            <a:ext cx="1019919" cy="118021"/>
          </a:xfrm>
          <a:prstGeom prst="rect">
            <a:avLst/>
          </a:prstGeom>
          <a:noFill/>
          <a:ln/>
        </p:spPr>
        <p:txBody>
          <a:bodyPr wrap="none" lIns="0" tIns="0" rIns="0" bIns="0" rtlCol="0" anchor="t"/>
          <a:lstStyle/>
          <a:p>
            <a:pPr marL="0" indent="0" algn="l">
              <a:lnSpc>
                <a:spcPts val="930"/>
              </a:lnSpc>
              <a:buNone/>
            </a:pPr>
            <a:r>
              <a:rPr lang="en-US" sz="620" b="1" kern="0" spc="140" dirty="0">
                <a:solidFill>
                  <a:srgbClr val="76B900"/>
                </a:solidFill>
                <a:latin typeface="Consolas" pitchFamily="34" charset="0"/>
                <a:ea typeface="Consolas" pitchFamily="34" charset="-122"/>
                <a:cs typeface="Consolas" pitchFamily="34" charset="-120"/>
              </a:rPr>
              <a:t>PRODUCTION API</a:t>
            </a:r>
            <a:endParaRPr lang="en-US" sz="620" dirty="0"/>
          </a:p>
        </p:txBody>
      </p:sp>
      <p:sp>
        <p:nvSpPr>
          <p:cNvPr id="27" name="Text 22"/>
          <p:cNvSpPr/>
          <p:nvPr/>
        </p:nvSpPr>
        <p:spPr>
          <a:xfrm>
            <a:off x="6239173" y="1461492"/>
            <a:ext cx="2556183" cy="158353"/>
          </a:xfrm>
          <a:prstGeom prst="rect">
            <a:avLst/>
          </a:prstGeom>
          <a:noFill/>
          <a:ln/>
        </p:spPr>
        <p:txBody>
          <a:bodyPr wrap="none" lIns="0" tIns="0" rIns="0" bIns="0" rtlCol="0" anchor="ctr"/>
          <a:lstStyle/>
          <a:p>
            <a:pPr marL="0" indent="0" algn="l">
              <a:lnSpc>
                <a:spcPts val="1248"/>
              </a:lnSpc>
              <a:buNone/>
            </a:pPr>
            <a:r>
              <a:rPr lang="en-US" sz="960" b="1" dirty="0">
                <a:solidFill>
                  <a:srgbClr val="76B900"/>
                </a:solidFill>
                <a:latin typeface="Consolas" pitchFamily="34" charset="0"/>
                <a:ea typeface="Consolas" pitchFamily="34" charset="-122"/>
                <a:cs typeface="Consolas" pitchFamily="34" charset="-120"/>
              </a:rPr>
              <a:t>vLLM </a:t>
            </a:r>
            <a:r>
              <a:rPr lang="en-US" sz="960" b="1" dirty="0">
                <a:solidFill>
                  <a:srgbClr val="8B9CB6"/>
                </a:solidFill>
                <a:latin typeface="Consolas" pitchFamily="34" charset="0"/>
                <a:ea typeface="Consolas" pitchFamily="34" charset="-122"/>
                <a:cs typeface="Consolas" pitchFamily="34" charset="-120"/>
              </a:rPr>
              <a:t>or</a:t>
            </a:r>
            <a:r>
              <a:rPr lang="en-US" sz="960" b="1" dirty="0">
                <a:solidFill>
                  <a:srgbClr val="76B900"/>
                </a:solidFill>
                <a:latin typeface="Consolas" pitchFamily="34" charset="0"/>
                <a:ea typeface="Consolas" pitchFamily="34" charset="-122"/>
                <a:cs typeface="Consolas" pitchFamily="34" charset="-120"/>
              </a:rPr>
              <a:t> LocalAI</a:t>
            </a:r>
            <a:endParaRPr lang="en-US" sz="960" dirty="0"/>
          </a:p>
        </p:txBody>
      </p:sp>
      <p:sp>
        <p:nvSpPr>
          <p:cNvPr id="28" name="Text 23"/>
          <p:cNvSpPr/>
          <p:nvPr/>
        </p:nvSpPr>
        <p:spPr>
          <a:xfrm>
            <a:off x="6239173" y="1690836"/>
            <a:ext cx="2370278" cy="291911"/>
          </a:xfrm>
          <a:prstGeom prst="rect">
            <a:avLst/>
          </a:prstGeom>
          <a:noFill/>
          <a:ln/>
        </p:spPr>
        <p:txBody>
          <a:bodyPr wrap="square" lIns="0" tIns="0" rIns="0" bIns="0" rtlCol="0" anchor="t"/>
          <a:lstStyle/>
          <a:p>
            <a:pPr marL="0" indent="0" algn="l">
              <a:lnSpc>
                <a:spcPts val="1095"/>
              </a:lnSpc>
              <a:buNone/>
            </a:pPr>
            <a:r>
              <a:rPr lang="en-US" sz="730" dirty="0">
                <a:solidFill>
                  <a:srgbClr val="8B9CB6"/>
                </a:solidFill>
                <a:latin typeface="Calibri" pitchFamily="34" charset="0"/>
                <a:ea typeface="Calibri" pitchFamily="34" charset="-122"/>
                <a:cs typeface="Calibri" pitchFamily="34" charset="-120"/>
              </a:rPr>
              <a:t>OpenAI-compatible serving for production workloads &amp; high throughput</a:t>
            </a:r>
            <a:endParaRPr lang="en-US" sz="730" dirty="0"/>
          </a:p>
        </p:txBody>
      </p:sp>
      <p:sp>
        <p:nvSpPr>
          <p:cNvPr id="29" name="Text 24"/>
          <p:cNvSpPr/>
          <p:nvPr/>
        </p:nvSpPr>
        <p:spPr>
          <a:xfrm>
            <a:off x="400050" y="2919264"/>
            <a:ext cx="2685604" cy="1938486"/>
          </a:xfrm>
          <a:prstGeom prst="roundRect">
            <a:avLst>
              <a:gd name="adj" fmla="val 5896"/>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30" name="Text 25"/>
          <p:cNvSpPr/>
          <p:nvPr/>
        </p:nvSpPr>
        <p:spPr>
          <a:xfrm>
            <a:off x="581025" y="3129409"/>
            <a:ext cx="342900" cy="342900"/>
          </a:xfrm>
          <a:prstGeom prst="roundRect">
            <a:avLst>
              <a:gd name="adj" fmla="val 25185"/>
            </a:avLst>
          </a:prstGeom>
          <a:solidFill>
            <a:srgbClr val="76B900">
              <a:alpha val="10000"/>
            </a:srgbClr>
          </a:solidFill>
          <a:ln/>
        </p:spPr>
        <p:txBody>
          <a:bodyPr wrap="square" rtlCol="0" anchor="t"/>
          <a:lstStyle/>
          <a:p>
            <a:pPr marL="0" indent="0">
              <a:buNone/>
            </a:pPr>
            <a:endParaRPr lang="en-US" dirty="0"/>
          </a:p>
        </p:txBody>
      </p:sp>
      <p:pic>
        <p:nvPicPr>
          <p:cNvPr id="3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82972" y="3231356"/>
            <a:ext cx="139005" cy="139005"/>
          </a:xfrm>
          <a:prstGeom prst="rect">
            <a:avLst/>
          </a:prstGeom>
        </p:spPr>
      </p:pic>
      <p:sp>
        <p:nvSpPr>
          <p:cNvPr id="32" name="Text 26"/>
          <p:cNvSpPr/>
          <p:nvPr/>
        </p:nvSpPr>
        <p:spPr>
          <a:xfrm>
            <a:off x="1024235" y="3129409"/>
            <a:ext cx="1717491" cy="118021"/>
          </a:xfrm>
          <a:prstGeom prst="rect">
            <a:avLst/>
          </a:prstGeom>
          <a:noFill/>
          <a:ln/>
        </p:spPr>
        <p:txBody>
          <a:bodyPr wrap="none" lIns="0" tIns="0" rIns="0" bIns="0" rtlCol="0" anchor="t"/>
          <a:lstStyle/>
          <a:p>
            <a:pPr marL="0" indent="0" algn="l">
              <a:lnSpc>
                <a:spcPts val="930"/>
              </a:lnSpc>
              <a:buNone/>
            </a:pPr>
            <a:r>
              <a:rPr lang="en-US" sz="620" b="1" kern="0" spc="140" dirty="0">
                <a:solidFill>
                  <a:srgbClr val="76B900"/>
                </a:solidFill>
                <a:latin typeface="Consolas" pitchFamily="34" charset="0"/>
                <a:ea typeface="Consolas" pitchFamily="34" charset="-122"/>
                <a:cs typeface="Consolas" pitchFamily="34" charset="-120"/>
              </a:rPr>
              <a:t>ALL-IN-ONE (RAG + AGENTS)</a:t>
            </a:r>
            <a:endParaRPr lang="en-US" sz="620" dirty="0"/>
          </a:p>
        </p:txBody>
      </p:sp>
      <p:sp>
        <p:nvSpPr>
          <p:cNvPr id="33" name="Text 27"/>
          <p:cNvSpPr/>
          <p:nvPr/>
        </p:nvSpPr>
        <p:spPr>
          <a:xfrm>
            <a:off x="581025" y="3543300"/>
            <a:ext cx="2556019" cy="158353"/>
          </a:xfrm>
          <a:prstGeom prst="rect">
            <a:avLst/>
          </a:prstGeom>
          <a:noFill/>
          <a:ln/>
        </p:spPr>
        <p:txBody>
          <a:bodyPr wrap="none" lIns="0" tIns="0" rIns="0" bIns="0" rtlCol="0" anchor="ctr"/>
          <a:lstStyle/>
          <a:p>
            <a:pPr marL="0" indent="0" algn="l">
              <a:lnSpc>
                <a:spcPts val="1248"/>
              </a:lnSpc>
              <a:buNone/>
            </a:pPr>
            <a:r>
              <a:rPr lang="en-US" sz="960" b="1" dirty="0">
                <a:solidFill>
                  <a:srgbClr val="76B900"/>
                </a:solidFill>
                <a:latin typeface="Consolas" pitchFamily="34" charset="0"/>
                <a:ea typeface="Consolas" pitchFamily="34" charset="-122"/>
                <a:cs typeface="Consolas" pitchFamily="34" charset="-120"/>
              </a:rPr>
              <a:t>AnythingLLM </a:t>
            </a:r>
            <a:r>
              <a:rPr lang="en-US" sz="960" b="1" dirty="0">
                <a:solidFill>
                  <a:srgbClr val="8B9CB6"/>
                </a:solidFill>
                <a:latin typeface="Consolas" pitchFamily="34" charset="0"/>
                <a:ea typeface="Consolas" pitchFamily="34" charset="-122"/>
                <a:cs typeface="Consolas" pitchFamily="34" charset="-120"/>
              </a:rPr>
              <a:t>+</a:t>
            </a:r>
            <a:r>
              <a:rPr lang="en-US" sz="960" b="1" dirty="0">
                <a:solidFill>
                  <a:srgbClr val="76B900"/>
                </a:solidFill>
                <a:latin typeface="Consolas" pitchFamily="34" charset="0"/>
                <a:ea typeface="Consolas" pitchFamily="34" charset="-122"/>
                <a:cs typeface="Consolas" pitchFamily="34" charset="-120"/>
              </a:rPr>
              <a:t> LocalAI</a:t>
            </a:r>
            <a:endParaRPr lang="en-US" sz="960" dirty="0"/>
          </a:p>
        </p:txBody>
      </p:sp>
      <p:sp>
        <p:nvSpPr>
          <p:cNvPr id="34" name="Text 28"/>
          <p:cNvSpPr/>
          <p:nvPr/>
        </p:nvSpPr>
        <p:spPr>
          <a:xfrm>
            <a:off x="581025" y="3772644"/>
            <a:ext cx="2370127" cy="291911"/>
          </a:xfrm>
          <a:prstGeom prst="rect">
            <a:avLst/>
          </a:prstGeom>
          <a:noFill/>
          <a:ln/>
        </p:spPr>
        <p:txBody>
          <a:bodyPr wrap="square" lIns="0" tIns="0" rIns="0" bIns="0" rtlCol="0" anchor="t"/>
          <a:lstStyle/>
          <a:p>
            <a:pPr marL="0" indent="0" algn="l">
              <a:lnSpc>
                <a:spcPts val="1095"/>
              </a:lnSpc>
              <a:buNone/>
            </a:pPr>
            <a:r>
              <a:rPr lang="en-US" sz="730" dirty="0">
                <a:solidFill>
                  <a:srgbClr val="8B9CB6"/>
                </a:solidFill>
                <a:latin typeface="Calibri" pitchFamily="34" charset="0"/>
                <a:ea typeface="Calibri" pitchFamily="34" charset="-122"/>
                <a:cs typeface="Calibri" pitchFamily="34" charset="-120"/>
              </a:rPr>
              <a:t>Bundled RAG, agents, and document management in a single platform</a:t>
            </a:r>
            <a:endParaRPr lang="en-US" sz="730" dirty="0"/>
          </a:p>
        </p:txBody>
      </p:sp>
      <p:sp>
        <p:nvSpPr>
          <p:cNvPr id="35" name="Text 29"/>
          <p:cNvSpPr/>
          <p:nvPr/>
        </p:nvSpPr>
        <p:spPr>
          <a:xfrm>
            <a:off x="3229124" y="2919264"/>
            <a:ext cx="2685604" cy="1938486"/>
          </a:xfrm>
          <a:prstGeom prst="roundRect">
            <a:avLst>
              <a:gd name="adj" fmla="val 5896"/>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36" name="Text 30"/>
          <p:cNvSpPr/>
          <p:nvPr/>
        </p:nvSpPr>
        <p:spPr>
          <a:xfrm>
            <a:off x="3410099" y="3129409"/>
            <a:ext cx="342900" cy="342900"/>
          </a:xfrm>
          <a:prstGeom prst="roundRect">
            <a:avLst>
              <a:gd name="adj" fmla="val 25185"/>
            </a:avLst>
          </a:prstGeom>
          <a:solidFill>
            <a:srgbClr val="76B900">
              <a:alpha val="10000"/>
            </a:srgbClr>
          </a:solidFill>
          <a:ln/>
        </p:spPr>
        <p:txBody>
          <a:bodyPr wrap="square" rtlCol="0" anchor="t"/>
          <a:lstStyle/>
          <a:p>
            <a:pPr marL="0" indent="0">
              <a:buNone/>
            </a:pPr>
            <a:endParaRPr lang="en-US" dirty="0"/>
          </a:p>
        </p:txBody>
      </p:sp>
      <p:pic>
        <p:nvPicPr>
          <p:cNvPr id="3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12046" y="3231356"/>
            <a:ext cx="139005" cy="139005"/>
          </a:xfrm>
          <a:prstGeom prst="rect">
            <a:avLst/>
          </a:prstGeom>
        </p:spPr>
      </p:pic>
      <p:sp>
        <p:nvSpPr>
          <p:cNvPr id="38" name="Text 31"/>
          <p:cNvSpPr/>
          <p:nvPr/>
        </p:nvSpPr>
        <p:spPr>
          <a:xfrm>
            <a:off x="3853309" y="3129409"/>
            <a:ext cx="1358310" cy="118021"/>
          </a:xfrm>
          <a:prstGeom prst="rect">
            <a:avLst/>
          </a:prstGeom>
          <a:noFill/>
          <a:ln/>
        </p:spPr>
        <p:txBody>
          <a:bodyPr wrap="none" lIns="0" tIns="0" rIns="0" bIns="0" rtlCol="0" anchor="t"/>
          <a:lstStyle/>
          <a:p>
            <a:pPr marL="0" indent="0" algn="l">
              <a:lnSpc>
                <a:spcPts val="930"/>
              </a:lnSpc>
              <a:buNone/>
            </a:pPr>
            <a:r>
              <a:rPr lang="en-US" sz="620" b="1" kern="0" spc="140" dirty="0">
                <a:solidFill>
                  <a:srgbClr val="76B900"/>
                </a:solidFill>
                <a:latin typeface="Consolas" pitchFamily="34" charset="0"/>
                <a:ea typeface="Consolas" pitchFamily="34" charset="-122"/>
                <a:cs typeface="Consolas" pitchFamily="34" charset="-120"/>
              </a:rPr>
              <a:t>CLI / API DEVELOPERS</a:t>
            </a:r>
            <a:endParaRPr lang="en-US" sz="620" dirty="0"/>
          </a:p>
        </p:txBody>
      </p:sp>
      <p:sp>
        <p:nvSpPr>
          <p:cNvPr id="39" name="Text 32"/>
          <p:cNvSpPr/>
          <p:nvPr/>
        </p:nvSpPr>
        <p:spPr>
          <a:xfrm>
            <a:off x="3410099" y="3543300"/>
            <a:ext cx="2556019" cy="158353"/>
          </a:xfrm>
          <a:prstGeom prst="rect">
            <a:avLst/>
          </a:prstGeom>
          <a:noFill/>
          <a:ln/>
        </p:spPr>
        <p:txBody>
          <a:bodyPr wrap="none" lIns="0" tIns="0" rIns="0" bIns="0" rtlCol="0" anchor="ctr"/>
          <a:lstStyle/>
          <a:p>
            <a:pPr marL="0" indent="0" algn="l">
              <a:lnSpc>
                <a:spcPts val="1248"/>
              </a:lnSpc>
              <a:buNone/>
            </a:pPr>
            <a:r>
              <a:rPr lang="en-US" sz="960" b="1" dirty="0">
                <a:solidFill>
                  <a:srgbClr val="76B900"/>
                </a:solidFill>
                <a:latin typeface="Consolas" pitchFamily="34" charset="0"/>
                <a:ea typeface="Consolas" pitchFamily="34" charset="-122"/>
                <a:cs typeface="Consolas" pitchFamily="34" charset="-120"/>
              </a:rPr>
              <a:t>Ollama </a:t>
            </a:r>
            <a:r>
              <a:rPr lang="en-US" sz="960" b="1" dirty="0">
                <a:solidFill>
                  <a:srgbClr val="8B9CB6"/>
                </a:solidFill>
                <a:latin typeface="Consolas" pitchFamily="34" charset="0"/>
                <a:ea typeface="Consolas" pitchFamily="34" charset="-122"/>
                <a:cs typeface="Consolas" pitchFamily="34" charset="-120"/>
              </a:rPr>
              <a:t>or</a:t>
            </a:r>
            <a:r>
              <a:rPr lang="en-US" sz="960" b="1" dirty="0">
                <a:solidFill>
                  <a:srgbClr val="76B900"/>
                </a:solidFill>
                <a:latin typeface="Consolas" pitchFamily="34" charset="0"/>
                <a:ea typeface="Consolas" pitchFamily="34" charset="-122"/>
                <a:cs typeface="Consolas" pitchFamily="34" charset="-120"/>
              </a:rPr>
              <a:t> LocalAI</a:t>
            </a:r>
            <a:endParaRPr lang="en-US" sz="960" dirty="0"/>
          </a:p>
        </p:txBody>
      </p:sp>
      <p:sp>
        <p:nvSpPr>
          <p:cNvPr id="40" name="Text 33"/>
          <p:cNvSpPr/>
          <p:nvPr/>
        </p:nvSpPr>
        <p:spPr>
          <a:xfrm>
            <a:off x="3410099" y="3772644"/>
            <a:ext cx="2370127" cy="291911"/>
          </a:xfrm>
          <a:prstGeom prst="rect">
            <a:avLst/>
          </a:prstGeom>
          <a:noFill/>
          <a:ln/>
        </p:spPr>
        <p:txBody>
          <a:bodyPr wrap="square" lIns="0" tIns="0" rIns="0" bIns="0" rtlCol="0" anchor="t"/>
          <a:lstStyle/>
          <a:p>
            <a:pPr marL="0" indent="0" algn="l">
              <a:lnSpc>
                <a:spcPts val="1095"/>
              </a:lnSpc>
              <a:buNone/>
            </a:pPr>
            <a:r>
              <a:rPr lang="en-US" sz="730" dirty="0">
                <a:solidFill>
                  <a:srgbClr val="8B9CB6"/>
                </a:solidFill>
                <a:latin typeface="Calibri" pitchFamily="34" charset="0"/>
                <a:ea typeface="Calibri" pitchFamily="34" charset="-122"/>
                <a:cs typeface="Calibri" pitchFamily="34" charset="-120"/>
              </a:rPr>
              <a:t>Developer-first CLI with one-command model management &amp; REST APIs</a:t>
            </a:r>
            <a:endParaRPr lang="en-US" sz="730" dirty="0"/>
          </a:p>
        </p:txBody>
      </p:sp>
      <p:pic>
        <p:nvPicPr>
          <p:cNvPr id="41" name="Image 5" descr="preencoded.png"/>
          <p:cNvPicPr>
            <a:picLocks noChangeAspect="1"/>
          </p:cNvPicPr>
          <p:nvPr/>
        </p:nvPicPr>
        <p:blipFill>
          <a:blip>
            <a:alphaModFix amt="50000"/>
            <a:extLst>
              <a:ext uri="{96DAC541-7B7A-43D3-8B79-37D633B846F1}">
                <asvg:svgBlip xmlns:asvg="http://schemas.microsoft.com/office/drawing/2016/SVG/main" r:embed="rId8"/>
              </a:ext>
            </a:extLst>
          </a:blip>
          <a:stretch>
            <a:fillRect/>
          </a:stretch>
        </p:blipFill>
        <p:spPr>
          <a:xfrm>
            <a:off x="7186761" y="3674120"/>
            <a:ext cx="428625" cy="428625"/>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A0F1A"/>
        </a:solidFill>
        <a:effectLst/>
      </p:bgPr>
    </p:bg>
    <p:spTree>
      <p:nvGrpSpPr>
        <p:cNvPr id="1" name=""/>
        <p:cNvGrpSpPr/>
        <p:nvPr/>
      </p:nvGrpSpPr>
      <p:grpSpPr>
        <a:xfrm>
          <a:off x="0" y="0"/>
          <a:ext cx="0" cy="0"/>
          <a:chOff x="0" y="0"/>
          <a:chExt cx="0" cy="0"/>
        </a:xfrm>
      </p:grpSpPr>
      <p:sp>
        <p:nvSpPr>
          <p:cNvPr id="2" name="AccentBar"/>
          <p:cNvSpPr/>
          <p:nvPr/>
        </p:nvSpPr>
        <p:spPr>
          <a:xfrm>
            <a:off x="514350" y="372070"/>
            <a:ext cx="43160" cy="285750"/>
          </a:xfrm>
          <a:prstGeom prst="roundRect">
            <a:avLst>
              <a:gd name="adj" fmla="val 50023"/>
            </a:avLst>
          </a:prstGeom>
          <a:solidFill>
            <a:srgbClr val="76B900"/>
          </a:solidFill>
          <a:ln/>
        </p:spPr>
        <p:txBody>
          <a:bodyPr wrap="square" rtlCol="0" anchor="t"/>
          <a:lstStyle/>
          <a:p>
            <a:pPr marL="0" indent="0">
              <a:buNone/>
            </a:pPr>
            <a:endParaRPr lang="en-US"/>
          </a:p>
        </p:txBody>
      </p:sp>
      <p:sp>
        <p:nvSpPr>
          <p:cNvPr id="3" name="Title"/>
          <p:cNvSpPr/>
          <p:nvPr/>
        </p:nvSpPr>
        <p:spPr>
          <a:xfrm>
            <a:off x="671810" y="372070"/>
            <a:ext cx="7500000" cy="386655"/>
          </a:xfrm>
          <a:prstGeom prst="rect">
            <a:avLst/>
          </a:prstGeom>
          <a:noFill/>
          <a:ln/>
        </p:spPr>
        <p:txBody>
          <a:bodyPr wrap="square" lIns="0" tIns="0" rIns="0" bIns="0" rtlCol="0" anchor="ctr"/>
          <a:lstStyle/>
          <a:p>
            <a:pPr marL="0" indent="0" algn="l">
              <a:buNone/>
            </a:pPr>
            <a:r>
              <a:rPr lang="en-US" sz="2030">
                <a:solidFill>
                  <a:srgbClr val="E2E8F0"/>
                </a:solidFill>
                <a:latin typeface="Consolas" pitchFamily="34"/>
                <a:ea typeface="Consolas" pitchFamily="34"/>
                <a:cs typeface="Consolas" pitchFamily="34"/>
              </a:rPr>
              <a:t>How </a:t>
            </a:r>
            <a:r>
              <a:rPr lang="en-US" sz="2030" b="1">
                <a:solidFill>
                  <a:srgbClr val="76B900"/>
                </a:solidFill>
                <a:latin typeface="Consolas" pitchFamily="34"/>
                <a:ea typeface="Consolas" pitchFamily="34"/>
                <a:cs typeface="Consolas" pitchFamily="34"/>
              </a:rPr>
              <a:t>Ollama</a:t>
            </a:r>
            <a:r>
              <a:rPr lang="en-US" sz="2030">
                <a:solidFill>
                  <a:srgbClr val="E2E8F0"/>
                </a:solidFill>
                <a:latin typeface="Consolas" pitchFamily="34"/>
                <a:ea typeface="Consolas" pitchFamily="34"/>
                <a:cs typeface="Consolas" pitchFamily="34"/>
              </a:rPr>
              <a:t> Serves Your </a:t>
            </a:r>
            <a:r>
              <a:rPr lang="en-US" sz="2030" b="1">
                <a:solidFill>
                  <a:srgbClr val="76B900"/>
                </a:solidFill>
                <a:latin typeface="Consolas" pitchFamily="34"/>
                <a:ea typeface="Consolas" pitchFamily="34"/>
                <a:cs typeface="Consolas" pitchFamily="34"/>
              </a:rPr>
              <a:t>Model</a:t>
            </a:r>
            <a:endParaRPr lang="en-US"/>
          </a:p>
        </p:txBody>
      </p:sp>
      <p:sp>
        <p:nvSpPr>
          <p:cNvPr id="4" name="Subtitle"/>
          <p:cNvSpPr/>
          <p:nvPr/>
        </p:nvSpPr>
        <p:spPr>
          <a:xfrm>
            <a:off x="671810" y="760000"/>
            <a:ext cx="7500000" cy="200000"/>
          </a:xfrm>
          <a:prstGeom prst="rect">
            <a:avLst/>
          </a:prstGeom>
          <a:noFill/>
          <a:ln/>
        </p:spPr>
        <p:txBody>
          <a:bodyPr wrap="square" lIns="0" tIns="0" rIns="0" bIns="0" rtlCol="0" anchor="t"/>
          <a:lstStyle/>
          <a:p>
            <a:pPr marL="0" indent="0" algn="l">
              <a:buNone/>
            </a:pPr>
            <a:r>
              <a:rPr lang="en-US" sz="900">
                <a:solidFill>
                  <a:srgbClr val="8B9CB6"/>
                </a:solidFill>
                <a:latin typeface="Calibri" pitchFamily="34"/>
                <a:ea typeface="Calibri" pitchFamily="34"/>
                <a:cs typeface="Calibri" pitchFamily="34"/>
              </a:rPr>
              <a:t>Architecture layers — from hardware to conversation</a:t>
            </a:r>
            <a:endParaRPr lang="en-US"/>
          </a:p>
        </p:txBody>
      </p:sp>
      <p:sp>
        <p:nvSpPr>
          <p:cNvPr id="5" name="Layer_Hardware"/>
          <p:cNvSpPr/>
          <p:nvPr/>
        </p:nvSpPr>
        <p:spPr>
          <a:xfrm>
            <a:off x="600000" y="1050000"/>
            <a:ext cx="7944000" cy="3600000"/>
          </a:xfrm>
          <a:prstGeom prst="roundRect">
            <a:avLst>
              <a:gd name="adj" fmla="val 3000"/>
            </a:avLst>
          </a:prstGeom>
          <a:solidFill>
            <a:srgbClr val="0F1520"/>
          </a:solidFill>
          <a:ln w="12700">
            <a:solidFill>
              <a:srgbClr val="FFFFFF">
                <a:alpha val="8000"/>
              </a:srgbClr>
            </a:solidFill>
          </a:ln>
        </p:spPr>
        <p:txBody>
          <a:bodyPr wrap="square" rtlCol="0" anchor="t"/>
          <a:lstStyle/>
          <a:p>
            <a:pPr marL="0" indent="0">
              <a:buNone/>
            </a:pPr>
            <a:endParaRPr lang="en-US"/>
          </a:p>
        </p:txBody>
      </p:sp>
      <p:sp>
        <p:nvSpPr>
          <p:cNvPr id="6" name="HW_Label"/>
          <p:cNvSpPr/>
          <p:nvPr/>
        </p:nvSpPr>
        <p:spPr>
          <a:xfrm>
            <a:off x="780000" y="1130000"/>
            <a:ext cx="2000000" cy="220000"/>
          </a:xfrm>
          <a:prstGeom prst="rect">
            <a:avLst/>
          </a:prstGeom>
          <a:noFill/>
          <a:ln/>
        </p:spPr>
        <p:txBody>
          <a:bodyPr wrap="square" lIns="0" tIns="0" rIns="0" bIns="0" rtlCol="0" anchor="t"/>
          <a:lstStyle/>
          <a:p>
            <a:pPr marL="0" indent="0" algn="l">
              <a:buNone/>
            </a:pPr>
            <a:r>
              <a:rPr lang="en-US" sz="800" kern="0" spc="120">
                <a:solidFill>
                  <a:srgbClr val="8B9CB6"/>
                </a:solidFill>
                <a:latin typeface="Consolas" pitchFamily="34"/>
                <a:ea typeface="Consolas" pitchFamily="34"/>
                <a:cs typeface="Consolas" pitchFamily="34"/>
              </a:rPr>
              <a:t>YOUR HARDWARE</a:t>
            </a:r>
            <a:endParaRPr lang="en-US"/>
          </a:p>
        </p:txBody>
      </p:sp>
      <p:sp>
        <p:nvSpPr>
          <p:cNvPr id="7" name="HW_Sub"/>
          <p:cNvSpPr/>
          <p:nvPr/>
        </p:nvSpPr>
        <p:spPr>
          <a:xfrm>
            <a:off x="780000" y="1310000"/>
            <a:ext cx="2500000" cy="180000"/>
          </a:xfrm>
          <a:prstGeom prst="rect">
            <a:avLst/>
          </a:prstGeom>
          <a:noFill/>
          <a:ln/>
        </p:spPr>
        <p:txBody>
          <a:bodyPr wrap="square" lIns="0" tIns="0" rIns="0" bIns="0" rtlCol="0" anchor="t"/>
          <a:lstStyle/>
          <a:p>
            <a:pPr marL="0" indent="0" algn="l">
              <a:buNone/>
            </a:pPr>
            <a:r>
              <a:rPr lang="en-US" sz="750">
                <a:solidFill>
                  <a:srgbClr val="8B9CB6"/>
                </a:solidFill>
                <a:latin typeface="Calibri" pitchFamily="34"/>
                <a:ea typeface="Calibri" pitchFamily="34"/>
                <a:cs typeface="Calibri" pitchFamily="34"/>
              </a:rPr>
              <a:t>GPU · CPU · RAM · Storage</a:t>
            </a:r>
            <a:endParaRPr lang="en-US"/>
          </a:p>
        </p:txBody>
      </p:sp>
      <p:sp>
        <p:nvSpPr>
          <p:cNvPr id="8" name="Layer_Ollama"/>
          <p:cNvSpPr/>
          <p:nvPr/>
        </p:nvSpPr>
        <p:spPr>
          <a:xfrm>
            <a:off x="880000" y="1550000"/>
            <a:ext cx="7384000" cy="2820000"/>
          </a:xfrm>
          <a:prstGeom prst="roundRect">
            <a:avLst>
              <a:gd name="adj" fmla="val 3000"/>
            </a:avLst>
          </a:prstGeom>
          <a:solidFill>
            <a:srgbClr val="1A2332"/>
          </a:solidFill>
          <a:ln w="19050">
            <a:solidFill>
              <a:srgbClr val="76B900">
                <a:alpha val="25000"/>
              </a:srgbClr>
            </a:solidFill>
          </a:ln>
        </p:spPr>
        <p:txBody>
          <a:bodyPr wrap="square" rtlCol="0" anchor="t"/>
          <a:lstStyle/>
          <a:p>
            <a:pPr marL="0" indent="0">
              <a:buNone/>
            </a:pPr>
            <a:endParaRPr lang="en-US"/>
          </a:p>
        </p:txBody>
      </p:sp>
      <p:sp>
        <p:nvSpPr>
          <p:cNvPr id="9" name="Ollama_Accent"/>
          <p:cNvSpPr/>
          <p:nvPr/>
        </p:nvSpPr>
        <p:spPr>
          <a:xfrm>
            <a:off x="895000" y="1560000"/>
            <a:ext cx="7354000" cy="25000"/>
          </a:xfrm>
          <a:prstGeom prst="rect">
            <a:avLst/>
          </a:prstGeom>
          <a:solidFill>
            <a:srgbClr val="76B900">
              <a:alpha val="50000"/>
            </a:srgbClr>
          </a:solidFill>
          <a:ln/>
        </p:spPr>
        <p:txBody>
          <a:bodyPr wrap="square" rtlCol="0" anchor="t"/>
          <a:lstStyle/>
          <a:p>
            <a:pPr marL="0" indent="0">
              <a:buNone/>
            </a:pPr>
            <a:endParaRPr lang="en-US"/>
          </a:p>
        </p:txBody>
      </p:sp>
      <p:sp>
        <p:nvSpPr>
          <p:cNvPr id="10" name="OL_Label"/>
          <p:cNvSpPr/>
          <p:nvPr/>
        </p:nvSpPr>
        <p:spPr>
          <a:xfrm>
            <a:off x="1080000" y="1630000"/>
            <a:ext cx="1200000" cy="250000"/>
          </a:xfrm>
          <a:prstGeom prst="rect">
            <a:avLst/>
          </a:prstGeom>
          <a:noFill/>
          <a:ln/>
        </p:spPr>
        <p:txBody>
          <a:bodyPr wrap="square" lIns="0" tIns="0" rIns="0" bIns="0" rtlCol="0" anchor="t"/>
          <a:lstStyle/>
          <a:p>
            <a:pPr marL="0" indent="0" algn="l">
              <a:buNone/>
            </a:pPr>
            <a:r>
              <a:rPr lang="en-US" sz="1100" b="1" kern="0" spc="150">
                <a:solidFill>
                  <a:srgbClr val="76B900"/>
                </a:solidFill>
                <a:latin typeface="Consolas" pitchFamily="34"/>
                <a:ea typeface="Consolas" pitchFamily="34"/>
                <a:cs typeface="Consolas" pitchFamily="34"/>
              </a:rPr>
              <a:t>OLLAMA</a:t>
            </a:r>
            <a:endParaRPr lang="en-US"/>
          </a:p>
        </p:txBody>
      </p:sp>
      <p:sp>
        <p:nvSpPr>
          <p:cNvPr id="11" name="OL_Sub"/>
          <p:cNvSpPr/>
          <p:nvPr/>
        </p:nvSpPr>
        <p:spPr>
          <a:xfrm>
            <a:off x="1080000" y="1870000"/>
            <a:ext cx="3000000" cy="180000"/>
          </a:xfrm>
          <a:prstGeom prst="rect">
            <a:avLst/>
          </a:prstGeom>
          <a:noFill/>
          <a:ln/>
        </p:spPr>
        <p:txBody>
          <a:bodyPr wrap="square" lIns="0" tIns="0" rIns="0" bIns="0" rtlCol="0" anchor="t"/>
          <a:lstStyle/>
          <a:p>
            <a:pPr marL="0" indent="0" algn="l">
              <a:buNone/>
            </a:pPr>
            <a:r>
              <a:rPr lang="en-US" sz="800">
                <a:solidFill>
                  <a:srgbClr val="8B9CB6"/>
                </a:solidFill>
                <a:latin typeface="Calibri" pitchFamily="34"/>
                <a:ea typeface="Calibri" pitchFamily="34"/>
                <a:cs typeface="Calibri" pitchFamily="34"/>
              </a:rPr>
              <a:t>Runtime · API Server · Model Manager</a:t>
            </a:r>
            <a:endParaRPr lang="en-US"/>
          </a:p>
        </p:txBody>
      </p:sp>
      <p:sp>
        <p:nvSpPr>
          <p:cNvPr id="12" name="Badge_RESTAPI"/>
          <p:cNvSpPr/>
          <p:nvPr/>
        </p:nvSpPr>
        <p:spPr>
          <a:xfrm>
            <a:off x="1030000" y="2150000"/>
            <a:ext cx="1400000" cy="230000"/>
          </a:xfrm>
          <a:prstGeom prst="roundRect">
            <a:avLst>
              <a:gd name="adj" fmla="val 16000"/>
            </a:avLst>
          </a:prstGeom>
          <a:solidFill>
            <a:srgbClr val="76B900">
              <a:alpha val="8000"/>
            </a:srgbClr>
          </a:solidFill>
          <a:ln w="6350">
            <a:solidFill>
              <a:srgbClr val="76B900">
                <a:alpha val="15000"/>
              </a:srgbClr>
            </a:solidFill>
          </a:ln>
        </p:spPr>
        <p:txBody>
          <a:bodyPr wrap="square" rtlCol="0" anchor="t"/>
          <a:lstStyle/>
          <a:p>
            <a:pPr marL="0" indent="0">
              <a:buNone/>
            </a:pPr>
            <a:endParaRPr lang="en-US"/>
          </a:p>
        </p:txBody>
      </p:sp>
      <p:pic>
        <p:nvPicPr>
          <p:cNvPr id="50" name="Icon_Badge_RESTAPI" descr="icon.svg"/>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060000" y="2195000"/>
            <a:ext cx="140000" cy="140000"/>
          </a:xfrm>
          <a:prstGeom prst="rect">
            <a:avLst/>
          </a:prstGeom>
        </p:spPr>
      </p:pic>
      <p:sp>
        <p:nvSpPr>
          <p:cNvPr id="13" name="BText_RESTAPI"/>
          <p:cNvSpPr/>
          <p:nvPr/>
        </p:nvSpPr>
        <p:spPr>
          <a:xfrm>
            <a:off x="1230000" y="2170000"/>
            <a:ext cx="1200000" cy="190000"/>
          </a:xfrm>
          <a:prstGeom prst="rect">
            <a:avLst/>
          </a:prstGeom>
          <a:noFill/>
          <a:ln/>
        </p:spPr>
        <p:txBody>
          <a:bodyPr wrap="square" lIns="0" tIns="0" rIns="0" bIns="0" rtlCol="0" anchor="ctr"/>
          <a:lstStyle/>
          <a:p>
            <a:pPr marL="0" indent="0" algn="l">
              <a:buNone/>
            </a:pPr>
            <a:r>
              <a:rPr lang="en-US" sz="800">
                <a:solidFill>
                  <a:srgbClr val="E2E8F0"/>
                </a:solidFill>
                <a:latin typeface="Consolas" pitchFamily="34"/>
                <a:ea typeface="Consolas" pitchFamily="34"/>
                <a:cs typeface="Consolas" pitchFamily="34"/>
              </a:rPr>
              <a:t>REST API</a:t>
            </a:r>
            <a:endParaRPr lang="en-US"/>
          </a:p>
        </p:txBody>
      </p:sp>
      <p:sp>
        <p:nvSpPr>
          <p:cNvPr id="14" name="Badge_Quantization"/>
          <p:cNvSpPr/>
          <p:nvPr/>
        </p:nvSpPr>
        <p:spPr>
          <a:xfrm>
            <a:off x="1030000" y="2450000"/>
            <a:ext cx="1400000" cy="230000"/>
          </a:xfrm>
          <a:prstGeom prst="roundRect">
            <a:avLst>
              <a:gd name="adj" fmla="val 16000"/>
            </a:avLst>
          </a:prstGeom>
          <a:solidFill>
            <a:srgbClr val="76B900">
              <a:alpha val="8000"/>
            </a:srgbClr>
          </a:solidFill>
          <a:ln w="6350">
            <a:solidFill>
              <a:srgbClr val="76B900">
                <a:alpha val="15000"/>
              </a:srgbClr>
            </a:solidFill>
          </a:ln>
        </p:spPr>
        <p:txBody>
          <a:bodyPr wrap="square" rtlCol="0" anchor="t"/>
          <a:lstStyle/>
          <a:p>
            <a:pPr marL="0" indent="0">
              <a:buNone/>
            </a:pPr>
            <a:endParaRPr lang="en-US"/>
          </a:p>
        </p:txBody>
      </p:sp>
      <p:pic>
        <p:nvPicPr>
          <p:cNvPr id="51" name="Icon_Badge_Quantization" descr="icon.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060000" y="2495000"/>
            <a:ext cx="140000" cy="140000"/>
          </a:xfrm>
          <a:prstGeom prst="rect">
            <a:avLst/>
          </a:prstGeom>
        </p:spPr>
      </p:pic>
      <p:sp>
        <p:nvSpPr>
          <p:cNvPr id="15" name="BText_Quantization"/>
          <p:cNvSpPr/>
          <p:nvPr/>
        </p:nvSpPr>
        <p:spPr>
          <a:xfrm>
            <a:off x="1230000" y="2470000"/>
            <a:ext cx="1200000" cy="190000"/>
          </a:xfrm>
          <a:prstGeom prst="rect">
            <a:avLst/>
          </a:prstGeom>
          <a:noFill/>
          <a:ln/>
        </p:spPr>
        <p:txBody>
          <a:bodyPr wrap="square" lIns="0" tIns="0" rIns="0" bIns="0" rtlCol="0" anchor="ctr"/>
          <a:lstStyle/>
          <a:p>
            <a:pPr marL="0" indent="0" algn="l">
              <a:buNone/>
            </a:pPr>
            <a:r>
              <a:rPr lang="en-US" sz="800">
                <a:solidFill>
                  <a:srgbClr val="E2E8F0"/>
                </a:solidFill>
                <a:latin typeface="Consolas" pitchFamily="34"/>
                <a:ea typeface="Consolas" pitchFamily="34"/>
                <a:cs typeface="Consolas" pitchFamily="34"/>
              </a:rPr>
              <a:t>Quantization</a:t>
            </a:r>
            <a:endParaRPr lang="en-US"/>
          </a:p>
        </p:txBody>
      </p:sp>
      <p:sp>
        <p:nvSpPr>
          <p:cNvPr id="16" name="Badge_ModelPull"/>
          <p:cNvSpPr/>
          <p:nvPr/>
        </p:nvSpPr>
        <p:spPr>
          <a:xfrm>
            <a:off x="1030000" y="2750000"/>
            <a:ext cx="1400000" cy="230000"/>
          </a:xfrm>
          <a:prstGeom prst="roundRect">
            <a:avLst>
              <a:gd name="adj" fmla="val 16000"/>
            </a:avLst>
          </a:prstGeom>
          <a:solidFill>
            <a:srgbClr val="76B900">
              <a:alpha val="8000"/>
            </a:srgbClr>
          </a:solidFill>
          <a:ln w="6350">
            <a:solidFill>
              <a:srgbClr val="76B900">
                <a:alpha val="15000"/>
              </a:srgbClr>
            </a:solidFill>
          </a:ln>
        </p:spPr>
        <p:txBody>
          <a:bodyPr wrap="square" rtlCol="0" anchor="t"/>
          <a:lstStyle/>
          <a:p>
            <a:pPr marL="0" indent="0">
              <a:buNone/>
            </a:pPr>
            <a:endParaRPr lang="en-US"/>
          </a:p>
        </p:txBody>
      </p:sp>
      <p:pic>
        <p:nvPicPr>
          <p:cNvPr id="52" name="Icon_Badge_ModelPull" descr="icon.sv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0000" y="2795000"/>
            <a:ext cx="140000" cy="140000"/>
          </a:xfrm>
          <a:prstGeom prst="rect">
            <a:avLst/>
          </a:prstGeom>
        </p:spPr>
      </p:pic>
      <p:sp>
        <p:nvSpPr>
          <p:cNvPr id="17" name="BText_ModelPull"/>
          <p:cNvSpPr/>
          <p:nvPr/>
        </p:nvSpPr>
        <p:spPr>
          <a:xfrm>
            <a:off x="1230000" y="2770000"/>
            <a:ext cx="1200000" cy="190000"/>
          </a:xfrm>
          <a:prstGeom prst="rect">
            <a:avLst/>
          </a:prstGeom>
          <a:noFill/>
          <a:ln/>
        </p:spPr>
        <p:txBody>
          <a:bodyPr wrap="square" lIns="0" tIns="0" rIns="0" bIns="0" rtlCol="0" anchor="ctr"/>
          <a:lstStyle/>
          <a:p>
            <a:pPr marL="0" indent="0" algn="l">
              <a:buNone/>
            </a:pPr>
            <a:r>
              <a:rPr lang="en-US" sz="800">
                <a:solidFill>
                  <a:srgbClr val="E2E8F0"/>
                </a:solidFill>
                <a:latin typeface="Consolas" pitchFamily="34"/>
                <a:ea typeface="Consolas" pitchFamily="34"/>
                <a:cs typeface="Consolas" pitchFamily="34"/>
              </a:rPr>
              <a:t>Model Pull</a:t>
            </a:r>
            <a:endParaRPr lang="en-US"/>
          </a:p>
        </p:txBody>
      </p:sp>
      <p:sp>
        <p:nvSpPr>
          <p:cNvPr id="18" name="Badge_Concurrency"/>
          <p:cNvSpPr/>
          <p:nvPr/>
        </p:nvSpPr>
        <p:spPr>
          <a:xfrm>
            <a:off x="1030000" y="3050000"/>
            <a:ext cx="1400000" cy="230000"/>
          </a:xfrm>
          <a:prstGeom prst="roundRect">
            <a:avLst>
              <a:gd name="adj" fmla="val 16000"/>
            </a:avLst>
          </a:prstGeom>
          <a:solidFill>
            <a:srgbClr val="76B900">
              <a:alpha val="8000"/>
            </a:srgbClr>
          </a:solidFill>
          <a:ln w="6350">
            <a:solidFill>
              <a:srgbClr val="76B900">
                <a:alpha val="15000"/>
              </a:srgbClr>
            </a:solidFill>
          </a:ln>
        </p:spPr>
        <p:txBody>
          <a:bodyPr wrap="square" rtlCol="0" anchor="t"/>
          <a:lstStyle/>
          <a:p>
            <a:pPr marL="0" indent="0">
              <a:buNone/>
            </a:pPr>
            <a:endParaRPr lang="en-US"/>
          </a:p>
        </p:txBody>
      </p:sp>
      <p:pic>
        <p:nvPicPr>
          <p:cNvPr id="53" name="Icon_Badge_Concurrency" descr="icon.sv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0000" y="3095000"/>
            <a:ext cx="140000" cy="140000"/>
          </a:xfrm>
          <a:prstGeom prst="rect">
            <a:avLst/>
          </a:prstGeom>
        </p:spPr>
      </p:pic>
      <p:sp>
        <p:nvSpPr>
          <p:cNvPr id="19" name="BText_Concurrency"/>
          <p:cNvSpPr/>
          <p:nvPr/>
        </p:nvSpPr>
        <p:spPr>
          <a:xfrm>
            <a:off x="1230000" y="3070000"/>
            <a:ext cx="1200000" cy="190000"/>
          </a:xfrm>
          <a:prstGeom prst="rect">
            <a:avLst/>
          </a:prstGeom>
          <a:noFill/>
          <a:ln/>
        </p:spPr>
        <p:txBody>
          <a:bodyPr wrap="square" lIns="0" tIns="0" rIns="0" bIns="0" rtlCol="0" anchor="ctr"/>
          <a:lstStyle/>
          <a:p>
            <a:pPr marL="0" indent="0" algn="l">
              <a:buNone/>
            </a:pPr>
            <a:r>
              <a:rPr lang="en-US" sz="800">
                <a:solidFill>
                  <a:srgbClr val="E2E8F0"/>
                </a:solidFill>
                <a:latin typeface="Consolas" pitchFamily="34"/>
                <a:ea typeface="Consolas" pitchFamily="34"/>
                <a:cs typeface="Consolas" pitchFamily="34"/>
              </a:rPr>
              <a:t>Concurrency</a:t>
            </a:r>
            <a:endParaRPr lang="en-US"/>
          </a:p>
        </p:txBody>
      </p:sp>
      <p:sp>
        <p:nvSpPr>
          <p:cNvPr id="20" name="Layer_Model"/>
          <p:cNvSpPr/>
          <p:nvPr/>
        </p:nvSpPr>
        <p:spPr>
          <a:xfrm>
            <a:off x="2680000" y="2100000"/>
            <a:ext cx="5384000" cy="2070000"/>
          </a:xfrm>
          <a:prstGeom prst="roundRect">
            <a:avLst>
              <a:gd name="adj" fmla="val 4000"/>
            </a:avLst>
          </a:prstGeom>
          <a:solidFill>
            <a:srgbClr val="111827"/>
          </a:solidFill>
          <a:ln w="19050">
            <a:solidFill>
              <a:srgbClr val="4285F4">
                <a:alpha val="40000"/>
              </a:srgbClr>
            </a:solidFill>
          </a:ln>
        </p:spPr>
        <p:txBody>
          <a:bodyPr wrap="square" rtlCol="0" anchor="t"/>
          <a:lstStyle/>
          <a:p>
            <a:pPr marL="0" indent="0">
              <a:buNone/>
            </a:pPr>
            <a:endParaRPr lang="en-US"/>
          </a:p>
        </p:txBody>
      </p:sp>
      <p:sp>
        <p:nvSpPr>
          <p:cNvPr id="21" name="Model_Accent"/>
          <p:cNvSpPr/>
          <p:nvPr/>
        </p:nvSpPr>
        <p:spPr>
          <a:xfrm>
            <a:off x="2695000" y="2110000"/>
            <a:ext cx="5354000" cy="25000"/>
          </a:xfrm>
          <a:prstGeom prst="rect">
            <a:avLst/>
          </a:prstGeom>
          <a:solidFill>
            <a:srgbClr val="4285F4">
              <a:alpha val="50000"/>
            </a:srgbClr>
          </a:solidFill>
          <a:ln/>
        </p:spPr>
        <p:txBody>
          <a:bodyPr wrap="square" rtlCol="0" anchor="t"/>
          <a:lstStyle/>
          <a:p>
            <a:pPr marL="0" indent="0">
              <a:buNone/>
            </a:pPr>
            <a:endParaRPr lang="en-US"/>
          </a:p>
        </p:txBody>
      </p:sp>
      <p:pic>
        <p:nvPicPr>
          <p:cNvPr id="54" name="GemmaLogo" descr="icon.sv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20000" y="2200000"/>
            <a:ext cx="180000" cy="180000"/>
          </a:xfrm>
          <a:prstGeom prst="rect">
            <a:avLst/>
          </a:prstGeom>
        </p:spPr>
      </p:pic>
      <p:sp>
        <p:nvSpPr>
          <p:cNvPr id="22" name="MDL_Title"/>
          <p:cNvSpPr/>
          <p:nvPr/>
        </p:nvSpPr>
        <p:spPr>
          <a:xfrm>
            <a:off x="3120000" y="2180000"/>
            <a:ext cx="4744000" cy="300000"/>
          </a:xfrm>
          <a:prstGeom prst="rect">
            <a:avLst/>
          </a:prstGeom>
          <a:noFill/>
          <a:ln/>
        </p:spPr>
        <p:txBody>
          <a:bodyPr wrap="square" lIns="0" tIns="0" rIns="0" bIns="0" rtlCol="0" anchor="t"/>
          <a:lstStyle/>
          <a:p>
            <a:pPr marL="0" indent="0" algn="ctr">
              <a:buNone/>
            </a:pPr>
            <a:r>
              <a:rPr lang="en-US" sz="1400" b="1">
                <a:solidFill>
                  <a:srgbClr val="4285F4"/>
                </a:solidFill>
                <a:latin typeface="Consolas" pitchFamily="34"/>
                <a:ea typeface="Consolas" pitchFamily="34"/>
                <a:cs typeface="Consolas" pitchFamily="34"/>
              </a:rPr>
              <a:t>gemma3:4b</a:t>
            </a:r>
            <a:endParaRPr lang="en-US"/>
          </a:p>
        </p:txBody>
      </p:sp>
      <p:sp>
        <p:nvSpPr>
          <p:cNvPr id="23" name="MDL_Sub"/>
          <p:cNvSpPr/>
          <p:nvPr/>
        </p:nvSpPr>
        <p:spPr>
          <a:xfrm>
            <a:off x="2880000" y="2480000"/>
            <a:ext cx="4984000" cy="180000"/>
          </a:xfrm>
          <a:prstGeom prst="rect">
            <a:avLst/>
          </a:prstGeom>
          <a:noFill/>
          <a:ln/>
        </p:spPr>
        <p:txBody>
          <a:bodyPr wrap="square" lIns="0" tIns="0" rIns="0" bIns="0" rtlCol="0" anchor="t"/>
          <a:lstStyle/>
          <a:p>
            <a:pPr marL="0" indent="0" algn="ctr">
              <a:buNone/>
            </a:pPr>
            <a:r>
              <a:rPr lang="en-US" sz="800">
                <a:solidFill>
                  <a:srgbClr val="8B9CB6"/>
                </a:solidFill>
                <a:latin typeface="Calibri" pitchFamily="34"/>
                <a:ea typeface="Calibri" pitchFamily="34"/>
                <a:cs typeface="Calibri" pitchFamily="34"/>
              </a:rPr>
              <a:t>Google · 4 billion parameters · Q4_K_M</a:t>
            </a:r>
            <a:endParaRPr lang="en-US"/>
          </a:p>
        </p:txBody>
      </p:sp>
      <p:sp>
        <p:nvSpPr>
          <p:cNvPr id="24" name="MDL_L0"/>
          <p:cNvSpPr/>
          <p:nvPr/>
        </p:nvSpPr>
        <p:spPr>
          <a:xfrm>
            <a:off x="2880000" y="2750000"/>
            <a:ext cx="2392000" cy="200000"/>
          </a:xfrm>
          <a:prstGeom prst="rect">
            <a:avLst/>
          </a:prstGeom>
          <a:noFill/>
          <a:ln/>
        </p:spPr>
        <p:txBody>
          <a:bodyPr wrap="square" lIns="0" tIns="0" rIns="0" bIns="0" rtlCol="0" anchor="t"/>
          <a:lstStyle/>
          <a:p>
            <a:pPr marL="0" indent="0" algn="l">
              <a:lnSpc>
                <a:spcPts val="1000"/>
              </a:lnSpc>
              <a:buNone/>
            </a:pPr>
            <a:r>
              <a:rPr lang="en-US" sz="750">
                <a:solidFill>
                  <a:srgbClr val="E2E8F0"/>
                </a:solidFill>
                <a:latin typeface="Calibri" pitchFamily="34"/>
                <a:ea typeface="Calibri" pitchFamily="34"/>
                <a:cs typeface="Calibri" pitchFamily="34"/>
              </a:rPr>
              <a:t>• ~3 GB download</a:t>
            </a:r>
            <a:endParaRPr lang="en-US"/>
          </a:p>
        </p:txBody>
      </p:sp>
      <p:sp>
        <p:nvSpPr>
          <p:cNvPr id="25" name="MDL_L1"/>
          <p:cNvSpPr/>
          <p:nvPr/>
        </p:nvSpPr>
        <p:spPr>
          <a:xfrm>
            <a:off x="2880000" y="2970000"/>
            <a:ext cx="2392000" cy="200000"/>
          </a:xfrm>
          <a:prstGeom prst="rect">
            <a:avLst/>
          </a:prstGeom>
          <a:noFill/>
          <a:ln/>
        </p:spPr>
        <p:txBody>
          <a:bodyPr wrap="square" lIns="0" tIns="0" rIns="0" bIns="0" rtlCol="0" anchor="t"/>
          <a:lstStyle/>
          <a:p>
            <a:pPr marL="0" indent="0" algn="l">
              <a:lnSpc>
                <a:spcPts val="1000"/>
              </a:lnSpc>
              <a:buNone/>
            </a:pPr>
            <a:r>
              <a:rPr lang="en-US" sz="750">
                <a:solidFill>
                  <a:srgbClr val="E2E8F0"/>
                </a:solidFill>
                <a:latin typeface="Calibri" pitchFamily="34"/>
                <a:ea typeface="Calibri" pitchFamily="34"/>
                <a:cs typeface="Calibri" pitchFamily="34"/>
              </a:rPr>
              <a:t>• ~4.7 GB RAM needed</a:t>
            </a:r>
            <a:endParaRPr lang="en-US"/>
          </a:p>
        </p:txBody>
      </p:sp>
      <p:sp>
        <p:nvSpPr>
          <p:cNvPr id="26" name="MDL_L2"/>
          <p:cNvSpPr/>
          <p:nvPr/>
        </p:nvSpPr>
        <p:spPr>
          <a:xfrm>
            <a:off x="2880000" y="3190000"/>
            <a:ext cx="2392000" cy="200000"/>
          </a:xfrm>
          <a:prstGeom prst="rect">
            <a:avLst/>
          </a:prstGeom>
          <a:noFill/>
          <a:ln/>
        </p:spPr>
        <p:txBody>
          <a:bodyPr wrap="square" lIns="0" tIns="0" rIns="0" bIns="0" rtlCol="0" anchor="t"/>
          <a:lstStyle/>
          <a:p>
            <a:pPr marL="0" indent="0" algn="l">
              <a:lnSpc>
                <a:spcPts val="1000"/>
              </a:lnSpc>
              <a:buNone/>
            </a:pPr>
            <a:r>
              <a:rPr lang="en-US" sz="750">
                <a:solidFill>
                  <a:srgbClr val="E2E8F0"/>
                </a:solidFill>
                <a:latin typeface="Calibri" pitchFamily="34"/>
                <a:ea typeface="Calibri" pitchFamily="34"/>
                <a:cs typeface="Calibri" pitchFamily="34"/>
              </a:rPr>
              <a:t>• Fast on CPU or GPU</a:t>
            </a:r>
            <a:endParaRPr lang="en-US"/>
          </a:p>
        </p:txBody>
      </p:sp>
      <p:sp>
        <p:nvSpPr>
          <p:cNvPr id="27" name="MDL_R0"/>
          <p:cNvSpPr/>
          <p:nvPr/>
        </p:nvSpPr>
        <p:spPr>
          <a:xfrm>
            <a:off x="5472000" y="2750000"/>
            <a:ext cx="2392000" cy="200000"/>
          </a:xfrm>
          <a:prstGeom prst="rect">
            <a:avLst/>
          </a:prstGeom>
          <a:noFill/>
          <a:ln/>
        </p:spPr>
        <p:txBody>
          <a:bodyPr wrap="square" lIns="0" tIns="0" rIns="0" bIns="0" rtlCol="0" anchor="t"/>
          <a:lstStyle/>
          <a:p>
            <a:pPr marL="0" indent="0" algn="l">
              <a:lnSpc>
                <a:spcPts val="1000"/>
              </a:lnSpc>
              <a:buNone/>
            </a:pPr>
            <a:r>
              <a:rPr lang="en-US" sz="750">
                <a:solidFill>
                  <a:srgbClr val="E2E8F0"/>
                </a:solidFill>
                <a:latin typeface="Calibri" pitchFamily="34"/>
                <a:ea typeface="Calibri" pitchFamily="34"/>
                <a:cs typeface="Calibri" pitchFamily="34"/>
              </a:rPr>
              <a:t>• Multi-language</a:t>
            </a:r>
            <a:endParaRPr lang="en-US"/>
          </a:p>
        </p:txBody>
      </p:sp>
      <p:sp>
        <p:nvSpPr>
          <p:cNvPr id="28" name="MDL_R1"/>
          <p:cNvSpPr/>
          <p:nvPr/>
        </p:nvSpPr>
        <p:spPr>
          <a:xfrm>
            <a:off x="5472000" y="2970000"/>
            <a:ext cx="2392000" cy="200000"/>
          </a:xfrm>
          <a:prstGeom prst="rect">
            <a:avLst/>
          </a:prstGeom>
          <a:noFill/>
          <a:ln/>
        </p:spPr>
        <p:txBody>
          <a:bodyPr wrap="square" lIns="0" tIns="0" rIns="0" bIns="0" rtlCol="0" anchor="t"/>
          <a:lstStyle/>
          <a:p>
            <a:pPr marL="0" indent="0" algn="l">
              <a:lnSpc>
                <a:spcPts val="1000"/>
              </a:lnSpc>
              <a:buNone/>
            </a:pPr>
            <a:r>
              <a:rPr lang="en-US" sz="750">
                <a:solidFill>
                  <a:srgbClr val="E2E8F0"/>
                </a:solidFill>
                <a:latin typeface="Calibri" pitchFamily="34"/>
                <a:ea typeface="Calibri" pitchFamily="34"/>
                <a:cs typeface="Calibri" pitchFamily="34"/>
              </a:rPr>
              <a:t>• Vision capable</a:t>
            </a:r>
            <a:endParaRPr lang="en-US"/>
          </a:p>
        </p:txBody>
      </p:sp>
      <p:sp>
        <p:nvSpPr>
          <p:cNvPr id="29" name="MDL_R2"/>
          <p:cNvSpPr/>
          <p:nvPr/>
        </p:nvSpPr>
        <p:spPr>
          <a:xfrm>
            <a:off x="5472000" y="3190000"/>
            <a:ext cx="2392000" cy="200000"/>
          </a:xfrm>
          <a:prstGeom prst="rect">
            <a:avLst/>
          </a:prstGeom>
          <a:noFill/>
          <a:ln/>
        </p:spPr>
        <p:txBody>
          <a:bodyPr wrap="square" lIns="0" tIns="0" rIns="0" bIns="0" rtlCol="0" anchor="t"/>
          <a:lstStyle/>
          <a:p>
            <a:pPr marL="0" indent="0" algn="l">
              <a:lnSpc>
                <a:spcPts val="1000"/>
              </a:lnSpc>
              <a:buNone/>
            </a:pPr>
            <a:r>
              <a:rPr lang="en-US" sz="750">
                <a:solidFill>
                  <a:srgbClr val="E2E8F0"/>
                </a:solidFill>
                <a:latin typeface="Calibri" pitchFamily="34"/>
                <a:ea typeface="Calibri" pitchFamily="34"/>
                <a:cs typeface="Calibri" pitchFamily="34"/>
              </a:rPr>
              <a:t>• 128K context</a:t>
            </a:r>
            <a:endParaRPr lang="en-US"/>
          </a:p>
        </p:txBody>
      </p:sp>
      <p:sp>
        <p:nvSpPr>
          <p:cNvPr id="30" name="MDL_Cmd"/>
          <p:cNvSpPr/>
          <p:nvPr/>
        </p:nvSpPr>
        <p:spPr>
          <a:xfrm>
            <a:off x="2780000" y="3820000"/>
            <a:ext cx="5184000" cy="250000"/>
          </a:xfrm>
          <a:prstGeom prst="rect">
            <a:avLst/>
          </a:prstGeom>
          <a:noFill/>
          <a:ln/>
        </p:spPr>
        <p:txBody>
          <a:bodyPr wrap="square" lIns="0" tIns="0" rIns="0" bIns="0" rtlCol="0" anchor="ctr"/>
          <a:lstStyle/>
          <a:p>
            <a:pPr marL="0" indent="0" algn="ctr">
              <a:buNone/>
            </a:pPr>
            <a:r>
              <a:rPr lang="en-US" sz="900">
                <a:solidFill>
                  <a:srgbClr val="76B900"/>
                </a:solidFill>
                <a:latin typeface="Consolas" pitchFamily="34"/>
                <a:ea typeface="Consolas" pitchFamily="34"/>
                <a:cs typeface="Consolas" pitchFamily="34"/>
              </a:rPr>
              <a:t>ollama pull gemma3:4b</a:t>
            </a:r>
            <a:endParaRPr lang="en-US"/>
          </a:p>
        </p:txBody>
      </p:sp>
      <p:pic>
        <p:nvPicPr>
          <p:cNvPr id="55" name="ArrowInIcon" descr="icon.sv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50000" y="4770000"/>
            <a:ext cx="200000" cy="200000"/>
          </a:xfrm>
          <a:prstGeom prst="rect">
            <a:avLst/>
          </a:prstGeom>
        </p:spPr>
      </p:pic>
      <p:sp>
        <p:nvSpPr>
          <p:cNvPr id="56" name="InputBadge"/>
          <p:cNvSpPr/>
          <p:nvPr/>
        </p:nvSpPr>
        <p:spPr>
          <a:xfrm>
            <a:off x="880000" y="4750000"/>
            <a:ext cx="2800000" cy="240000"/>
          </a:xfrm>
          <a:prstGeom prst="roundRect">
            <a:avLst>
              <a:gd name="adj" fmla="val 50000"/>
            </a:avLst>
          </a:prstGeom>
          <a:solidFill>
            <a:srgbClr val="76B900">
              <a:alpha val="10000"/>
            </a:srgbClr>
          </a:solidFill>
          <a:ln w="6350">
            <a:solidFill>
              <a:srgbClr val="76B900">
                <a:alpha val="25000"/>
              </a:srgbClr>
            </a:solidFill>
          </a:ln>
        </p:spPr>
        <p:txBody>
          <a:bodyPr wrap="square" lIns="91440" tIns="0" rIns="0" bIns="0" rtlCol="0" anchor="ctr"/>
          <a:lstStyle/>
          <a:p>
            <a:pPr marL="0" indent="0" algn="l">
              <a:buNone/>
            </a:pPr>
            <a:r>
              <a:rPr lang="en-US" sz="800" b="1">
                <a:solidFill>
                  <a:srgbClr val="76B900"/>
                </a:solidFill>
                <a:latin typeface="Consolas"/>
                <a:ea typeface="Consolas"/>
                <a:cs typeface="Consolas"/>
              </a:rPr>
              <a:t>USER PROMPT →  </a:t>
            </a:r>
            <a:r>
              <a:rPr lang="en-US" sz="750">
                <a:solidFill>
                  <a:srgbClr val="E2E8F0"/>
                </a:solidFill>
                <a:latin typeface="Consolas"/>
                <a:ea typeface="Consolas"/>
                <a:cs typeface="Consolas"/>
              </a:rPr>
              <a:t>ollama run gemma3:4b</a:t>
            </a:r>
            <a:endParaRPr lang="en-US"/>
          </a:p>
        </p:txBody>
      </p:sp>
      <p:sp>
        <p:nvSpPr>
          <p:cNvPr id="57" name="OutputBadge"/>
          <p:cNvSpPr/>
          <p:nvPr/>
        </p:nvSpPr>
        <p:spPr>
          <a:xfrm>
            <a:off x="5464000" y="4750000"/>
            <a:ext cx="2800000" cy="240000"/>
          </a:xfrm>
          <a:prstGeom prst="roundRect">
            <a:avLst>
              <a:gd name="adj" fmla="val 50000"/>
            </a:avLst>
          </a:prstGeom>
          <a:solidFill>
            <a:srgbClr val="76B900">
              <a:alpha val="10000"/>
            </a:srgbClr>
          </a:solidFill>
          <a:ln w="6350">
            <a:solidFill>
              <a:srgbClr val="76B900">
                <a:alpha val="25000"/>
              </a:srgbClr>
            </a:solidFill>
          </a:ln>
        </p:spPr>
        <p:txBody>
          <a:bodyPr wrap="square" lIns="91440" tIns="0" rIns="91440" bIns="0" rtlCol="0" anchor="ctr"/>
          <a:lstStyle/>
          <a:p>
            <a:pPr marL="0" indent="0" algn="r">
              <a:buNone/>
            </a:pPr>
            <a:r>
              <a:rPr lang="en-US" sz="750">
                <a:solidFill>
                  <a:srgbClr val="E2E8F0"/>
                </a:solidFill>
                <a:latin typeface="Consolas"/>
                <a:ea typeface="Consolas"/>
                <a:cs typeface="Consolas"/>
              </a:rPr>
              <a:t>Streamed tokens  </a:t>
            </a:r>
            <a:r>
              <a:rPr lang="en-US" sz="800" b="1">
                <a:solidFill>
                  <a:srgbClr val="76B900"/>
                </a:solidFill>
                <a:latin typeface="Consolas"/>
                <a:ea typeface="Consolas"/>
                <a:cs typeface="Consolas"/>
              </a:rPr>
              <a:t>← RESPONSE OUT</a:t>
            </a:r>
            <a:endParaRPr lang="en-US"/>
          </a:p>
        </p:txBody>
      </p:sp>
      <p:pic>
        <p:nvPicPr>
          <p:cNvPr id="58" name="ArrowOutIcon" descr="icon.sv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294000" y="4770000"/>
            <a:ext cx="200000" cy="200000"/>
          </a:xfrm>
          <a:prstGeom prst="rect">
            <a:avLst/>
          </a:prstGeom>
        </p:spPr>
      </p:pic>
      <p:sp>
        <p:nvSpPr>
          <p:cNvPr id="70" name="ArrowUp_Left"/>
          <p:cNvSpPr/>
          <p:nvPr/>
        </p:nvSpPr>
        <p:spPr>
          <a:xfrm>
            <a:off x="780000" y="4650000"/>
            <a:ext cx="18000" cy="100000"/>
          </a:xfrm>
          <a:prstGeom prst="rect">
            <a:avLst/>
          </a:prstGeom>
          <a:gradFill rotWithShape="1">
            <a:gsLst>
              <a:gs pos="0">
                <a:srgbClr val="76B900">
                  <a:alpha val="5000"/>
                </a:srgbClr>
              </a:gs>
              <a:gs pos="100000">
                <a:srgbClr val="76B900">
                  <a:alpha val="50000"/>
                </a:srgbClr>
              </a:gs>
            </a:gsLst>
            <a:lin ang="16200000" scaled="1"/>
          </a:gradFill>
          <a:ln/>
        </p:spPr>
        <p:txBody>
          <a:bodyPr wrap="square" rtlCol="0" anchor="t"/>
          <a:lstStyle/>
          <a:p>
            <a:endParaRPr lang="en-US"/>
          </a:p>
        </p:txBody>
      </p:sp>
      <p:sp>
        <p:nvSpPr>
          <p:cNvPr id="71" name="ArrowDown_Right"/>
          <p:cNvSpPr/>
          <p:nvPr/>
        </p:nvSpPr>
        <p:spPr>
          <a:xfrm>
            <a:off x="8360000" y="4650000"/>
            <a:ext cx="18000" cy="100000"/>
          </a:xfrm>
          <a:prstGeom prst="rect">
            <a:avLst/>
          </a:prstGeom>
          <a:gradFill rotWithShape="1">
            <a:gsLst>
              <a:gs pos="0">
                <a:srgbClr val="76B900">
                  <a:alpha val="5000"/>
                </a:srgbClr>
              </a:gs>
              <a:gs pos="100000">
                <a:srgbClr val="76B900">
                  <a:alpha val="50000"/>
                </a:srgbClr>
              </a:gs>
            </a:gsLst>
            <a:lin ang="5400000" scaled="1"/>
          </a:gradFill>
          <a:ln/>
        </p:spPr>
        <p:txBody>
          <a:bodyPr wrap="square" rtlCol="0" anchor="t"/>
          <a:lstStyle/>
          <a:p>
            <a:endParaRPr lang="en-US"/>
          </a:p>
        </p:txBody>
      </p:sp>
      <p:sp>
        <p:nvSpPr>
          <p:cNvPr id="72" name="ArrowRight_BadgeToModel"/>
          <p:cNvSpPr/>
          <p:nvPr/>
        </p:nvSpPr>
        <p:spPr>
          <a:xfrm>
            <a:off x="2440000" y="2650000"/>
            <a:ext cx="230000" cy="12000"/>
          </a:xfrm>
          <a:prstGeom prst="rect">
            <a:avLst/>
          </a:prstGeom>
          <a:gradFill rotWithShape="1">
            <a:gsLst>
              <a:gs pos="0">
                <a:srgbClr val="76B900">
                  <a:alpha val="5000"/>
                </a:srgbClr>
              </a:gs>
              <a:gs pos="100000">
                <a:srgbClr val="76B900">
                  <a:alpha val="50000"/>
                </a:srgbClr>
              </a:gs>
            </a:gsLst>
            <a:lin ang="0" scaled="1"/>
          </a:gradFill>
          <a:ln/>
        </p:spPr>
        <p:txBody>
          <a:bodyPr wrap="square" rtlCol="0" anchor="t"/>
          <a:lstStyle/>
          <a:p>
            <a:endParaRPr lang="en-US"/>
          </a:p>
        </p:txBody>
      </p:sp>
      <p:sp>
        <p:nvSpPr>
          <p:cNvPr id="73" name="Port_Label"/>
          <p:cNvSpPr/>
          <p:nvPr/>
        </p:nvSpPr>
        <p:spPr>
          <a:xfrm>
            <a:off x="7300000" y="1590000"/>
            <a:ext cx="900000" cy="200000"/>
          </a:xfrm>
          <a:prstGeom prst="roundRect">
            <a:avLst>
              <a:gd name="adj" fmla="val 50000"/>
            </a:avLst>
          </a:prstGeom>
          <a:solidFill>
            <a:srgbClr val="0F1520">
              <a:alpha val="80000"/>
            </a:srgbClr>
          </a:solidFill>
          <a:ln w="6350">
            <a:solidFill>
              <a:srgbClr val="76B900">
                <a:alpha val="20000"/>
              </a:srgbClr>
            </a:solidFill>
          </a:ln>
        </p:spPr>
        <p:txBody>
          <a:bodyPr wrap="square" lIns="45720" tIns="0" rIns="45720" bIns="0" rtlCol="0" anchor="ctr"/>
          <a:lstStyle/>
          <a:p>
            <a:pPr marL="0" indent="0" algn="ctr">
              <a:buNone/>
            </a:pPr>
            <a:r>
              <a:rPr lang="en-US" sz="700" b="1">
                <a:solidFill>
                  <a:srgbClr val="76B900"/>
                </a:solidFill>
                <a:latin typeface="Consolas"/>
                <a:ea typeface="Consolas"/>
                <a:cs typeface="Consolas"/>
              </a:rPr>
              <a:t>:11434</a:t>
            </a:r>
            <a:endParaRPr lang="en-US"/>
          </a:p>
        </p:txBody>
      </p:sp>
      <p:sp>
        <p:nvSpPr>
          <p:cNvPr id="74" name="API_Label"/>
          <p:cNvSpPr/>
          <p:nvPr/>
        </p:nvSpPr>
        <p:spPr>
          <a:xfrm>
            <a:off x="4800000" y="1590000"/>
            <a:ext cx="1800000" cy="200000"/>
          </a:xfrm>
          <a:prstGeom prst="roundRect">
            <a:avLst>
              <a:gd name="adj" fmla="val 50000"/>
            </a:avLst>
          </a:prstGeom>
          <a:solidFill>
            <a:srgbClr val="0F1520">
              <a:alpha val="80000"/>
            </a:srgbClr>
          </a:solidFill>
          <a:ln w="6350">
            <a:solidFill>
              <a:srgbClr val="76B900">
                <a:alpha val="20000"/>
              </a:srgbClr>
            </a:solidFill>
          </a:ln>
        </p:spPr>
        <p:txBody>
          <a:bodyPr wrap="square" lIns="45720" tIns="0" rIns="45720" bIns="0" rtlCol="0" anchor="ctr"/>
          <a:lstStyle/>
          <a:p>
            <a:pPr marL="0" indent="0" algn="ctr">
              <a:buNone/>
            </a:pPr>
            <a:r>
              <a:rPr lang="en-US" sz="700" b="1">
                <a:solidFill>
                  <a:srgbClr val="76B900"/>
                </a:solidFill>
                <a:latin typeface="Consolas"/>
                <a:ea typeface="Consolas"/>
                <a:cs typeface="Consolas"/>
              </a:rPr>
              <a:t>POST /api/chat</a:t>
            </a:r>
            <a:endParaRPr lang="en-US"/>
          </a:p>
        </p:txBody>
      </p:sp>
      <p:sp>
        <p:nvSpPr>
          <p:cNvPr id="75" name="URL_Label"/>
          <p:cNvSpPr/>
          <p:nvPr/>
        </p:nvSpPr>
        <p:spPr>
          <a:xfrm>
            <a:off x="6700000" y="1640000"/>
            <a:ext cx="1500000" cy="150000"/>
          </a:xfrm>
          <a:prstGeom prst="rect">
            <a:avLst/>
          </a:prstGeom>
          <a:noFill/>
          <a:ln/>
        </p:spPr>
        <p:txBody>
          <a:bodyPr wrap="square" lIns="0" tIns="0" rIns="0" bIns="0" rtlCol="0" anchor="ctr"/>
          <a:lstStyle/>
          <a:p>
            <a:pPr marL="0" indent="0" algn="ctr">
              <a:buNone/>
            </a:pPr>
            <a:r>
              <a:rPr lang="en-US" sz="650">
                <a:solidFill>
                  <a:srgbClr val="8B9CB6">
                    <a:alpha val="60000"/>
                  </a:srgbClr>
                </a:solidFill>
                <a:latin typeface="Calibri"/>
                <a:ea typeface="Calibri"/>
                <a:cs typeface="Calibri"/>
              </a:rPr>
              <a:t>localhost</a:t>
            </a:r>
            <a:endParaRPr lang="en-US"/>
          </a:p>
        </p:txBody>
      </p:sp>
      <p:sp>
        <p:nvSpPr>
          <p:cNvPr id="76" name="Chevron_Up"/>
          <p:cNvSpPr/>
          <p:nvPr/>
        </p:nvSpPr>
        <p:spPr>
          <a:xfrm>
            <a:off x="730000" y="4660000"/>
            <a:ext cx="150000" cy="80000"/>
          </a:xfrm>
          <a:prstGeom prst="rect">
            <a:avLst/>
          </a:prstGeom>
          <a:noFill/>
          <a:ln/>
        </p:spPr>
        <p:txBody>
          <a:bodyPr wrap="square" lIns="0" tIns="0" rIns="0" bIns="0" rtlCol="0" anchor="ctr"/>
          <a:lstStyle/>
          <a:p>
            <a:pPr marL="0" indent="0" algn="ctr">
              <a:buNone/>
            </a:pPr>
            <a:r>
              <a:rPr lang="en-US" sz="600">
                <a:solidFill>
                  <a:srgbClr val="76B900">
                    <a:alpha val="50000"/>
                  </a:srgbClr>
                </a:solidFill>
                <a:latin typeface="Calibri"/>
                <a:ea typeface="Calibri"/>
                <a:cs typeface="Calibri"/>
              </a:rPr>
              <a:t>▲</a:t>
            </a:r>
            <a:endParaRPr lang="en-US"/>
          </a:p>
        </p:txBody>
      </p:sp>
      <p:sp>
        <p:nvSpPr>
          <p:cNvPr id="77" name="Chevron_Down"/>
          <p:cNvSpPr/>
          <p:nvPr/>
        </p:nvSpPr>
        <p:spPr>
          <a:xfrm>
            <a:off x="8310000" y="4660000"/>
            <a:ext cx="150000" cy="80000"/>
          </a:xfrm>
          <a:prstGeom prst="rect">
            <a:avLst/>
          </a:prstGeom>
          <a:noFill/>
          <a:ln/>
        </p:spPr>
        <p:txBody>
          <a:bodyPr wrap="square" lIns="0" tIns="0" rIns="0" bIns="0" rtlCol="0" anchor="ctr"/>
          <a:lstStyle/>
          <a:p>
            <a:pPr marL="0" indent="0" algn="ctr">
              <a:buNone/>
            </a:pPr>
            <a:r>
              <a:rPr lang="en-US" sz="600">
                <a:solidFill>
                  <a:srgbClr val="76B900">
                    <a:alpha val="50000"/>
                  </a:srgbClr>
                </a:solidFill>
                <a:latin typeface="Calibri"/>
                <a:ea typeface="Calibri"/>
                <a:cs typeface="Calibri"/>
              </a:rPr>
              <a:t>▼</a:t>
            </a:r>
            <a:endParaRPr lang="en-US"/>
          </a:p>
        </p:txBody>
      </p:sp>
      <p:sp>
        <p:nvSpPr>
          <p:cNvPr id="78" name="Chevron_Right"/>
          <p:cNvSpPr/>
          <p:nvPr/>
        </p:nvSpPr>
        <p:spPr>
          <a:xfrm>
            <a:off x="2500000" y="2590000"/>
            <a:ext cx="120000" cy="120000"/>
          </a:xfrm>
          <a:prstGeom prst="rect">
            <a:avLst/>
          </a:prstGeom>
          <a:noFill/>
          <a:ln/>
        </p:spPr>
        <p:txBody>
          <a:bodyPr wrap="square" lIns="0" tIns="0" rIns="0" bIns="0" rtlCol="0" anchor="ctr"/>
          <a:lstStyle/>
          <a:p>
            <a:pPr marL="0" indent="0" algn="ctr">
              <a:buNone/>
            </a:pPr>
            <a:r>
              <a:rPr lang="en-US" sz="500">
                <a:solidFill>
                  <a:srgbClr val="76B900">
                    <a:alpha val="50000"/>
                  </a:srgbClr>
                </a:solidFill>
                <a:latin typeface="Calibri"/>
                <a:ea typeface="Calibri"/>
                <a:cs typeface="Calibri"/>
              </a:rPr>
              <a:t>▶</a:t>
            </a:r>
            <a:endParaRPr lang="en-US"/>
          </a:p>
        </p:txBody>
      </p:sp>
      <p:sp>
        <p:nvSpPr>
          <p:cNvPr id="79" name="Flow_Request"/>
          <p:cNvSpPr/>
          <p:nvPr/>
        </p:nvSpPr>
        <p:spPr>
          <a:xfrm>
            <a:off x="430000" y="4660000"/>
            <a:ext cx="300000" cy="100000"/>
          </a:xfrm>
          <a:prstGeom prst="rect">
            <a:avLst/>
          </a:prstGeom>
          <a:noFill/>
          <a:ln/>
        </p:spPr>
        <p:txBody>
          <a:bodyPr wrap="square" lIns="0" tIns="0" rIns="0" bIns="0" rtlCol="0" anchor="ctr"/>
          <a:lstStyle/>
          <a:p>
            <a:pPr marL="0" indent="0" algn="ctr">
              <a:buNone/>
            </a:pPr>
            <a:r>
              <a:rPr lang="en-US" sz="550">
                <a:solidFill>
                  <a:srgbClr val="76B900">
                    <a:alpha val="50000"/>
                  </a:srgbClr>
                </a:solidFill>
                <a:latin typeface="Consolas"/>
                <a:ea typeface="Consolas"/>
                <a:cs typeface="Consolas"/>
              </a:rPr>
              <a:t>request</a:t>
            </a:r>
            <a:endParaRPr lang="en-US"/>
          </a:p>
        </p:txBody>
      </p:sp>
      <p:sp>
        <p:nvSpPr>
          <p:cNvPr id="80" name="Flow_Stream"/>
          <p:cNvSpPr/>
          <p:nvPr/>
        </p:nvSpPr>
        <p:spPr>
          <a:xfrm>
            <a:off x="8430000" y="4660000"/>
            <a:ext cx="300000" cy="100000"/>
          </a:xfrm>
          <a:prstGeom prst="rect">
            <a:avLst/>
          </a:prstGeom>
          <a:noFill/>
          <a:ln/>
        </p:spPr>
        <p:txBody>
          <a:bodyPr wrap="square" lIns="0" tIns="0" rIns="0" bIns="0" rtlCol="0" anchor="ctr"/>
          <a:lstStyle/>
          <a:p>
            <a:pPr marL="0" indent="0" algn="ctr">
              <a:buNone/>
            </a:pPr>
            <a:r>
              <a:rPr lang="en-US" sz="550">
                <a:solidFill>
                  <a:srgbClr val="76B900">
                    <a:alpha val="50000"/>
                  </a:srgbClr>
                </a:solidFill>
                <a:latin typeface="Consolas"/>
                <a:ea typeface="Consolas"/>
                <a:cs typeface="Consolas"/>
              </a:rPr>
              <a:t>stream</a:t>
            </a:r>
            <a:endParaRPr lang="en-US"/>
          </a:p>
        </p:txBody>
      </p:sp>
      <p:sp>
        <p:nvSpPr>
          <p:cNvPr id="81" name="Flow_Inference"/>
          <p:cNvSpPr/>
          <p:nvPr/>
        </p:nvSpPr>
        <p:spPr>
          <a:xfrm>
            <a:off x="2430000" y="2520000"/>
            <a:ext cx="260000" cy="100000"/>
          </a:xfrm>
          <a:prstGeom prst="rect">
            <a:avLst/>
          </a:prstGeom>
          <a:noFill/>
          <a:ln/>
        </p:spPr>
        <p:txBody>
          <a:bodyPr wrap="square" lIns="0" tIns="0" rIns="0" bIns="0" rtlCol="0" anchor="ctr"/>
          <a:lstStyle/>
          <a:p>
            <a:pPr marL="0" indent="0" algn="ctr">
              <a:buNone/>
            </a:pPr>
            <a:r>
              <a:rPr lang="en-US" sz="500">
                <a:solidFill>
                  <a:srgbClr val="4285F4">
                    <a:alpha val="60000"/>
                  </a:srgbClr>
                </a:solidFill>
                <a:latin typeface="Consolas"/>
                <a:ea typeface="Consolas"/>
                <a:cs typeface="Consolas"/>
              </a:rPr>
              <a:t>inference</a:t>
            </a:r>
            <a:endParaRPr lang="en-US"/>
          </a:p>
        </p:txBody>
      </p:sp>
      <p:sp>
        <p:nvSpPr>
          <p:cNvPr id="82" name="API_Hint"/>
          <p:cNvSpPr/>
          <p:nvPr/>
        </p:nvSpPr>
        <p:spPr>
          <a:xfrm>
            <a:off x="1030000" y="3400000"/>
            <a:ext cx="1400000" cy="200000"/>
          </a:xfrm>
          <a:prstGeom prst="rect">
            <a:avLst/>
          </a:prstGeom>
          <a:noFill/>
          <a:ln/>
        </p:spPr>
        <p:txBody>
          <a:bodyPr wrap="square" lIns="0" tIns="0" rIns="0" bIns="0" rtlCol="0" anchor="ctr"/>
          <a:lstStyle/>
          <a:p>
            <a:pPr marL="0" indent="0" algn="l">
              <a:buNone/>
            </a:pPr>
            <a:r>
              <a:rPr lang="en-US" sz="550">
                <a:solidFill>
                  <a:srgbClr val="8B9CB6">
                    <a:alpha val="40000"/>
                  </a:srgbClr>
                </a:solidFill>
                <a:latin typeface="Consolas"/>
                <a:ea typeface="Consolas"/>
                <a:cs typeface="Consolas"/>
              </a:rPr>
              <a:t>curl localhost:11434/api/chat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A0F1A"/>
        </a:solidFill>
        <a:effectLst/>
      </p:bgPr>
    </p:bg>
    <p:spTree>
      <p:nvGrpSpPr>
        <p:cNvPr id="1" name="">
          <a:extLst>
            <a:ext uri="{FF2B5EF4-FFF2-40B4-BE49-F238E27FC236}">
              <a16:creationId xmlns:a16="http://schemas.microsoft.com/office/drawing/2014/main" id="{8B73EBBC-6E54-2E49-5687-40C67679F9E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44F6F8F-5D09-C872-C7C5-5DDF4DD75357}"/>
              </a:ext>
            </a:extLst>
          </p:cNvPr>
          <p:cNvSpPr/>
          <p:nvPr/>
        </p:nvSpPr>
        <p:spPr>
          <a:xfrm>
            <a:off x="0" y="0"/>
            <a:ext cx="9144000" cy="5143500"/>
          </a:xfrm>
          <a:prstGeom prst="rect">
            <a:avLst/>
          </a:prstGeom>
          <a:gradFill rotWithShape="1">
            <a:gsLst>
              <a:gs pos="0">
                <a:srgbClr val="76B900">
                  <a:alpha val="4000"/>
                </a:srgbClr>
              </a:gs>
              <a:gs pos="50000">
                <a:srgbClr val="000000">
                  <a:alpha val="0"/>
                </a:srgbClr>
              </a:gs>
            </a:gsLst>
            <a:path path="circle">
              <a:fillToRect l="80000" t="20000" r="20000" b="80000"/>
            </a:path>
          </a:gradFill>
          <a:ln/>
        </p:spPr>
        <p:txBody>
          <a:bodyPr wrap="square" rtlCol="0" anchor="t"/>
          <a:lstStyle/>
          <a:p>
            <a:pPr marL="0" indent="0">
              <a:buNone/>
            </a:pPr>
            <a:endParaRPr lang="en-US" dirty="0"/>
          </a:p>
        </p:txBody>
      </p:sp>
      <p:sp>
        <p:nvSpPr>
          <p:cNvPr id="3" name="Text 1">
            <a:extLst>
              <a:ext uri="{FF2B5EF4-FFF2-40B4-BE49-F238E27FC236}">
                <a16:creationId xmlns:a16="http://schemas.microsoft.com/office/drawing/2014/main" id="{764EDF22-8B33-79BC-089D-BF8ADD6F93E1}"/>
              </a:ext>
            </a:extLst>
          </p:cNvPr>
          <p:cNvSpPr/>
          <p:nvPr/>
        </p:nvSpPr>
        <p:spPr>
          <a:xfrm>
            <a:off x="0" y="0"/>
            <a:ext cx="9144000" cy="5143500"/>
          </a:xfrm>
          <a:prstGeom prst="rect">
            <a:avLst/>
          </a:prstGeom>
          <a:gradFill rotWithShape="1">
            <a:gsLst>
              <a:gs pos="0">
                <a:srgbClr val="76B900">
                  <a:alpha val="3000"/>
                </a:srgbClr>
              </a:gs>
              <a:gs pos="50000">
                <a:srgbClr val="000000">
                  <a:alpha val="0"/>
                </a:srgbClr>
              </a:gs>
            </a:gsLst>
            <a:path path="circle">
              <a:fillToRect l="20000" t="80000" r="80000" b="20000"/>
            </a:path>
          </a:gradFill>
          <a:ln/>
        </p:spPr>
        <p:txBody>
          <a:bodyPr wrap="square" rtlCol="0" anchor="t"/>
          <a:lstStyle/>
          <a:p>
            <a:pPr marL="0" indent="0">
              <a:buNone/>
            </a:pPr>
            <a:endParaRPr lang="en-US" dirty="0"/>
          </a:p>
        </p:txBody>
      </p:sp>
      <p:sp>
        <p:nvSpPr>
          <p:cNvPr id="4" name="Text 2">
            <a:extLst>
              <a:ext uri="{FF2B5EF4-FFF2-40B4-BE49-F238E27FC236}">
                <a16:creationId xmlns:a16="http://schemas.microsoft.com/office/drawing/2014/main" id="{228A88F9-EAE8-8A1F-FE5F-75238AF9758A}"/>
              </a:ext>
            </a:extLst>
          </p:cNvPr>
          <p:cNvSpPr/>
          <p:nvPr/>
        </p:nvSpPr>
        <p:spPr>
          <a:xfrm>
            <a:off x="0" y="0"/>
            <a:ext cx="9144000" cy="5143500"/>
          </a:xfrm>
          <a:prstGeom prst="rect">
            <a:avLst/>
          </a:prstGeom>
          <a:gradFill rotWithShape="1">
            <a:gsLst>
              <a:gs pos="0">
                <a:srgbClr val="76B900">
                  <a:alpha val="6000"/>
                </a:srgbClr>
              </a:gs>
              <a:gs pos="10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10" name="Text 8">
            <a:extLst>
              <a:ext uri="{FF2B5EF4-FFF2-40B4-BE49-F238E27FC236}">
                <a16:creationId xmlns:a16="http://schemas.microsoft.com/office/drawing/2014/main" id="{30CD0E54-F60A-AD7B-4164-16BC4A9118CE}"/>
              </a:ext>
            </a:extLst>
          </p:cNvPr>
          <p:cNvSpPr/>
          <p:nvPr/>
        </p:nvSpPr>
        <p:spPr>
          <a:xfrm>
            <a:off x="241442" y="299386"/>
            <a:ext cx="8229600" cy="500000"/>
          </a:xfrm>
          <a:prstGeom prst="rect">
            <a:avLst/>
          </a:prstGeom>
          <a:noFill/>
          <a:ln/>
        </p:spPr>
        <p:txBody>
          <a:bodyPr wrap="none" lIns="0" tIns="0" rIns="0" bIns="0" rtlCol="0" anchor="ctr"/>
          <a:lstStyle/>
          <a:p>
            <a:pPr marL="0" indent="0">
              <a:lnSpc>
                <a:spcPts val="3045"/>
              </a:lnSpc>
              <a:buNone/>
            </a:pPr>
            <a:r>
              <a:rPr lang="en-US" kern="0" spc="60" dirty="0">
                <a:solidFill>
                  <a:srgbClr val="E2E8F0"/>
                </a:solidFill>
                <a:latin typeface="Consolas" pitchFamily="34" charset="0"/>
              </a:rPr>
              <a:t>Browser Time</a:t>
            </a:r>
            <a:endParaRPr lang="en-US" sz="2030" dirty="0"/>
          </a:p>
        </p:txBody>
      </p:sp>
      <p:sp>
        <p:nvSpPr>
          <p:cNvPr id="40" name="CenterCard">
            <a:extLst>
              <a:ext uri="{FF2B5EF4-FFF2-40B4-BE49-F238E27FC236}">
                <a16:creationId xmlns:a16="http://schemas.microsoft.com/office/drawing/2014/main" id="{6A0B5643-48FB-E51A-DD38-25EE3F506900}"/>
              </a:ext>
            </a:extLst>
          </p:cNvPr>
          <p:cNvSpPr/>
          <p:nvPr/>
        </p:nvSpPr>
        <p:spPr>
          <a:xfrm>
            <a:off x="1831525" y="1326386"/>
            <a:ext cx="5500000" cy="2600000"/>
          </a:xfrm>
          <a:prstGeom prst="roundRect">
            <a:avLst>
              <a:gd name="adj" fmla="val 6379"/>
            </a:avLst>
          </a:prstGeom>
          <a:solidFill>
            <a:srgbClr val="1A2332"/>
          </a:solidFill>
          <a:ln w="9525">
            <a:solidFill>
              <a:srgbClr val="76B900">
                <a:alpha val="15000"/>
              </a:srgbClr>
            </a:solidFill>
          </a:ln>
        </p:spPr>
        <p:txBody>
          <a:bodyPr wrap="square" rtlCol="0" anchor="t"/>
          <a:lstStyle/>
          <a:p>
            <a:pPr marL="0" indent="0">
              <a:buNone/>
            </a:pPr>
            <a:endParaRPr lang="en-US"/>
          </a:p>
        </p:txBody>
      </p:sp>
      <p:sp>
        <p:nvSpPr>
          <p:cNvPr id="41" name="CenterAccent">
            <a:extLst>
              <a:ext uri="{FF2B5EF4-FFF2-40B4-BE49-F238E27FC236}">
                <a16:creationId xmlns:a16="http://schemas.microsoft.com/office/drawing/2014/main" id="{AA7BEDDB-4B4F-0983-4723-08CE0E188DE9}"/>
              </a:ext>
            </a:extLst>
          </p:cNvPr>
          <p:cNvSpPr/>
          <p:nvPr/>
        </p:nvSpPr>
        <p:spPr>
          <a:xfrm>
            <a:off x="1831525" y="1309525"/>
            <a:ext cx="5480950" cy="21580"/>
          </a:xfrm>
          <a:prstGeom prst="rect">
            <a:avLst/>
          </a:prstGeom>
          <a:solidFill>
            <a:srgbClr val="76B900">
              <a:alpha val="60000"/>
            </a:srgbClr>
          </a:solidFill>
          <a:ln/>
        </p:spPr>
        <p:txBody>
          <a:bodyPr wrap="none" rtlCol="0" anchor="t"/>
          <a:lstStyle/>
          <a:p>
            <a:pPr marL="0" indent="0">
              <a:buNone/>
            </a:pPr>
            <a:endParaRPr lang="en-US"/>
          </a:p>
        </p:txBody>
      </p:sp>
      <p:sp>
        <p:nvSpPr>
          <p:cNvPr id="42" name="QuoteOpen">
            <a:extLst>
              <a:ext uri="{FF2B5EF4-FFF2-40B4-BE49-F238E27FC236}">
                <a16:creationId xmlns:a16="http://schemas.microsoft.com/office/drawing/2014/main" id="{A368AC40-50B3-8398-22EE-B7EB87CE753A}"/>
              </a:ext>
            </a:extLst>
          </p:cNvPr>
          <p:cNvSpPr/>
          <p:nvPr/>
        </p:nvSpPr>
        <p:spPr>
          <a:xfrm>
            <a:off x="1922000" y="1441105"/>
            <a:ext cx="600000" cy="500000"/>
          </a:xfrm>
          <a:prstGeom prst="rect">
            <a:avLst/>
          </a:prstGeom>
          <a:noFill/>
          <a:ln/>
        </p:spPr>
        <p:txBody>
          <a:bodyPr wrap="square" lIns="0" tIns="0" rIns="0" bIns="0" rtlCol="0" anchor="t"/>
          <a:lstStyle/>
          <a:p>
            <a:pPr marL="0" indent="0" algn="l">
              <a:buNone/>
            </a:pPr>
            <a:r>
              <a:rPr lang="en-US" sz="6000" dirty="0">
                <a:solidFill>
                  <a:srgbClr val="76B900">
                    <a:alpha val="30000"/>
                  </a:srgbClr>
                </a:solidFill>
                <a:latin typeface="Georgia"/>
                <a:ea typeface="Georgia"/>
                <a:cs typeface="Georgia"/>
              </a:rPr>
              <a:t>“</a:t>
            </a:r>
            <a:endParaRPr lang="en-US" dirty="0"/>
          </a:p>
        </p:txBody>
      </p:sp>
      <p:sp>
        <p:nvSpPr>
          <p:cNvPr id="43" name="QuoteText">
            <a:extLst>
              <a:ext uri="{FF2B5EF4-FFF2-40B4-BE49-F238E27FC236}">
                <a16:creationId xmlns:a16="http://schemas.microsoft.com/office/drawing/2014/main" id="{8D135F05-D7B0-6A59-420F-FE8E183766A6}"/>
              </a:ext>
            </a:extLst>
          </p:cNvPr>
          <p:cNvSpPr/>
          <p:nvPr/>
        </p:nvSpPr>
        <p:spPr>
          <a:xfrm>
            <a:off x="2222000" y="1880000"/>
            <a:ext cx="4700000" cy="800000"/>
          </a:xfrm>
          <a:prstGeom prst="rect">
            <a:avLst/>
          </a:prstGeom>
          <a:noFill/>
          <a:ln/>
        </p:spPr>
        <p:txBody>
          <a:bodyPr wrap="square" lIns="0" tIns="0" rIns="0" bIns="0" rtlCol="0" anchor="ctr"/>
          <a:lstStyle/>
          <a:p>
            <a:pPr algn="ctr">
              <a:lnSpc>
                <a:spcPts val="3200"/>
              </a:lnSpc>
            </a:pPr>
            <a:r>
              <a:rPr lang="en-US" sz="2400" kern="0" spc="60" dirty="0">
                <a:solidFill>
                  <a:srgbClr val="E2E8F0"/>
                </a:solidFill>
                <a:latin typeface="Consolas" pitchFamily="34" charset="0"/>
                <a:ea typeface="Consolas" pitchFamily="34" charset="-122"/>
                <a:cs typeface="Consolas" pitchFamily="34" charset="-120"/>
              </a:rPr>
              <a:t>https://Ollama.com</a:t>
            </a:r>
          </a:p>
          <a:p>
            <a:pPr algn="ctr">
              <a:lnSpc>
                <a:spcPts val="3200"/>
              </a:lnSpc>
            </a:pPr>
            <a:r>
              <a:rPr lang="en-US" sz="2400" kern="0" spc="60" dirty="0">
                <a:solidFill>
                  <a:srgbClr val="E2E8F0"/>
                </a:solidFill>
                <a:latin typeface="Consolas" pitchFamily="34" charset="0"/>
              </a:rPr>
              <a:t>https://huggingface.co/</a:t>
            </a:r>
          </a:p>
        </p:txBody>
      </p:sp>
      <p:sp>
        <p:nvSpPr>
          <p:cNvPr id="44" name="QuoteClose">
            <a:extLst>
              <a:ext uri="{FF2B5EF4-FFF2-40B4-BE49-F238E27FC236}">
                <a16:creationId xmlns:a16="http://schemas.microsoft.com/office/drawing/2014/main" id="{EF8B0185-1053-3433-820B-6E2D0BAB7A92}"/>
              </a:ext>
            </a:extLst>
          </p:cNvPr>
          <p:cNvSpPr/>
          <p:nvPr/>
        </p:nvSpPr>
        <p:spPr>
          <a:xfrm>
            <a:off x="6483645" y="3006500"/>
            <a:ext cx="600000" cy="500000"/>
          </a:xfrm>
          <a:prstGeom prst="rect">
            <a:avLst/>
          </a:prstGeom>
          <a:noFill/>
          <a:ln/>
        </p:spPr>
        <p:txBody>
          <a:bodyPr wrap="square" lIns="0" tIns="0" rIns="0" bIns="0" rtlCol="0" anchor="b"/>
          <a:lstStyle/>
          <a:p>
            <a:pPr marL="0" indent="0" algn="r">
              <a:buNone/>
            </a:pPr>
            <a:r>
              <a:rPr lang="en-US" sz="6000" dirty="0">
                <a:solidFill>
                  <a:srgbClr val="76B900">
                    <a:alpha val="30000"/>
                  </a:srgbClr>
                </a:solidFill>
                <a:latin typeface="Georgia"/>
                <a:ea typeface="Georgia"/>
                <a:cs typeface="Georgia"/>
              </a:rPr>
              <a:t>”</a:t>
            </a:r>
            <a:endParaRPr lang="en-US" dirty="0"/>
          </a:p>
        </p:txBody>
      </p:sp>
      <p:sp>
        <p:nvSpPr>
          <p:cNvPr id="45" name="Tagline">
            <a:extLst>
              <a:ext uri="{FF2B5EF4-FFF2-40B4-BE49-F238E27FC236}">
                <a16:creationId xmlns:a16="http://schemas.microsoft.com/office/drawing/2014/main" id="{92CE084C-6302-5641-B453-9DC8B6FD34A6}"/>
              </a:ext>
            </a:extLst>
          </p:cNvPr>
          <p:cNvSpPr/>
          <p:nvPr/>
        </p:nvSpPr>
        <p:spPr>
          <a:xfrm>
            <a:off x="1822000" y="4050000"/>
            <a:ext cx="5500000" cy="300000"/>
          </a:xfrm>
          <a:prstGeom prst="rect">
            <a:avLst/>
          </a:prstGeom>
          <a:noFill/>
          <a:ln/>
        </p:spPr>
        <p:txBody>
          <a:bodyPr wrap="square" lIns="0" tIns="0" rIns="0" bIns="0" rtlCol="0" anchor="t"/>
          <a:lstStyle/>
          <a:p>
            <a:pPr marL="0" indent="0" algn="ctr">
              <a:buNone/>
            </a:pPr>
            <a:endParaRPr lang="en-US" dirty="0"/>
          </a:p>
        </p:txBody>
      </p:sp>
    </p:spTree>
    <p:extLst>
      <p:ext uri="{BB962C8B-B14F-4D97-AF65-F5344CB8AC3E}">
        <p14:creationId xmlns:p14="http://schemas.microsoft.com/office/powerpoint/2010/main" val="1875529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0A0F1A"/>
        </a:solidFill>
        <a:effectLst/>
      </p:bgPr>
    </p:bg>
    <p:spTree>
      <p:nvGrpSpPr>
        <p:cNvPr id="1" name=""/>
        <p:cNvGrpSpPr/>
        <p:nvPr/>
      </p:nvGrpSpPr>
      <p:grpSpPr>
        <a:xfrm>
          <a:off x="0" y="0"/>
          <a:ext cx="0" cy="0"/>
          <a:chOff x="0" y="0"/>
          <a:chExt cx="0" cy="0"/>
        </a:xfrm>
      </p:grpSpPr>
      <p:sp>
        <p:nvSpPr>
          <p:cNvPr id="3" name="Text 1"/>
          <p:cNvSpPr/>
          <p:nvPr/>
        </p:nvSpPr>
        <p:spPr>
          <a:xfrm>
            <a:off x="0" y="0"/>
            <a:ext cx="9144000" cy="5143500"/>
          </a:xfrm>
          <a:prstGeom prst="rect">
            <a:avLst/>
          </a:prstGeom>
          <a:gradFill rotWithShape="1">
            <a:gsLst>
              <a:gs pos="0">
                <a:srgbClr val="76B900">
                  <a:alpha val="3000"/>
                </a:srgbClr>
              </a:gs>
              <a:gs pos="100000">
                <a:srgbClr val="000000">
                  <a:alpha val="0"/>
                </a:srgbClr>
              </a:gs>
            </a:gsLst>
            <a:lin ang="0" scaled="1"/>
          </a:gradFill>
          <a:ln/>
        </p:spPr>
        <p:txBody>
          <a:bodyPr wrap="square" rtlCol="0" anchor="t"/>
          <a:lstStyle/>
          <a:p>
            <a:pPr marL="0" indent="0">
              <a:buNone/>
            </a:pPr>
            <a:endParaRPr lang="en-US" dirty="0"/>
          </a:p>
        </p:txBody>
      </p:sp>
      <p:sp>
        <p:nvSpPr>
          <p:cNvPr id="2" name="Text 0"/>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dirty="0"/>
          </a:p>
        </p:txBody>
      </p:sp>
      <p:sp>
        <p:nvSpPr>
          <p:cNvPr id="4" name="Text 2"/>
          <p:cNvSpPr/>
          <p:nvPr/>
        </p:nvSpPr>
        <p:spPr>
          <a:xfrm>
            <a:off x="0" y="4743450"/>
            <a:ext cx="9144000" cy="400050"/>
          </a:xfrm>
          <a:prstGeom prst="rect">
            <a:avLst/>
          </a:prstGeom>
          <a:gradFill rotWithShape="1">
            <a:gsLst>
              <a:gs pos="0">
                <a:srgbClr val="000000">
                  <a:alpha val="0"/>
                </a:srgbClr>
              </a:gs>
              <a:gs pos="100000">
                <a:srgbClr val="76B900">
                  <a:alpha val="4000"/>
                </a:srgbClr>
              </a:gs>
            </a:gsLst>
            <a:lin ang="5400000" scaled="1"/>
          </a:gradFill>
          <a:ln/>
        </p:spPr>
        <p:txBody>
          <a:bodyPr wrap="square" rtlCol="0" anchor="t"/>
          <a:lstStyle/>
          <a:p>
            <a:pPr marL="0" indent="0">
              <a:buNone/>
            </a:pPr>
            <a:endParaRPr lang="en-US" dirty="0"/>
          </a:p>
        </p:txBody>
      </p:sp>
      <p:sp>
        <p:nvSpPr>
          <p:cNvPr id="5" name="Text 3"/>
          <p:cNvSpPr/>
          <p:nvPr/>
        </p:nvSpPr>
        <p:spPr>
          <a:xfrm>
            <a:off x="0" y="4743450"/>
            <a:ext cx="9144000" cy="9525"/>
          </a:xfrm>
          <a:prstGeom prst="rect">
            <a:avLst/>
          </a:prstGeom>
          <a:solidFill>
            <a:srgbClr val="76B900">
              <a:alpha val="8000"/>
            </a:srgbClr>
          </a:solidFill>
          <a:ln/>
        </p:spPr>
        <p:txBody>
          <a:bodyPr wrap="none" rtlCol="0" anchor="t"/>
          <a:lstStyle/>
          <a:p>
            <a:pPr marL="0" indent="0">
              <a:buNone/>
            </a:pPr>
            <a:endParaRPr lang="en-US"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53886" y="4881944"/>
            <a:ext cx="132588" cy="132588"/>
          </a:xfrm>
          <a:prstGeom prst="rect">
            <a:avLst/>
          </a:prstGeom>
        </p:spPr>
      </p:pic>
      <p:sp>
        <p:nvSpPr>
          <p:cNvPr id="7" name="Text 4"/>
          <p:cNvSpPr/>
          <p:nvPr/>
        </p:nvSpPr>
        <p:spPr>
          <a:xfrm>
            <a:off x="2020193" y="4872930"/>
            <a:ext cx="5770974" cy="150465"/>
          </a:xfrm>
          <a:prstGeom prst="rect">
            <a:avLst/>
          </a:prstGeom>
          <a:noFill/>
          <a:ln/>
        </p:spPr>
        <p:txBody>
          <a:bodyPr wrap="none" lIns="0" tIns="0" rIns="0" bIns="0" rtlCol="0" anchor="ctr"/>
          <a:lstStyle/>
          <a:p>
            <a:pPr marL="0" indent="0" algn="l">
              <a:lnSpc>
                <a:spcPts val="1185"/>
              </a:lnSpc>
              <a:buNone/>
            </a:pPr>
            <a:r>
              <a:rPr lang="en-US" sz="790" dirty="0">
                <a:solidFill>
                  <a:srgbClr val="8B9CB6"/>
                </a:solidFill>
                <a:latin typeface="Consolas" pitchFamily="34" charset="0"/>
                <a:ea typeface="Consolas" pitchFamily="34" charset="-122"/>
                <a:cs typeface="Consolas" pitchFamily="34" charset="-120"/>
              </a:rPr>
              <a:t>Can regulatory actions directly influence how model providers apply safety alignment</a:t>
            </a:r>
            <a:endParaRPr lang="en-US" sz="790" dirty="0"/>
          </a:p>
        </p:txBody>
      </p:sp>
      <p:sp>
        <p:nvSpPr>
          <p:cNvPr id="10" name="Text 7"/>
          <p:cNvSpPr/>
          <p:nvPr/>
        </p:nvSpPr>
        <p:spPr>
          <a:xfrm>
            <a:off x="514350" y="407343"/>
            <a:ext cx="314920" cy="314920"/>
          </a:xfrm>
          <a:prstGeom prst="roundRect">
            <a:avLst>
              <a:gd name="adj" fmla="val 22584"/>
            </a:avLst>
          </a:prstGeom>
          <a:solidFill>
            <a:srgbClr val="76B900">
              <a:alpha val="12000"/>
            </a:srgbClr>
          </a:solidFill>
          <a:ln/>
        </p:spPr>
        <p:txBody>
          <a:bodyPr wrap="square" rtlCol="0" anchor="t"/>
          <a:lstStyle/>
          <a:p>
            <a:pPr marL="0" indent="0">
              <a:buNone/>
            </a:pPr>
            <a:endParaRPr lang="en-US" dirty="0"/>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5516" y="498509"/>
            <a:ext cx="132588" cy="132588"/>
          </a:xfrm>
          <a:prstGeom prst="rect">
            <a:avLst/>
          </a:prstGeom>
        </p:spPr>
      </p:pic>
      <p:sp>
        <p:nvSpPr>
          <p:cNvPr id="12" name="Text 8"/>
          <p:cNvSpPr/>
          <p:nvPr/>
        </p:nvSpPr>
        <p:spPr>
          <a:xfrm>
            <a:off x="929580" y="400050"/>
            <a:ext cx="5478862" cy="329654"/>
          </a:xfrm>
          <a:prstGeom prst="rect">
            <a:avLst/>
          </a:prstGeom>
          <a:noFill/>
          <a:ln/>
        </p:spPr>
        <p:txBody>
          <a:bodyPr wrap="none" lIns="0" tIns="0" rIns="0" bIns="0" rtlCol="0" anchor="ctr"/>
          <a:lstStyle/>
          <a:p>
            <a:pPr marL="0" indent="0" algn="l">
              <a:lnSpc>
                <a:spcPts val="2596"/>
              </a:lnSpc>
              <a:buNone/>
            </a:pPr>
            <a:r>
              <a:rPr lang="en-US" sz="2360" kern="0" spc="-30" dirty="0">
                <a:solidFill>
                  <a:srgbClr val="E2E8F0"/>
                </a:solidFill>
                <a:latin typeface="Consolas" pitchFamily="34" charset="0"/>
                <a:ea typeface="Consolas" pitchFamily="34" charset="-122"/>
                <a:cs typeface="Consolas" pitchFamily="34" charset="-120"/>
              </a:rPr>
              <a:t> </a:t>
            </a:r>
            <a:br>
              <a:rPr dirty="0"/>
            </a:br>
            <a:r>
              <a:rPr lang="en-US" sz="2360" kern="0" spc="-30" dirty="0">
                <a:solidFill>
                  <a:srgbClr val="E2E8F0"/>
                </a:solidFill>
                <a:latin typeface="Consolas" pitchFamily="34" charset="0"/>
                <a:ea typeface="Consolas" pitchFamily="34" charset="-122"/>
                <a:cs typeface="Consolas" pitchFamily="34" charset="-120"/>
              </a:rPr>
              <a:t> Safe vs Unsafe Models </a:t>
            </a:r>
            <a:r>
              <a:rPr lang="en-US" sz="2360" b="1" kern="0" spc="-30" dirty="0">
                <a:solidFill>
                  <a:srgbClr val="76B900"/>
                </a:solidFill>
                <a:latin typeface="Consolas" pitchFamily="34" charset="0"/>
                <a:ea typeface="Consolas" pitchFamily="34" charset="-122"/>
                <a:cs typeface="Consolas" pitchFamily="34" charset="-120"/>
              </a:rPr>
              <a:t>— Pop Culture</a:t>
            </a:r>
            <a:r>
              <a:rPr lang="en-US" sz="2360" kern="0" spc="-30" dirty="0">
                <a:solidFill>
                  <a:srgbClr val="E2E8F0"/>
                </a:solidFill>
                <a:latin typeface="Consolas" pitchFamily="34" charset="0"/>
                <a:ea typeface="Consolas" pitchFamily="34" charset="-122"/>
                <a:cs typeface="Consolas" pitchFamily="34" charset="-120"/>
              </a:rPr>
              <a:t> </a:t>
            </a:r>
            <a:br>
              <a:rPr dirty="0"/>
            </a:br>
            <a:r>
              <a:rPr lang="en-US" sz="2360" kern="0" spc="-30" dirty="0">
                <a:solidFill>
                  <a:srgbClr val="E2E8F0"/>
                </a:solidFill>
                <a:latin typeface="Consolas" pitchFamily="34" charset="0"/>
                <a:ea typeface="Consolas" pitchFamily="34" charset="-122"/>
                <a:cs typeface="Consolas" pitchFamily="34" charset="-120"/>
              </a:rPr>
              <a:t>        </a:t>
            </a:r>
            <a:endParaRPr lang="en-US" sz="2360" dirty="0"/>
          </a:p>
        </p:txBody>
      </p:sp>
      <p:sp>
        <p:nvSpPr>
          <p:cNvPr id="13" name="Text 9"/>
          <p:cNvSpPr/>
          <p:nvPr/>
        </p:nvSpPr>
        <p:spPr>
          <a:xfrm>
            <a:off x="672450" y="786854"/>
            <a:ext cx="8471550" cy="182880"/>
          </a:xfrm>
          <a:prstGeom prst="rect">
            <a:avLst/>
          </a:prstGeom>
          <a:noFill/>
          <a:ln/>
        </p:spPr>
        <p:txBody>
          <a:bodyPr wrap="none" lIns="0" tIns="0" rIns="0" bIns="0" rtlCol="0" anchor="t"/>
          <a:lstStyle/>
          <a:p>
            <a:pPr marL="0" indent="0" algn="l">
              <a:lnSpc>
                <a:spcPts val="1414"/>
              </a:lnSpc>
              <a:buNone/>
            </a:pPr>
            <a:endParaRPr lang="en-US" sz="1010" dirty="0"/>
          </a:p>
        </p:txBody>
      </p:sp>
      <p:sp>
        <p:nvSpPr>
          <p:cNvPr id="8" name="TextBox 7">
            <a:extLst>
              <a:ext uri="{FF2B5EF4-FFF2-40B4-BE49-F238E27FC236}">
                <a16:creationId xmlns:a16="http://schemas.microsoft.com/office/drawing/2014/main" id="{545FB725-F4FF-9EC9-2ACA-CCB634849B61}"/>
              </a:ext>
            </a:extLst>
          </p:cNvPr>
          <p:cNvSpPr txBox="1"/>
          <p:nvPr/>
        </p:nvSpPr>
        <p:spPr>
          <a:xfrm>
            <a:off x="1714605" y="1898073"/>
            <a:ext cx="2519008" cy="369332"/>
          </a:xfrm>
          <a:prstGeom prst="rect">
            <a:avLst/>
          </a:prstGeom>
          <a:noFill/>
        </p:spPr>
        <p:txBody>
          <a:bodyPr wrap="square" rtlCol="0">
            <a:spAutoFit/>
          </a:bodyPr>
          <a:lstStyle/>
          <a:p>
            <a:r>
              <a:rPr lang="en-US" dirty="0">
                <a:solidFill>
                  <a:schemeClr val="bg1"/>
                </a:solidFill>
              </a:rPr>
              <a:t>Video 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A0F1A"/>
        </a:solidFill>
        <a:effectLst/>
      </p:bgPr>
    </p:bg>
    <p:spTree>
      <p:nvGrpSpPr>
        <p:cNvPr id="1" name="">
          <a:extLst>
            <a:ext uri="{FF2B5EF4-FFF2-40B4-BE49-F238E27FC236}">
              <a16:creationId xmlns:a16="http://schemas.microsoft.com/office/drawing/2014/main" id="{BE2BEBAA-3C9C-3955-125B-CFA2ECD542DC}"/>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8E9BBF2A-9856-565A-DB0D-9AEBA72BD47E}"/>
              </a:ext>
            </a:extLst>
          </p:cNvPr>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dirty="0"/>
          </a:p>
        </p:txBody>
      </p:sp>
      <p:sp>
        <p:nvSpPr>
          <p:cNvPr id="3" name="Text 1">
            <a:extLst>
              <a:ext uri="{FF2B5EF4-FFF2-40B4-BE49-F238E27FC236}">
                <a16:creationId xmlns:a16="http://schemas.microsoft.com/office/drawing/2014/main" id="{5CE341FF-DCF6-703A-D58F-595275C27882}"/>
              </a:ext>
            </a:extLst>
          </p:cNvPr>
          <p:cNvSpPr/>
          <p:nvPr/>
        </p:nvSpPr>
        <p:spPr>
          <a:xfrm>
            <a:off x="0" y="0"/>
            <a:ext cx="9144000" cy="5143500"/>
          </a:xfrm>
          <a:prstGeom prst="rect">
            <a:avLst/>
          </a:prstGeom>
          <a:gradFill rotWithShape="1">
            <a:gsLst>
              <a:gs pos="0">
                <a:srgbClr val="76B900">
                  <a:alpha val="3000"/>
                </a:srgbClr>
              </a:gs>
              <a:gs pos="100000">
                <a:srgbClr val="000000">
                  <a:alpha val="0"/>
                </a:srgbClr>
              </a:gs>
            </a:gsLst>
            <a:lin ang="0" scaled="1"/>
          </a:gradFill>
          <a:ln/>
        </p:spPr>
        <p:txBody>
          <a:bodyPr wrap="square" rtlCol="0" anchor="t"/>
          <a:lstStyle/>
          <a:p>
            <a:pPr marL="0" indent="0">
              <a:buNone/>
            </a:pPr>
            <a:endParaRPr lang="en-US" dirty="0"/>
          </a:p>
        </p:txBody>
      </p:sp>
      <p:sp>
        <p:nvSpPr>
          <p:cNvPr id="4" name="Text 2">
            <a:extLst>
              <a:ext uri="{FF2B5EF4-FFF2-40B4-BE49-F238E27FC236}">
                <a16:creationId xmlns:a16="http://schemas.microsoft.com/office/drawing/2014/main" id="{D0529228-03E9-66BB-32E7-B46BF58BBC00}"/>
              </a:ext>
            </a:extLst>
          </p:cNvPr>
          <p:cNvSpPr/>
          <p:nvPr/>
        </p:nvSpPr>
        <p:spPr>
          <a:xfrm>
            <a:off x="0" y="4743450"/>
            <a:ext cx="9144000" cy="400050"/>
          </a:xfrm>
          <a:prstGeom prst="rect">
            <a:avLst/>
          </a:prstGeom>
          <a:gradFill rotWithShape="1">
            <a:gsLst>
              <a:gs pos="0">
                <a:srgbClr val="000000">
                  <a:alpha val="0"/>
                </a:srgbClr>
              </a:gs>
              <a:gs pos="100000">
                <a:srgbClr val="76B900">
                  <a:alpha val="4000"/>
                </a:srgbClr>
              </a:gs>
            </a:gsLst>
            <a:lin ang="5400000" scaled="1"/>
          </a:gradFill>
          <a:ln/>
        </p:spPr>
        <p:txBody>
          <a:bodyPr wrap="square" rtlCol="0" anchor="t"/>
          <a:lstStyle/>
          <a:p>
            <a:pPr marL="0" indent="0">
              <a:buNone/>
            </a:pPr>
            <a:endParaRPr lang="en-US" dirty="0"/>
          </a:p>
        </p:txBody>
      </p:sp>
      <p:sp>
        <p:nvSpPr>
          <p:cNvPr id="5" name="Text 3">
            <a:extLst>
              <a:ext uri="{FF2B5EF4-FFF2-40B4-BE49-F238E27FC236}">
                <a16:creationId xmlns:a16="http://schemas.microsoft.com/office/drawing/2014/main" id="{D98C4415-092D-05B8-8E0E-7677F501C228}"/>
              </a:ext>
            </a:extLst>
          </p:cNvPr>
          <p:cNvSpPr/>
          <p:nvPr/>
        </p:nvSpPr>
        <p:spPr>
          <a:xfrm>
            <a:off x="0" y="4743450"/>
            <a:ext cx="9144000" cy="9525"/>
          </a:xfrm>
          <a:prstGeom prst="rect">
            <a:avLst/>
          </a:prstGeom>
          <a:solidFill>
            <a:srgbClr val="76B900">
              <a:alpha val="8000"/>
            </a:srgbClr>
          </a:solidFill>
          <a:ln/>
        </p:spPr>
        <p:txBody>
          <a:bodyPr wrap="none" rtlCol="0" anchor="t"/>
          <a:lstStyle/>
          <a:p>
            <a:pPr marL="0" indent="0">
              <a:buNone/>
            </a:pPr>
            <a:endParaRPr lang="en-US" dirty="0"/>
          </a:p>
        </p:txBody>
      </p:sp>
      <p:pic>
        <p:nvPicPr>
          <p:cNvPr id="6" name="Image 0" descr="preencoded.png">
            <a:extLst>
              <a:ext uri="{FF2B5EF4-FFF2-40B4-BE49-F238E27FC236}">
                <a16:creationId xmlns:a16="http://schemas.microsoft.com/office/drawing/2014/main" id="{E55FA93E-BB9F-D1A9-094F-F0F2BB374C4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53886" y="4881944"/>
            <a:ext cx="132588" cy="132588"/>
          </a:xfrm>
          <a:prstGeom prst="rect">
            <a:avLst/>
          </a:prstGeom>
        </p:spPr>
      </p:pic>
      <p:sp>
        <p:nvSpPr>
          <p:cNvPr id="7" name="Text 4">
            <a:extLst>
              <a:ext uri="{FF2B5EF4-FFF2-40B4-BE49-F238E27FC236}">
                <a16:creationId xmlns:a16="http://schemas.microsoft.com/office/drawing/2014/main" id="{58B86971-AC82-3077-63B8-C877B32BA172}"/>
              </a:ext>
            </a:extLst>
          </p:cNvPr>
          <p:cNvSpPr/>
          <p:nvPr/>
        </p:nvSpPr>
        <p:spPr>
          <a:xfrm>
            <a:off x="2020193" y="4872930"/>
            <a:ext cx="5770974" cy="150465"/>
          </a:xfrm>
          <a:prstGeom prst="rect">
            <a:avLst/>
          </a:prstGeom>
          <a:noFill/>
          <a:ln/>
        </p:spPr>
        <p:txBody>
          <a:bodyPr wrap="none" lIns="0" tIns="0" rIns="0" bIns="0" rtlCol="0" anchor="ctr"/>
          <a:lstStyle/>
          <a:p>
            <a:pPr marL="0" indent="0" algn="l">
              <a:lnSpc>
                <a:spcPts val="1185"/>
              </a:lnSpc>
              <a:buNone/>
            </a:pPr>
            <a:r>
              <a:rPr lang="en-US" sz="790" dirty="0">
                <a:solidFill>
                  <a:srgbClr val="8B9CB6"/>
                </a:solidFill>
                <a:latin typeface="Consolas" pitchFamily="34" charset="0"/>
                <a:ea typeface="Consolas" pitchFamily="34" charset="-122"/>
                <a:cs typeface="Consolas" pitchFamily="34" charset="-120"/>
              </a:rPr>
              <a:t>These regulatory actions directly influenced how model providers apply safety alignment</a:t>
            </a:r>
            <a:endParaRPr lang="en-US" sz="790" dirty="0"/>
          </a:p>
        </p:txBody>
      </p:sp>
      <p:sp>
        <p:nvSpPr>
          <p:cNvPr id="8" name="Text 5">
            <a:extLst>
              <a:ext uri="{FF2B5EF4-FFF2-40B4-BE49-F238E27FC236}">
                <a16:creationId xmlns:a16="http://schemas.microsoft.com/office/drawing/2014/main" id="{7F0C09C5-FE37-9106-BC9A-93F8FE237762}"/>
              </a:ext>
            </a:extLst>
          </p:cNvPr>
          <p:cNvSpPr/>
          <p:nvPr/>
        </p:nvSpPr>
        <p:spPr>
          <a:xfrm>
            <a:off x="523875" y="1594693"/>
            <a:ext cx="3924300" cy="21580"/>
          </a:xfrm>
          <a:custGeom>
            <a:avLst/>
            <a:gdLst/>
            <a:ahLst/>
            <a:cxnLst/>
            <a:rect l="l" t="t" r="r" b="b"/>
            <a:pathLst>
              <a:path w="3924300" h="21580">
                <a:moveTo>
                  <a:pt x="114300" y="0"/>
                </a:moveTo>
                <a:lnTo>
                  <a:pt x="3810000" y="0"/>
                </a:lnTo>
                <a:lnTo>
                  <a:pt x="3834685" y="2698"/>
                </a:lnTo>
                <a:lnTo>
                  <a:pt x="3844701" y="5395"/>
                </a:lnTo>
                <a:lnTo>
                  <a:pt x="3852243" y="8093"/>
                </a:lnTo>
                <a:lnTo>
                  <a:pt x="3858479" y="10790"/>
                </a:lnTo>
                <a:lnTo>
                  <a:pt x="3863864" y="13488"/>
                </a:lnTo>
                <a:lnTo>
                  <a:pt x="3868634" y="16185"/>
                </a:lnTo>
                <a:lnTo>
                  <a:pt x="3872928" y="18883"/>
                </a:lnTo>
                <a:lnTo>
                  <a:pt x="3876839"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dirty="0"/>
          </a:p>
        </p:txBody>
      </p:sp>
      <p:sp>
        <p:nvSpPr>
          <p:cNvPr id="9" name="Text 6">
            <a:extLst>
              <a:ext uri="{FF2B5EF4-FFF2-40B4-BE49-F238E27FC236}">
                <a16:creationId xmlns:a16="http://schemas.microsoft.com/office/drawing/2014/main" id="{B291161B-9086-AF1C-E1EE-474A328A788F}"/>
              </a:ext>
            </a:extLst>
          </p:cNvPr>
          <p:cNvSpPr/>
          <p:nvPr/>
        </p:nvSpPr>
        <p:spPr>
          <a:xfrm>
            <a:off x="4695825" y="1483519"/>
            <a:ext cx="3924300" cy="21580"/>
          </a:xfrm>
          <a:custGeom>
            <a:avLst/>
            <a:gdLst/>
            <a:ahLst/>
            <a:cxnLst/>
            <a:rect l="l" t="t" r="r" b="b"/>
            <a:pathLst>
              <a:path w="3924300" h="21580">
                <a:moveTo>
                  <a:pt x="114300" y="0"/>
                </a:moveTo>
                <a:lnTo>
                  <a:pt x="3810000" y="0"/>
                </a:lnTo>
                <a:lnTo>
                  <a:pt x="3834685" y="2698"/>
                </a:lnTo>
                <a:lnTo>
                  <a:pt x="3844701" y="5395"/>
                </a:lnTo>
                <a:lnTo>
                  <a:pt x="3852243" y="8093"/>
                </a:lnTo>
                <a:lnTo>
                  <a:pt x="3858479" y="10790"/>
                </a:lnTo>
                <a:lnTo>
                  <a:pt x="3863864" y="13488"/>
                </a:lnTo>
                <a:lnTo>
                  <a:pt x="3868634" y="16185"/>
                </a:lnTo>
                <a:lnTo>
                  <a:pt x="3872928" y="18883"/>
                </a:lnTo>
                <a:lnTo>
                  <a:pt x="3876839"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dirty="0"/>
          </a:p>
        </p:txBody>
      </p:sp>
      <p:sp>
        <p:nvSpPr>
          <p:cNvPr id="10" name="Text 7">
            <a:extLst>
              <a:ext uri="{FF2B5EF4-FFF2-40B4-BE49-F238E27FC236}">
                <a16:creationId xmlns:a16="http://schemas.microsoft.com/office/drawing/2014/main" id="{9D921A82-1A1A-1B7D-1162-3442B6CC08C9}"/>
              </a:ext>
            </a:extLst>
          </p:cNvPr>
          <p:cNvSpPr/>
          <p:nvPr/>
        </p:nvSpPr>
        <p:spPr>
          <a:xfrm>
            <a:off x="514350" y="407343"/>
            <a:ext cx="314920" cy="314920"/>
          </a:xfrm>
          <a:prstGeom prst="roundRect">
            <a:avLst>
              <a:gd name="adj" fmla="val 22584"/>
            </a:avLst>
          </a:prstGeom>
          <a:solidFill>
            <a:srgbClr val="76B900">
              <a:alpha val="12000"/>
            </a:srgbClr>
          </a:solidFill>
          <a:ln/>
        </p:spPr>
        <p:txBody>
          <a:bodyPr wrap="square" rtlCol="0" anchor="t"/>
          <a:lstStyle/>
          <a:p>
            <a:pPr marL="0" indent="0">
              <a:buNone/>
            </a:pPr>
            <a:endParaRPr lang="en-US" dirty="0"/>
          </a:p>
        </p:txBody>
      </p:sp>
      <p:pic>
        <p:nvPicPr>
          <p:cNvPr id="11" name="Image 1" descr="preencoded.png">
            <a:extLst>
              <a:ext uri="{FF2B5EF4-FFF2-40B4-BE49-F238E27FC236}">
                <a16:creationId xmlns:a16="http://schemas.microsoft.com/office/drawing/2014/main" id="{62CA7B76-E7C9-487E-705D-A265DD7C426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5516" y="498509"/>
            <a:ext cx="132588" cy="132588"/>
          </a:xfrm>
          <a:prstGeom prst="rect">
            <a:avLst/>
          </a:prstGeom>
        </p:spPr>
      </p:pic>
      <p:sp>
        <p:nvSpPr>
          <p:cNvPr id="12" name="Text 8">
            <a:extLst>
              <a:ext uri="{FF2B5EF4-FFF2-40B4-BE49-F238E27FC236}">
                <a16:creationId xmlns:a16="http://schemas.microsoft.com/office/drawing/2014/main" id="{E3566ED1-9F16-4446-D703-C6C496E3DF04}"/>
              </a:ext>
            </a:extLst>
          </p:cNvPr>
          <p:cNvSpPr/>
          <p:nvPr/>
        </p:nvSpPr>
        <p:spPr>
          <a:xfrm>
            <a:off x="929580" y="400050"/>
            <a:ext cx="5478862" cy="329654"/>
          </a:xfrm>
          <a:prstGeom prst="rect">
            <a:avLst/>
          </a:prstGeom>
          <a:noFill/>
          <a:ln/>
        </p:spPr>
        <p:txBody>
          <a:bodyPr wrap="none" lIns="0" tIns="0" rIns="0" bIns="0" rtlCol="0" anchor="ctr"/>
          <a:lstStyle/>
          <a:p>
            <a:pPr marL="0" indent="0" algn="l">
              <a:lnSpc>
                <a:spcPts val="2596"/>
              </a:lnSpc>
              <a:buNone/>
            </a:pPr>
            <a:r>
              <a:rPr lang="en-US" sz="2360" kern="0" spc="-30" dirty="0">
                <a:solidFill>
                  <a:srgbClr val="E2E8F0"/>
                </a:solidFill>
                <a:latin typeface="Consolas" pitchFamily="34" charset="0"/>
                <a:ea typeface="Consolas" pitchFamily="34" charset="-122"/>
                <a:cs typeface="Consolas" pitchFamily="34" charset="-120"/>
              </a:rPr>
              <a:t> </a:t>
            </a:r>
            <a:br>
              <a:rPr dirty="0"/>
            </a:br>
            <a:r>
              <a:rPr lang="en-US" sz="2360" kern="0" spc="-30" dirty="0">
                <a:solidFill>
                  <a:srgbClr val="E2E8F0"/>
                </a:solidFill>
                <a:latin typeface="Consolas" pitchFamily="34" charset="0"/>
                <a:ea typeface="Consolas" pitchFamily="34" charset="-122"/>
                <a:cs typeface="Consolas" pitchFamily="34" charset="-120"/>
              </a:rPr>
              <a:t>          Safe vs Unsafe Models </a:t>
            </a:r>
            <a:r>
              <a:rPr lang="en-US" sz="2360" b="1" kern="0" spc="-30" dirty="0">
                <a:solidFill>
                  <a:srgbClr val="76B900"/>
                </a:solidFill>
                <a:latin typeface="Consolas" pitchFamily="34" charset="0"/>
                <a:ea typeface="Consolas" pitchFamily="34" charset="-122"/>
                <a:cs typeface="Consolas" pitchFamily="34" charset="-120"/>
              </a:rPr>
              <a:t>— One Cause</a:t>
            </a:r>
            <a:r>
              <a:rPr lang="en-US" sz="2360" kern="0" spc="-30" dirty="0">
                <a:solidFill>
                  <a:srgbClr val="E2E8F0"/>
                </a:solidFill>
                <a:latin typeface="Consolas" pitchFamily="34" charset="0"/>
                <a:ea typeface="Consolas" pitchFamily="34" charset="-122"/>
                <a:cs typeface="Consolas" pitchFamily="34" charset="-120"/>
              </a:rPr>
              <a:t> </a:t>
            </a:r>
            <a:br>
              <a:rPr dirty="0"/>
            </a:br>
            <a:r>
              <a:rPr lang="en-US" sz="2360" kern="0" spc="-30" dirty="0">
                <a:solidFill>
                  <a:srgbClr val="E2E8F0"/>
                </a:solidFill>
                <a:latin typeface="Consolas" pitchFamily="34" charset="0"/>
                <a:ea typeface="Consolas" pitchFamily="34" charset="-122"/>
                <a:cs typeface="Consolas" pitchFamily="34" charset="-120"/>
              </a:rPr>
              <a:t>        </a:t>
            </a:r>
            <a:endParaRPr lang="en-US" sz="2360" dirty="0"/>
          </a:p>
        </p:txBody>
      </p:sp>
      <p:sp>
        <p:nvSpPr>
          <p:cNvPr id="13" name="Text 9">
            <a:extLst>
              <a:ext uri="{FF2B5EF4-FFF2-40B4-BE49-F238E27FC236}">
                <a16:creationId xmlns:a16="http://schemas.microsoft.com/office/drawing/2014/main" id="{342E4ADD-FAC8-E489-C8A0-24209E316659}"/>
              </a:ext>
            </a:extLst>
          </p:cNvPr>
          <p:cNvSpPr/>
          <p:nvPr/>
        </p:nvSpPr>
        <p:spPr>
          <a:xfrm>
            <a:off x="672450" y="786854"/>
            <a:ext cx="8471550" cy="182880"/>
          </a:xfrm>
          <a:prstGeom prst="rect">
            <a:avLst/>
          </a:prstGeom>
          <a:noFill/>
          <a:ln/>
        </p:spPr>
        <p:txBody>
          <a:bodyPr wrap="none" lIns="0" tIns="0" rIns="0" bIns="0" rtlCol="0" anchor="t"/>
          <a:lstStyle/>
          <a:p>
            <a:pPr marL="0" indent="0" algn="l">
              <a:lnSpc>
                <a:spcPts val="1414"/>
              </a:lnSpc>
              <a:buNone/>
            </a:pPr>
            <a:r>
              <a:rPr lang="en-US" sz="1010" dirty="0">
                <a:solidFill>
                  <a:srgbClr val="8B9CB6"/>
                </a:solidFill>
                <a:latin typeface="Calibri" pitchFamily="34" charset="0"/>
                <a:ea typeface="Calibri" pitchFamily="34" charset="-122"/>
                <a:cs typeface="Calibri" pitchFamily="34" charset="-120"/>
              </a:rPr>
              <a:t>Regulatory actions that shaped how AI models are aligned today</a:t>
            </a:r>
            <a:endParaRPr lang="en-US" sz="1010" dirty="0"/>
          </a:p>
        </p:txBody>
      </p:sp>
      <p:sp>
        <p:nvSpPr>
          <p:cNvPr id="14" name="Text 10">
            <a:extLst>
              <a:ext uri="{FF2B5EF4-FFF2-40B4-BE49-F238E27FC236}">
                <a16:creationId xmlns:a16="http://schemas.microsoft.com/office/drawing/2014/main" id="{62DEEB27-DB4C-677C-7006-01EC456DB13E}"/>
              </a:ext>
            </a:extLst>
          </p:cNvPr>
          <p:cNvSpPr/>
          <p:nvPr/>
        </p:nvSpPr>
        <p:spPr>
          <a:xfrm>
            <a:off x="514350" y="1585168"/>
            <a:ext cx="3943350" cy="2625626"/>
          </a:xfrm>
          <a:prstGeom prst="roundRect">
            <a:avLst>
              <a:gd name="adj" fmla="val 4353"/>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5" name="Text 11">
            <a:extLst>
              <a:ext uri="{FF2B5EF4-FFF2-40B4-BE49-F238E27FC236}">
                <a16:creationId xmlns:a16="http://schemas.microsoft.com/office/drawing/2014/main" id="{A2C28426-A02A-D31C-46D3-FF1AF865A356}"/>
              </a:ext>
            </a:extLst>
          </p:cNvPr>
          <p:cNvSpPr/>
          <p:nvPr/>
        </p:nvSpPr>
        <p:spPr>
          <a:xfrm>
            <a:off x="523875" y="1594693"/>
            <a:ext cx="43160" cy="2606576"/>
          </a:xfrm>
          <a:prstGeom prst="rect">
            <a:avLst/>
          </a:prstGeom>
          <a:gradFill rotWithShape="1">
            <a:gsLst>
              <a:gs pos="0">
                <a:srgbClr val="76B900"/>
              </a:gs>
              <a:gs pos="100000">
                <a:srgbClr val="76B900">
                  <a:alpha val="20000"/>
                </a:srgbClr>
              </a:gs>
            </a:gsLst>
            <a:lin ang="5400000" scaled="1"/>
          </a:gradFill>
          <a:ln/>
        </p:spPr>
        <p:txBody>
          <a:bodyPr wrap="square" rtlCol="0" anchor="t"/>
          <a:lstStyle/>
          <a:p>
            <a:pPr marL="0" indent="0">
              <a:buNone/>
            </a:pPr>
            <a:endParaRPr lang="en-US" dirty="0"/>
          </a:p>
        </p:txBody>
      </p:sp>
      <p:sp>
        <p:nvSpPr>
          <p:cNvPr id="16" name="Text 12">
            <a:extLst>
              <a:ext uri="{FF2B5EF4-FFF2-40B4-BE49-F238E27FC236}">
                <a16:creationId xmlns:a16="http://schemas.microsoft.com/office/drawing/2014/main" id="{C14A41C8-448C-AA0B-F793-7FE31C1B3BF5}"/>
              </a:ext>
            </a:extLst>
          </p:cNvPr>
          <p:cNvSpPr/>
          <p:nvPr/>
        </p:nvSpPr>
        <p:spPr>
          <a:xfrm>
            <a:off x="866775" y="1880443"/>
            <a:ext cx="514350" cy="514350"/>
          </a:xfrm>
          <a:prstGeom prst="roundRect">
            <a:avLst>
              <a:gd name="adj" fmla="val 22222"/>
            </a:avLst>
          </a:prstGeom>
          <a:solidFill>
            <a:srgbClr val="76B900">
              <a:alpha val="10000"/>
            </a:srgbClr>
          </a:solidFill>
          <a:ln w="9525">
            <a:solidFill>
              <a:srgbClr val="76B900">
                <a:alpha val="20000"/>
              </a:srgbClr>
            </a:solidFill>
          </a:ln>
        </p:spPr>
        <p:txBody>
          <a:bodyPr wrap="square" rtlCol="0" anchor="t"/>
          <a:lstStyle/>
          <a:p>
            <a:pPr marL="0" indent="0">
              <a:buNone/>
            </a:pPr>
            <a:endParaRPr lang="en-US" dirty="0"/>
          </a:p>
        </p:txBody>
      </p:sp>
      <p:pic>
        <p:nvPicPr>
          <p:cNvPr id="17" name="Image 2" descr="preencoded.png">
            <a:extLst>
              <a:ext uri="{FF2B5EF4-FFF2-40B4-BE49-F238E27FC236}">
                <a16:creationId xmlns:a16="http://schemas.microsoft.com/office/drawing/2014/main" id="{F095BB69-5DB2-C5A7-381A-A6437F2F172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7212" y="2040880"/>
            <a:ext cx="193328" cy="193328"/>
          </a:xfrm>
          <a:prstGeom prst="rect">
            <a:avLst/>
          </a:prstGeom>
        </p:spPr>
      </p:pic>
      <p:sp>
        <p:nvSpPr>
          <p:cNvPr id="18" name="Text 13">
            <a:extLst>
              <a:ext uri="{FF2B5EF4-FFF2-40B4-BE49-F238E27FC236}">
                <a16:creationId xmlns:a16="http://schemas.microsoft.com/office/drawing/2014/main" id="{0111969A-0A78-5BA0-B87D-B753F5CEB829}"/>
              </a:ext>
            </a:extLst>
          </p:cNvPr>
          <p:cNvSpPr/>
          <p:nvPr/>
        </p:nvSpPr>
        <p:spPr>
          <a:xfrm>
            <a:off x="1524595" y="1880443"/>
            <a:ext cx="429220" cy="229686"/>
          </a:xfrm>
          <a:prstGeom prst="roundRect">
            <a:avLst>
              <a:gd name="adj" fmla="val 18800"/>
            </a:avLst>
          </a:prstGeom>
          <a:solidFill>
            <a:srgbClr val="76B900">
              <a:alpha val="15000"/>
            </a:srgbClr>
          </a:solidFill>
          <a:ln/>
        </p:spPr>
        <p:txBody>
          <a:bodyPr wrap="none" lIns="0" tIns="0" rIns="0" bIns="0" rtlCol="0" anchor="ctr"/>
          <a:lstStyle/>
          <a:p>
            <a:pPr marL="0" indent="0" algn="ctr">
              <a:buNone/>
            </a:pPr>
            <a:r>
              <a:rPr lang="en-US" sz="790" b="1" dirty="0">
                <a:solidFill>
                  <a:srgbClr val="76B900"/>
                </a:solidFill>
                <a:latin typeface="Consolas" pitchFamily="34" charset="0"/>
                <a:ea typeface="Consolas" pitchFamily="34" charset="-122"/>
                <a:cs typeface="Consolas" pitchFamily="34" charset="-120"/>
              </a:rPr>
              <a:t>2023</a:t>
            </a:r>
            <a:endParaRPr lang="en-US" sz="790" dirty="0"/>
          </a:p>
        </p:txBody>
      </p:sp>
      <p:sp>
        <p:nvSpPr>
          <p:cNvPr id="19" name="Text 14">
            <a:extLst>
              <a:ext uri="{FF2B5EF4-FFF2-40B4-BE49-F238E27FC236}">
                <a16:creationId xmlns:a16="http://schemas.microsoft.com/office/drawing/2014/main" id="{0D242FC3-B2BB-A8AE-D3A5-83F7B86EE3DA}"/>
              </a:ext>
            </a:extLst>
          </p:cNvPr>
          <p:cNvSpPr/>
          <p:nvPr/>
        </p:nvSpPr>
        <p:spPr>
          <a:xfrm>
            <a:off x="1524595" y="2175570"/>
            <a:ext cx="2761327" cy="222498"/>
          </a:xfrm>
          <a:prstGeom prst="rect">
            <a:avLst/>
          </a:prstGeom>
          <a:noFill/>
          <a:ln/>
        </p:spPr>
        <p:txBody>
          <a:bodyPr wrap="none" lIns="0" tIns="0" rIns="0" bIns="0" rtlCol="0" anchor="t"/>
          <a:lstStyle/>
          <a:p>
            <a:pPr marL="0" indent="0" algn="l">
              <a:lnSpc>
                <a:spcPts val="1752"/>
              </a:lnSpc>
              <a:spcBef>
                <a:spcPts val="680"/>
              </a:spcBef>
              <a:buNone/>
            </a:pPr>
            <a:r>
              <a:rPr lang="en-US" sz="1460" b="1" dirty="0">
                <a:solidFill>
                  <a:srgbClr val="E2E8F0"/>
                </a:solidFill>
                <a:latin typeface="Consolas" pitchFamily="34" charset="0"/>
                <a:ea typeface="Consolas" pitchFamily="34" charset="-122"/>
                <a:cs typeface="Consolas" pitchFamily="34" charset="-120"/>
              </a:rPr>
              <a:t>Executive Order 14110</a:t>
            </a:r>
            <a:endParaRPr lang="en-US" sz="1460" dirty="0"/>
          </a:p>
        </p:txBody>
      </p:sp>
      <p:sp>
        <p:nvSpPr>
          <p:cNvPr id="20" name="Text 15">
            <a:extLst>
              <a:ext uri="{FF2B5EF4-FFF2-40B4-BE49-F238E27FC236}">
                <a16:creationId xmlns:a16="http://schemas.microsoft.com/office/drawing/2014/main" id="{B85C8A1B-F3AE-17C3-AA39-F1E433FFF3B8}"/>
              </a:ext>
            </a:extLst>
          </p:cNvPr>
          <p:cNvSpPr/>
          <p:nvPr/>
        </p:nvSpPr>
        <p:spPr>
          <a:xfrm>
            <a:off x="1524595" y="2540347"/>
            <a:ext cx="2632293" cy="818852"/>
          </a:xfrm>
          <a:prstGeom prst="rect">
            <a:avLst/>
          </a:prstGeom>
          <a:noFill/>
          <a:ln/>
        </p:spPr>
        <p:txBody>
          <a:bodyPr wrap="square" lIns="0" tIns="0" rIns="0" bIns="0" rtlCol="0" anchor="t"/>
          <a:lstStyle/>
          <a:p>
            <a:pPr marL="0" indent="0" algn="l">
              <a:lnSpc>
                <a:spcPts val="1536"/>
              </a:lnSpc>
              <a:buNone/>
            </a:pPr>
            <a:r>
              <a:rPr lang="en-US" sz="960" dirty="0">
                <a:solidFill>
                  <a:srgbClr val="8B9CB6"/>
                </a:solidFill>
                <a:latin typeface="Calibri" pitchFamily="34" charset="0"/>
                <a:ea typeface="Calibri" pitchFamily="34" charset="-122"/>
                <a:cs typeface="Calibri" pitchFamily="34" charset="-120"/>
              </a:rPr>
              <a:t>Presidential executive order on the </a:t>
            </a:r>
            <a:r>
              <a:rPr lang="en-US" sz="960" dirty="0">
                <a:solidFill>
                  <a:srgbClr val="E2E8F0"/>
                </a:solidFill>
                <a:latin typeface="Calibri" pitchFamily="34" charset="0"/>
                <a:ea typeface="Calibri" pitchFamily="34" charset="-122"/>
                <a:cs typeface="Calibri" pitchFamily="34" charset="-120"/>
              </a:rPr>
              <a:t>safe, secure, and trustworthy development</a:t>
            </a:r>
            <a:r>
              <a:rPr lang="en-US" sz="960" dirty="0">
                <a:solidFill>
                  <a:srgbClr val="8B9CB6"/>
                </a:solidFill>
                <a:latin typeface="Calibri" pitchFamily="34" charset="0"/>
                <a:ea typeface="Calibri" pitchFamily="34" charset="-122"/>
                <a:cs typeface="Calibri" pitchFamily="34" charset="-120"/>
              </a:rPr>
              <a:t> of artificial intelligence. Required safety testing for powerful models before public release.</a:t>
            </a:r>
            <a:endParaRPr lang="en-US" sz="960" dirty="0"/>
          </a:p>
        </p:txBody>
      </p:sp>
      <p:sp>
        <p:nvSpPr>
          <p:cNvPr id="21" name="Text 16">
            <a:extLst>
              <a:ext uri="{FF2B5EF4-FFF2-40B4-BE49-F238E27FC236}">
                <a16:creationId xmlns:a16="http://schemas.microsoft.com/office/drawing/2014/main" id="{5E42DC3E-845A-FC3F-44B0-4740807AC70E}"/>
              </a:ext>
            </a:extLst>
          </p:cNvPr>
          <p:cNvSpPr/>
          <p:nvPr/>
        </p:nvSpPr>
        <p:spPr>
          <a:xfrm>
            <a:off x="1524595" y="3434507"/>
            <a:ext cx="755154" cy="217081"/>
          </a:xfrm>
          <a:prstGeom prst="roundRect">
            <a:avLst>
              <a:gd name="adj" fmla="val 13456"/>
            </a:avLst>
          </a:prstGeom>
          <a:solidFill>
            <a:srgbClr val="76B900">
              <a:alpha val="8000"/>
            </a:srgbClr>
          </a:solidFill>
          <a:ln/>
        </p:spPr>
        <p:txBody>
          <a:bodyPr wrap="none" lIns="0" tIns="0" rIns="0" bIns="0" rtlCol="0" anchor="ctr"/>
          <a:lstStyle/>
          <a:p>
            <a:pPr marL="0" indent="0" algn="ctr">
              <a:buNone/>
            </a:pPr>
            <a:r>
              <a:rPr lang="en-US" sz="730" dirty="0">
                <a:solidFill>
                  <a:srgbClr val="76B900"/>
                </a:solidFill>
                <a:latin typeface="Consolas" pitchFamily="34" charset="0"/>
                <a:ea typeface="Consolas" pitchFamily="34" charset="-122"/>
                <a:cs typeface="Consolas" pitchFamily="34" charset="-120"/>
              </a:rPr>
              <a:t>RED-TEAMING</a:t>
            </a:r>
            <a:endParaRPr lang="en-US" sz="730" dirty="0"/>
          </a:p>
        </p:txBody>
      </p:sp>
      <p:sp>
        <p:nvSpPr>
          <p:cNvPr id="22" name="Text 17">
            <a:extLst>
              <a:ext uri="{FF2B5EF4-FFF2-40B4-BE49-F238E27FC236}">
                <a16:creationId xmlns:a16="http://schemas.microsoft.com/office/drawing/2014/main" id="{A6A8D501-954B-A5FD-C51B-F853989B3886}"/>
              </a:ext>
            </a:extLst>
          </p:cNvPr>
          <p:cNvSpPr/>
          <p:nvPr/>
        </p:nvSpPr>
        <p:spPr>
          <a:xfrm>
            <a:off x="2366070" y="3434507"/>
            <a:ext cx="922288" cy="217081"/>
          </a:xfrm>
          <a:prstGeom prst="roundRect">
            <a:avLst>
              <a:gd name="adj" fmla="val 13456"/>
            </a:avLst>
          </a:prstGeom>
          <a:solidFill>
            <a:srgbClr val="76B900">
              <a:alpha val="8000"/>
            </a:srgbClr>
          </a:solidFill>
          <a:ln/>
        </p:spPr>
        <p:txBody>
          <a:bodyPr wrap="none" lIns="0" tIns="0" rIns="0" bIns="0" rtlCol="0" anchor="ctr"/>
          <a:lstStyle/>
          <a:p>
            <a:pPr marL="0" indent="0" algn="ctr">
              <a:buNone/>
            </a:pPr>
            <a:r>
              <a:rPr lang="en-US" sz="730" dirty="0">
                <a:solidFill>
                  <a:srgbClr val="76B900"/>
                </a:solidFill>
                <a:latin typeface="Consolas" pitchFamily="34" charset="0"/>
                <a:ea typeface="Consolas" pitchFamily="34" charset="-122"/>
                <a:cs typeface="Consolas" pitchFamily="34" charset="-120"/>
              </a:rPr>
              <a:t>SAFETY TESTING</a:t>
            </a:r>
            <a:endParaRPr lang="en-US" sz="730" dirty="0"/>
          </a:p>
        </p:txBody>
      </p:sp>
      <p:sp>
        <p:nvSpPr>
          <p:cNvPr id="23" name="Text 18">
            <a:extLst>
              <a:ext uri="{FF2B5EF4-FFF2-40B4-BE49-F238E27FC236}">
                <a16:creationId xmlns:a16="http://schemas.microsoft.com/office/drawing/2014/main" id="{52E98D45-92F8-F07E-D245-9C0A830811C8}"/>
              </a:ext>
            </a:extLst>
          </p:cNvPr>
          <p:cNvSpPr/>
          <p:nvPr/>
        </p:nvSpPr>
        <p:spPr>
          <a:xfrm>
            <a:off x="1524595" y="3718173"/>
            <a:ext cx="1368177" cy="217081"/>
          </a:xfrm>
          <a:prstGeom prst="roundRect">
            <a:avLst>
              <a:gd name="adj" fmla="val 13456"/>
            </a:avLst>
          </a:prstGeom>
          <a:solidFill>
            <a:srgbClr val="76B900">
              <a:alpha val="8000"/>
            </a:srgbClr>
          </a:solidFill>
          <a:ln/>
        </p:spPr>
        <p:txBody>
          <a:bodyPr wrap="none" lIns="0" tIns="0" rIns="0" bIns="0" rtlCol="0" anchor="ctr"/>
          <a:lstStyle/>
          <a:p>
            <a:pPr marL="0" indent="0" algn="ctr">
              <a:buNone/>
            </a:pPr>
            <a:r>
              <a:rPr lang="en-US" sz="730" dirty="0">
                <a:solidFill>
                  <a:srgbClr val="76B900"/>
                </a:solidFill>
                <a:latin typeface="Consolas" pitchFamily="34" charset="0"/>
                <a:ea typeface="Consolas" pitchFamily="34" charset="-122"/>
                <a:cs typeface="Consolas" pitchFamily="34" charset="-120"/>
              </a:rPr>
              <a:t>REPORTING REQUIREMENTS</a:t>
            </a:r>
            <a:endParaRPr lang="en-US" sz="730" dirty="0"/>
          </a:p>
        </p:txBody>
      </p:sp>
      <p:sp>
        <p:nvSpPr>
          <p:cNvPr id="24" name="Text 19">
            <a:extLst>
              <a:ext uri="{FF2B5EF4-FFF2-40B4-BE49-F238E27FC236}">
                <a16:creationId xmlns:a16="http://schemas.microsoft.com/office/drawing/2014/main" id="{A1D9593A-A9E9-98E1-409B-CBD0CF578612}"/>
              </a:ext>
            </a:extLst>
          </p:cNvPr>
          <p:cNvSpPr/>
          <p:nvPr/>
        </p:nvSpPr>
        <p:spPr>
          <a:xfrm>
            <a:off x="4686300" y="1473994"/>
            <a:ext cx="3943350" cy="2848124"/>
          </a:xfrm>
          <a:prstGeom prst="roundRect">
            <a:avLst>
              <a:gd name="adj" fmla="val 4013"/>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5" name="Text 20">
            <a:extLst>
              <a:ext uri="{FF2B5EF4-FFF2-40B4-BE49-F238E27FC236}">
                <a16:creationId xmlns:a16="http://schemas.microsoft.com/office/drawing/2014/main" id="{044FAADF-4AD7-CABD-FB67-EDD45A76A531}"/>
              </a:ext>
            </a:extLst>
          </p:cNvPr>
          <p:cNvSpPr/>
          <p:nvPr/>
        </p:nvSpPr>
        <p:spPr>
          <a:xfrm>
            <a:off x="4695825" y="1483519"/>
            <a:ext cx="43160" cy="2829074"/>
          </a:xfrm>
          <a:prstGeom prst="rect">
            <a:avLst/>
          </a:prstGeom>
          <a:gradFill rotWithShape="1">
            <a:gsLst>
              <a:gs pos="0">
                <a:srgbClr val="76B900"/>
              </a:gs>
              <a:gs pos="100000">
                <a:srgbClr val="76B900">
                  <a:alpha val="20000"/>
                </a:srgbClr>
              </a:gs>
            </a:gsLst>
            <a:lin ang="5400000" scaled="1"/>
          </a:gradFill>
          <a:ln/>
        </p:spPr>
        <p:txBody>
          <a:bodyPr wrap="square" rtlCol="0" anchor="t"/>
          <a:lstStyle/>
          <a:p>
            <a:pPr marL="0" indent="0">
              <a:buNone/>
            </a:pPr>
            <a:endParaRPr lang="en-US" dirty="0"/>
          </a:p>
        </p:txBody>
      </p:sp>
      <p:sp>
        <p:nvSpPr>
          <p:cNvPr id="26" name="Text 21">
            <a:extLst>
              <a:ext uri="{FF2B5EF4-FFF2-40B4-BE49-F238E27FC236}">
                <a16:creationId xmlns:a16="http://schemas.microsoft.com/office/drawing/2014/main" id="{C1DC30F2-0727-139B-6CF7-2C8B68645487}"/>
              </a:ext>
            </a:extLst>
          </p:cNvPr>
          <p:cNvSpPr/>
          <p:nvPr/>
        </p:nvSpPr>
        <p:spPr>
          <a:xfrm>
            <a:off x="5038725" y="1769269"/>
            <a:ext cx="514350" cy="514350"/>
          </a:xfrm>
          <a:prstGeom prst="roundRect">
            <a:avLst>
              <a:gd name="adj" fmla="val 22222"/>
            </a:avLst>
          </a:prstGeom>
          <a:solidFill>
            <a:srgbClr val="76B900">
              <a:alpha val="10000"/>
            </a:srgbClr>
          </a:solidFill>
          <a:ln w="9525">
            <a:solidFill>
              <a:srgbClr val="76B900">
                <a:alpha val="20000"/>
              </a:srgbClr>
            </a:solidFill>
          </a:ln>
        </p:spPr>
        <p:txBody>
          <a:bodyPr wrap="square" rtlCol="0" anchor="t"/>
          <a:lstStyle/>
          <a:p>
            <a:pPr marL="0" indent="0">
              <a:buNone/>
            </a:pPr>
            <a:endParaRPr lang="en-US" dirty="0"/>
          </a:p>
        </p:txBody>
      </p:sp>
      <p:pic>
        <p:nvPicPr>
          <p:cNvPr id="27" name="Image 3" descr="preencoded.png">
            <a:extLst>
              <a:ext uri="{FF2B5EF4-FFF2-40B4-BE49-F238E27FC236}">
                <a16:creationId xmlns:a16="http://schemas.microsoft.com/office/drawing/2014/main" id="{1FBBF37D-9265-5017-31AF-4B662FFC003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199162" y="1929705"/>
            <a:ext cx="193328" cy="193328"/>
          </a:xfrm>
          <a:prstGeom prst="rect">
            <a:avLst/>
          </a:prstGeom>
        </p:spPr>
      </p:pic>
      <p:sp>
        <p:nvSpPr>
          <p:cNvPr id="28" name="Text 22">
            <a:extLst>
              <a:ext uri="{FF2B5EF4-FFF2-40B4-BE49-F238E27FC236}">
                <a16:creationId xmlns:a16="http://schemas.microsoft.com/office/drawing/2014/main" id="{E98400E9-AB5F-B478-0226-3DC15053BC62}"/>
              </a:ext>
            </a:extLst>
          </p:cNvPr>
          <p:cNvSpPr/>
          <p:nvPr/>
        </p:nvSpPr>
        <p:spPr>
          <a:xfrm>
            <a:off x="5696545" y="1769269"/>
            <a:ext cx="429220" cy="229686"/>
          </a:xfrm>
          <a:prstGeom prst="roundRect">
            <a:avLst>
              <a:gd name="adj" fmla="val 18800"/>
            </a:avLst>
          </a:prstGeom>
          <a:solidFill>
            <a:srgbClr val="76B900">
              <a:alpha val="15000"/>
            </a:srgbClr>
          </a:solidFill>
          <a:ln/>
        </p:spPr>
        <p:txBody>
          <a:bodyPr wrap="none" lIns="0" tIns="0" rIns="0" bIns="0" rtlCol="0" anchor="ctr"/>
          <a:lstStyle/>
          <a:p>
            <a:pPr marL="0" indent="0" algn="ctr">
              <a:buNone/>
            </a:pPr>
            <a:r>
              <a:rPr lang="en-US" sz="790" b="1" dirty="0">
                <a:solidFill>
                  <a:srgbClr val="76B900"/>
                </a:solidFill>
                <a:latin typeface="Consolas" pitchFamily="34" charset="0"/>
                <a:ea typeface="Consolas" pitchFamily="34" charset="-122"/>
                <a:cs typeface="Consolas" pitchFamily="34" charset="-120"/>
              </a:rPr>
              <a:t>2023</a:t>
            </a:r>
            <a:endParaRPr lang="en-US" sz="790" dirty="0"/>
          </a:p>
        </p:txBody>
      </p:sp>
      <p:sp>
        <p:nvSpPr>
          <p:cNvPr id="29" name="Text 23">
            <a:extLst>
              <a:ext uri="{FF2B5EF4-FFF2-40B4-BE49-F238E27FC236}">
                <a16:creationId xmlns:a16="http://schemas.microsoft.com/office/drawing/2014/main" id="{0388C0B1-347B-CD6E-1B7D-DA8F1374B1E6}"/>
              </a:ext>
            </a:extLst>
          </p:cNvPr>
          <p:cNvSpPr/>
          <p:nvPr/>
        </p:nvSpPr>
        <p:spPr>
          <a:xfrm>
            <a:off x="5696545" y="2064395"/>
            <a:ext cx="2632293" cy="467246"/>
          </a:xfrm>
          <a:prstGeom prst="rect">
            <a:avLst/>
          </a:prstGeom>
          <a:noFill/>
          <a:ln/>
        </p:spPr>
        <p:txBody>
          <a:bodyPr wrap="square" lIns="0" tIns="0" rIns="0" bIns="0" rtlCol="0" anchor="t"/>
          <a:lstStyle/>
          <a:p>
            <a:pPr marL="0" indent="0" algn="l">
              <a:lnSpc>
                <a:spcPts val="1752"/>
              </a:lnSpc>
              <a:spcBef>
                <a:spcPts val="680"/>
              </a:spcBef>
              <a:buNone/>
            </a:pPr>
            <a:r>
              <a:rPr lang="en-US" sz="1460" b="1" dirty="0">
                <a:solidFill>
                  <a:srgbClr val="E2E8F0"/>
                </a:solidFill>
                <a:latin typeface="Consolas" pitchFamily="34" charset="0"/>
                <a:ea typeface="Consolas" pitchFamily="34" charset="-122"/>
                <a:cs typeface="Consolas" pitchFamily="34" charset="-120"/>
              </a:rPr>
              <a:t>White House Voluntary Commitments</a:t>
            </a:r>
            <a:endParaRPr lang="en-US" sz="1460" dirty="0"/>
          </a:p>
        </p:txBody>
      </p:sp>
      <p:sp>
        <p:nvSpPr>
          <p:cNvPr id="30" name="Text 24">
            <a:extLst>
              <a:ext uri="{FF2B5EF4-FFF2-40B4-BE49-F238E27FC236}">
                <a16:creationId xmlns:a16="http://schemas.microsoft.com/office/drawing/2014/main" id="{3E8725A3-3632-3A11-E72F-C4063CA86189}"/>
              </a:ext>
            </a:extLst>
          </p:cNvPr>
          <p:cNvSpPr/>
          <p:nvPr/>
        </p:nvSpPr>
        <p:spPr>
          <a:xfrm>
            <a:off x="5696545" y="2651671"/>
            <a:ext cx="2632293" cy="818852"/>
          </a:xfrm>
          <a:prstGeom prst="rect">
            <a:avLst/>
          </a:prstGeom>
          <a:noFill/>
          <a:ln/>
        </p:spPr>
        <p:txBody>
          <a:bodyPr wrap="square" lIns="0" tIns="0" rIns="0" bIns="0" rtlCol="0" anchor="t"/>
          <a:lstStyle/>
          <a:p>
            <a:pPr marL="0" indent="0" algn="l">
              <a:lnSpc>
                <a:spcPts val="1536"/>
              </a:lnSpc>
              <a:buNone/>
            </a:pPr>
            <a:r>
              <a:rPr lang="en-US" sz="960" dirty="0">
                <a:solidFill>
                  <a:srgbClr val="8B9CB6"/>
                </a:solidFill>
                <a:latin typeface="Calibri" pitchFamily="34" charset="0"/>
                <a:ea typeface="Calibri" pitchFamily="34" charset="-122"/>
                <a:cs typeface="Calibri" pitchFamily="34" charset="-120"/>
              </a:rPr>
              <a:t>Industry commitments by </a:t>
            </a:r>
            <a:r>
              <a:rPr lang="en-US" sz="960" dirty="0">
                <a:solidFill>
                  <a:srgbClr val="E2E8F0"/>
                </a:solidFill>
                <a:latin typeface="Calibri" pitchFamily="34" charset="0"/>
                <a:ea typeface="Calibri" pitchFamily="34" charset="-122"/>
                <a:cs typeface="Calibri" pitchFamily="34" charset="-120"/>
              </a:rPr>
              <a:t>major AI companies</a:t>
            </a:r>
            <a:r>
              <a:rPr lang="en-US" sz="960" dirty="0">
                <a:solidFill>
                  <a:srgbClr val="8B9CB6"/>
                </a:solidFill>
                <a:latin typeface="Calibri" pitchFamily="34" charset="0"/>
                <a:ea typeface="Calibri" pitchFamily="34" charset="-122"/>
                <a:cs typeface="Calibri" pitchFamily="34" charset="-120"/>
              </a:rPr>
              <a:t> to ensure AI safety, security, and public trust — including watermarking AI content and sharing safety research.</a:t>
            </a:r>
            <a:endParaRPr lang="en-US" sz="960" dirty="0"/>
          </a:p>
        </p:txBody>
      </p:sp>
      <p:sp>
        <p:nvSpPr>
          <p:cNvPr id="31" name="Text 25">
            <a:extLst>
              <a:ext uri="{FF2B5EF4-FFF2-40B4-BE49-F238E27FC236}">
                <a16:creationId xmlns:a16="http://schemas.microsoft.com/office/drawing/2014/main" id="{8AC4BD7B-D18A-76DD-2A40-A4A84E215CF8}"/>
              </a:ext>
            </a:extLst>
          </p:cNvPr>
          <p:cNvSpPr/>
          <p:nvPr/>
        </p:nvSpPr>
        <p:spPr>
          <a:xfrm>
            <a:off x="5696545" y="3545830"/>
            <a:ext cx="810816" cy="217081"/>
          </a:xfrm>
          <a:prstGeom prst="roundRect">
            <a:avLst>
              <a:gd name="adj" fmla="val 13456"/>
            </a:avLst>
          </a:prstGeom>
          <a:solidFill>
            <a:srgbClr val="76B900">
              <a:alpha val="8000"/>
            </a:srgbClr>
          </a:solidFill>
          <a:ln/>
        </p:spPr>
        <p:txBody>
          <a:bodyPr wrap="none" lIns="0" tIns="0" rIns="0" bIns="0" rtlCol="0" anchor="ctr"/>
          <a:lstStyle/>
          <a:p>
            <a:pPr marL="0" indent="0" algn="ctr">
              <a:buNone/>
            </a:pPr>
            <a:r>
              <a:rPr lang="en-US" sz="730" dirty="0">
                <a:solidFill>
                  <a:srgbClr val="76B900"/>
                </a:solidFill>
                <a:latin typeface="Consolas" pitchFamily="34" charset="0"/>
                <a:ea typeface="Consolas" pitchFamily="34" charset="-122"/>
                <a:cs typeface="Consolas" pitchFamily="34" charset="-120"/>
              </a:rPr>
              <a:t>WATERMARKING</a:t>
            </a:r>
            <a:endParaRPr lang="en-US" sz="730" dirty="0"/>
          </a:p>
        </p:txBody>
      </p:sp>
      <p:sp>
        <p:nvSpPr>
          <p:cNvPr id="32" name="Text 26">
            <a:extLst>
              <a:ext uri="{FF2B5EF4-FFF2-40B4-BE49-F238E27FC236}">
                <a16:creationId xmlns:a16="http://schemas.microsoft.com/office/drawing/2014/main" id="{0F96C34F-CB06-D487-5CB5-9E9F9500C46C}"/>
              </a:ext>
            </a:extLst>
          </p:cNvPr>
          <p:cNvSpPr/>
          <p:nvPr/>
        </p:nvSpPr>
        <p:spPr>
          <a:xfrm>
            <a:off x="6593681" y="3545830"/>
            <a:ext cx="978098" cy="217081"/>
          </a:xfrm>
          <a:prstGeom prst="roundRect">
            <a:avLst>
              <a:gd name="adj" fmla="val 13456"/>
            </a:avLst>
          </a:prstGeom>
          <a:solidFill>
            <a:srgbClr val="76B900">
              <a:alpha val="8000"/>
            </a:srgbClr>
          </a:solidFill>
          <a:ln/>
        </p:spPr>
        <p:txBody>
          <a:bodyPr wrap="none" lIns="0" tIns="0" rIns="0" bIns="0" rtlCol="0" anchor="ctr"/>
          <a:lstStyle/>
          <a:p>
            <a:pPr marL="0" indent="0" algn="ctr">
              <a:buNone/>
            </a:pPr>
            <a:r>
              <a:rPr lang="en-US" sz="730" dirty="0">
                <a:solidFill>
                  <a:srgbClr val="76B900"/>
                </a:solidFill>
                <a:latin typeface="Consolas" pitchFamily="34" charset="0"/>
                <a:ea typeface="Consolas" pitchFamily="34" charset="-122"/>
                <a:cs typeface="Consolas" pitchFamily="34" charset="-120"/>
              </a:rPr>
              <a:t>SHARED RESEARCH</a:t>
            </a:r>
            <a:endParaRPr lang="en-US" sz="730" dirty="0"/>
          </a:p>
        </p:txBody>
      </p:sp>
      <p:sp>
        <p:nvSpPr>
          <p:cNvPr id="33" name="Text 27">
            <a:extLst>
              <a:ext uri="{FF2B5EF4-FFF2-40B4-BE49-F238E27FC236}">
                <a16:creationId xmlns:a16="http://schemas.microsoft.com/office/drawing/2014/main" id="{02532907-CA01-8F01-3EF2-8ADD4B6FD680}"/>
              </a:ext>
            </a:extLst>
          </p:cNvPr>
          <p:cNvSpPr/>
          <p:nvPr/>
        </p:nvSpPr>
        <p:spPr>
          <a:xfrm>
            <a:off x="5696545" y="3829496"/>
            <a:ext cx="1033760" cy="217081"/>
          </a:xfrm>
          <a:prstGeom prst="roundRect">
            <a:avLst>
              <a:gd name="adj" fmla="val 13456"/>
            </a:avLst>
          </a:prstGeom>
          <a:solidFill>
            <a:srgbClr val="76B900">
              <a:alpha val="8000"/>
            </a:srgbClr>
          </a:solidFill>
          <a:ln/>
        </p:spPr>
        <p:txBody>
          <a:bodyPr wrap="none" lIns="0" tIns="0" rIns="0" bIns="0" rtlCol="0" anchor="ctr"/>
          <a:lstStyle/>
          <a:p>
            <a:pPr marL="0" indent="0" algn="ctr">
              <a:buNone/>
            </a:pPr>
            <a:r>
              <a:rPr lang="en-US" sz="730" dirty="0">
                <a:solidFill>
                  <a:srgbClr val="76B900"/>
                </a:solidFill>
                <a:latin typeface="Consolas" pitchFamily="34" charset="0"/>
                <a:ea typeface="Consolas" pitchFamily="34" charset="-122"/>
                <a:cs typeface="Consolas" pitchFamily="34" charset="-120"/>
              </a:rPr>
              <a:t>INDUSTRY PLEDGES</a:t>
            </a:r>
            <a:endParaRPr lang="en-US" sz="730" dirty="0"/>
          </a:p>
        </p:txBody>
      </p:sp>
    </p:spTree>
    <p:extLst>
      <p:ext uri="{BB962C8B-B14F-4D97-AF65-F5344CB8AC3E}">
        <p14:creationId xmlns:p14="http://schemas.microsoft.com/office/powerpoint/2010/main" val="84207876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A0F1A"/>
        </a:solidFill>
        <a:effectLst/>
      </p:bgPr>
    </p:bg>
    <p:spTree>
      <p:nvGrpSpPr>
        <p:cNvPr id="1" name="">
          <a:extLst>
            <a:ext uri="{FF2B5EF4-FFF2-40B4-BE49-F238E27FC236}">
              <a16:creationId xmlns:a16="http://schemas.microsoft.com/office/drawing/2014/main" id="{A73483B1-712B-4679-0C17-F07B52FA320F}"/>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F9E91FBF-74F3-BB2D-6C51-BF4E0B5413D5}"/>
              </a:ext>
            </a:extLst>
          </p:cNvPr>
          <p:cNvSpPr/>
          <p:nvPr/>
        </p:nvSpPr>
        <p:spPr>
          <a:xfrm>
            <a:off x="0" y="0"/>
            <a:ext cx="9144000" cy="5143500"/>
          </a:xfrm>
          <a:prstGeom prst="rect">
            <a:avLst/>
          </a:prstGeom>
          <a:gradFill rotWithShape="1">
            <a:gsLst>
              <a:gs pos="0">
                <a:srgbClr val="76B900">
                  <a:alpha val="3000"/>
                </a:srgbClr>
              </a:gs>
              <a:gs pos="100000">
                <a:srgbClr val="000000">
                  <a:alpha val="0"/>
                </a:srgbClr>
              </a:gs>
            </a:gsLst>
            <a:lin ang="0" scaled="1"/>
          </a:grad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Text 0">
            <a:extLst>
              <a:ext uri="{FF2B5EF4-FFF2-40B4-BE49-F238E27FC236}">
                <a16:creationId xmlns:a16="http://schemas.microsoft.com/office/drawing/2014/main" id="{C71DB7CA-1326-8BD1-DA27-0112D931880C}"/>
              </a:ext>
            </a:extLst>
          </p:cNvPr>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F974CFCC-FCEA-247B-9409-48AB644AB5B4}"/>
              </a:ext>
            </a:extLst>
          </p:cNvPr>
          <p:cNvSpPr/>
          <p:nvPr/>
        </p:nvSpPr>
        <p:spPr>
          <a:xfrm>
            <a:off x="0" y="4743450"/>
            <a:ext cx="9144000" cy="400050"/>
          </a:xfrm>
          <a:prstGeom prst="rect">
            <a:avLst/>
          </a:prstGeom>
          <a:gradFill rotWithShape="1">
            <a:gsLst>
              <a:gs pos="0">
                <a:srgbClr val="000000">
                  <a:alpha val="0"/>
                </a:srgbClr>
              </a:gs>
              <a:gs pos="100000">
                <a:srgbClr val="76B900">
                  <a:alpha val="4000"/>
                </a:srgbClr>
              </a:gs>
            </a:gsLst>
            <a:lin ang="5400000" scaled="1"/>
          </a:grad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a:extLst>
              <a:ext uri="{FF2B5EF4-FFF2-40B4-BE49-F238E27FC236}">
                <a16:creationId xmlns:a16="http://schemas.microsoft.com/office/drawing/2014/main" id="{21497465-EAAD-2610-A2C1-DFCE8C973B33}"/>
              </a:ext>
            </a:extLst>
          </p:cNvPr>
          <p:cNvSpPr/>
          <p:nvPr/>
        </p:nvSpPr>
        <p:spPr>
          <a:xfrm>
            <a:off x="0" y="4743450"/>
            <a:ext cx="9144000" cy="9525"/>
          </a:xfrm>
          <a:prstGeom prst="rect">
            <a:avLst/>
          </a:prstGeom>
          <a:solidFill>
            <a:srgbClr val="76B900">
              <a:alpha val="8000"/>
            </a:srgbClr>
          </a:solidFill>
          <a:ln/>
        </p:spPr>
        <p:txBody>
          <a:bodyPr wrap="non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6" name="Image 0" descr="preencoded.png">
            <a:extLst>
              <a:ext uri="{FF2B5EF4-FFF2-40B4-BE49-F238E27FC236}">
                <a16:creationId xmlns:a16="http://schemas.microsoft.com/office/drawing/2014/main" id="{4E49B114-49EB-244C-2A51-9980A14D14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53886" y="4881944"/>
            <a:ext cx="132588" cy="132588"/>
          </a:xfrm>
          <a:prstGeom prst="rect">
            <a:avLst/>
          </a:prstGeom>
        </p:spPr>
      </p:pic>
      <p:sp>
        <p:nvSpPr>
          <p:cNvPr id="7" name="Text 4">
            <a:extLst>
              <a:ext uri="{FF2B5EF4-FFF2-40B4-BE49-F238E27FC236}">
                <a16:creationId xmlns:a16="http://schemas.microsoft.com/office/drawing/2014/main" id="{AB4F457F-80BC-83BE-E686-FF6783F44C3B}"/>
              </a:ext>
            </a:extLst>
          </p:cNvPr>
          <p:cNvSpPr/>
          <p:nvPr/>
        </p:nvSpPr>
        <p:spPr>
          <a:xfrm>
            <a:off x="2020193" y="4872930"/>
            <a:ext cx="5770974" cy="150465"/>
          </a:xfrm>
          <a:prstGeom prst="rect">
            <a:avLst/>
          </a:prstGeom>
          <a:noFill/>
          <a:ln/>
        </p:spPr>
        <p:txBody>
          <a:bodyPr wrap="none" lIns="0" tIns="0" rIns="0" bIns="0" rtlCol="0" anchor="ctr"/>
          <a:lstStyle/>
          <a:p>
            <a:pPr marL="0" marR="0" lvl="0" indent="0" algn="l" defTabSz="914400" rtl="0" eaLnBrk="1" fontAlgn="auto" latinLnBrk="0" hangingPunct="1">
              <a:lnSpc>
                <a:spcPts val="1185"/>
              </a:lnSpc>
              <a:spcBef>
                <a:spcPts val="0"/>
              </a:spcBef>
              <a:spcAft>
                <a:spcPts val="0"/>
              </a:spcAft>
              <a:buClrTx/>
              <a:buSzTx/>
              <a:buFontTx/>
              <a:buNone/>
              <a:tabLst/>
              <a:defRPr/>
            </a:pPr>
            <a:r>
              <a:rPr kumimoji="0" lang="en-US" sz="790" b="0" i="0" u="none" strike="noStrike" kern="1200" cap="none" spc="0" normalizeH="0" baseline="0" noProof="0" dirty="0">
                <a:ln>
                  <a:noFill/>
                </a:ln>
                <a:solidFill>
                  <a:srgbClr val="8B9CB6"/>
                </a:solidFill>
                <a:effectLst/>
                <a:uLnTx/>
                <a:uFillTx/>
                <a:latin typeface="Consolas" pitchFamily="34" charset="0"/>
                <a:ea typeface="Consolas" pitchFamily="34" charset="-122"/>
                <a:cs typeface="Consolas" pitchFamily="34" charset="-120"/>
              </a:rPr>
              <a:t>Can regulatory actions directly influence how model providers apply safety alignment</a:t>
            </a:r>
            <a:endParaRPr kumimoji="0" lang="en-US" sz="79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a:extLst>
              <a:ext uri="{FF2B5EF4-FFF2-40B4-BE49-F238E27FC236}">
                <a16:creationId xmlns:a16="http://schemas.microsoft.com/office/drawing/2014/main" id="{B3FA8B49-B0B0-A3CC-7A5A-688731C0E654}"/>
              </a:ext>
            </a:extLst>
          </p:cNvPr>
          <p:cNvSpPr/>
          <p:nvPr/>
        </p:nvSpPr>
        <p:spPr>
          <a:xfrm>
            <a:off x="514350" y="407343"/>
            <a:ext cx="314920" cy="314920"/>
          </a:xfrm>
          <a:prstGeom prst="roundRect">
            <a:avLst>
              <a:gd name="adj" fmla="val 22584"/>
            </a:avLst>
          </a:prstGeom>
          <a:solidFill>
            <a:srgbClr val="76B900">
              <a:alpha val="12000"/>
            </a:srgbClr>
          </a:solid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1" name="Image 1" descr="preencoded.png">
            <a:extLst>
              <a:ext uri="{FF2B5EF4-FFF2-40B4-BE49-F238E27FC236}">
                <a16:creationId xmlns:a16="http://schemas.microsoft.com/office/drawing/2014/main" id="{06023DAB-D867-EED2-BC95-C15614FB89F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5516" y="498509"/>
            <a:ext cx="132588" cy="132588"/>
          </a:xfrm>
          <a:prstGeom prst="rect">
            <a:avLst/>
          </a:prstGeom>
        </p:spPr>
      </p:pic>
      <p:sp>
        <p:nvSpPr>
          <p:cNvPr id="12" name="Text 8">
            <a:extLst>
              <a:ext uri="{FF2B5EF4-FFF2-40B4-BE49-F238E27FC236}">
                <a16:creationId xmlns:a16="http://schemas.microsoft.com/office/drawing/2014/main" id="{8BA47A0E-F5AC-EC66-2DE7-B57A4F547BF1}"/>
              </a:ext>
            </a:extLst>
          </p:cNvPr>
          <p:cNvSpPr/>
          <p:nvPr/>
        </p:nvSpPr>
        <p:spPr>
          <a:xfrm>
            <a:off x="929580" y="400050"/>
            <a:ext cx="5478862" cy="329654"/>
          </a:xfrm>
          <a:prstGeom prst="rect">
            <a:avLst/>
          </a:prstGeom>
          <a:noFill/>
          <a:ln/>
        </p:spPr>
        <p:txBody>
          <a:bodyPr wrap="none" lIns="0" tIns="0" rIns="0" bIns="0" rtlCol="0" anchor="ctr"/>
          <a:lstStyle/>
          <a:p>
            <a:pPr marL="0" marR="0" lvl="0" indent="0" algn="l" defTabSz="914400" rtl="0" eaLnBrk="1" fontAlgn="auto" latinLnBrk="0" hangingPunct="1">
              <a:lnSpc>
                <a:spcPts val="2596"/>
              </a:lnSpc>
              <a:spcBef>
                <a:spcPts val="0"/>
              </a:spcBef>
              <a:spcAft>
                <a:spcPts val="0"/>
              </a:spcAft>
              <a:buClrTx/>
              <a:buSzTx/>
              <a:buFontTx/>
              <a:buNone/>
              <a:tabLst/>
              <a:defRPr/>
            </a:pPr>
            <a:r>
              <a:rPr kumimoji="0" lang="en-US" sz="2360" b="0" i="0" u="none" strike="noStrike" kern="0" cap="none" spc="-30" normalizeH="0" baseline="0" noProof="0" dirty="0">
                <a:ln>
                  <a:noFill/>
                </a:ln>
                <a:solidFill>
                  <a:srgbClr val="E2E8F0"/>
                </a:solidFill>
                <a:effectLst/>
                <a:uLnTx/>
                <a:uFillTx/>
                <a:latin typeface="Consolas" pitchFamily="34" charset="0"/>
                <a:ea typeface="Consolas" pitchFamily="34" charset="-122"/>
                <a:cs typeface="Consolas" pitchFamily="34" charset="-120"/>
              </a:rPr>
              <a:t> </a:t>
            </a:r>
            <a:br>
              <a:rPr kumimoji="0" sz="1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360" b="0" i="0" u="none" strike="noStrike" kern="0" cap="none" spc="-30" normalizeH="0" baseline="0" noProof="0" dirty="0">
                <a:ln>
                  <a:noFill/>
                </a:ln>
                <a:solidFill>
                  <a:srgbClr val="E2E8F0"/>
                </a:solidFill>
                <a:effectLst/>
                <a:uLnTx/>
                <a:uFillTx/>
                <a:latin typeface="Consolas" pitchFamily="34" charset="0"/>
                <a:ea typeface="Consolas" pitchFamily="34" charset="-122"/>
                <a:cs typeface="Consolas" pitchFamily="34" charset="-120"/>
              </a:rPr>
              <a:t> What can this mean… </a:t>
            </a:r>
            <a:br>
              <a:rPr kumimoji="0" sz="1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360" b="0" i="0" u="none" strike="noStrike" kern="0" cap="none" spc="-30" normalizeH="0" baseline="0" noProof="0" dirty="0">
                <a:ln>
                  <a:noFill/>
                </a:ln>
                <a:solidFill>
                  <a:srgbClr val="E2E8F0"/>
                </a:solidFill>
                <a:effectLst/>
                <a:uLnTx/>
                <a:uFillTx/>
                <a:latin typeface="Consolas" pitchFamily="34" charset="0"/>
                <a:ea typeface="Consolas" pitchFamily="34" charset="-122"/>
                <a:cs typeface="Consolas" pitchFamily="34" charset="-120"/>
              </a:rPr>
              <a:t>        </a:t>
            </a:r>
            <a:endParaRPr kumimoji="0" lang="en-US" sz="236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9">
            <a:extLst>
              <a:ext uri="{FF2B5EF4-FFF2-40B4-BE49-F238E27FC236}">
                <a16:creationId xmlns:a16="http://schemas.microsoft.com/office/drawing/2014/main" id="{6568C090-BA50-AAF4-5118-C2F8AAE72AC8}"/>
              </a:ext>
            </a:extLst>
          </p:cNvPr>
          <p:cNvSpPr/>
          <p:nvPr/>
        </p:nvSpPr>
        <p:spPr>
          <a:xfrm>
            <a:off x="672450" y="786854"/>
            <a:ext cx="8471550" cy="182880"/>
          </a:xfrm>
          <a:prstGeom prst="rect">
            <a:avLst/>
          </a:prstGeom>
          <a:noFill/>
          <a:ln/>
        </p:spPr>
        <p:txBody>
          <a:bodyPr wrap="none" lIns="0" tIns="0" rIns="0" bIns="0" rtlCol="0" anchor="t"/>
          <a:lstStyle/>
          <a:p>
            <a:pPr marL="0" marR="0" lvl="0" indent="0" algn="l" defTabSz="914400" rtl="0" eaLnBrk="1" fontAlgn="auto" latinLnBrk="0" hangingPunct="1">
              <a:lnSpc>
                <a:spcPts val="1414"/>
              </a:lnSpc>
              <a:spcBef>
                <a:spcPts val="0"/>
              </a:spcBef>
              <a:spcAft>
                <a:spcPts val="0"/>
              </a:spcAft>
              <a:buClrTx/>
              <a:buSzTx/>
              <a:buFontTx/>
              <a:buNone/>
              <a:tabLst/>
              <a:defRPr/>
            </a:pPr>
            <a:endParaRPr kumimoji="0" lang="en-US" sz="101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0AABA200-C8B0-4899-358D-E8BADEA1E039}"/>
              </a:ext>
            </a:extLst>
          </p:cNvPr>
          <p:cNvSpPr txBox="1"/>
          <p:nvPr/>
        </p:nvSpPr>
        <p:spPr>
          <a:xfrm>
            <a:off x="3080327" y="1902691"/>
            <a:ext cx="2549237" cy="369332"/>
          </a:xfrm>
          <a:prstGeom prst="rect">
            <a:avLst/>
          </a:prstGeom>
          <a:noFill/>
        </p:spPr>
        <p:txBody>
          <a:bodyPr wrap="square" rtlCol="0">
            <a:spAutoFit/>
          </a:bodyPr>
          <a:lstStyle/>
          <a:p>
            <a:r>
              <a:rPr lang="en-US" dirty="0">
                <a:solidFill>
                  <a:schemeClr val="bg1"/>
                </a:solidFill>
              </a:rPr>
              <a:t>Video 2</a:t>
            </a:r>
          </a:p>
        </p:txBody>
      </p:sp>
    </p:spTree>
    <p:extLst>
      <p:ext uri="{BB962C8B-B14F-4D97-AF65-F5344CB8AC3E}">
        <p14:creationId xmlns:p14="http://schemas.microsoft.com/office/powerpoint/2010/main" val="29256160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0A0F1A"/>
        </a:solidFill>
        <a:effectLst/>
      </p:bgPr>
    </p:bg>
    <p:spTree>
      <p:nvGrpSpPr>
        <p:cNvPr id="1" name=""/>
        <p:cNvGrpSpPr/>
        <p:nvPr/>
      </p:nvGrpSpPr>
      <p:grpSpPr>
        <a:xfrm>
          <a:off x="0" y="0"/>
          <a:ext cx="0" cy="0"/>
          <a:chOff x="0" y="0"/>
          <a:chExt cx="0" cy="0"/>
        </a:xfrm>
      </p:grpSpPr>
      <p:sp>
        <p:nvSpPr>
          <p:cNvPr id="4" name="Text 2"/>
          <p:cNvSpPr/>
          <p:nvPr/>
        </p:nvSpPr>
        <p:spPr>
          <a:xfrm>
            <a:off x="169164" y="342900"/>
            <a:ext cx="8805672" cy="386655"/>
          </a:xfrm>
          <a:prstGeom prst="rect">
            <a:avLst/>
          </a:prstGeom>
          <a:noFill/>
          <a:ln/>
        </p:spPr>
        <p:txBody>
          <a:bodyPr wrap="none" lIns="0" tIns="0" rIns="0" bIns="0" rtlCol="0" anchor="t"/>
          <a:lstStyle/>
          <a:p>
            <a:pPr marL="0" indent="0" algn="ctr">
              <a:lnSpc>
                <a:spcPts val="3045"/>
              </a:lnSpc>
              <a:buNone/>
            </a:pPr>
            <a:r>
              <a:rPr lang="en-US" sz="2030" kern="0" spc="-30" dirty="0">
                <a:solidFill>
                  <a:srgbClr val="E2E8F0"/>
                </a:solidFill>
                <a:latin typeface="Consolas" pitchFamily="34" charset="0"/>
                <a:ea typeface="Consolas" pitchFamily="34" charset="-122"/>
                <a:cs typeface="Consolas" pitchFamily="34" charset="-120"/>
              </a:rPr>
              <a:t>Safe vs Unsafe Models — </a:t>
            </a:r>
            <a:r>
              <a:rPr lang="en-US" sz="2030" b="1" kern="0" spc="-30" dirty="0">
                <a:solidFill>
                  <a:srgbClr val="76B900"/>
                </a:solidFill>
                <a:latin typeface="Consolas" pitchFamily="34" charset="0"/>
                <a:ea typeface="Consolas" pitchFamily="34" charset="-122"/>
                <a:cs typeface="Consolas" pitchFamily="34" charset="-120"/>
              </a:rPr>
              <a:t>Effect</a:t>
            </a:r>
            <a:endParaRPr lang="en-US" sz="2030" dirty="0"/>
          </a:p>
        </p:txBody>
      </p:sp>
      <p:sp>
        <p:nvSpPr>
          <p:cNvPr id="5" name="Text 3"/>
          <p:cNvSpPr/>
          <p:nvPr/>
        </p:nvSpPr>
        <p:spPr>
          <a:xfrm>
            <a:off x="45720" y="772716"/>
            <a:ext cx="9052560" cy="171450"/>
          </a:xfrm>
          <a:prstGeom prst="rect">
            <a:avLst/>
          </a:prstGeom>
          <a:noFill/>
          <a:ln/>
        </p:spPr>
        <p:txBody>
          <a:bodyPr wrap="none" lIns="0" tIns="0" rIns="0" bIns="0" rtlCol="0" anchor="t"/>
          <a:lstStyle/>
          <a:p>
            <a:pPr marL="0" indent="0" algn="ctr">
              <a:lnSpc>
                <a:spcPts val="1350"/>
              </a:lnSpc>
              <a:buNone/>
            </a:pPr>
            <a:r>
              <a:rPr lang="en-US" sz="900" dirty="0">
                <a:solidFill>
                  <a:srgbClr val="8B9CB6"/>
                </a:solidFill>
                <a:latin typeface="Calibri" pitchFamily="34" charset="0"/>
                <a:ea typeface="Calibri" pitchFamily="34" charset="-122"/>
                <a:cs typeface="Calibri" pitchFamily="34" charset="-120"/>
              </a:rPr>
              <a:t>Latest research says, maybe? (At least partially to blame.)</a:t>
            </a:r>
            <a:endParaRPr lang="en-US" sz="900" dirty="0"/>
          </a:p>
        </p:txBody>
      </p:sp>
      <p:sp>
        <p:nvSpPr>
          <p:cNvPr id="7" name="Text 5"/>
          <p:cNvSpPr/>
          <p:nvPr/>
        </p:nvSpPr>
        <p:spPr>
          <a:xfrm>
            <a:off x="695325" y="1841302"/>
            <a:ext cx="3238500" cy="9525"/>
          </a:xfrm>
          <a:prstGeom prst="rect">
            <a:avLst/>
          </a:prstGeom>
          <a:solidFill>
            <a:srgbClr val="FFFFFF">
              <a:alpha val="6000"/>
            </a:srgbClr>
          </a:solidFill>
          <a:ln/>
        </p:spPr>
        <p:txBody>
          <a:bodyPr wrap="none" rtlCol="0" anchor="t"/>
          <a:lstStyle/>
          <a:p>
            <a:pPr marL="0" indent="0">
              <a:buNone/>
            </a:pPr>
            <a:endParaRPr lang="en-US" dirty="0"/>
          </a:p>
        </p:txBody>
      </p:sp>
      <p:sp>
        <p:nvSpPr>
          <p:cNvPr id="8" name="Text 6"/>
          <p:cNvSpPr/>
          <p:nvPr/>
        </p:nvSpPr>
        <p:spPr>
          <a:xfrm>
            <a:off x="695325" y="1354931"/>
            <a:ext cx="372070" cy="372070"/>
          </a:xfrm>
          <a:prstGeom prst="roundRect">
            <a:avLst>
              <a:gd name="adj" fmla="val 26965"/>
            </a:avLst>
          </a:prstGeom>
          <a:solidFill>
            <a:srgbClr val="76B900">
              <a:alpha val="12000"/>
            </a:srgbClr>
          </a:solidFill>
          <a:ln/>
        </p:spPr>
        <p:txBody>
          <a:bodyPr wrap="square" rtlCol="0" anchor="t"/>
          <a:lstStyle/>
          <a:p>
            <a:pPr marL="0" indent="0">
              <a:buNone/>
            </a:pPr>
            <a:endParaRPr lang="en-US" dirty="0"/>
          </a:p>
        </p:txBody>
      </p:sp>
      <p:pic>
        <p:nvPicPr>
          <p:cNvPr id="90" name="ResearchIcon1" descr="research-icon.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1360" y="1430966"/>
            <a:ext cx="220000" cy="220000"/>
          </a:xfrm>
          <a:prstGeom prst="rect">
            <a:avLst/>
          </a:prstGeom>
        </p:spPr>
      </p:pic>
      <p:sp>
        <p:nvSpPr>
          <p:cNvPr id="10" name="Text 7"/>
          <p:cNvSpPr/>
          <p:nvPr/>
        </p:nvSpPr>
        <p:spPr>
          <a:xfrm>
            <a:off x="1167705" y="1380530"/>
            <a:ext cx="7393915" cy="931479"/>
          </a:xfrm>
          <a:prstGeom prst="rect">
            <a:avLst/>
          </a:prstGeom>
          <a:noFill/>
          <a:ln/>
        </p:spPr>
        <p:txBody>
          <a:bodyPr wrap="none" lIns="0" tIns="0" rIns="0" bIns="0" rtlCol="0" anchor="ctr"/>
          <a:lstStyle/>
          <a:p>
            <a:pPr marL="0" indent="0" algn="just">
              <a:lnSpc>
                <a:spcPts val="1488"/>
              </a:lnSpc>
              <a:buNone/>
            </a:pPr>
            <a:r>
              <a:rPr lang="en-US" sz="1240" b="1" dirty="0">
                <a:solidFill>
                  <a:srgbClr val="76B900"/>
                </a:solidFill>
                <a:latin typeface="Consolas" pitchFamily="34" charset="0"/>
                <a:ea typeface="Consolas" pitchFamily="34" charset="-122"/>
                <a:cs typeface="Consolas" pitchFamily="34" charset="-120"/>
              </a:rPr>
              <a:t>Mahmoud, Omar, et al. The Unintended Trade-off of AI Alignment: </a:t>
            </a:r>
          </a:p>
          <a:p>
            <a:pPr marL="0" indent="0" algn="just">
              <a:lnSpc>
                <a:spcPts val="1488"/>
              </a:lnSpc>
              <a:buNone/>
            </a:pPr>
            <a:r>
              <a:rPr lang="en-US" sz="1240" b="1" dirty="0">
                <a:solidFill>
                  <a:srgbClr val="76B900"/>
                </a:solidFill>
                <a:latin typeface="Consolas" pitchFamily="34" charset="0"/>
                <a:ea typeface="Consolas" pitchFamily="34" charset="-122"/>
                <a:cs typeface="Consolas" pitchFamily="34" charset="-120"/>
              </a:rPr>
              <a:t>Balancing Hallucination Mitigation and Safety in LLMs. </a:t>
            </a:r>
            <a:r>
              <a:rPr lang="en-US" sz="1240" b="1" dirty="0" err="1">
                <a:solidFill>
                  <a:srgbClr val="76B900"/>
                </a:solidFill>
                <a:latin typeface="Consolas" pitchFamily="34" charset="0"/>
                <a:ea typeface="Consolas" pitchFamily="34" charset="-122"/>
                <a:cs typeface="Consolas" pitchFamily="34" charset="-120"/>
              </a:rPr>
              <a:t>arXiv</a:t>
            </a:r>
            <a:r>
              <a:rPr lang="en-US" sz="1240" b="1" dirty="0">
                <a:solidFill>
                  <a:srgbClr val="76B900"/>
                </a:solidFill>
                <a:latin typeface="Consolas" pitchFamily="34" charset="0"/>
                <a:ea typeface="Consolas" pitchFamily="34" charset="-122"/>
                <a:cs typeface="Consolas" pitchFamily="34" charset="-120"/>
              </a:rPr>
              <a:t>, </a:t>
            </a:r>
          </a:p>
          <a:p>
            <a:pPr marL="0" indent="0" algn="just">
              <a:lnSpc>
                <a:spcPts val="1488"/>
              </a:lnSpc>
              <a:buNone/>
            </a:pPr>
            <a:r>
              <a:rPr lang="en-US" sz="1240" b="1" dirty="0">
                <a:solidFill>
                  <a:srgbClr val="76B900"/>
                </a:solidFill>
                <a:latin typeface="Consolas" pitchFamily="34" charset="0"/>
                <a:ea typeface="Consolas" pitchFamily="34" charset="-122"/>
                <a:cs typeface="Consolas" pitchFamily="34" charset="-120"/>
              </a:rPr>
              <a:t>Oct. 2025, arXiv:2510.07775, https://arxiv.org/abs/2510.07775.</a:t>
            </a:r>
            <a:endParaRPr lang="en-US" sz="1240" dirty="0"/>
          </a:p>
        </p:txBody>
      </p:sp>
      <p:sp>
        <p:nvSpPr>
          <p:cNvPr id="18" name="Text 12"/>
          <p:cNvSpPr/>
          <p:nvPr/>
        </p:nvSpPr>
        <p:spPr>
          <a:xfrm>
            <a:off x="695325" y="3917900"/>
            <a:ext cx="630436" cy="43160"/>
          </a:xfrm>
          <a:prstGeom prst="roundRect">
            <a:avLst>
              <a:gd name="adj" fmla="val 50023"/>
            </a:avLst>
          </a:prstGeom>
          <a:solidFill>
            <a:srgbClr val="76B900"/>
          </a:solidFill>
          <a:ln/>
        </p:spPr>
        <p:txBody>
          <a:bodyPr wrap="none" rtlCol="0" anchor="t"/>
          <a:lstStyle/>
          <a:p>
            <a:pPr marL="0" indent="0">
              <a:buNone/>
            </a:pPr>
            <a:endParaRPr lang="en-US" dirty="0"/>
          </a:p>
        </p:txBody>
      </p:sp>
      <p:sp>
        <p:nvSpPr>
          <p:cNvPr id="19" name="Text 13"/>
          <p:cNvSpPr/>
          <p:nvPr/>
        </p:nvSpPr>
        <p:spPr>
          <a:xfrm>
            <a:off x="1347341" y="3917900"/>
            <a:ext cx="630436" cy="43160"/>
          </a:xfrm>
          <a:prstGeom prst="roundRect">
            <a:avLst>
              <a:gd name="adj" fmla="val 50023"/>
            </a:avLst>
          </a:prstGeom>
          <a:solidFill>
            <a:srgbClr val="76B900">
              <a:alpha val="70000"/>
            </a:srgbClr>
          </a:solidFill>
          <a:ln/>
        </p:spPr>
        <p:txBody>
          <a:bodyPr wrap="none" rtlCol="0" anchor="t"/>
          <a:lstStyle/>
          <a:p>
            <a:pPr marL="0" indent="0">
              <a:buNone/>
            </a:pPr>
            <a:endParaRPr lang="en-US" dirty="0"/>
          </a:p>
        </p:txBody>
      </p:sp>
      <p:sp>
        <p:nvSpPr>
          <p:cNvPr id="20" name="Text 14"/>
          <p:cNvSpPr/>
          <p:nvPr/>
        </p:nvSpPr>
        <p:spPr>
          <a:xfrm>
            <a:off x="1999357" y="3917900"/>
            <a:ext cx="630436" cy="43160"/>
          </a:xfrm>
          <a:prstGeom prst="roundRect">
            <a:avLst>
              <a:gd name="adj" fmla="val 50023"/>
            </a:avLst>
          </a:prstGeom>
          <a:solidFill>
            <a:srgbClr val="76B900">
              <a:alpha val="40000"/>
            </a:srgbClr>
          </a:solidFill>
          <a:ln/>
        </p:spPr>
        <p:txBody>
          <a:bodyPr wrap="none" rtlCol="0" anchor="t"/>
          <a:lstStyle/>
          <a:p>
            <a:pPr marL="0" indent="0">
              <a:buNone/>
            </a:pPr>
            <a:endParaRPr lang="en-US" dirty="0"/>
          </a:p>
        </p:txBody>
      </p:sp>
      <p:sp>
        <p:nvSpPr>
          <p:cNvPr id="21" name="Text 15"/>
          <p:cNvSpPr/>
          <p:nvPr/>
        </p:nvSpPr>
        <p:spPr>
          <a:xfrm>
            <a:off x="2651373" y="3917900"/>
            <a:ext cx="630436" cy="43160"/>
          </a:xfrm>
          <a:prstGeom prst="roundRect">
            <a:avLst>
              <a:gd name="adj" fmla="val 50023"/>
            </a:avLst>
          </a:prstGeom>
          <a:solidFill>
            <a:srgbClr val="76B900">
              <a:alpha val="20000"/>
            </a:srgbClr>
          </a:solidFill>
          <a:ln/>
        </p:spPr>
        <p:txBody>
          <a:bodyPr wrap="none" rtlCol="0" anchor="t"/>
          <a:lstStyle/>
          <a:p>
            <a:pPr marL="0" indent="0">
              <a:buNone/>
            </a:pPr>
            <a:endParaRPr lang="en-US" dirty="0"/>
          </a:p>
        </p:txBody>
      </p:sp>
      <p:sp>
        <p:nvSpPr>
          <p:cNvPr id="22" name="Text 16"/>
          <p:cNvSpPr/>
          <p:nvPr/>
        </p:nvSpPr>
        <p:spPr>
          <a:xfrm>
            <a:off x="3303389" y="3917900"/>
            <a:ext cx="630436" cy="43160"/>
          </a:xfrm>
          <a:prstGeom prst="roundRect">
            <a:avLst>
              <a:gd name="adj" fmla="val 50023"/>
            </a:avLst>
          </a:prstGeom>
          <a:solidFill>
            <a:srgbClr val="FFFFFF">
              <a:alpha val="6000"/>
            </a:srgbClr>
          </a:solidFill>
          <a:ln/>
        </p:spPr>
        <p:txBody>
          <a:bodyPr wrap="none" rtlCol="0" anchor="t"/>
          <a:lstStyle/>
          <a:p>
            <a:pPr marL="0" indent="0">
              <a:buNone/>
            </a:pPr>
            <a:endParaRPr lang="en-US" dirty="0"/>
          </a:p>
        </p:txBody>
      </p:sp>
      <p:sp>
        <p:nvSpPr>
          <p:cNvPr id="23" name="Text 17"/>
          <p:cNvSpPr/>
          <p:nvPr/>
        </p:nvSpPr>
        <p:spPr>
          <a:xfrm>
            <a:off x="533400" y="4004221"/>
            <a:ext cx="3562350" cy="118021"/>
          </a:xfrm>
          <a:prstGeom prst="rect">
            <a:avLst/>
          </a:prstGeom>
          <a:noFill/>
          <a:ln/>
        </p:spPr>
        <p:txBody>
          <a:bodyPr wrap="none" lIns="0" tIns="0" rIns="0" bIns="0" rtlCol="0" anchor="t"/>
          <a:lstStyle/>
          <a:p>
            <a:pPr marL="0" indent="0" algn="ctr">
              <a:lnSpc>
                <a:spcPts val="930"/>
              </a:lnSpc>
              <a:buNone/>
            </a:pPr>
            <a:r>
              <a:rPr lang="en-US" sz="620" kern="0" spc="60" dirty="0">
                <a:solidFill>
                  <a:srgbClr val="76B900">
                    <a:alpha val="50000"/>
                  </a:srgbClr>
                </a:solidFill>
                <a:latin typeface="Consolas" pitchFamily="34" charset="0"/>
                <a:ea typeface="Consolas" pitchFamily="34" charset="-122"/>
                <a:cs typeface="Consolas" pitchFamily="34" charset="-120"/>
              </a:rPr>
              <a:t>SAFETY ████░</a:t>
            </a:r>
            <a:endParaRPr lang="en-US" sz="620" dirty="0"/>
          </a:p>
        </p:txBody>
      </p:sp>
      <p:sp>
        <p:nvSpPr>
          <p:cNvPr id="24" name="Text 18"/>
          <p:cNvSpPr/>
          <p:nvPr/>
        </p:nvSpPr>
        <p:spPr>
          <a:xfrm>
            <a:off x="4565079" y="1144786"/>
            <a:ext cx="13841" cy="3158430"/>
          </a:xfrm>
          <a:prstGeom prst="rect">
            <a:avLst/>
          </a:prstGeom>
          <a:gradFill rotWithShape="1">
            <a:gsLst>
              <a:gs pos="0">
                <a:srgbClr val="000000">
                  <a:alpha val="0"/>
                </a:srgbClr>
              </a:gs>
              <a:gs pos="30000">
                <a:srgbClr val="FFFFFF">
                  <a:alpha val="6000"/>
                </a:srgbClr>
              </a:gs>
              <a:gs pos="70000">
                <a:srgbClr val="FFFFFF">
                  <a:alpha val="6000"/>
                </a:srgbClr>
              </a:gs>
              <a:gs pos="100000">
                <a:srgbClr val="000000">
                  <a:alpha val="0"/>
                </a:srgbClr>
              </a:gs>
            </a:gsLst>
            <a:lin ang="5400000" scaled="1"/>
          </a:gradFill>
          <a:ln/>
        </p:spPr>
        <p:txBody>
          <a:bodyPr wrap="square" rtlCol="0" anchor="t"/>
          <a:lstStyle/>
          <a:p>
            <a:pPr marL="0" indent="0">
              <a:buNone/>
            </a:pPr>
            <a:endParaRPr lang="en-US" dirty="0"/>
          </a:p>
        </p:txBody>
      </p:sp>
      <p:sp>
        <p:nvSpPr>
          <p:cNvPr id="27" name="Text 21"/>
          <p:cNvSpPr/>
          <p:nvPr/>
        </p:nvSpPr>
        <p:spPr>
          <a:xfrm>
            <a:off x="5210175" y="1841302"/>
            <a:ext cx="3238500" cy="9525"/>
          </a:xfrm>
          <a:prstGeom prst="rect">
            <a:avLst/>
          </a:prstGeom>
          <a:solidFill>
            <a:srgbClr val="FFFFFF">
              <a:alpha val="6000"/>
            </a:srgbClr>
          </a:solidFill>
          <a:ln/>
        </p:spPr>
        <p:txBody>
          <a:bodyPr wrap="none" rtlCol="0" anchor="t"/>
          <a:lstStyle/>
          <a:p>
            <a:pPr marL="0" indent="0">
              <a:buNone/>
            </a:pPr>
            <a:endParaRPr lang="en-US" dirty="0"/>
          </a:p>
        </p:txBody>
      </p:sp>
      <p:sp>
        <p:nvSpPr>
          <p:cNvPr id="38" name="Text 28"/>
          <p:cNvSpPr/>
          <p:nvPr/>
        </p:nvSpPr>
        <p:spPr>
          <a:xfrm>
            <a:off x="5210175" y="3917900"/>
            <a:ext cx="630436" cy="43160"/>
          </a:xfrm>
          <a:prstGeom prst="roundRect">
            <a:avLst>
              <a:gd name="adj" fmla="val 50023"/>
            </a:avLst>
          </a:prstGeom>
          <a:solidFill>
            <a:srgbClr val="FFFFFF">
              <a:alpha val="6000"/>
            </a:srgbClr>
          </a:solidFill>
          <a:ln/>
        </p:spPr>
        <p:txBody>
          <a:bodyPr wrap="none" rtlCol="0" anchor="t"/>
          <a:lstStyle/>
          <a:p>
            <a:pPr marL="0" indent="0">
              <a:buNone/>
            </a:pPr>
            <a:endParaRPr lang="en-US" dirty="0"/>
          </a:p>
        </p:txBody>
      </p:sp>
      <p:sp>
        <p:nvSpPr>
          <p:cNvPr id="39" name="Text 29"/>
          <p:cNvSpPr/>
          <p:nvPr/>
        </p:nvSpPr>
        <p:spPr>
          <a:xfrm>
            <a:off x="5862191" y="3917900"/>
            <a:ext cx="630436" cy="43160"/>
          </a:xfrm>
          <a:prstGeom prst="roundRect">
            <a:avLst>
              <a:gd name="adj" fmla="val 50023"/>
            </a:avLst>
          </a:prstGeom>
          <a:solidFill>
            <a:srgbClr val="EF4444">
              <a:alpha val="20000"/>
            </a:srgbClr>
          </a:solidFill>
          <a:ln/>
        </p:spPr>
        <p:txBody>
          <a:bodyPr wrap="none" rtlCol="0" anchor="t"/>
          <a:lstStyle/>
          <a:p>
            <a:pPr marL="0" indent="0">
              <a:buNone/>
            </a:pPr>
            <a:endParaRPr lang="en-US" dirty="0"/>
          </a:p>
        </p:txBody>
      </p:sp>
      <p:sp>
        <p:nvSpPr>
          <p:cNvPr id="40" name="Text 30"/>
          <p:cNvSpPr/>
          <p:nvPr/>
        </p:nvSpPr>
        <p:spPr>
          <a:xfrm>
            <a:off x="6514207" y="3917900"/>
            <a:ext cx="630436" cy="43160"/>
          </a:xfrm>
          <a:prstGeom prst="roundRect">
            <a:avLst>
              <a:gd name="adj" fmla="val 50023"/>
            </a:avLst>
          </a:prstGeom>
          <a:solidFill>
            <a:srgbClr val="EF4444">
              <a:alpha val="40000"/>
            </a:srgbClr>
          </a:solidFill>
          <a:ln/>
        </p:spPr>
        <p:txBody>
          <a:bodyPr wrap="none" rtlCol="0" anchor="t"/>
          <a:lstStyle/>
          <a:p>
            <a:pPr marL="0" indent="0">
              <a:buNone/>
            </a:pPr>
            <a:endParaRPr lang="en-US" dirty="0"/>
          </a:p>
        </p:txBody>
      </p:sp>
      <p:sp>
        <p:nvSpPr>
          <p:cNvPr id="41" name="Text 31"/>
          <p:cNvSpPr/>
          <p:nvPr/>
        </p:nvSpPr>
        <p:spPr>
          <a:xfrm>
            <a:off x="7166223" y="3917900"/>
            <a:ext cx="630436" cy="43160"/>
          </a:xfrm>
          <a:prstGeom prst="roundRect">
            <a:avLst>
              <a:gd name="adj" fmla="val 50023"/>
            </a:avLst>
          </a:prstGeom>
          <a:solidFill>
            <a:srgbClr val="EF4444">
              <a:alpha val="70000"/>
            </a:srgbClr>
          </a:solidFill>
          <a:ln/>
        </p:spPr>
        <p:txBody>
          <a:bodyPr wrap="none" rtlCol="0" anchor="t"/>
          <a:lstStyle/>
          <a:p>
            <a:pPr marL="0" indent="0">
              <a:buNone/>
            </a:pPr>
            <a:endParaRPr lang="en-US" dirty="0"/>
          </a:p>
        </p:txBody>
      </p:sp>
      <p:sp>
        <p:nvSpPr>
          <p:cNvPr id="42" name="Text 32"/>
          <p:cNvSpPr/>
          <p:nvPr/>
        </p:nvSpPr>
        <p:spPr>
          <a:xfrm>
            <a:off x="7818239" y="3917900"/>
            <a:ext cx="630436" cy="43160"/>
          </a:xfrm>
          <a:prstGeom prst="roundRect">
            <a:avLst>
              <a:gd name="adj" fmla="val 50023"/>
            </a:avLst>
          </a:prstGeom>
          <a:solidFill>
            <a:srgbClr val="EF4444"/>
          </a:solidFill>
          <a:ln/>
        </p:spPr>
        <p:txBody>
          <a:bodyPr wrap="none" rtlCol="0" anchor="t"/>
          <a:lstStyle/>
          <a:p>
            <a:pPr marL="0" indent="0">
              <a:buNone/>
            </a:pPr>
            <a:endParaRPr lang="en-US" dirty="0"/>
          </a:p>
        </p:txBody>
      </p:sp>
      <p:sp>
        <p:nvSpPr>
          <p:cNvPr id="43" name="Text 33"/>
          <p:cNvSpPr/>
          <p:nvPr/>
        </p:nvSpPr>
        <p:spPr>
          <a:xfrm>
            <a:off x="5048250" y="4004221"/>
            <a:ext cx="3562350" cy="118021"/>
          </a:xfrm>
          <a:prstGeom prst="rect">
            <a:avLst/>
          </a:prstGeom>
          <a:noFill/>
          <a:ln/>
        </p:spPr>
        <p:txBody>
          <a:bodyPr wrap="none" lIns="0" tIns="0" rIns="0" bIns="0" rtlCol="0" anchor="t"/>
          <a:lstStyle/>
          <a:p>
            <a:pPr marL="0" indent="0" algn="ctr">
              <a:lnSpc>
                <a:spcPts val="930"/>
              </a:lnSpc>
              <a:buNone/>
            </a:pPr>
            <a:r>
              <a:rPr lang="en-US" sz="620" kern="0" spc="60" dirty="0">
                <a:solidFill>
                  <a:srgbClr val="EF4444">
                    <a:alpha val="50000"/>
                  </a:srgbClr>
                </a:solidFill>
                <a:latin typeface="Consolas" pitchFamily="34" charset="0"/>
                <a:ea typeface="Consolas" pitchFamily="34" charset="-122"/>
                <a:cs typeface="Consolas" pitchFamily="34" charset="-120"/>
              </a:rPr>
              <a:t>░████ CAPABILITY</a:t>
            </a:r>
            <a:endParaRPr lang="en-US" sz="620" dirty="0"/>
          </a:p>
        </p:txBody>
      </p:sp>
      <p:sp>
        <p:nvSpPr>
          <p:cNvPr id="44" name="Text 34"/>
          <p:cNvSpPr/>
          <p:nvPr/>
        </p:nvSpPr>
        <p:spPr>
          <a:xfrm>
            <a:off x="457200" y="4446687"/>
            <a:ext cx="8229600" cy="452214"/>
          </a:xfrm>
          <a:prstGeom prst="roundRect">
            <a:avLst>
              <a:gd name="adj" fmla="val 12638"/>
            </a:avLst>
          </a:prstGeom>
          <a:solidFill>
            <a:srgbClr val="FFFFFF">
              <a:alpha val="3000"/>
            </a:srgbClr>
          </a:solidFill>
          <a:ln w="9525">
            <a:solidFill>
              <a:srgbClr val="FFFFFF">
                <a:alpha val="5000"/>
              </a:srgbClr>
            </a:solidFill>
          </a:ln>
        </p:spPr>
        <p:txBody>
          <a:bodyPr wrap="none" lIns="171450" tIns="71120" rIns="171450" bIns="71120" rtlCol="0" anchor="t"/>
          <a:lstStyle/>
          <a:p>
            <a:pPr marL="0" indent="0" algn="ctr">
              <a:buNone/>
            </a:pPr>
            <a:r>
              <a:rPr lang="en-US" sz="730" dirty="0">
                <a:solidFill>
                  <a:srgbClr val="8B9CB6"/>
                </a:solidFill>
                <a:latin typeface="Calibri" pitchFamily="34" charset="0"/>
                <a:ea typeface="Calibri" pitchFamily="34" charset="-122"/>
                <a:cs typeface="Calibri" pitchFamily="34" charset="-120"/>
              </a:rPr>
              <a:t>Sources: Research on alignment tax and capability trade-offs — </a:t>
            </a:r>
            <a:r>
              <a:rPr lang="en-US" sz="680" dirty="0">
                <a:solidFill>
                  <a:srgbClr val="76B900">
                    <a:alpha val="70000"/>
                  </a:srgbClr>
                </a:solidFill>
                <a:latin typeface="Consolas" pitchFamily="34" charset="0"/>
                <a:ea typeface="Consolas" pitchFamily="34" charset="-122"/>
                <a:cs typeface="Consolas" pitchFamily="34" charset="-120"/>
              </a:rPr>
              <a:t>arXiv:2501.xxxxx (2025)</a:t>
            </a:r>
            <a:r>
              <a:rPr lang="en-US" sz="730" dirty="0">
                <a:solidFill>
                  <a:srgbClr val="8B9CB6"/>
                </a:solidFill>
                <a:latin typeface="Calibri" pitchFamily="34" charset="0"/>
                <a:ea typeface="Calibri" pitchFamily="34" charset="-122"/>
                <a:cs typeface="Calibri" pitchFamily="34" charset="-120"/>
              </a:rPr>
              <a:t>, </a:t>
            </a:r>
            <a:r>
              <a:rPr lang="en-US" sz="680" dirty="0">
                <a:solidFill>
                  <a:srgbClr val="76B900">
                    <a:alpha val="70000"/>
                  </a:srgbClr>
                </a:solidFill>
                <a:latin typeface="Consolas" pitchFamily="34" charset="0"/>
                <a:ea typeface="Consolas" pitchFamily="34" charset="-122"/>
                <a:cs typeface="Consolas" pitchFamily="34" charset="-120"/>
              </a:rPr>
              <a:t>arXiv:2502.xxxxx (2025)</a:t>
            </a:r>
            <a:r>
              <a:rPr lang="en-US" sz="730" dirty="0">
                <a:solidFill>
                  <a:srgbClr val="8B9CB6"/>
                </a:solidFill>
                <a:latin typeface="Calibri" pitchFamily="34" charset="0"/>
                <a:ea typeface="Calibri" pitchFamily="34" charset="-122"/>
                <a:cs typeface="Calibri" pitchFamily="34" charset="-120"/>
              </a:rPr>
              <a:t> — indicates measurable performance loss in heavily aligned models vs. base/lightly-aligned counterparts.</a:t>
            </a:r>
            <a:endParaRPr lang="en-US" sz="730" dirty="0"/>
          </a:p>
        </p:txBody>
      </p:sp>
      <p:sp>
        <p:nvSpPr>
          <p:cNvPr id="93" name="Divider2"/>
          <p:cNvSpPr/>
          <p:nvPr/>
        </p:nvSpPr>
        <p:spPr>
          <a:xfrm>
            <a:off x="695325" y="2440000"/>
            <a:ext cx="3238500" cy="9525"/>
          </a:xfrm>
          <a:prstGeom prst="rect">
            <a:avLst/>
          </a:prstGeom>
          <a:solidFill>
            <a:srgbClr val="FFFFFF">
              <a:alpha val="6000"/>
            </a:srgbClr>
          </a:solidFill>
          <a:ln/>
        </p:spPr>
        <p:txBody>
          <a:bodyPr wrap="none" rtlCol="0" anchor="t"/>
          <a:lstStyle/>
          <a:p>
            <a:pPr marL="0" indent="0">
              <a:buNone/>
            </a:pPr>
            <a:endParaRPr lang="en-US"/>
          </a:p>
        </p:txBody>
      </p:sp>
      <p:sp>
        <p:nvSpPr>
          <p:cNvPr id="91" name="Badge2"/>
          <p:cNvSpPr/>
          <p:nvPr/>
        </p:nvSpPr>
        <p:spPr>
          <a:xfrm>
            <a:off x="695325" y="2504106"/>
            <a:ext cx="372070" cy="372070"/>
          </a:xfrm>
          <a:prstGeom prst="roundRect">
            <a:avLst>
              <a:gd name="adj" fmla="val 26965"/>
            </a:avLst>
          </a:prstGeom>
          <a:solidFill>
            <a:srgbClr val="76B900">
              <a:alpha val="12000"/>
            </a:srgbClr>
          </a:solidFill>
          <a:ln/>
        </p:spPr>
        <p:txBody>
          <a:bodyPr wrap="square" rtlCol="0" anchor="t"/>
          <a:lstStyle/>
          <a:p>
            <a:pPr marL="0" indent="0">
              <a:buNone/>
            </a:pPr>
            <a:endParaRPr lang="en-US"/>
          </a:p>
        </p:txBody>
      </p:sp>
      <p:pic>
        <p:nvPicPr>
          <p:cNvPr id="92" name="ResearchIcon2" descr="research-icon.sv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1360" y="2580141"/>
            <a:ext cx="220000" cy="220000"/>
          </a:xfrm>
          <a:prstGeom prst="rect">
            <a:avLst/>
          </a:prstGeom>
        </p:spPr>
      </p:pic>
      <p:sp>
        <p:nvSpPr>
          <p:cNvPr id="45" name="Text 7">
            <a:extLst>
              <a:ext uri="{FF2B5EF4-FFF2-40B4-BE49-F238E27FC236}">
                <a16:creationId xmlns:a16="http://schemas.microsoft.com/office/drawing/2014/main" id="{C43CAE72-C1CA-EA21-CD5B-B35F93C1A78D}"/>
              </a:ext>
            </a:extLst>
          </p:cNvPr>
          <p:cNvSpPr/>
          <p:nvPr/>
        </p:nvSpPr>
        <p:spPr>
          <a:xfrm>
            <a:off x="1167705" y="2590427"/>
            <a:ext cx="2292117" cy="188863"/>
          </a:xfrm>
          <a:prstGeom prst="rect">
            <a:avLst/>
          </a:prstGeom>
          <a:noFill/>
          <a:ln/>
        </p:spPr>
        <p:txBody>
          <a:bodyPr wrap="none" lIns="0" tIns="0" rIns="0" bIns="0" rtlCol="0" anchor="ctr"/>
          <a:lstStyle/>
          <a:p>
            <a:pPr>
              <a:lnSpc>
                <a:spcPts val="1488"/>
              </a:lnSpc>
            </a:pPr>
            <a:r>
              <a:rPr lang="en-US" sz="1240" b="1" dirty="0">
                <a:solidFill>
                  <a:srgbClr val="76B900"/>
                </a:solidFill>
                <a:latin typeface="Consolas" pitchFamily="34" charset="0"/>
                <a:ea typeface="Consolas" pitchFamily="34" charset="-122"/>
                <a:cs typeface="Consolas" pitchFamily="34" charset="-120"/>
              </a:rPr>
              <a:t>H </a:t>
            </a:r>
            <a:r>
              <a:rPr lang="en-US" sz="1240" b="1" dirty="0">
                <a:solidFill>
                  <a:srgbClr val="76B900"/>
                </a:solidFill>
                <a:latin typeface="Consolas" pitchFamily="34" charset="0"/>
              </a:rPr>
              <a:t>Gao, Cheng, et al. H-Neurons: On the Existence, Impact, and </a:t>
            </a:r>
          </a:p>
          <a:p>
            <a:pPr>
              <a:lnSpc>
                <a:spcPts val="1488"/>
              </a:lnSpc>
            </a:pPr>
            <a:r>
              <a:rPr lang="en-US" sz="1240" b="1" dirty="0">
                <a:solidFill>
                  <a:srgbClr val="76B900"/>
                </a:solidFill>
                <a:latin typeface="Consolas" pitchFamily="34" charset="0"/>
              </a:rPr>
              <a:t>Origin of Hallucination-Associated Neurons in LLMs. </a:t>
            </a:r>
            <a:r>
              <a:rPr lang="en-US" sz="1240" b="1" dirty="0" err="1">
                <a:solidFill>
                  <a:srgbClr val="76B900"/>
                </a:solidFill>
                <a:latin typeface="Consolas" pitchFamily="34" charset="0"/>
              </a:rPr>
              <a:t>arXiv</a:t>
            </a:r>
            <a:r>
              <a:rPr lang="en-US" sz="1240" b="1" dirty="0">
                <a:solidFill>
                  <a:srgbClr val="76B900"/>
                </a:solidFill>
                <a:latin typeface="Consolas" pitchFamily="34" charset="0"/>
              </a:rPr>
              <a:t>, </a:t>
            </a:r>
          </a:p>
          <a:p>
            <a:pPr>
              <a:lnSpc>
                <a:spcPts val="1488"/>
              </a:lnSpc>
            </a:pPr>
            <a:r>
              <a:rPr lang="en-US" sz="1240" b="1" dirty="0">
                <a:solidFill>
                  <a:srgbClr val="76B900"/>
                </a:solidFill>
                <a:latin typeface="Consolas" pitchFamily="34" charset="0"/>
              </a:rPr>
              <a:t>1 Dec. 2025, arXiv:2512.01797, </a:t>
            </a:r>
            <a:r>
              <a:rPr lang="en-US" sz="1240" b="1" dirty="0">
                <a:solidFill>
                  <a:srgbClr val="76B900"/>
                </a:solidFill>
                <a:latin typeface="Consolas" pitchFamily="34" charset="0"/>
                <a:hlinkClick r:id="rId4">
                  <a:extLst>
                    <a:ext uri="{A12FA001-AC4F-418D-AE19-62706E023703}">
                      <ahyp:hlinkClr xmlns:ahyp="http://schemas.microsoft.com/office/drawing/2018/hyperlinkcolor" val="tx"/>
                    </a:ext>
                  </a:extLst>
                </a:hlinkClick>
              </a:rPr>
              <a:t>https://arxiv.org/abs/2512.01797</a:t>
            </a:r>
            <a:r>
              <a:rPr lang="en-US" sz="1240" b="1" dirty="0">
                <a:solidFill>
                  <a:srgbClr val="76B900"/>
                </a:solidFill>
                <a:latin typeface="Consolas" pitchFamily="34" charset="0"/>
              </a:rPr>
              <a:t>.</a:t>
            </a:r>
          </a:p>
          <a:p>
            <a:pPr marL="0" indent="0" algn="l">
              <a:lnSpc>
                <a:spcPts val="1488"/>
              </a:lnSpc>
              <a:buNone/>
            </a:pPr>
            <a:endParaRPr lang="en-US" sz="124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A0F1A"/>
        </a:solidFill>
        <a:effectLst/>
      </p:bgPr>
    </p:bg>
    <p:spTree>
      <p:nvGrpSpPr>
        <p:cNvPr id="1" name="">
          <a:extLst>
            <a:ext uri="{FF2B5EF4-FFF2-40B4-BE49-F238E27FC236}">
              <a16:creationId xmlns:a16="http://schemas.microsoft.com/office/drawing/2014/main" id="{E9E8FD9A-D578-4154-255A-2D759DFCC6A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4021E480-7EC8-C655-264D-88C202D7DEF3}"/>
              </a:ext>
            </a:extLst>
          </p:cNvPr>
          <p:cNvSpPr/>
          <p:nvPr/>
        </p:nvSpPr>
        <p:spPr>
          <a:xfrm>
            <a:off x="0" y="0"/>
            <a:ext cx="9144000" cy="5143500"/>
          </a:xfrm>
          <a:prstGeom prst="rect">
            <a:avLst/>
          </a:prstGeom>
          <a:gradFill rotWithShape="1">
            <a:gsLst>
              <a:gs pos="0">
                <a:srgbClr val="76B900">
                  <a:alpha val="3000"/>
                </a:srgbClr>
              </a:gs>
              <a:gs pos="100000">
                <a:srgbClr val="000000">
                  <a:alpha val="0"/>
                </a:srgbClr>
              </a:gs>
            </a:gsLst>
            <a:lin ang="0" scaled="1"/>
          </a:grad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 name="Text 0">
            <a:extLst>
              <a:ext uri="{FF2B5EF4-FFF2-40B4-BE49-F238E27FC236}">
                <a16:creationId xmlns:a16="http://schemas.microsoft.com/office/drawing/2014/main" id="{853D89A9-0ACA-6E9F-A0F0-F68118396065}"/>
              </a:ext>
            </a:extLst>
          </p:cNvPr>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Text 2">
            <a:extLst>
              <a:ext uri="{FF2B5EF4-FFF2-40B4-BE49-F238E27FC236}">
                <a16:creationId xmlns:a16="http://schemas.microsoft.com/office/drawing/2014/main" id="{3E27FF16-60E8-D7E6-8270-36E6F28C4DCB}"/>
              </a:ext>
            </a:extLst>
          </p:cNvPr>
          <p:cNvSpPr/>
          <p:nvPr/>
        </p:nvSpPr>
        <p:spPr>
          <a:xfrm>
            <a:off x="0" y="4743450"/>
            <a:ext cx="9144000" cy="400050"/>
          </a:xfrm>
          <a:prstGeom prst="rect">
            <a:avLst/>
          </a:prstGeom>
          <a:gradFill rotWithShape="1">
            <a:gsLst>
              <a:gs pos="0">
                <a:srgbClr val="000000">
                  <a:alpha val="0"/>
                </a:srgbClr>
              </a:gs>
              <a:gs pos="100000">
                <a:srgbClr val="76B900">
                  <a:alpha val="4000"/>
                </a:srgbClr>
              </a:gs>
            </a:gsLst>
            <a:lin ang="5400000" scaled="1"/>
          </a:grad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Text 3">
            <a:extLst>
              <a:ext uri="{FF2B5EF4-FFF2-40B4-BE49-F238E27FC236}">
                <a16:creationId xmlns:a16="http://schemas.microsoft.com/office/drawing/2014/main" id="{6B6A332D-2858-51DD-49D4-A076D6E156EB}"/>
              </a:ext>
            </a:extLst>
          </p:cNvPr>
          <p:cNvSpPr/>
          <p:nvPr/>
        </p:nvSpPr>
        <p:spPr>
          <a:xfrm>
            <a:off x="0" y="4743450"/>
            <a:ext cx="9144000" cy="9525"/>
          </a:xfrm>
          <a:prstGeom prst="rect">
            <a:avLst/>
          </a:prstGeom>
          <a:solidFill>
            <a:srgbClr val="76B900">
              <a:alpha val="8000"/>
            </a:srgbClr>
          </a:solidFill>
          <a:ln/>
        </p:spPr>
        <p:txBody>
          <a:bodyPr wrap="non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6" name="Image 0" descr="preencoded.png">
            <a:extLst>
              <a:ext uri="{FF2B5EF4-FFF2-40B4-BE49-F238E27FC236}">
                <a16:creationId xmlns:a16="http://schemas.microsoft.com/office/drawing/2014/main" id="{63468A92-653C-67CB-C89E-2A12DAFF1B3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53886" y="4881944"/>
            <a:ext cx="132588" cy="132588"/>
          </a:xfrm>
          <a:prstGeom prst="rect">
            <a:avLst/>
          </a:prstGeom>
        </p:spPr>
      </p:pic>
      <p:sp>
        <p:nvSpPr>
          <p:cNvPr id="7" name="Text 4">
            <a:extLst>
              <a:ext uri="{FF2B5EF4-FFF2-40B4-BE49-F238E27FC236}">
                <a16:creationId xmlns:a16="http://schemas.microsoft.com/office/drawing/2014/main" id="{38379760-FC08-B784-3EA3-AF70E5062C57}"/>
              </a:ext>
            </a:extLst>
          </p:cNvPr>
          <p:cNvSpPr/>
          <p:nvPr/>
        </p:nvSpPr>
        <p:spPr>
          <a:xfrm>
            <a:off x="2020193" y="4872930"/>
            <a:ext cx="5770974" cy="150465"/>
          </a:xfrm>
          <a:prstGeom prst="rect">
            <a:avLst/>
          </a:prstGeom>
          <a:noFill/>
          <a:ln/>
        </p:spPr>
        <p:txBody>
          <a:bodyPr wrap="none" lIns="0" tIns="0" rIns="0" bIns="0" rtlCol="0" anchor="ctr"/>
          <a:lstStyle/>
          <a:p>
            <a:pPr marL="0" marR="0" lvl="0" indent="0" algn="l" defTabSz="914400" rtl="0" eaLnBrk="1" fontAlgn="auto" latinLnBrk="0" hangingPunct="1">
              <a:lnSpc>
                <a:spcPts val="1185"/>
              </a:lnSpc>
              <a:spcBef>
                <a:spcPts val="0"/>
              </a:spcBef>
              <a:spcAft>
                <a:spcPts val="0"/>
              </a:spcAft>
              <a:buClrTx/>
              <a:buSzTx/>
              <a:buFontTx/>
              <a:buNone/>
              <a:tabLst/>
              <a:defRPr/>
            </a:pPr>
            <a:r>
              <a:rPr kumimoji="0" lang="en-US" sz="790" b="0" i="0" u="none" strike="noStrike" kern="1200" cap="none" spc="0" normalizeH="0" baseline="0" noProof="0" dirty="0">
                <a:ln>
                  <a:noFill/>
                </a:ln>
                <a:solidFill>
                  <a:srgbClr val="8B9CB6"/>
                </a:solidFill>
                <a:effectLst/>
                <a:uLnTx/>
                <a:uFillTx/>
                <a:latin typeface="Consolas" pitchFamily="34" charset="0"/>
                <a:ea typeface="Consolas" pitchFamily="34" charset="-122"/>
                <a:cs typeface="Consolas" pitchFamily="34" charset="-120"/>
              </a:rPr>
              <a:t>Can regulatory actions directly influence how model providers apply safety alignment</a:t>
            </a:r>
            <a:endParaRPr kumimoji="0" lang="en-US" sz="79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 7">
            <a:extLst>
              <a:ext uri="{FF2B5EF4-FFF2-40B4-BE49-F238E27FC236}">
                <a16:creationId xmlns:a16="http://schemas.microsoft.com/office/drawing/2014/main" id="{328C69E3-16A5-503D-963E-D4A700B242EA}"/>
              </a:ext>
            </a:extLst>
          </p:cNvPr>
          <p:cNvSpPr/>
          <p:nvPr/>
        </p:nvSpPr>
        <p:spPr>
          <a:xfrm>
            <a:off x="514350" y="407343"/>
            <a:ext cx="314920" cy="314920"/>
          </a:xfrm>
          <a:prstGeom prst="roundRect">
            <a:avLst>
              <a:gd name="adj" fmla="val 22584"/>
            </a:avLst>
          </a:prstGeom>
          <a:solidFill>
            <a:srgbClr val="76B900">
              <a:alpha val="12000"/>
            </a:srgbClr>
          </a:solidFill>
          <a:ln/>
        </p:spPr>
        <p:txBody>
          <a:bodyPr wrap="square"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1" name="Image 1" descr="preencoded.png">
            <a:extLst>
              <a:ext uri="{FF2B5EF4-FFF2-40B4-BE49-F238E27FC236}">
                <a16:creationId xmlns:a16="http://schemas.microsoft.com/office/drawing/2014/main" id="{C1C958BF-2A08-8331-0AE5-66EFF104C1F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5516" y="498509"/>
            <a:ext cx="132588" cy="132588"/>
          </a:xfrm>
          <a:prstGeom prst="rect">
            <a:avLst/>
          </a:prstGeom>
        </p:spPr>
      </p:pic>
      <p:sp>
        <p:nvSpPr>
          <p:cNvPr id="12" name="Text 8">
            <a:extLst>
              <a:ext uri="{FF2B5EF4-FFF2-40B4-BE49-F238E27FC236}">
                <a16:creationId xmlns:a16="http://schemas.microsoft.com/office/drawing/2014/main" id="{26C2B7EC-58A3-F1C9-DBD0-9CB1E2B20B72}"/>
              </a:ext>
            </a:extLst>
          </p:cNvPr>
          <p:cNvSpPr/>
          <p:nvPr/>
        </p:nvSpPr>
        <p:spPr>
          <a:xfrm>
            <a:off x="929580" y="400050"/>
            <a:ext cx="5478862" cy="329654"/>
          </a:xfrm>
          <a:prstGeom prst="rect">
            <a:avLst/>
          </a:prstGeom>
          <a:noFill/>
          <a:ln/>
        </p:spPr>
        <p:txBody>
          <a:bodyPr wrap="none" lIns="0" tIns="0" rIns="0" bIns="0" rtlCol="0" anchor="ctr"/>
          <a:lstStyle/>
          <a:p>
            <a:pPr marL="0" marR="0" lvl="0" indent="0" algn="l" defTabSz="914400" rtl="0" eaLnBrk="1" fontAlgn="auto" latinLnBrk="0" hangingPunct="1">
              <a:lnSpc>
                <a:spcPts val="2596"/>
              </a:lnSpc>
              <a:spcBef>
                <a:spcPts val="0"/>
              </a:spcBef>
              <a:spcAft>
                <a:spcPts val="0"/>
              </a:spcAft>
              <a:buClrTx/>
              <a:buSzTx/>
              <a:buFontTx/>
              <a:buNone/>
              <a:tabLst/>
              <a:defRPr/>
            </a:pPr>
            <a:r>
              <a:rPr kumimoji="0" lang="en-US" sz="2360" b="0" i="0" u="none" strike="noStrike" kern="0" cap="none" spc="-30" normalizeH="0" baseline="0" noProof="0" dirty="0">
                <a:ln>
                  <a:noFill/>
                </a:ln>
                <a:solidFill>
                  <a:srgbClr val="E2E8F0"/>
                </a:solidFill>
                <a:effectLst/>
                <a:uLnTx/>
                <a:uFillTx/>
                <a:latin typeface="Consolas" pitchFamily="34" charset="0"/>
                <a:ea typeface="Consolas" pitchFamily="34" charset="-122"/>
                <a:cs typeface="Consolas" pitchFamily="34" charset="-120"/>
              </a:rPr>
              <a:t> </a:t>
            </a:r>
            <a:br>
              <a:rPr kumimoji="0" sz="1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360" b="0" i="0" u="none" strike="noStrike" kern="0" cap="none" spc="-30" normalizeH="0" baseline="0" noProof="0" dirty="0">
                <a:ln>
                  <a:noFill/>
                </a:ln>
                <a:solidFill>
                  <a:srgbClr val="E2E8F0"/>
                </a:solidFill>
                <a:effectLst/>
                <a:uLnTx/>
                <a:uFillTx/>
                <a:latin typeface="Consolas" pitchFamily="34" charset="0"/>
                <a:ea typeface="Consolas" pitchFamily="34" charset="-122"/>
                <a:cs typeface="Consolas" pitchFamily="34" charset="-120"/>
              </a:rPr>
              <a:t> What else do we need to do?</a:t>
            </a:r>
            <a:br>
              <a:rPr kumimoji="0" sz="1800" b="0" i="0" u="none" strike="noStrike" kern="1200" cap="none" spc="0" normalizeH="0" baseline="0" noProof="0" dirty="0">
                <a:ln>
                  <a:noFill/>
                </a:ln>
                <a:solidFill>
                  <a:prstClr val="black"/>
                </a:solidFill>
                <a:effectLst/>
                <a:uLnTx/>
                <a:uFillTx/>
                <a:latin typeface="Calibri" panose="020F0502020204030204"/>
                <a:ea typeface="+mn-ea"/>
                <a:cs typeface="+mn-cs"/>
              </a:rPr>
            </a:br>
            <a:r>
              <a:rPr kumimoji="0" lang="en-US" sz="2360" b="0" i="0" u="none" strike="noStrike" kern="0" cap="none" spc="-30" normalizeH="0" baseline="0" noProof="0" dirty="0">
                <a:ln>
                  <a:noFill/>
                </a:ln>
                <a:solidFill>
                  <a:srgbClr val="E2E8F0"/>
                </a:solidFill>
                <a:effectLst/>
                <a:uLnTx/>
                <a:uFillTx/>
                <a:latin typeface="Consolas" pitchFamily="34" charset="0"/>
                <a:ea typeface="Consolas" pitchFamily="34" charset="-122"/>
                <a:cs typeface="Consolas" pitchFamily="34" charset="-120"/>
              </a:rPr>
              <a:t>        </a:t>
            </a:r>
            <a:endParaRPr kumimoji="0" lang="en-US" sz="236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 9">
            <a:extLst>
              <a:ext uri="{FF2B5EF4-FFF2-40B4-BE49-F238E27FC236}">
                <a16:creationId xmlns:a16="http://schemas.microsoft.com/office/drawing/2014/main" id="{3D6428D4-690E-5F99-EE3A-E367D9BFF083}"/>
              </a:ext>
            </a:extLst>
          </p:cNvPr>
          <p:cNvSpPr/>
          <p:nvPr/>
        </p:nvSpPr>
        <p:spPr>
          <a:xfrm>
            <a:off x="672450" y="786854"/>
            <a:ext cx="8471550" cy="182880"/>
          </a:xfrm>
          <a:prstGeom prst="rect">
            <a:avLst/>
          </a:prstGeom>
          <a:noFill/>
          <a:ln/>
        </p:spPr>
        <p:txBody>
          <a:bodyPr wrap="none" lIns="0" tIns="0" rIns="0" bIns="0" rtlCol="0" anchor="t"/>
          <a:lstStyle/>
          <a:p>
            <a:pPr marL="0" marR="0" lvl="0" indent="0" algn="l" defTabSz="914400" rtl="0" eaLnBrk="1" fontAlgn="auto" latinLnBrk="0" hangingPunct="1">
              <a:lnSpc>
                <a:spcPts val="1414"/>
              </a:lnSpc>
              <a:spcBef>
                <a:spcPts val="0"/>
              </a:spcBef>
              <a:spcAft>
                <a:spcPts val="0"/>
              </a:spcAft>
              <a:buClrTx/>
              <a:buSzTx/>
              <a:buFontTx/>
              <a:buNone/>
              <a:tabLst/>
              <a:defRPr/>
            </a:pPr>
            <a:endParaRPr kumimoji="0" lang="en-US" sz="101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F32C2878-87B1-CB9F-DF7A-7E0D5699520C}"/>
              </a:ext>
            </a:extLst>
          </p:cNvPr>
          <p:cNvSpPr txBox="1"/>
          <p:nvPr/>
        </p:nvSpPr>
        <p:spPr>
          <a:xfrm>
            <a:off x="3075709" y="1953491"/>
            <a:ext cx="1256146" cy="369332"/>
          </a:xfrm>
          <a:prstGeom prst="rect">
            <a:avLst/>
          </a:prstGeom>
          <a:noFill/>
        </p:spPr>
        <p:txBody>
          <a:bodyPr wrap="square" rtlCol="0">
            <a:spAutoFit/>
          </a:bodyPr>
          <a:lstStyle/>
          <a:p>
            <a:r>
              <a:rPr lang="en-US" dirty="0">
                <a:solidFill>
                  <a:schemeClr val="bg1"/>
                </a:solidFill>
              </a:rPr>
              <a:t>Video 3</a:t>
            </a:r>
          </a:p>
        </p:txBody>
      </p:sp>
    </p:spTree>
    <p:extLst>
      <p:ext uri="{BB962C8B-B14F-4D97-AF65-F5344CB8AC3E}">
        <p14:creationId xmlns:p14="http://schemas.microsoft.com/office/powerpoint/2010/main" val="32761757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76B900">
                  <a:alpha val="3000"/>
                </a:srgbClr>
              </a:gs>
              <a:gs pos="100000">
                <a:srgbClr val="000000">
                  <a:alpha val="0"/>
                </a:srgbClr>
              </a:gs>
            </a:gsLst>
            <a:lin ang="0" scaled="1"/>
          </a:gradFill>
          <a:ln/>
        </p:spPr>
        <p:txBody>
          <a:bodyPr wrap="square" rtlCol="0" anchor="t"/>
          <a:lstStyle/>
          <a:p>
            <a:pPr marL="0" indent="0">
              <a:buNone/>
            </a:pPr>
            <a:endParaRPr lang="en-US" dirty="0"/>
          </a:p>
        </p:txBody>
      </p:sp>
      <p:sp>
        <p:nvSpPr>
          <p:cNvPr id="4" name="Text 2"/>
          <p:cNvSpPr/>
          <p:nvPr/>
        </p:nvSpPr>
        <p:spPr>
          <a:xfrm>
            <a:off x="2785765" y="785515"/>
            <a:ext cx="3572470" cy="3572470"/>
          </a:xfrm>
          <a:prstGeom prst="ellipse">
            <a:avLst/>
          </a:prstGeom>
          <a:gradFill rotWithShape="1">
            <a:gsLst>
              <a:gs pos="0">
                <a:srgbClr val="76B900">
                  <a:alpha val="8000"/>
                </a:srgbClr>
              </a:gs>
              <a:gs pos="70000">
                <a:srgbClr val="76B900">
                  <a:alpha val="0"/>
                </a:srgbClr>
              </a:gs>
            </a:gsLst>
            <a:path path="circle">
              <a:fillToRect l="50000" t="50000" r="50000" b="50000"/>
            </a:path>
          </a:gradFill>
          <a:ln/>
        </p:spPr>
        <p:txBody>
          <a:bodyPr wrap="square" rtlCol="0" anchor="t"/>
          <a:lstStyle/>
          <a:p>
            <a:pPr marL="0" indent="0">
              <a:buNone/>
            </a:pPr>
            <a:endParaRPr lang="en-US" dirty="0"/>
          </a:p>
        </p:txBody>
      </p:sp>
      <p:sp>
        <p:nvSpPr>
          <p:cNvPr id="5" name="Text 3"/>
          <p:cNvSpPr/>
          <p:nvPr/>
        </p:nvSpPr>
        <p:spPr>
          <a:xfrm>
            <a:off x="7531596" y="429220"/>
            <a:ext cx="1144994" cy="118021"/>
          </a:xfrm>
          <a:prstGeom prst="rect">
            <a:avLst/>
          </a:prstGeom>
          <a:noFill/>
          <a:ln/>
        </p:spPr>
        <p:txBody>
          <a:bodyPr wrap="none" lIns="0" tIns="0" rIns="0" bIns="0" rtlCol="0" anchor="t"/>
          <a:lstStyle/>
          <a:p>
            <a:pPr marL="0" indent="0" algn="l">
              <a:lnSpc>
                <a:spcPts val="930"/>
              </a:lnSpc>
              <a:buNone/>
            </a:pPr>
            <a:r>
              <a:rPr lang="en-US" sz="620" dirty="0">
                <a:solidFill>
                  <a:srgbClr val="76B900">
                    <a:alpha val="6000"/>
                  </a:srgbClr>
                </a:solidFill>
                <a:latin typeface="Consolas" pitchFamily="34" charset="0"/>
                <a:ea typeface="Consolas" pitchFamily="34" charset="-122"/>
                <a:cs typeface="Consolas" pitchFamily="34" charset="-120"/>
              </a:rPr>
              <a:t>personality: "curious"</a:t>
            </a:r>
            <a:endParaRPr lang="en-US" sz="620" dirty="0"/>
          </a:p>
        </p:txBody>
      </p:sp>
      <p:sp>
        <p:nvSpPr>
          <p:cNvPr id="6" name="Text 4"/>
          <p:cNvSpPr/>
          <p:nvPr/>
        </p:nvSpPr>
        <p:spPr>
          <a:xfrm>
            <a:off x="7688312" y="786110"/>
            <a:ext cx="658282" cy="106710"/>
          </a:xfrm>
          <a:prstGeom prst="rect">
            <a:avLst/>
          </a:prstGeom>
          <a:noFill/>
          <a:ln/>
        </p:spPr>
        <p:txBody>
          <a:bodyPr wrap="none" lIns="0" tIns="0" rIns="0" bIns="0" rtlCol="0" anchor="t"/>
          <a:lstStyle/>
          <a:p>
            <a:pPr marL="0" indent="0" algn="l">
              <a:lnSpc>
                <a:spcPts val="840"/>
              </a:lnSpc>
              <a:buNone/>
            </a:pPr>
            <a:r>
              <a:rPr lang="en-US" sz="560" dirty="0">
                <a:solidFill>
                  <a:srgbClr val="76B900">
                    <a:alpha val="6000"/>
                  </a:srgbClr>
                </a:solidFill>
                <a:latin typeface="Consolas" pitchFamily="34" charset="0"/>
                <a:ea typeface="Consolas" pitchFamily="34" charset="-122"/>
                <a:cs typeface="Consolas" pitchFamily="34" charset="-120"/>
              </a:rPr>
              <a:t>tone: "direct"</a:t>
            </a:r>
            <a:endParaRPr lang="en-US" sz="560" dirty="0"/>
          </a:p>
        </p:txBody>
      </p:sp>
      <p:sp>
        <p:nvSpPr>
          <p:cNvPr id="7" name="Text 5"/>
          <p:cNvSpPr/>
          <p:nvPr/>
        </p:nvSpPr>
        <p:spPr>
          <a:xfrm>
            <a:off x="429220" y="4465290"/>
            <a:ext cx="987341" cy="106710"/>
          </a:xfrm>
          <a:prstGeom prst="rect">
            <a:avLst/>
          </a:prstGeom>
          <a:noFill/>
          <a:ln/>
        </p:spPr>
        <p:txBody>
          <a:bodyPr wrap="none" lIns="0" tIns="0" rIns="0" bIns="0" rtlCol="0" anchor="t"/>
          <a:lstStyle/>
          <a:p>
            <a:pPr marL="0" indent="0" algn="l">
              <a:lnSpc>
                <a:spcPts val="840"/>
              </a:lnSpc>
              <a:buNone/>
            </a:pPr>
            <a:r>
              <a:rPr lang="en-US" sz="560" dirty="0">
                <a:solidFill>
                  <a:srgbClr val="76B900">
                    <a:alpha val="6000"/>
                  </a:srgbClr>
                </a:solidFill>
                <a:latin typeface="Consolas" pitchFamily="34" charset="0"/>
                <a:ea typeface="Consolas" pitchFamily="34" charset="-122"/>
                <a:cs typeface="Consolas" pitchFamily="34" charset="-120"/>
              </a:rPr>
              <a:t>ethics: "transparent"</a:t>
            </a:r>
            <a:endParaRPr lang="en-US" sz="560" dirty="0"/>
          </a:p>
        </p:txBody>
      </p:sp>
      <p:sp>
        <p:nvSpPr>
          <p:cNvPr id="8" name="Text 6"/>
          <p:cNvSpPr/>
          <p:nvPr/>
        </p:nvSpPr>
        <p:spPr>
          <a:xfrm>
            <a:off x="714970" y="4668738"/>
            <a:ext cx="832798" cy="118021"/>
          </a:xfrm>
          <a:prstGeom prst="rect">
            <a:avLst/>
          </a:prstGeom>
          <a:noFill/>
          <a:ln/>
        </p:spPr>
        <p:txBody>
          <a:bodyPr wrap="none" lIns="0" tIns="0" rIns="0" bIns="0" rtlCol="0" anchor="t"/>
          <a:lstStyle/>
          <a:p>
            <a:pPr marL="0" indent="0" algn="l">
              <a:lnSpc>
                <a:spcPts val="930"/>
              </a:lnSpc>
              <a:buNone/>
            </a:pPr>
            <a:r>
              <a:rPr lang="en-US" sz="620" dirty="0">
                <a:solidFill>
                  <a:srgbClr val="76B900">
                    <a:alpha val="6000"/>
                  </a:srgbClr>
                </a:solidFill>
                <a:latin typeface="Consolas" pitchFamily="34" charset="0"/>
                <a:ea typeface="Consolas" pitchFamily="34" charset="-122"/>
                <a:cs typeface="Consolas" pitchFamily="34" charset="-120"/>
              </a:rPr>
              <a:t>boundaries: true</a:t>
            </a:r>
            <a:endParaRPr lang="en-US" sz="620" dirty="0"/>
          </a:p>
        </p:txBody>
      </p:sp>
      <p:sp>
        <p:nvSpPr>
          <p:cNvPr id="9" name="Text 7"/>
          <p:cNvSpPr/>
          <p:nvPr/>
        </p:nvSpPr>
        <p:spPr>
          <a:xfrm>
            <a:off x="285750" y="1286470"/>
            <a:ext cx="128677" cy="97036"/>
          </a:xfrm>
          <a:prstGeom prst="rect">
            <a:avLst/>
          </a:prstGeom>
          <a:noFill/>
          <a:ln/>
        </p:spPr>
        <p:txBody>
          <a:bodyPr wrap="none" lIns="0" tIns="0" rIns="0" bIns="0" rtlCol="0" anchor="t"/>
          <a:lstStyle/>
          <a:p>
            <a:pPr marL="0" indent="0" algn="l">
              <a:lnSpc>
                <a:spcPts val="765"/>
              </a:lnSpc>
              <a:buNone/>
            </a:pPr>
            <a:r>
              <a:rPr lang="en-US" sz="510" dirty="0">
                <a:solidFill>
                  <a:srgbClr val="76B900">
                    <a:alpha val="6000"/>
                  </a:srgbClr>
                </a:solidFill>
                <a:latin typeface="Consolas" pitchFamily="34" charset="0"/>
                <a:ea typeface="Consolas" pitchFamily="34" charset="-122"/>
                <a:cs typeface="Consolas" pitchFamily="34" charset="-120"/>
              </a:rPr>
              <a:t>---</a:t>
            </a:r>
            <a:endParaRPr lang="en-US" sz="510" dirty="0"/>
          </a:p>
        </p:txBody>
      </p:sp>
      <p:sp>
        <p:nvSpPr>
          <p:cNvPr id="10" name="Text 8"/>
          <p:cNvSpPr/>
          <p:nvPr/>
        </p:nvSpPr>
        <p:spPr>
          <a:xfrm>
            <a:off x="466725" y="1171129"/>
            <a:ext cx="4024017" cy="1534716"/>
          </a:xfrm>
          <a:prstGeom prst="roundRect">
            <a:avLst>
              <a:gd name="adj" fmla="val 7448"/>
            </a:avLst>
          </a:prstGeom>
          <a:gradFill rotWithShape="1">
            <a:gsLst>
              <a:gs pos="0">
                <a:srgbClr val="76B900">
                  <a:alpha val="20000"/>
                </a:srgbClr>
              </a:gs>
              <a:gs pos="60000">
                <a:srgbClr val="000000">
                  <a:alpha val="0"/>
                </a:srgbClr>
              </a:gs>
            </a:gsLst>
            <a:lin ang="2700000" scaled="1"/>
          </a:gradFill>
          <a:ln/>
        </p:spPr>
        <p:txBody>
          <a:bodyPr wrap="square" rtlCol="0" anchor="t"/>
          <a:lstStyle/>
          <a:p>
            <a:pPr marL="0" indent="0">
              <a:buNone/>
            </a:pPr>
            <a:endParaRPr lang="en-US" dirty="0"/>
          </a:p>
        </p:txBody>
      </p:sp>
      <p:sp>
        <p:nvSpPr>
          <p:cNvPr id="11" name="Text 9"/>
          <p:cNvSpPr/>
          <p:nvPr/>
        </p:nvSpPr>
        <p:spPr>
          <a:xfrm>
            <a:off x="4653260" y="1171129"/>
            <a:ext cx="4024017" cy="1534716"/>
          </a:xfrm>
          <a:prstGeom prst="roundRect">
            <a:avLst>
              <a:gd name="adj" fmla="val 7448"/>
            </a:avLst>
          </a:prstGeom>
          <a:gradFill rotWithShape="1">
            <a:gsLst>
              <a:gs pos="0">
                <a:srgbClr val="76B900">
                  <a:alpha val="20000"/>
                </a:srgbClr>
              </a:gs>
              <a:gs pos="60000">
                <a:srgbClr val="000000">
                  <a:alpha val="0"/>
                </a:srgbClr>
              </a:gs>
            </a:gsLst>
            <a:lin ang="2700000" scaled="1"/>
          </a:gradFill>
          <a:ln/>
        </p:spPr>
        <p:txBody>
          <a:bodyPr wrap="square" rtlCol="0" anchor="t"/>
          <a:lstStyle/>
          <a:p>
            <a:pPr marL="0" indent="0">
              <a:buNone/>
            </a:pPr>
            <a:endParaRPr lang="en-US" dirty="0"/>
          </a:p>
        </p:txBody>
      </p:sp>
      <p:sp>
        <p:nvSpPr>
          <p:cNvPr id="12" name="Text 10"/>
          <p:cNvSpPr/>
          <p:nvPr/>
        </p:nvSpPr>
        <p:spPr>
          <a:xfrm>
            <a:off x="466725" y="2868364"/>
            <a:ext cx="4024017" cy="1534868"/>
          </a:xfrm>
          <a:prstGeom prst="roundRect">
            <a:avLst>
              <a:gd name="adj" fmla="val 7447"/>
            </a:avLst>
          </a:prstGeom>
          <a:gradFill rotWithShape="1">
            <a:gsLst>
              <a:gs pos="0">
                <a:srgbClr val="76B900">
                  <a:alpha val="20000"/>
                </a:srgbClr>
              </a:gs>
              <a:gs pos="60000">
                <a:srgbClr val="000000">
                  <a:alpha val="0"/>
                </a:srgbClr>
              </a:gs>
            </a:gsLst>
            <a:lin ang="2700000" scaled="1"/>
          </a:gradFill>
          <a:ln/>
        </p:spPr>
        <p:txBody>
          <a:bodyPr wrap="square" rtlCol="0" anchor="t"/>
          <a:lstStyle/>
          <a:p>
            <a:pPr marL="0" indent="0">
              <a:buNone/>
            </a:pPr>
            <a:endParaRPr lang="en-US" dirty="0"/>
          </a:p>
        </p:txBody>
      </p:sp>
      <p:sp>
        <p:nvSpPr>
          <p:cNvPr id="13" name="Text 11"/>
          <p:cNvSpPr/>
          <p:nvPr/>
        </p:nvSpPr>
        <p:spPr>
          <a:xfrm>
            <a:off x="4653260" y="2868364"/>
            <a:ext cx="4024017" cy="1534868"/>
          </a:xfrm>
          <a:prstGeom prst="roundRect">
            <a:avLst>
              <a:gd name="adj" fmla="val 7447"/>
            </a:avLst>
          </a:prstGeom>
          <a:gradFill rotWithShape="1">
            <a:gsLst>
              <a:gs pos="0">
                <a:srgbClr val="76B900">
                  <a:alpha val="20000"/>
                </a:srgbClr>
              </a:gs>
              <a:gs pos="60000">
                <a:srgbClr val="000000">
                  <a:alpha val="0"/>
                </a:srgbClr>
              </a:gs>
            </a:gsLst>
            <a:lin ang="2700000" scaled="1"/>
          </a:gradFill>
          <a:ln/>
        </p:spPr>
        <p:txBody>
          <a:bodyPr wrap="square" rtlCol="0" anchor="t"/>
          <a:lstStyle/>
          <a:p>
            <a:pPr marL="0" indent="0">
              <a:buNone/>
            </a:pPr>
            <a:endParaRPr lang="en-US" dirty="0"/>
          </a:p>
        </p:txBody>
      </p:sp>
      <p:pic>
        <p:nvPicPr>
          <p:cNvPr id="1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1494" y="483840"/>
            <a:ext cx="214313" cy="214313"/>
          </a:xfrm>
          <a:prstGeom prst="rect">
            <a:avLst/>
          </a:prstGeom>
        </p:spPr>
      </p:pic>
      <p:sp>
        <p:nvSpPr>
          <p:cNvPr id="15" name="Text 12"/>
          <p:cNvSpPr/>
          <p:nvPr/>
        </p:nvSpPr>
        <p:spPr>
          <a:xfrm>
            <a:off x="943570" y="342900"/>
            <a:ext cx="3501025" cy="293043"/>
          </a:xfrm>
          <a:prstGeom prst="rect">
            <a:avLst/>
          </a:prstGeom>
          <a:noFill/>
          <a:ln/>
        </p:spPr>
        <p:txBody>
          <a:bodyPr wrap="none" lIns="0" tIns="0" rIns="0" bIns="0" rtlCol="0" anchor="ctr"/>
          <a:lstStyle/>
          <a:p>
            <a:pPr marL="0" indent="0" algn="l">
              <a:lnSpc>
                <a:spcPts val="2233"/>
              </a:lnSpc>
              <a:buNone/>
            </a:pPr>
            <a:r>
              <a:rPr lang="en-US" sz="2030" dirty="0">
                <a:solidFill>
                  <a:srgbClr val="E2E8F0"/>
                </a:solidFill>
                <a:latin typeface="Consolas" pitchFamily="34" charset="0"/>
                <a:ea typeface="Consolas" pitchFamily="34" charset="-122"/>
                <a:cs typeface="Consolas" pitchFamily="34" charset="-120"/>
              </a:rPr>
              <a:t> </a:t>
            </a:r>
            <a:br/>
            <a:r>
              <a:rPr lang="en-US" sz="2030" dirty="0">
                <a:solidFill>
                  <a:srgbClr val="E2E8F0"/>
                </a:solidFill>
                <a:latin typeface="Consolas" pitchFamily="34" charset="0"/>
                <a:ea typeface="Consolas" pitchFamily="34" charset="-122"/>
                <a:cs typeface="Consolas" pitchFamily="34" charset="-120"/>
              </a:rPr>
              <a:t>          The Power of </a:t>
            </a:r>
            <a:r>
              <a:rPr lang="en-US" sz="2030" b="1" dirty="0">
                <a:solidFill>
                  <a:srgbClr val="76B900"/>
                </a:solidFill>
                <a:latin typeface="Consolas" pitchFamily="34" charset="0"/>
                <a:ea typeface="Consolas" pitchFamily="34" charset="-122"/>
                <a:cs typeface="Consolas" pitchFamily="34" charset="-120"/>
              </a:rPr>
              <a:t>SOUL.md</a:t>
            </a:r>
            <a:r>
              <a:rPr lang="en-US" sz="2030" dirty="0">
                <a:solidFill>
                  <a:srgbClr val="E2E8F0"/>
                </a:solidFill>
                <a:latin typeface="Consolas" pitchFamily="34" charset="0"/>
                <a:ea typeface="Consolas" pitchFamily="34" charset="-122"/>
                <a:cs typeface="Consolas" pitchFamily="34" charset="-120"/>
              </a:rPr>
              <a:t> </a:t>
            </a:r>
            <a:br/>
            <a:r>
              <a:rPr lang="en-US" sz="2030" dirty="0">
                <a:solidFill>
                  <a:srgbClr val="E2E8F0"/>
                </a:solidFill>
                <a:latin typeface="Consolas" pitchFamily="34" charset="0"/>
                <a:ea typeface="Consolas" pitchFamily="34" charset="-122"/>
                <a:cs typeface="Consolas" pitchFamily="34" charset="-120"/>
              </a:rPr>
              <a:t>        </a:t>
            </a:r>
            <a:endParaRPr lang="en-US" sz="2030" dirty="0"/>
          </a:p>
        </p:txBody>
      </p:sp>
      <p:sp>
        <p:nvSpPr>
          <p:cNvPr id="16" name="Text 13"/>
          <p:cNvSpPr/>
          <p:nvPr/>
        </p:nvSpPr>
        <p:spPr>
          <a:xfrm>
            <a:off x="943570" y="679103"/>
            <a:ext cx="3599185" cy="159990"/>
          </a:xfrm>
          <a:prstGeom prst="rect">
            <a:avLst/>
          </a:prstGeom>
          <a:noFill/>
          <a:ln/>
        </p:spPr>
        <p:txBody>
          <a:bodyPr wrap="none" lIns="0" tIns="0" rIns="0" bIns="0" rtlCol="0" anchor="ctr"/>
          <a:lstStyle/>
          <a:p>
            <a:pPr marL="0" indent="0" algn="l">
              <a:lnSpc>
                <a:spcPts val="1260"/>
              </a:lnSpc>
              <a:spcBef>
                <a:spcPts val="340"/>
              </a:spcBef>
              <a:buNone/>
            </a:pPr>
            <a:r>
              <a:rPr lang="en-US" sz="840" dirty="0">
                <a:solidFill>
                  <a:srgbClr val="8B9CB6"/>
                </a:solidFill>
                <a:latin typeface="Consolas" pitchFamily="34" charset="0"/>
                <a:ea typeface="Consolas" pitchFamily="34" charset="-122"/>
                <a:cs typeface="Consolas" pitchFamily="34" charset="-120"/>
              </a:rPr>
              <a:t>The core configuration that makes each agent unique</a:t>
            </a:r>
            <a:endParaRPr lang="en-US" sz="840" dirty="0"/>
          </a:p>
        </p:txBody>
      </p:sp>
      <p:sp>
        <p:nvSpPr>
          <p:cNvPr id="17" name="Text 14"/>
          <p:cNvSpPr/>
          <p:nvPr/>
        </p:nvSpPr>
        <p:spPr>
          <a:xfrm>
            <a:off x="457200" y="925413"/>
            <a:ext cx="8229600" cy="7590"/>
          </a:xfrm>
          <a:prstGeom prst="rect">
            <a:avLst/>
          </a:prstGeom>
          <a:gradFill rotWithShape="1">
            <a:gsLst>
              <a:gs pos="0">
                <a:srgbClr val="76B900"/>
              </a:gs>
              <a:gs pos="60000">
                <a:srgbClr val="000000">
                  <a:alpha val="0"/>
                </a:srgbClr>
              </a:gs>
            </a:gsLst>
            <a:lin ang="0" scaled="1"/>
          </a:gradFill>
          <a:ln/>
        </p:spPr>
        <p:txBody>
          <a:bodyPr wrap="none" rtlCol="0" anchor="t"/>
          <a:lstStyle/>
          <a:p>
            <a:pPr marL="0" indent="0">
              <a:buNone/>
            </a:pPr>
            <a:endParaRPr lang="en-US" dirty="0"/>
          </a:p>
        </p:txBody>
      </p:sp>
      <p:sp>
        <p:nvSpPr>
          <p:cNvPr id="18" name="Text 15"/>
          <p:cNvSpPr/>
          <p:nvPr/>
        </p:nvSpPr>
        <p:spPr>
          <a:xfrm>
            <a:off x="457200" y="1161604"/>
            <a:ext cx="4043065" cy="1553766"/>
          </a:xfrm>
          <a:prstGeom prst="roundRect">
            <a:avLst>
              <a:gd name="adj" fmla="val 7356"/>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19" name="Text 16"/>
          <p:cNvSpPr/>
          <p:nvPr/>
        </p:nvSpPr>
        <p:spPr>
          <a:xfrm>
            <a:off x="695325" y="1371749"/>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2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0043" y="1496467"/>
            <a:ext cx="150465" cy="150465"/>
          </a:xfrm>
          <a:prstGeom prst="rect">
            <a:avLst/>
          </a:prstGeom>
        </p:spPr>
      </p:pic>
      <p:sp>
        <p:nvSpPr>
          <p:cNvPr id="21" name="Text 17"/>
          <p:cNvSpPr/>
          <p:nvPr/>
        </p:nvSpPr>
        <p:spPr>
          <a:xfrm>
            <a:off x="1266825" y="1371749"/>
            <a:ext cx="1456700" cy="192435"/>
          </a:xfrm>
          <a:prstGeom prst="rect">
            <a:avLst/>
          </a:prstGeom>
          <a:noFill/>
          <a:ln/>
        </p:spPr>
        <p:txBody>
          <a:bodyPr wrap="none" lIns="0" tIns="0" rIns="0" bIns="0" rtlCol="0" anchor="t"/>
          <a:lstStyle/>
          <a:p>
            <a:pPr marL="0" indent="0" algn="l">
              <a:lnSpc>
                <a:spcPts val="1515"/>
              </a:lnSpc>
              <a:buNone/>
            </a:pPr>
            <a:r>
              <a:rPr lang="en-US" sz="1010" b="1" dirty="0">
                <a:solidFill>
                  <a:srgbClr val="76B900"/>
                </a:solidFill>
                <a:latin typeface="Consolas" pitchFamily="34" charset="0"/>
                <a:ea typeface="Consolas" pitchFamily="34" charset="-122"/>
                <a:cs typeface="Consolas" pitchFamily="34" charset="-120"/>
              </a:rPr>
              <a:t>Identity &amp; Boundaries</a:t>
            </a:r>
            <a:endParaRPr lang="en-US" sz="1010" dirty="0"/>
          </a:p>
        </p:txBody>
      </p:sp>
      <p:sp>
        <p:nvSpPr>
          <p:cNvPr id="22" name="Text 18"/>
          <p:cNvSpPr/>
          <p:nvPr/>
        </p:nvSpPr>
        <p:spPr>
          <a:xfrm>
            <a:off x="1266825" y="1607344"/>
            <a:ext cx="3055221" cy="335979"/>
          </a:xfrm>
          <a:prstGeom prst="rect">
            <a:avLst/>
          </a:prstGeom>
          <a:noFill/>
          <a:ln/>
        </p:spPr>
        <p:txBody>
          <a:bodyPr wrap="square" lIns="0" tIns="0" rIns="0" bIns="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Defines </a:t>
            </a:r>
            <a:r>
              <a:rPr lang="en-US" sz="840" dirty="0">
                <a:solidFill>
                  <a:srgbClr val="E2E8F0"/>
                </a:solidFill>
                <a:latin typeface="Calibri" pitchFamily="34" charset="0"/>
                <a:ea typeface="Calibri" pitchFamily="34" charset="-122"/>
                <a:cs typeface="Calibri" pitchFamily="34" charset="-120"/>
              </a:rPr>
              <a:t>personality, values, tone, ethics</a:t>
            </a:r>
            <a:r>
              <a:rPr lang="en-US" sz="840" dirty="0">
                <a:solidFill>
                  <a:srgbClr val="8B9CB6"/>
                </a:solidFill>
                <a:latin typeface="Calibri" pitchFamily="34" charset="0"/>
                <a:ea typeface="Calibri" pitchFamily="34" charset="-122"/>
                <a:cs typeface="Calibri" pitchFamily="34" charset="-120"/>
              </a:rPr>
              <a:t> &amp; hard boundaries — the DNA of your agent's character</a:t>
            </a:r>
            <a:endParaRPr lang="en-US" sz="840" dirty="0"/>
          </a:p>
        </p:txBody>
      </p:sp>
      <p:sp>
        <p:nvSpPr>
          <p:cNvPr id="23" name="Text 19"/>
          <p:cNvSpPr/>
          <p:nvPr/>
        </p:nvSpPr>
        <p:spPr>
          <a:xfrm>
            <a:off x="4643735" y="1161604"/>
            <a:ext cx="4043065" cy="1553766"/>
          </a:xfrm>
          <a:prstGeom prst="roundRect">
            <a:avLst>
              <a:gd name="adj" fmla="val 7356"/>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24" name="Text 20"/>
          <p:cNvSpPr/>
          <p:nvPr/>
        </p:nvSpPr>
        <p:spPr>
          <a:xfrm>
            <a:off x="4881860" y="1371749"/>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2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006578" y="1496467"/>
            <a:ext cx="150465" cy="150465"/>
          </a:xfrm>
          <a:prstGeom prst="rect">
            <a:avLst/>
          </a:prstGeom>
        </p:spPr>
      </p:pic>
      <p:sp>
        <p:nvSpPr>
          <p:cNvPr id="26" name="Text 21"/>
          <p:cNvSpPr/>
          <p:nvPr/>
        </p:nvSpPr>
        <p:spPr>
          <a:xfrm>
            <a:off x="5453360" y="1371749"/>
            <a:ext cx="1159237" cy="192435"/>
          </a:xfrm>
          <a:prstGeom prst="rect">
            <a:avLst/>
          </a:prstGeom>
          <a:noFill/>
          <a:ln/>
        </p:spPr>
        <p:txBody>
          <a:bodyPr wrap="none" lIns="0" tIns="0" rIns="0" bIns="0" rtlCol="0" anchor="t"/>
          <a:lstStyle/>
          <a:p>
            <a:pPr marL="0" indent="0" algn="l">
              <a:lnSpc>
                <a:spcPts val="1515"/>
              </a:lnSpc>
              <a:buNone/>
            </a:pPr>
            <a:r>
              <a:rPr lang="en-US" sz="1010" b="1" dirty="0">
                <a:solidFill>
                  <a:srgbClr val="76B900"/>
                </a:solidFill>
                <a:latin typeface="Consolas" pitchFamily="34" charset="0"/>
                <a:ea typeface="Consolas" pitchFamily="34" charset="-122"/>
                <a:cs typeface="Consolas" pitchFamily="34" charset="-120"/>
              </a:rPr>
              <a:t>Session Injection</a:t>
            </a:r>
            <a:endParaRPr lang="en-US" sz="1010" dirty="0"/>
          </a:p>
        </p:txBody>
      </p:sp>
      <p:sp>
        <p:nvSpPr>
          <p:cNvPr id="27" name="Text 22"/>
          <p:cNvSpPr/>
          <p:nvPr/>
        </p:nvSpPr>
        <p:spPr>
          <a:xfrm>
            <a:off x="5453360" y="1607344"/>
            <a:ext cx="3055221" cy="335979"/>
          </a:xfrm>
          <a:prstGeom prst="rect">
            <a:avLst/>
          </a:prstGeom>
          <a:noFill/>
          <a:ln/>
        </p:spPr>
        <p:txBody>
          <a:bodyPr wrap="square" lIns="0" tIns="0" rIns="0" bIns="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Injected at the </a:t>
            </a:r>
            <a:r>
              <a:rPr lang="en-US" sz="840" dirty="0">
                <a:solidFill>
                  <a:srgbClr val="E2E8F0"/>
                </a:solidFill>
                <a:latin typeface="Calibri" pitchFamily="34" charset="0"/>
                <a:ea typeface="Calibri" pitchFamily="34" charset="-122"/>
                <a:cs typeface="Calibri" pitchFamily="34" charset="-120"/>
              </a:rPr>
              <a:t>start of every session</a:t>
            </a:r>
            <a:r>
              <a:rPr lang="en-US" sz="840" dirty="0">
                <a:solidFill>
                  <a:srgbClr val="8B9CB6"/>
                </a:solidFill>
                <a:latin typeface="Calibri" pitchFamily="34" charset="0"/>
                <a:ea typeface="Calibri" pitchFamily="34" charset="-122"/>
                <a:cs typeface="Calibri" pitchFamily="34" charset="-120"/>
              </a:rPr>
              <a:t> — your agent always wakes up knowing exactly who it is</a:t>
            </a:r>
            <a:endParaRPr lang="en-US" sz="840" dirty="0"/>
          </a:p>
        </p:txBody>
      </p:sp>
      <p:sp>
        <p:nvSpPr>
          <p:cNvPr id="28" name="Text 23"/>
          <p:cNvSpPr/>
          <p:nvPr/>
        </p:nvSpPr>
        <p:spPr>
          <a:xfrm>
            <a:off x="457200" y="2858839"/>
            <a:ext cx="4043065" cy="1553914"/>
          </a:xfrm>
          <a:prstGeom prst="roundRect">
            <a:avLst>
              <a:gd name="adj" fmla="val 7356"/>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29" name="Text 24"/>
          <p:cNvSpPr/>
          <p:nvPr/>
        </p:nvSpPr>
        <p:spPr>
          <a:xfrm>
            <a:off x="695325" y="3068985"/>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30"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20043" y="3193703"/>
            <a:ext cx="150465" cy="150465"/>
          </a:xfrm>
          <a:prstGeom prst="rect">
            <a:avLst/>
          </a:prstGeom>
        </p:spPr>
      </p:pic>
      <p:sp>
        <p:nvSpPr>
          <p:cNvPr id="31" name="Text 25"/>
          <p:cNvSpPr/>
          <p:nvPr/>
        </p:nvSpPr>
        <p:spPr>
          <a:xfrm>
            <a:off x="1266825" y="3068985"/>
            <a:ext cx="1542812" cy="192435"/>
          </a:xfrm>
          <a:prstGeom prst="rect">
            <a:avLst/>
          </a:prstGeom>
          <a:noFill/>
          <a:ln/>
        </p:spPr>
        <p:txBody>
          <a:bodyPr wrap="none" lIns="0" tIns="0" rIns="0" bIns="0" rtlCol="0" anchor="t"/>
          <a:lstStyle/>
          <a:p>
            <a:pPr marL="0" indent="0" algn="l">
              <a:lnSpc>
                <a:spcPts val="1515"/>
              </a:lnSpc>
              <a:buNone/>
            </a:pPr>
            <a:r>
              <a:rPr lang="en-US" sz="1010" b="1" dirty="0">
                <a:solidFill>
                  <a:srgbClr val="76B900"/>
                </a:solidFill>
                <a:latin typeface="Consolas" pitchFamily="34" charset="0"/>
                <a:ea typeface="Consolas" pitchFamily="34" charset="-122"/>
                <a:cs typeface="Consolas" pitchFamily="34" charset="-120"/>
              </a:rPr>
              <a:t>Consistent Companion</a:t>
            </a:r>
            <a:endParaRPr lang="en-US" sz="1010" dirty="0"/>
          </a:p>
        </p:txBody>
      </p:sp>
      <p:sp>
        <p:nvSpPr>
          <p:cNvPr id="32" name="Text 26"/>
          <p:cNvSpPr/>
          <p:nvPr/>
        </p:nvSpPr>
        <p:spPr>
          <a:xfrm>
            <a:off x="1266825" y="3304580"/>
            <a:ext cx="3055221" cy="335979"/>
          </a:xfrm>
          <a:prstGeom prst="rect">
            <a:avLst/>
          </a:prstGeom>
          <a:noFill/>
          <a:ln/>
        </p:spPr>
        <p:txBody>
          <a:bodyPr wrap="square" lIns="0" tIns="0" rIns="0" bIns="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Creates a </a:t>
            </a:r>
            <a:r>
              <a:rPr lang="en-US" sz="840" dirty="0">
                <a:solidFill>
                  <a:srgbClr val="E2E8F0"/>
                </a:solidFill>
                <a:latin typeface="Calibri" pitchFamily="34" charset="0"/>
                <a:ea typeface="Calibri" pitchFamily="34" charset="-122"/>
                <a:cs typeface="Calibri" pitchFamily="34" charset="-120"/>
              </a:rPr>
              <a:t>consistent, opinionated companion</a:t>
            </a:r>
            <a:r>
              <a:rPr lang="en-US" sz="840" dirty="0">
                <a:solidFill>
                  <a:srgbClr val="8B9CB6"/>
                </a:solidFill>
                <a:latin typeface="Calibri" pitchFamily="34" charset="0"/>
                <a:ea typeface="Calibri" pitchFamily="34" charset="-122"/>
                <a:cs typeface="Calibri" pitchFamily="34" charset="-120"/>
              </a:rPr>
              <a:t> — not a generic chatbot, but an agent with real character</a:t>
            </a:r>
            <a:endParaRPr lang="en-US" sz="840" dirty="0"/>
          </a:p>
        </p:txBody>
      </p:sp>
      <p:sp>
        <p:nvSpPr>
          <p:cNvPr id="33" name="Text 27"/>
          <p:cNvSpPr/>
          <p:nvPr/>
        </p:nvSpPr>
        <p:spPr>
          <a:xfrm>
            <a:off x="4643735" y="2858839"/>
            <a:ext cx="4043065" cy="1553914"/>
          </a:xfrm>
          <a:prstGeom prst="roundRect">
            <a:avLst>
              <a:gd name="adj" fmla="val 7356"/>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34" name="Text 28"/>
          <p:cNvSpPr/>
          <p:nvPr/>
        </p:nvSpPr>
        <p:spPr>
          <a:xfrm>
            <a:off x="4881860" y="3068985"/>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3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006578" y="3193703"/>
            <a:ext cx="150465" cy="150465"/>
          </a:xfrm>
          <a:prstGeom prst="rect">
            <a:avLst/>
          </a:prstGeom>
        </p:spPr>
      </p:pic>
      <p:sp>
        <p:nvSpPr>
          <p:cNvPr id="36" name="Text 29"/>
          <p:cNvSpPr/>
          <p:nvPr/>
        </p:nvSpPr>
        <p:spPr>
          <a:xfrm>
            <a:off x="5453360" y="3068985"/>
            <a:ext cx="1402020" cy="192435"/>
          </a:xfrm>
          <a:prstGeom prst="rect">
            <a:avLst/>
          </a:prstGeom>
          <a:noFill/>
          <a:ln/>
        </p:spPr>
        <p:txBody>
          <a:bodyPr wrap="none" lIns="0" tIns="0" rIns="0" bIns="0" rtlCol="0" anchor="t"/>
          <a:lstStyle/>
          <a:p>
            <a:pPr marL="0" indent="0" algn="l">
              <a:lnSpc>
                <a:spcPts val="1515"/>
              </a:lnSpc>
              <a:buNone/>
            </a:pPr>
            <a:r>
              <a:rPr lang="en-US" sz="1010" b="1" dirty="0">
                <a:solidFill>
                  <a:srgbClr val="76B900"/>
                </a:solidFill>
                <a:latin typeface="Consolas" pitchFamily="34" charset="0"/>
                <a:ea typeface="Consolas" pitchFamily="34" charset="-122"/>
                <a:cs typeface="Consolas" pitchFamily="34" charset="-120"/>
              </a:rPr>
              <a:t>One SOUL Per Agent</a:t>
            </a:r>
            <a:endParaRPr lang="en-US" sz="1010" dirty="0"/>
          </a:p>
        </p:txBody>
      </p:sp>
      <p:sp>
        <p:nvSpPr>
          <p:cNvPr id="37" name="Text 30"/>
          <p:cNvSpPr/>
          <p:nvPr/>
        </p:nvSpPr>
        <p:spPr>
          <a:xfrm>
            <a:off x="5453360" y="3304580"/>
            <a:ext cx="3055221" cy="335979"/>
          </a:xfrm>
          <a:prstGeom prst="rect">
            <a:avLst/>
          </a:prstGeom>
          <a:noFill/>
          <a:ln/>
        </p:spPr>
        <p:txBody>
          <a:bodyPr wrap="square" lIns="0" tIns="0" rIns="0" bIns="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One SOUL per </a:t>
            </a:r>
            <a:r>
              <a:rPr lang="en-US" sz="840" dirty="0">
                <a:solidFill>
                  <a:srgbClr val="E2E8F0"/>
                </a:solidFill>
                <a:latin typeface="Calibri" pitchFamily="34" charset="0"/>
                <a:ea typeface="Calibri" pitchFamily="34" charset="-122"/>
                <a:cs typeface="Calibri" pitchFamily="34" charset="-120"/>
              </a:rPr>
              <a:t>specialized agent</a:t>
            </a:r>
            <a:r>
              <a:rPr lang="en-US" sz="840" dirty="0">
                <a:solidFill>
                  <a:srgbClr val="8B9CB6"/>
                </a:solidFill>
                <a:latin typeface="Calibri" pitchFamily="34" charset="0"/>
                <a:ea typeface="Calibri" pitchFamily="34" charset="-122"/>
                <a:cs typeface="Calibri" pitchFamily="34" charset="-120"/>
              </a:rPr>
              <a:t> — research assistant, code reviewer, project manager, each with its own file</a:t>
            </a:r>
            <a:endParaRPr lang="en-US" sz="840" dirty="0"/>
          </a:p>
        </p:txBody>
      </p:sp>
      <p:sp>
        <p:nvSpPr>
          <p:cNvPr id="38" name="Text 31"/>
          <p:cNvSpPr/>
          <p:nvPr/>
        </p:nvSpPr>
        <p:spPr>
          <a:xfrm>
            <a:off x="2789783" y="4584204"/>
            <a:ext cx="769953" cy="216396"/>
          </a:xfrm>
          <a:prstGeom prst="roundRect">
            <a:avLst>
              <a:gd name="adj" fmla="val 66318"/>
            </a:avLst>
          </a:prstGeom>
          <a:solidFill>
            <a:srgbClr val="76B900">
              <a:alpha val="15000"/>
            </a:srgbClr>
          </a:solidFill>
          <a:ln w="9525">
            <a:solidFill>
              <a:srgbClr val="76B900">
                <a:alpha val="30000"/>
              </a:srgbClr>
            </a:solidFill>
          </a:ln>
        </p:spPr>
        <p:txBody>
          <a:bodyPr wrap="none" lIns="218668" tIns="29210" rIns="100330" bIns="29210" rtlCol="0" anchor="ctr"/>
          <a:lstStyle/>
          <a:p>
            <a:pPr marL="0" indent="0" algn="l">
              <a:buNone/>
            </a:pPr>
            <a:r>
              <a:rPr lang="en-US" sz="730" kern="0" spc="30" dirty="0">
                <a:solidFill>
                  <a:srgbClr val="76B900"/>
                </a:solidFill>
                <a:latin typeface="Consolas" pitchFamily="34" charset="0"/>
                <a:ea typeface="Consolas" pitchFamily="34" charset="-122"/>
                <a:cs typeface="Consolas" pitchFamily="34" charset="-120"/>
              </a:rPr>
              <a:t>SOUL.md</a:t>
            </a:r>
            <a:endParaRPr lang="en-US" sz="730" dirty="0"/>
          </a:p>
        </p:txBody>
      </p:sp>
      <p:pic>
        <p:nvPicPr>
          <p:cNvPr id="39"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870903" y="4626034"/>
            <a:ext cx="132588" cy="132588"/>
          </a:xfrm>
          <a:prstGeom prst="rect">
            <a:avLst/>
          </a:prstGeom>
        </p:spPr>
      </p:pic>
      <p:sp>
        <p:nvSpPr>
          <p:cNvPr id="40" name="Text 32"/>
          <p:cNvSpPr/>
          <p:nvPr/>
        </p:nvSpPr>
        <p:spPr>
          <a:xfrm>
            <a:off x="3658939" y="4617095"/>
            <a:ext cx="64502" cy="150465"/>
          </a:xfrm>
          <a:prstGeom prst="rect">
            <a:avLst/>
          </a:prstGeom>
          <a:noFill/>
          <a:ln/>
        </p:spPr>
        <p:txBody>
          <a:bodyPr wrap="none" lIns="0" tIns="0" rIns="0" bIns="0" rtlCol="0" anchor="ctr"/>
          <a:lstStyle/>
          <a:p>
            <a:pPr marL="0" indent="0" algn="l">
              <a:lnSpc>
                <a:spcPts val="1185"/>
              </a:lnSpc>
              <a:buNone/>
            </a:pPr>
            <a:r>
              <a:rPr lang="en-US" sz="790" dirty="0">
                <a:solidFill>
                  <a:srgbClr val="8B9CB6"/>
                </a:solidFill>
                <a:latin typeface="Calibri" pitchFamily="34" charset="0"/>
                <a:ea typeface="Calibri" pitchFamily="34" charset="-122"/>
                <a:cs typeface="Calibri" pitchFamily="34" charset="-120"/>
              </a:rPr>
              <a:t>=</a:t>
            </a:r>
            <a:endParaRPr lang="en-US" sz="790" dirty="0"/>
          </a:p>
        </p:txBody>
      </p:sp>
      <p:sp>
        <p:nvSpPr>
          <p:cNvPr id="41" name="Text 33"/>
          <p:cNvSpPr/>
          <p:nvPr/>
        </p:nvSpPr>
        <p:spPr>
          <a:xfrm>
            <a:off x="3831878" y="4612332"/>
            <a:ext cx="2774409" cy="159990"/>
          </a:xfrm>
          <a:prstGeom prst="rect">
            <a:avLst/>
          </a:prstGeom>
          <a:noFill/>
          <a:ln/>
        </p:spPr>
        <p:txBody>
          <a:bodyPr wrap="none" lIns="0" tIns="0" rIns="0" bIns="0" rtlCol="0" anchor="ctr"/>
          <a:lstStyle/>
          <a:p>
            <a:pPr marL="0" indent="0" algn="l">
              <a:lnSpc>
                <a:spcPts val="1260"/>
              </a:lnSpc>
              <a:buNone/>
            </a:pPr>
            <a:r>
              <a:rPr lang="en-US" sz="840" b="1" dirty="0">
                <a:solidFill>
                  <a:srgbClr val="E2E8F0"/>
                </a:solidFill>
                <a:latin typeface="Calibri" pitchFamily="34" charset="0"/>
                <a:ea typeface="Calibri" pitchFamily="34" charset="-122"/>
                <a:cs typeface="Calibri" pitchFamily="34" charset="-120"/>
              </a:rPr>
              <a:t>Your agent's personality in a single Markdown file</a:t>
            </a:r>
            <a:endParaRPr lang="en-US" sz="84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3">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6000"/>
                </a:srgbClr>
              </a:gs>
              <a:gs pos="50000">
                <a:srgbClr val="000000">
                  <a:alpha val="0"/>
                </a:srgbClr>
              </a:gs>
            </a:gsLst>
            <a:path path="circle">
              <a:fillToRect l="85000" t="50000" r="15000" b="50000"/>
            </a:path>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76B900">
                  <a:alpha val="4000"/>
                </a:srgbClr>
              </a:gs>
              <a:gs pos="45000">
                <a:srgbClr val="000000">
                  <a:alpha val="0"/>
                </a:srgbClr>
              </a:gs>
            </a:gsLst>
            <a:path path="circle">
              <a:fillToRect l="15000" t="70000" r="85000" b="30000"/>
            </a:path>
          </a:gradFill>
          <a:ln/>
        </p:spPr>
        <p:txBody>
          <a:bodyPr wrap="square" rtlCol="0" anchor="t"/>
          <a:lstStyle/>
          <a:p>
            <a:pPr marL="0" indent="0">
              <a:buNone/>
            </a:pPr>
            <a:endParaRPr lang="en-US" dirty="0"/>
          </a:p>
        </p:txBody>
      </p:sp>
      <p:sp>
        <p:nvSpPr>
          <p:cNvPr id="4" name="Text 2"/>
          <p:cNvSpPr/>
          <p:nvPr/>
        </p:nvSpPr>
        <p:spPr>
          <a:xfrm>
            <a:off x="0" y="5114330"/>
            <a:ext cx="9144000" cy="29170"/>
          </a:xfrm>
          <a:prstGeom prst="rect">
            <a:avLst/>
          </a:prstGeom>
          <a:gradFill rotWithShape="1">
            <a:gsLst>
              <a:gs pos="0">
                <a:srgbClr val="76B900"/>
              </a:gs>
              <a:gs pos="80000">
                <a:srgbClr val="000000">
                  <a:alpha val="0"/>
                </a:srgbClr>
              </a:gs>
            </a:gsLst>
            <a:lin ang="0" scaled="1"/>
          </a:gradFill>
          <a:ln/>
        </p:spPr>
        <p:txBody>
          <a:bodyPr wrap="none" rtlCol="0" anchor="t"/>
          <a:lstStyle/>
          <a:p>
            <a:pPr marL="0" indent="0">
              <a:buNone/>
            </a:pPr>
            <a:endParaRPr lang="en-US" dirty="0"/>
          </a:p>
        </p:txBody>
      </p:sp>
      <p:sp>
        <p:nvSpPr>
          <p:cNvPr id="5" name="Text 3"/>
          <p:cNvSpPr/>
          <p:nvPr/>
        </p:nvSpPr>
        <p:spPr>
          <a:xfrm>
            <a:off x="581025" y="1359098"/>
            <a:ext cx="29170" cy="1139428"/>
          </a:xfrm>
          <a:custGeom>
            <a:avLst/>
            <a:gdLst/>
            <a:ahLst/>
            <a:cxnLst/>
            <a:rect l="l" t="t" r="r" b="b"/>
            <a:pathLst>
              <a:path w="29170" h="1139428">
                <a:moveTo>
                  <a:pt x="0" y="114300"/>
                </a:moveTo>
                <a:lnTo>
                  <a:pt x="3646" y="85660"/>
                </a:lnTo>
                <a:lnTo>
                  <a:pt x="7293" y="74127"/>
                </a:lnTo>
                <a:lnTo>
                  <a:pt x="10939" y="65505"/>
                </a:lnTo>
                <a:lnTo>
                  <a:pt x="14585" y="58430"/>
                </a:lnTo>
                <a:lnTo>
                  <a:pt x="18231" y="52370"/>
                </a:lnTo>
                <a:lnTo>
                  <a:pt x="21878" y="47050"/>
                </a:lnTo>
                <a:lnTo>
                  <a:pt x="25524" y="42305"/>
                </a:lnTo>
                <a:lnTo>
                  <a:pt x="29170" y="38028"/>
                </a:lnTo>
                <a:lnTo>
                  <a:pt x="29170" y="1101400"/>
                </a:lnTo>
                <a:lnTo>
                  <a:pt x="25524" y="1097123"/>
                </a:lnTo>
                <a:lnTo>
                  <a:pt x="21878" y="1092379"/>
                </a:lnTo>
                <a:lnTo>
                  <a:pt x="18231" y="1087058"/>
                </a:lnTo>
                <a:lnTo>
                  <a:pt x="14585" y="1080998"/>
                </a:lnTo>
                <a:lnTo>
                  <a:pt x="10939" y="1073923"/>
                </a:lnTo>
                <a:lnTo>
                  <a:pt x="7293" y="1065302"/>
                </a:lnTo>
                <a:lnTo>
                  <a:pt x="3646" y="1053768"/>
                </a:lnTo>
                <a:lnTo>
                  <a:pt x="0" y="1025128"/>
                </a:lnTo>
                <a:close/>
              </a:path>
            </a:pathLst>
          </a:custGeom>
          <a:solidFill>
            <a:srgbClr val="76B900"/>
          </a:solidFill>
          <a:ln/>
        </p:spPr>
        <p:txBody>
          <a:bodyPr wrap="square" rtlCol="0" anchor="t"/>
          <a:lstStyle/>
          <a:p>
            <a:pPr marL="0" indent="0">
              <a:buNone/>
            </a:pPr>
            <a:endParaRPr lang="en-US" dirty="0"/>
          </a:p>
        </p:txBody>
      </p:sp>
      <p:sp>
        <p:nvSpPr>
          <p:cNvPr id="6" name="Text 4"/>
          <p:cNvSpPr/>
          <p:nvPr/>
        </p:nvSpPr>
        <p:spPr>
          <a:xfrm>
            <a:off x="581025" y="2689027"/>
            <a:ext cx="29170" cy="1139428"/>
          </a:xfrm>
          <a:custGeom>
            <a:avLst/>
            <a:gdLst/>
            <a:ahLst/>
            <a:cxnLst/>
            <a:rect l="l" t="t" r="r" b="b"/>
            <a:pathLst>
              <a:path w="29170" h="1139428">
                <a:moveTo>
                  <a:pt x="0" y="114300"/>
                </a:moveTo>
                <a:lnTo>
                  <a:pt x="3646" y="85660"/>
                </a:lnTo>
                <a:lnTo>
                  <a:pt x="7293" y="74127"/>
                </a:lnTo>
                <a:lnTo>
                  <a:pt x="10939" y="65505"/>
                </a:lnTo>
                <a:lnTo>
                  <a:pt x="14585" y="58430"/>
                </a:lnTo>
                <a:lnTo>
                  <a:pt x="18231" y="52370"/>
                </a:lnTo>
                <a:lnTo>
                  <a:pt x="21878" y="47050"/>
                </a:lnTo>
                <a:lnTo>
                  <a:pt x="25524" y="42305"/>
                </a:lnTo>
                <a:lnTo>
                  <a:pt x="29170" y="38028"/>
                </a:lnTo>
                <a:lnTo>
                  <a:pt x="29170" y="1101400"/>
                </a:lnTo>
                <a:lnTo>
                  <a:pt x="25524" y="1097123"/>
                </a:lnTo>
                <a:lnTo>
                  <a:pt x="21878" y="1092379"/>
                </a:lnTo>
                <a:lnTo>
                  <a:pt x="18231" y="1087058"/>
                </a:lnTo>
                <a:lnTo>
                  <a:pt x="14585" y="1080998"/>
                </a:lnTo>
                <a:lnTo>
                  <a:pt x="10939" y="1073923"/>
                </a:lnTo>
                <a:lnTo>
                  <a:pt x="7293" y="1065302"/>
                </a:lnTo>
                <a:lnTo>
                  <a:pt x="3646" y="1053768"/>
                </a:lnTo>
                <a:lnTo>
                  <a:pt x="0" y="1025128"/>
                </a:lnTo>
                <a:close/>
              </a:path>
            </a:pathLst>
          </a:custGeom>
          <a:solidFill>
            <a:srgbClr val="76B900"/>
          </a:solidFill>
          <a:ln/>
        </p:spPr>
        <p:txBody>
          <a:bodyPr wrap="square" rtlCol="0" anchor="t"/>
          <a:lstStyle/>
          <a:p>
            <a:pPr marL="0" indent="0">
              <a:buNone/>
            </a:pPr>
            <a:endParaRPr lang="en-US" dirty="0"/>
          </a:p>
        </p:txBody>
      </p:sp>
      <p:sp>
        <p:nvSpPr>
          <p:cNvPr id="7" name="Text 5"/>
          <p:cNvSpPr/>
          <p:nvPr/>
        </p:nvSpPr>
        <p:spPr>
          <a:xfrm>
            <a:off x="581025" y="4018955"/>
            <a:ext cx="29170" cy="1124545"/>
          </a:xfrm>
          <a:custGeom>
            <a:avLst/>
            <a:gdLst/>
            <a:ahLst/>
            <a:cxnLst/>
            <a:rect l="l" t="t" r="r" b="b"/>
            <a:pathLst>
              <a:path w="29170" h="1124545">
                <a:moveTo>
                  <a:pt x="0" y="114300"/>
                </a:moveTo>
                <a:lnTo>
                  <a:pt x="3646" y="85660"/>
                </a:lnTo>
                <a:lnTo>
                  <a:pt x="7293" y="74127"/>
                </a:lnTo>
                <a:lnTo>
                  <a:pt x="10939" y="65505"/>
                </a:lnTo>
                <a:lnTo>
                  <a:pt x="14585" y="58430"/>
                </a:lnTo>
                <a:lnTo>
                  <a:pt x="18231" y="52370"/>
                </a:lnTo>
                <a:lnTo>
                  <a:pt x="21878" y="47050"/>
                </a:lnTo>
                <a:lnTo>
                  <a:pt x="25524" y="42305"/>
                </a:lnTo>
                <a:lnTo>
                  <a:pt x="29170" y="38028"/>
                </a:lnTo>
                <a:lnTo>
                  <a:pt x="29170" y="1101400"/>
                </a:lnTo>
                <a:lnTo>
                  <a:pt x="25524" y="1097123"/>
                </a:lnTo>
                <a:lnTo>
                  <a:pt x="21878" y="1092379"/>
                </a:lnTo>
                <a:lnTo>
                  <a:pt x="18231" y="1087058"/>
                </a:lnTo>
                <a:lnTo>
                  <a:pt x="14585" y="1080998"/>
                </a:lnTo>
                <a:lnTo>
                  <a:pt x="10939" y="1073923"/>
                </a:lnTo>
                <a:lnTo>
                  <a:pt x="7293" y="1065302"/>
                </a:lnTo>
                <a:lnTo>
                  <a:pt x="3646" y="1053768"/>
                </a:lnTo>
                <a:lnTo>
                  <a:pt x="0" y="1025128"/>
                </a:lnTo>
                <a:close/>
              </a:path>
            </a:pathLst>
          </a:custGeom>
          <a:solidFill>
            <a:srgbClr val="76B900"/>
          </a:solidFill>
          <a:ln/>
        </p:spPr>
        <p:txBody>
          <a:bodyPr wrap="square" rtlCol="0" anchor="t"/>
          <a:lstStyle/>
          <a:p>
            <a:pPr marL="0" indent="0">
              <a:buNone/>
            </a:pPr>
            <a:endParaRPr lang="en-US" dirty="0"/>
          </a:p>
        </p:txBody>
      </p:sp>
      <p:sp>
        <p:nvSpPr>
          <p:cNvPr id="8" name="Text 6"/>
          <p:cNvSpPr/>
          <p:nvPr/>
        </p:nvSpPr>
        <p:spPr>
          <a:xfrm>
            <a:off x="342900" y="400050"/>
            <a:ext cx="8801100" cy="182880"/>
          </a:xfrm>
          <a:prstGeom prst="rect">
            <a:avLst/>
          </a:prstGeom>
          <a:noFill/>
          <a:ln/>
        </p:spPr>
        <p:txBody>
          <a:bodyPr wrap="none" lIns="0" tIns="0" rIns="0" bIns="0" rtlCol="0" anchor="t"/>
          <a:lstStyle/>
          <a:p>
            <a:pPr marL="0" indent="0" algn="l">
              <a:lnSpc>
                <a:spcPts val="1095"/>
              </a:lnSpc>
              <a:buNone/>
            </a:pPr>
            <a:r>
              <a:rPr lang="en-US" sz="730" kern="0" spc="230" dirty="0">
                <a:solidFill>
                  <a:srgbClr val="76B900"/>
                </a:solidFill>
                <a:latin typeface="Consolas" pitchFamily="34" charset="0"/>
                <a:ea typeface="Consolas" pitchFamily="34" charset="-122"/>
                <a:cs typeface="Consolas" pitchFamily="34" charset="-120"/>
              </a:rPr>
              <a:t>AGENT FRAMEWORK</a:t>
            </a:r>
            <a:endParaRPr lang="en-US" sz="730" dirty="0"/>
          </a:p>
        </p:txBody>
      </p:sp>
      <p:sp>
        <p:nvSpPr>
          <p:cNvPr id="9" name="Text 7"/>
          <p:cNvSpPr/>
          <p:nvPr/>
        </p:nvSpPr>
        <p:spPr>
          <a:xfrm>
            <a:off x="571500" y="625376"/>
            <a:ext cx="8401050" cy="409277"/>
          </a:xfrm>
          <a:prstGeom prst="rect">
            <a:avLst/>
          </a:prstGeom>
          <a:noFill/>
          <a:ln/>
        </p:spPr>
        <p:txBody>
          <a:bodyPr wrap="none" lIns="0" tIns="0" rIns="0" bIns="0" rtlCol="0" anchor="t"/>
          <a:lstStyle/>
          <a:p>
            <a:pPr marL="0" indent="0" algn="l">
              <a:lnSpc>
                <a:spcPts val="3223"/>
              </a:lnSpc>
              <a:spcBef>
                <a:spcPts val="680"/>
              </a:spcBef>
              <a:spcAft>
                <a:spcPts val="2480"/>
              </a:spcAft>
              <a:buNone/>
            </a:pPr>
            <a:r>
              <a:rPr lang="en-US" sz="2930" dirty="0">
                <a:solidFill>
                  <a:srgbClr val="E2E8F0"/>
                </a:solidFill>
                <a:latin typeface="Consolas" pitchFamily="34" charset="0"/>
                <a:ea typeface="Consolas" pitchFamily="34" charset="-122"/>
                <a:cs typeface="Consolas" pitchFamily="34" charset="-120"/>
              </a:rPr>
              <a:t> Meet </a:t>
            </a:r>
            <a:r>
              <a:rPr lang="en-US" sz="2930" b="1" dirty="0">
                <a:solidFill>
                  <a:srgbClr val="76B900"/>
                </a:solidFill>
                <a:latin typeface="Consolas" pitchFamily="34" charset="0"/>
                <a:ea typeface="Consolas" pitchFamily="34" charset="-122"/>
                <a:cs typeface="Consolas" pitchFamily="34" charset="-120"/>
              </a:rPr>
              <a:t>OpenClaw</a:t>
            </a:r>
            <a:r>
              <a:rPr lang="en-US" sz="2930" dirty="0">
                <a:solidFill>
                  <a:srgbClr val="E2E8F0"/>
                </a:solidFill>
                <a:latin typeface="Consolas" pitchFamily="34" charset="0"/>
                <a:ea typeface="Consolas" pitchFamily="34" charset="-122"/>
                <a:cs typeface="Consolas" pitchFamily="34" charset="-120"/>
              </a:rPr>
              <a:t> </a:t>
            </a:r>
            <a:br>
              <a:rPr dirty="0"/>
            </a:br>
            <a:r>
              <a:rPr lang="en-US" sz="2930" dirty="0">
                <a:solidFill>
                  <a:srgbClr val="E2E8F0"/>
                </a:solidFill>
                <a:latin typeface="Consolas" pitchFamily="34" charset="0"/>
                <a:ea typeface="Consolas" pitchFamily="34" charset="-122"/>
                <a:cs typeface="Consolas" pitchFamily="34" charset="-120"/>
              </a:rPr>
              <a:t>    </a:t>
            </a:r>
            <a:endParaRPr lang="en-US" sz="2930" dirty="0"/>
          </a:p>
        </p:txBody>
      </p:sp>
      <p:sp>
        <p:nvSpPr>
          <p:cNvPr id="10" name="Text 8"/>
          <p:cNvSpPr/>
          <p:nvPr/>
        </p:nvSpPr>
        <p:spPr>
          <a:xfrm>
            <a:off x="571500" y="1349573"/>
            <a:ext cx="8001000" cy="1158478"/>
          </a:xfrm>
          <a:prstGeom prst="roundRect">
            <a:avLst>
              <a:gd name="adj" fmla="val 9866"/>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11" name="Text 9"/>
          <p:cNvSpPr/>
          <p:nvPr/>
        </p:nvSpPr>
        <p:spPr>
          <a:xfrm>
            <a:off x="866775" y="1616869"/>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12"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1493" y="1741587"/>
            <a:ext cx="150465" cy="150465"/>
          </a:xfrm>
          <a:prstGeom prst="rect">
            <a:avLst/>
          </a:prstGeom>
        </p:spPr>
      </p:pic>
      <p:sp>
        <p:nvSpPr>
          <p:cNvPr id="13" name="Text 10"/>
          <p:cNvSpPr/>
          <p:nvPr/>
        </p:nvSpPr>
        <p:spPr>
          <a:xfrm>
            <a:off x="1467445" y="1616869"/>
            <a:ext cx="7490758" cy="215205"/>
          </a:xfrm>
          <a:prstGeom prst="rect">
            <a:avLst/>
          </a:prstGeom>
          <a:noFill/>
          <a:ln/>
        </p:spPr>
        <p:txBody>
          <a:bodyPr wrap="none" lIns="0" tIns="0" rIns="0" bIns="0" rtlCol="0" anchor="t"/>
          <a:lstStyle/>
          <a:p>
            <a:pPr marL="0" indent="0" algn="l">
              <a:lnSpc>
                <a:spcPts val="1695"/>
              </a:lnSpc>
              <a:buNone/>
            </a:pPr>
            <a:r>
              <a:rPr lang="en-US" sz="1130" b="1" dirty="0">
                <a:solidFill>
                  <a:srgbClr val="E2E8F0"/>
                </a:solidFill>
                <a:latin typeface="Consolas" pitchFamily="34" charset="0"/>
                <a:ea typeface="Consolas" pitchFamily="34" charset="-122"/>
                <a:cs typeface="Consolas" pitchFamily="34" charset="-120"/>
              </a:rPr>
              <a:t>Open-Source Autonomous Agent Framework</a:t>
            </a:r>
            <a:endParaRPr lang="en-US" sz="1130" dirty="0"/>
          </a:p>
        </p:txBody>
      </p:sp>
      <p:sp>
        <p:nvSpPr>
          <p:cNvPr id="14" name="Text 11"/>
          <p:cNvSpPr/>
          <p:nvPr/>
        </p:nvSpPr>
        <p:spPr>
          <a:xfrm>
            <a:off x="1467445" y="1875234"/>
            <a:ext cx="6945975" cy="383798"/>
          </a:xfrm>
          <a:prstGeom prst="rect">
            <a:avLst/>
          </a:prstGeom>
          <a:noFill/>
          <a:ln/>
        </p:spPr>
        <p:txBody>
          <a:bodyPr wrap="square" lIns="0" tIns="0" rIns="0" bIns="0" rtlCol="0" anchor="t"/>
          <a:lstStyle/>
          <a:p>
            <a:pPr marL="0" indent="0" algn="l">
              <a:lnSpc>
                <a:spcPts val="1440"/>
              </a:lnSpc>
              <a:buNone/>
            </a:pPr>
            <a:r>
              <a:rPr lang="en-US" sz="960" dirty="0">
                <a:solidFill>
                  <a:srgbClr val="8B9CB6"/>
                </a:solidFill>
                <a:latin typeface="Calibri" pitchFamily="34" charset="0"/>
                <a:ea typeface="Calibri" pitchFamily="34" charset="-122"/>
                <a:cs typeface="Calibri" pitchFamily="34" charset="-120"/>
              </a:rPr>
              <a:t>Fully open-source and community-driven. Build, customize, and extend your own autonomous AI agents with complete transparency — no black boxes, no vendor lock-in.</a:t>
            </a:r>
            <a:endParaRPr lang="en-US" sz="960" dirty="0"/>
          </a:p>
        </p:txBody>
      </p:sp>
      <p:sp>
        <p:nvSpPr>
          <p:cNvPr id="15" name="Text 12"/>
          <p:cNvSpPr/>
          <p:nvPr/>
        </p:nvSpPr>
        <p:spPr>
          <a:xfrm>
            <a:off x="571500" y="2679502"/>
            <a:ext cx="8001000" cy="1158478"/>
          </a:xfrm>
          <a:prstGeom prst="roundRect">
            <a:avLst>
              <a:gd name="adj" fmla="val 9866"/>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16" name="Text 13"/>
          <p:cNvSpPr/>
          <p:nvPr/>
        </p:nvSpPr>
        <p:spPr>
          <a:xfrm>
            <a:off x="866775" y="2946797"/>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1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1493" y="3071515"/>
            <a:ext cx="150465" cy="150465"/>
          </a:xfrm>
          <a:prstGeom prst="rect">
            <a:avLst/>
          </a:prstGeom>
        </p:spPr>
      </p:pic>
      <p:sp>
        <p:nvSpPr>
          <p:cNvPr id="18" name="Text 14"/>
          <p:cNvSpPr/>
          <p:nvPr/>
        </p:nvSpPr>
        <p:spPr>
          <a:xfrm>
            <a:off x="1467445" y="2946797"/>
            <a:ext cx="7490758" cy="215205"/>
          </a:xfrm>
          <a:prstGeom prst="rect">
            <a:avLst/>
          </a:prstGeom>
          <a:noFill/>
          <a:ln/>
        </p:spPr>
        <p:txBody>
          <a:bodyPr wrap="none" lIns="0" tIns="0" rIns="0" bIns="0" rtlCol="0" anchor="t"/>
          <a:lstStyle/>
          <a:p>
            <a:pPr marL="0" indent="0" algn="l">
              <a:lnSpc>
                <a:spcPts val="1695"/>
              </a:lnSpc>
              <a:buNone/>
            </a:pPr>
            <a:r>
              <a:rPr lang="en-US" sz="1130" b="1" dirty="0">
                <a:solidFill>
                  <a:srgbClr val="E2E8F0"/>
                </a:solidFill>
                <a:latin typeface="Consolas" pitchFamily="34" charset="0"/>
                <a:ea typeface="Consolas" pitchFamily="34" charset="-122"/>
                <a:cs typeface="Consolas" pitchFamily="34" charset="-120"/>
              </a:rPr>
              <a:t>Works with Telegram, WhatsApp, Discord &amp; More</a:t>
            </a:r>
            <a:endParaRPr lang="en-US" sz="1130" dirty="0"/>
          </a:p>
        </p:txBody>
      </p:sp>
      <p:sp>
        <p:nvSpPr>
          <p:cNvPr id="19" name="Text 15"/>
          <p:cNvSpPr/>
          <p:nvPr/>
        </p:nvSpPr>
        <p:spPr>
          <a:xfrm>
            <a:off x="1467445" y="3205163"/>
            <a:ext cx="6945975" cy="383798"/>
          </a:xfrm>
          <a:prstGeom prst="rect">
            <a:avLst/>
          </a:prstGeom>
          <a:noFill/>
          <a:ln/>
        </p:spPr>
        <p:txBody>
          <a:bodyPr wrap="square" lIns="0" tIns="0" rIns="0" bIns="0" rtlCol="0" anchor="t"/>
          <a:lstStyle/>
          <a:p>
            <a:pPr marL="0" indent="0" algn="l">
              <a:lnSpc>
                <a:spcPts val="1440"/>
              </a:lnSpc>
              <a:buNone/>
            </a:pPr>
            <a:r>
              <a:rPr lang="en-US" sz="960" dirty="0">
                <a:solidFill>
                  <a:srgbClr val="8B9CB6"/>
                </a:solidFill>
                <a:latin typeface="Calibri" pitchFamily="34" charset="0"/>
                <a:ea typeface="Calibri" pitchFamily="34" charset="-122"/>
                <a:cs typeface="Calibri" pitchFamily="34" charset="-120"/>
              </a:rPr>
              <a:t>Connect your agent to the messaging platforms you already use. Send commands, receive updates, and interact naturally through your favorite chat apps.</a:t>
            </a:r>
            <a:endParaRPr lang="en-US" sz="960" dirty="0"/>
          </a:p>
        </p:txBody>
      </p:sp>
      <p:sp>
        <p:nvSpPr>
          <p:cNvPr id="20" name="Text 16"/>
          <p:cNvSpPr/>
          <p:nvPr/>
        </p:nvSpPr>
        <p:spPr>
          <a:xfrm>
            <a:off x="571500" y="4009430"/>
            <a:ext cx="8001000" cy="1134070"/>
          </a:xfrm>
          <a:prstGeom prst="roundRect">
            <a:avLst>
              <a:gd name="adj" fmla="val 10079"/>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21" name="Text 17"/>
          <p:cNvSpPr/>
          <p:nvPr/>
        </p:nvSpPr>
        <p:spPr>
          <a:xfrm>
            <a:off x="866775" y="4276725"/>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22"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91493" y="4401443"/>
            <a:ext cx="150465" cy="150465"/>
          </a:xfrm>
          <a:prstGeom prst="rect">
            <a:avLst/>
          </a:prstGeom>
        </p:spPr>
      </p:pic>
      <p:sp>
        <p:nvSpPr>
          <p:cNvPr id="23" name="Text 18"/>
          <p:cNvSpPr/>
          <p:nvPr/>
        </p:nvSpPr>
        <p:spPr>
          <a:xfrm>
            <a:off x="1467445" y="4276725"/>
            <a:ext cx="7490758" cy="215205"/>
          </a:xfrm>
          <a:prstGeom prst="rect">
            <a:avLst/>
          </a:prstGeom>
          <a:noFill/>
          <a:ln/>
        </p:spPr>
        <p:txBody>
          <a:bodyPr wrap="none" lIns="0" tIns="0" rIns="0" bIns="0" rtlCol="0" anchor="t"/>
          <a:lstStyle/>
          <a:p>
            <a:pPr marL="0" indent="0" algn="l">
              <a:lnSpc>
                <a:spcPts val="1695"/>
              </a:lnSpc>
              <a:buNone/>
            </a:pPr>
            <a:r>
              <a:rPr lang="en-US" sz="1130" b="1" dirty="0">
                <a:solidFill>
                  <a:srgbClr val="E2E8F0"/>
                </a:solidFill>
                <a:latin typeface="Consolas" pitchFamily="34" charset="0"/>
                <a:ea typeface="Consolas" pitchFamily="34" charset="-122"/>
                <a:cs typeface="Consolas" pitchFamily="34" charset="-120"/>
              </a:rPr>
              <a:t>Executes Real Actions: Email, Calendar, Browser, Shell, Files</a:t>
            </a:r>
            <a:endParaRPr lang="en-US" sz="1130" dirty="0"/>
          </a:p>
        </p:txBody>
      </p:sp>
      <p:sp>
        <p:nvSpPr>
          <p:cNvPr id="24" name="Text 19"/>
          <p:cNvSpPr/>
          <p:nvPr/>
        </p:nvSpPr>
        <p:spPr>
          <a:xfrm>
            <a:off x="1467445" y="4535091"/>
            <a:ext cx="6945975" cy="383798"/>
          </a:xfrm>
          <a:prstGeom prst="rect">
            <a:avLst/>
          </a:prstGeom>
          <a:noFill/>
          <a:ln/>
        </p:spPr>
        <p:txBody>
          <a:bodyPr wrap="square" lIns="0" tIns="0" rIns="0" bIns="0" rtlCol="0" anchor="t"/>
          <a:lstStyle/>
          <a:p>
            <a:pPr marL="0" indent="0" algn="l">
              <a:lnSpc>
                <a:spcPts val="1440"/>
              </a:lnSpc>
              <a:buNone/>
            </a:pPr>
            <a:r>
              <a:rPr lang="en-US" sz="960" dirty="0">
                <a:solidFill>
                  <a:srgbClr val="8B9CB6"/>
                </a:solidFill>
                <a:latin typeface="Calibri" pitchFamily="34" charset="0"/>
                <a:ea typeface="Calibri" pitchFamily="34" charset="-122"/>
                <a:cs typeface="Calibri" pitchFamily="34" charset="-120"/>
              </a:rPr>
              <a:t>Not just a chatbot — OpenClaw takes action. Send emails, manage your calendar, browse the web, run shell commands, and manipulate files autonomously on your behalf.</a:t>
            </a:r>
            <a:endParaRPr lang="en-US" sz="9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4">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91440" y="342900"/>
            <a:ext cx="9052560" cy="182880"/>
          </a:xfrm>
          <a:prstGeom prst="rect">
            <a:avLst/>
          </a:prstGeom>
          <a:noFill/>
          <a:ln/>
        </p:spPr>
        <p:txBody>
          <a:bodyPr wrap="none" lIns="0" tIns="0" rIns="0" bIns="0" rtlCol="0" anchor="t"/>
          <a:lstStyle/>
          <a:p>
            <a:pPr marL="0" indent="0" algn="l">
              <a:lnSpc>
                <a:spcPts val="1185"/>
              </a:lnSpc>
              <a:buNone/>
            </a:pPr>
            <a:r>
              <a:rPr lang="en-US" sz="790" kern="0" spc="170" dirty="0">
                <a:solidFill>
                  <a:srgbClr val="76B900"/>
                </a:solidFill>
                <a:latin typeface="Consolas" pitchFamily="34" charset="0"/>
                <a:ea typeface="Consolas" pitchFamily="34" charset="-122"/>
                <a:cs typeface="Consolas" pitchFamily="34" charset="-120"/>
              </a:rPr>
              <a:t>CHOOSE YOUR VARIANT</a:t>
            </a:r>
            <a:endParaRPr lang="en-US" sz="790" dirty="0"/>
          </a:p>
        </p:txBody>
      </p:sp>
      <p:sp>
        <p:nvSpPr>
          <p:cNvPr id="3" name="Text 1"/>
          <p:cNvSpPr/>
          <p:nvPr/>
        </p:nvSpPr>
        <p:spPr>
          <a:xfrm>
            <a:off x="338328" y="550515"/>
            <a:ext cx="8805672" cy="328613"/>
          </a:xfrm>
          <a:prstGeom prst="rect">
            <a:avLst/>
          </a:prstGeom>
          <a:noFill/>
          <a:ln/>
        </p:spPr>
        <p:txBody>
          <a:bodyPr wrap="none" lIns="0" tIns="0" rIns="0" bIns="0" rtlCol="0" anchor="t"/>
          <a:lstStyle/>
          <a:p>
            <a:pPr marL="0" indent="0" algn="l">
              <a:lnSpc>
                <a:spcPts val="2587"/>
              </a:lnSpc>
              <a:buNone/>
            </a:pPr>
            <a:r>
              <a:rPr lang="en-US" sz="2250" dirty="0">
                <a:solidFill>
                  <a:srgbClr val="E2E8F0"/>
                </a:solidFill>
                <a:latin typeface="Consolas" pitchFamily="34" charset="0"/>
                <a:ea typeface="Consolas" pitchFamily="34" charset="-122"/>
                <a:cs typeface="Consolas" pitchFamily="34" charset="-120"/>
              </a:rPr>
              <a:t>OpenClaw </a:t>
            </a:r>
            <a:r>
              <a:rPr lang="en-US" sz="2250" b="1" dirty="0">
                <a:solidFill>
                  <a:srgbClr val="76B900"/>
                </a:solidFill>
                <a:latin typeface="Consolas" pitchFamily="34" charset="0"/>
                <a:ea typeface="Consolas" pitchFamily="34" charset="-122"/>
                <a:cs typeface="Consolas" pitchFamily="34" charset="-120"/>
              </a:rPr>
              <a:t>Variants</a:t>
            </a:r>
            <a:endParaRPr lang="en-US" sz="2250" dirty="0"/>
          </a:p>
        </p:txBody>
      </p:sp>
      <p:sp>
        <p:nvSpPr>
          <p:cNvPr id="4" name="Text 2"/>
          <p:cNvSpPr/>
          <p:nvPr/>
        </p:nvSpPr>
        <p:spPr>
          <a:xfrm>
            <a:off x="457200" y="1164878"/>
            <a:ext cx="1928813" cy="3341787"/>
          </a:xfrm>
          <a:prstGeom prst="roundRect">
            <a:avLst>
              <a:gd name="adj" fmla="val 5926"/>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5" name="Text 3"/>
          <p:cNvSpPr/>
          <p:nvPr/>
        </p:nvSpPr>
        <p:spPr>
          <a:xfrm>
            <a:off x="695325" y="1432173"/>
            <a:ext cx="400050" cy="400050"/>
          </a:xfrm>
          <a:prstGeom prst="roundRect">
            <a:avLst>
              <a:gd name="adj" fmla="val 25079"/>
            </a:avLst>
          </a:prstGeom>
          <a:solidFill>
            <a:srgbClr val="3776AB">
              <a:alpha val="15000"/>
            </a:srgbClr>
          </a:solidFill>
          <a:ln/>
        </p:spPr>
        <p:txBody>
          <a:bodyPr wrap="square" rtlCol="0" anchor="t"/>
          <a:lstStyle/>
          <a:p>
            <a:pPr marL="0" indent="0">
              <a:buNone/>
            </a:pPr>
            <a:endParaRPr lang="en-US" dirty="0"/>
          </a:p>
        </p:txBody>
      </p:sp>
      <p:pic>
        <p:nvPicPr>
          <p:cNvPr id="6"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14834" y="1551682"/>
            <a:ext cx="160883" cy="160883"/>
          </a:xfrm>
          <a:prstGeom prst="rect">
            <a:avLst/>
          </a:prstGeom>
        </p:spPr>
      </p:pic>
      <p:sp>
        <p:nvSpPr>
          <p:cNvPr id="7" name="Text 4"/>
          <p:cNvSpPr/>
          <p:nvPr/>
        </p:nvSpPr>
        <p:spPr>
          <a:xfrm>
            <a:off x="695325" y="1960364"/>
            <a:ext cx="1554242" cy="278160"/>
          </a:xfrm>
          <a:prstGeom prst="rect">
            <a:avLst/>
          </a:prstGeom>
          <a:noFill/>
          <a:ln/>
        </p:spPr>
        <p:txBody>
          <a:bodyPr wrap="none" lIns="0" tIns="0" rIns="0" bIns="0" rtlCol="0" anchor="t"/>
          <a:lstStyle/>
          <a:p>
            <a:pPr marL="0" indent="0" algn="l">
              <a:lnSpc>
                <a:spcPts val="2190"/>
              </a:lnSpc>
              <a:spcBef>
                <a:spcPts val="1010"/>
              </a:spcBef>
              <a:spcAft>
                <a:spcPts val="560"/>
              </a:spcAft>
              <a:buNone/>
            </a:pPr>
            <a:r>
              <a:rPr lang="en-US" sz="1460" b="1" dirty="0">
                <a:solidFill>
                  <a:srgbClr val="E2E8F0"/>
                </a:solidFill>
                <a:latin typeface="Consolas" pitchFamily="34" charset="0"/>
                <a:ea typeface="Consolas" pitchFamily="34" charset="-122"/>
                <a:cs typeface="Consolas" pitchFamily="34" charset="-120"/>
              </a:rPr>
              <a:t>Nanobot</a:t>
            </a:r>
            <a:endParaRPr lang="en-US" sz="1460" dirty="0"/>
          </a:p>
        </p:txBody>
      </p:sp>
      <p:sp>
        <p:nvSpPr>
          <p:cNvPr id="8" name="Text 5"/>
          <p:cNvSpPr/>
          <p:nvPr/>
        </p:nvSpPr>
        <p:spPr>
          <a:xfrm>
            <a:off x="695325" y="2309515"/>
            <a:ext cx="682969" cy="209848"/>
          </a:xfrm>
          <a:prstGeom prst="roundRect">
            <a:avLst>
              <a:gd name="adj" fmla="val 68388"/>
            </a:avLst>
          </a:prstGeom>
          <a:solidFill>
            <a:srgbClr val="3776AB">
              <a:alpha val="18000"/>
            </a:srgbClr>
          </a:solidFill>
          <a:ln/>
        </p:spPr>
        <p:txBody>
          <a:bodyPr wrap="none" lIns="232638" tIns="35560" rIns="100330" bIns="35560" rtlCol="0" anchor="ctr"/>
          <a:lstStyle/>
          <a:p>
            <a:pPr marL="0" indent="0" algn="l">
              <a:buNone/>
            </a:pPr>
            <a:r>
              <a:rPr lang="en-US" sz="730" b="1" kern="0" spc="30" dirty="0">
                <a:solidFill>
                  <a:srgbClr val="5A9FD4"/>
                </a:solidFill>
                <a:latin typeface="Consolas" pitchFamily="34" charset="0"/>
                <a:ea typeface="Consolas" pitchFamily="34" charset="-122"/>
                <a:cs typeface="Consolas" pitchFamily="34" charset="-120"/>
              </a:rPr>
              <a:t>Python</a:t>
            </a:r>
            <a:endParaRPr lang="en-US" sz="730" dirty="0"/>
          </a:p>
        </p:txBody>
      </p:sp>
      <p:pic>
        <p:nvPicPr>
          <p:cNvPr id="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6920" y="2348070"/>
            <a:ext cx="132588" cy="132588"/>
          </a:xfrm>
          <a:prstGeom prst="rect">
            <a:avLst/>
          </a:prstGeom>
        </p:spPr>
      </p:pic>
      <p:sp>
        <p:nvSpPr>
          <p:cNvPr id="10" name="Text 6"/>
          <p:cNvSpPr/>
          <p:nvPr/>
        </p:nvSpPr>
        <p:spPr>
          <a:xfrm>
            <a:off x="695325" y="2647504"/>
            <a:ext cx="1481614" cy="360045"/>
          </a:xfrm>
          <a:prstGeom prst="rect">
            <a:avLst/>
          </a:prstGeom>
          <a:noFill/>
          <a:ln/>
        </p:spPr>
        <p:txBody>
          <a:bodyPr wrap="square" lIns="0" tIns="0" rIns="0" bIns="0" rtlCol="0" anchor="t"/>
          <a:lstStyle/>
          <a:p>
            <a:pPr marL="0" indent="0" algn="l">
              <a:lnSpc>
                <a:spcPts val="1350"/>
              </a:lnSpc>
              <a:spcBef>
                <a:spcPts val="1010"/>
              </a:spcBef>
              <a:buNone/>
            </a:pPr>
            <a:r>
              <a:rPr lang="en-US" sz="900" dirty="0">
                <a:solidFill>
                  <a:srgbClr val="8B9CB6"/>
                </a:solidFill>
                <a:latin typeface="Calibri" pitchFamily="34" charset="0"/>
                <a:ea typeface="Calibri" pitchFamily="34" charset="-122"/>
                <a:cs typeface="Calibri" pitchFamily="34" charset="-120"/>
              </a:rPr>
              <a:t>Minimalists &amp; quick experiments</a:t>
            </a:r>
            <a:endParaRPr lang="en-US" sz="900" dirty="0"/>
          </a:p>
        </p:txBody>
      </p:sp>
      <p:sp>
        <p:nvSpPr>
          <p:cNvPr id="11" name="Text 7"/>
          <p:cNvSpPr/>
          <p:nvPr/>
        </p:nvSpPr>
        <p:spPr>
          <a:xfrm>
            <a:off x="813643" y="3133874"/>
            <a:ext cx="730151" cy="139005"/>
          </a:xfrm>
          <a:prstGeom prst="rect">
            <a:avLst/>
          </a:prstGeom>
          <a:noFill/>
          <a:ln/>
        </p:spPr>
        <p:txBody>
          <a:bodyPr wrap="none" lIns="0" tIns="0" rIns="0" bIns="0" rtlCol="0" anchor="ctr"/>
          <a:lstStyle/>
          <a:p>
            <a:pPr marL="0" indent="0" algn="l">
              <a:lnSpc>
                <a:spcPts val="1095"/>
              </a:lnSpc>
              <a:buNone/>
            </a:pPr>
            <a:r>
              <a:rPr lang="en-US" sz="730" dirty="0">
                <a:solidFill>
                  <a:srgbClr val="FFD43B">
                    <a:alpha val="70000"/>
                  </a:srgbClr>
                </a:solidFill>
                <a:latin typeface="Consolas" pitchFamily="34" charset="0"/>
                <a:ea typeface="Consolas" pitchFamily="34" charset="-122"/>
                <a:cs typeface="Consolas" pitchFamily="34" charset="-120"/>
              </a:rPr>
              <a:t>Fast prototyping</a:t>
            </a:r>
            <a:endParaRPr lang="en-US" sz="730" dirty="0"/>
          </a:p>
        </p:txBody>
      </p:sp>
      <p:pic>
        <p:nvPicPr>
          <p:cNvPr id="12" name="Image 2" descr="preencoded.png"/>
          <p:cNvPicPr>
            <a:picLocks noChangeAspect="1"/>
          </p:cNvPicPr>
          <p:nvPr/>
        </p:nvPicPr>
        <p:blipFill>
          <a:blip>
            <a:alphaModFix amt="70000"/>
            <a:extLst>
              <a:ext uri="{96DAC541-7B7A-43D3-8B79-37D633B846F1}">
                <asvg:svgBlip xmlns:asvg="http://schemas.microsoft.com/office/drawing/2016/SVG/main" r:embed="rId5"/>
              </a:ext>
            </a:extLst>
          </a:blip>
          <a:stretch>
            <a:fillRect/>
          </a:stretch>
        </p:blipFill>
        <p:spPr>
          <a:xfrm>
            <a:off x="666610" y="3137008"/>
            <a:ext cx="132588" cy="132588"/>
          </a:xfrm>
          <a:prstGeom prst="rect">
            <a:avLst/>
          </a:prstGeom>
        </p:spPr>
      </p:pic>
      <p:sp>
        <p:nvSpPr>
          <p:cNvPr id="13" name="Text 8"/>
          <p:cNvSpPr/>
          <p:nvPr/>
        </p:nvSpPr>
        <p:spPr>
          <a:xfrm>
            <a:off x="2557463" y="1164878"/>
            <a:ext cx="1928813" cy="3341787"/>
          </a:xfrm>
          <a:prstGeom prst="roundRect">
            <a:avLst>
              <a:gd name="adj" fmla="val 5926"/>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14" name="Text 9"/>
          <p:cNvSpPr/>
          <p:nvPr/>
        </p:nvSpPr>
        <p:spPr>
          <a:xfrm>
            <a:off x="2795588" y="1432173"/>
            <a:ext cx="400050" cy="400050"/>
          </a:xfrm>
          <a:prstGeom prst="roundRect">
            <a:avLst>
              <a:gd name="adj" fmla="val 25079"/>
            </a:avLst>
          </a:prstGeom>
          <a:solidFill>
            <a:srgbClr val="3178C6">
              <a:alpha val="15000"/>
            </a:srgbClr>
          </a:solidFill>
          <a:ln/>
        </p:spPr>
        <p:txBody>
          <a:bodyPr wrap="square" rtlCol="0" anchor="t"/>
          <a:lstStyle/>
          <a:p>
            <a:pPr marL="0" indent="0">
              <a:buNone/>
            </a:pPr>
            <a:endParaRPr lang="en-US"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15096" y="1551682"/>
            <a:ext cx="160883" cy="160883"/>
          </a:xfrm>
          <a:prstGeom prst="rect">
            <a:avLst/>
          </a:prstGeom>
        </p:spPr>
      </p:pic>
      <p:sp>
        <p:nvSpPr>
          <p:cNvPr id="16" name="Text 10"/>
          <p:cNvSpPr/>
          <p:nvPr/>
        </p:nvSpPr>
        <p:spPr>
          <a:xfrm>
            <a:off x="2795588" y="1960364"/>
            <a:ext cx="1554242" cy="278160"/>
          </a:xfrm>
          <a:prstGeom prst="rect">
            <a:avLst/>
          </a:prstGeom>
          <a:noFill/>
          <a:ln/>
        </p:spPr>
        <p:txBody>
          <a:bodyPr wrap="none" lIns="0" tIns="0" rIns="0" bIns="0" rtlCol="0" anchor="t"/>
          <a:lstStyle/>
          <a:p>
            <a:pPr marL="0" indent="0" algn="l">
              <a:lnSpc>
                <a:spcPts val="2190"/>
              </a:lnSpc>
              <a:spcBef>
                <a:spcPts val="1010"/>
              </a:spcBef>
              <a:spcAft>
                <a:spcPts val="560"/>
              </a:spcAft>
              <a:buNone/>
            </a:pPr>
            <a:r>
              <a:rPr lang="en-US" sz="1460" b="1" dirty="0">
                <a:solidFill>
                  <a:srgbClr val="E2E8F0"/>
                </a:solidFill>
                <a:latin typeface="Consolas" pitchFamily="34" charset="0"/>
                <a:ea typeface="Consolas" pitchFamily="34" charset="-122"/>
                <a:cs typeface="Consolas" pitchFamily="34" charset="-120"/>
              </a:rPr>
              <a:t>NanoClaw</a:t>
            </a:r>
            <a:endParaRPr lang="en-US" sz="1460" dirty="0"/>
          </a:p>
        </p:txBody>
      </p:sp>
      <p:sp>
        <p:nvSpPr>
          <p:cNvPr id="17" name="Text 11"/>
          <p:cNvSpPr/>
          <p:nvPr/>
        </p:nvSpPr>
        <p:spPr>
          <a:xfrm>
            <a:off x="2795588" y="2309515"/>
            <a:ext cx="859518" cy="209848"/>
          </a:xfrm>
          <a:prstGeom prst="roundRect">
            <a:avLst>
              <a:gd name="adj" fmla="val 68388"/>
            </a:avLst>
          </a:prstGeom>
          <a:solidFill>
            <a:srgbClr val="3178C6">
              <a:alpha val="18000"/>
            </a:srgbClr>
          </a:solidFill>
          <a:ln/>
        </p:spPr>
        <p:txBody>
          <a:bodyPr wrap="none" lIns="232638" tIns="35560" rIns="100330" bIns="35560" rtlCol="0" anchor="ctr"/>
          <a:lstStyle/>
          <a:p>
            <a:pPr marL="0" indent="0" algn="l">
              <a:buNone/>
            </a:pPr>
            <a:r>
              <a:rPr lang="en-US" sz="730" b="1" kern="0" spc="30" dirty="0">
                <a:solidFill>
                  <a:srgbClr val="5A9FD4"/>
                </a:solidFill>
                <a:latin typeface="Consolas" pitchFamily="34" charset="0"/>
                <a:ea typeface="Consolas" pitchFamily="34" charset="-122"/>
                <a:cs typeface="Consolas" pitchFamily="34" charset="-120"/>
              </a:rPr>
              <a:t>TypeScript</a:t>
            </a:r>
            <a:endParaRPr lang="en-US" sz="730" dirty="0"/>
          </a:p>
        </p:txBody>
      </p:sp>
      <p:pic>
        <p:nvPicPr>
          <p:cNvPr id="18"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67183" y="2348070"/>
            <a:ext cx="132588" cy="132588"/>
          </a:xfrm>
          <a:prstGeom prst="rect">
            <a:avLst/>
          </a:prstGeom>
        </p:spPr>
      </p:pic>
      <p:sp>
        <p:nvSpPr>
          <p:cNvPr id="19" name="Text 12"/>
          <p:cNvSpPr/>
          <p:nvPr/>
        </p:nvSpPr>
        <p:spPr>
          <a:xfrm>
            <a:off x="2795588" y="2647504"/>
            <a:ext cx="1597819" cy="171450"/>
          </a:xfrm>
          <a:prstGeom prst="rect">
            <a:avLst/>
          </a:prstGeom>
          <a:noFill/>
          <a:ln/>
        </p:spPr>
        <p:txBody>
          <a:bodyPr wrap="none" lIns="0" tIns="0" rIns="0" bIns="0" rtlCol="0" anchor="t"/>
          <a:lstStyle/>
          <a:p>
            <a:pPr marL="0" indent="0" algn="l">
              <a:lnSpc>
                <a:spcPts val="1350"/>
              </a:lnSpc>
              <a:spcBef>
                <a:spcPts val="1010"/>
              </a:spcBef>
              <a:buNone/>
            </a:pPr>
            <a:r>
              <a:rPr lang="en-US" sz="900" dirty="0">
                <a:solidFill>
                  <a:srgbClr val="8B9CB6"/>
                </a:solidFill>
                <a:latin typeface="Calibri" pitchFamily="34" charset="0"/>
                <a:ea typeface="Calibri" pitchFamily="34" charset="-122"/>
                <a:cs typeface="Calibri" pitchFamily="34" charset="-120"/>
              </a:rPr>
              <a:t>Security-first / regulated use</a:t>
            </a:r>
            <a:endParaRPr lang="en-US" sz="900" dirty="0"/>
          </a:p>
        </p:txBody>
      </p:sp>
      <p:sp>
        <p:nvSpPr>
          <p:cNvPr id="20" name="Text 13"/>
          <p:cNvSpPr/>
          <p:nvPr/>
        </p:nvSpPr>
        <p:spPr>
          <a:xfrm>
            <a:off x="2913906" y="2962424"/>
            <a:ext cx="781229" cy="139005"/>
          </a:xfrm>
          <a:prstGeom prst="rect">
            <a:avLst/>
          </a:prstGeom>
          <a:noFill/>
          <a:ln/>
        </p:spPr>
        <p:txBody>
          <a:bodyPr wrap="none" lIns="0" tIns="0" rIns="0" bIns="0" rtlCol="0" anchor="ctr"/>
          <a:lstStyle/>
          <a:p>
            <a:pPr marL="0" indent="0" algn="l">
              <a:lnSpc>
                <a:spcPts val="1095"/>
              </a:lnSpc>
              <a:buNone/>
            </a:pPr>
            <a:r>
              <a:rPr lang="en-US" sz="730" dirty="0">
                <a:solidFill>
                  <a:srgbClr val="3178C6">
                    <a:alpha val="70000"/>
                  </a:srgbClr>
                </a:solidFill>
                <a:latin typeface="Consolas" pitchFamily="34" charset="0"/>
                <a:ea typeface="Consolas" pitchFamily="34" charset="-122"/>
                <a:cs typeface="Consolas" pitchFamily="34" charset="-120"/>
              </a:rPr>
              <a:t>Type-safe agents</a:t>
            </a:r>
            <a:endParaRPr lang="en-US" sz="730" dirty="0"/>
          </a:p>
        </p:txBody>
      </p:sp>
      <p:pic>
        <p:nvPicPr>
          <p:cNvPr id="21" name="Image 5" descr="preencoded.png"/>
          <p:cNvPicPr>
            <a:picLocks noChangeAspect="1"/>
          </p:cNvPicPr>
          <p:nvPr/>
        </p:nvPicPr>
        <p:blipFill>
          <a:blip>
            <a:alphaModFix amt="70000"/>
            <a:extLst>
              <a:ext uri="{96DAC541-7B7A-43D3-8B79-37D633B846F1}">
                <asvg:svgBlip xmlns:asvg="http://schemas.microsoft.com/office/drawing/2016/SVG/main" r:embed="rId8"/>
              </a:ext>
            </a:extLst>
          </a:blip>
          <a:stretch>
            <a:fillRect/>
          </a:stretch>
        </p:blipFill>
        <p:spPr>
          <a:xfrm>
            <a:off x="2766873" y="2965558"/>
            <a:ext cx="132588" cy="132588"/>
          </a:xfrm>
          <a:prstGeom prst="rect">
            <a:avLst/>
          </a:prstGeom>
        </p:spPr>
      </p:pic>
      <p:sp>
        <p:nvSpPr>
          <p:cNvPr id="22" name="Text 14"/>
          <p:cNvSpPr/>
          <p:nvPr/>
        </p:nvSpPr>
        <p:spPr>
          <a:xfrm>
            <a:off x="4657725" y="1164878"/>
            <a:ext cx="1928813" cy="3341787"/>
          </a:xfrm>
          <a:prstGeom prst="roundRect">
            <a:avLst>
              <a:gd name="adj" fmla="val 5926"/>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23" name="Text 15"/>
          <p:cNvSpPr/>
          <p:nvPr/>
        </p:nvSpPr>
        <p:spPr>
          <a:xfrm>
            <a:off x="4895850" y="1432173"/>
            <a:ext cx="400050" cy="400050"/>
          </a:xfrm>
          <a:prstGeom prst="roundRect">
            <a:avLst>
              <a:gd name="adj" fmla="val 25079"/>
            </a:avLst>
          </a:prstGeom>
          <a:solidFill>
            <a:srgbClr val="CE422B">
              <a:alpha val="15000"/>
            </a:srgbClr>
          </a:solidFill>
          <a:ln/>
        </p:spPr>
        <p:txBody>
          <a:bodyPr wrap="square" rtlCol="0" anchor="t"/>
          <a:lstStyle/>
          <a:p>
            <a:pPr marL="0" indent="0">
              <a:buNone/>
            </a:pPr>
            <a:endParaRPr lang="en-US" dirty="0"/>
          </a:p>
        </p:txBody>
      </p:sp>
      <p:pic>
        <p:nvPicPr>
          <p:cNvPr id="24"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015359" y="1551682"/>
            <a:ext cx="160883" cy="160883"/>
          </a:xfrm>
          <a:prstGeom prst="rect">
            <a:avLst/>
          </a:prstGeom>
        </p:spPr>
      </p:pic>
      <p:sp>
        <p:nvSpPr>
          <p:cNvPr id="25" name="Text 16"/>
          <p:cNvSpPr/>
          <p:nvPr/>
        </p:nvSpPr>
        <p:spPr>
          <a:xfrm>
            <a:off x="4895850" y="1960364"/>
            <a:ext cx="1554242" cy="278160"/>
          </a:xfrm>
          <a:prstGeom prst="rect">
            <a:avLst/>
          </a:prstGeom>
          <a:noFill/>
          <a:ln/>
        </p:spPr>
        <p:txBody>
          <a:bodyPr wrap="none" lIns="0" tIns="0" rIns="0" bIns="0" rtlCol="0" anchor="t"/>
          <a:lstStyle/>
          <a:p>
            <a:pPr marL="0" indent="0" algn="l">
              <a:lnSpc>
                <a:spcPts val="2190"/>
              </a:lnSpc>
              <a:spcBef>
                <a:spcPts val="1010"/>
              </a:spcBef>
              <a:spcAft>
                <a:spcPts val="560"/>
              </a:spcAft>
              <a:buNone/>
            </a:pPr>
            <a:r>
              <a:rPr lang="en-US" sz="1460" b="1" dirty="0">
                <a:solidFill>
                  <a:srgbClr val="E2E8F0"/>
                </a:solidFill>
                <a:latin typeface="Consolas" pitchFamily="34" charset="0"/>
                <a:ea typeface="Consolas" pitchFamily="34" charset="-122"/>
                <a:cs typeface="Consolas" pitchFamily="34" charset="-120"/>
              </a:rPr>
              <a:t>ZeroClaw</a:t>
            </a:r>
            <a:endParaRPr lang="en-US" sz="1460" dirty="0"/>
          </a:p>
        </p:txBody>
      </p:sp>
      <p:sp>
        <p:nvSpPr>
          <p:cNvPr id="26" name="Text 17"/>
          <p:cNvSpPr/>
          <p:nvPr/>
        </p:nvSpPr>
        <p:spPr>
          <a:xfrm>
            <a:off x="4895850" y="2309515"/>
            <a:ext cx="565017" cy="209848"/>
          </a:xfrm>
          <a:prstGeom prst="roundRect">
            <a:avLst>
              <a:gd name="adj" fmla="val 68388"/>
            </a:avLst>
          </a:prstGeom>
          <a:solidFill>
            <a:srgbClr val="CE422B">
              <a:alpha val="18000"/>
            </a:srgbClr>
          </a:solidFill>
          <a:ln/>
        </p:spPr>
        <p:txBody>
          <a:bodyPr wrap="none" lIns="232638" tIns="35560" rIns="100330" bIns="35560" rtlCol="0" anchor="ctr"/>
          <a:lstStyle/>
          <a:p>
            <a:pPr marL="0" indent="0" algn="l">
              <a:buNone/>
            </a:pPr>
            <a:r>
              <a:rPr lang="en-US" sz="730" b="1" kern="0" spc="30" dirty="0">
                <a:solidFill>
                  <a:srgbClr val="E8654D"/>
                </a:solidFill>
                <a:latin typeface="Consolas" pitchFamily="34" charset="0"/>
                <a:ea typeface="Consolas" pitchFamily="34" charset="-122"/>
                <a:cs typeface="Consolas" pitchFamily="34" charset="-120"/>
              </a:rPr>
              <a:t>Rust</a:t>
            </a:r>
            <a:endParaRPr lang="en-US" sz="730" dirty="0"/>
          </a:p>
        </p:txBody>
      </p:sp>
      <p:pic>
        <p:nvPicPr>
          <p:cNvPr id="27"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4967445" y="2348070"/>
            <a:ext cx="132588" cy="132588"/>
          </a:xfrm>
          <a:prstGeom prst="rect">
            <a:avLst/>
          </a:prstGeom>
        </p:spPr>
      </p:pic>
      <p:sp>
        <p:nvSpPr>
          <p:cNvPr id="28" name="Text 18"/>
          <p:cNvSpPr/>
          <p:nvPr/>
        </p:nvSpPr>
        <p:spPr>
          <a:xfrm>
            <a:off x="4895850" y="2647504"/>
            <a:ext cx="1481614" cy="360045"/>
          </a:xfrm>
          <a:prstGeom prst="rect">
            <a:avLst/>
          </a:prstGeom>
          <a:noFill/>
          <a:ln/>
        </p:spPr>
        <p:txBody>
          <a:bodyPr wrap="square" lIns="0" tIns="0" rIns="0" bIns="0" rtlCol="0" anchor="t"/>
          <a:lstStyle/>
          <a:p>
            <a:pPr marL="0" indent="0" algn="l">
              <a:lnSpc>
                <a:spcPts val="1350"/>
              </a:lnSpc>
              <a:spcBef>
                <a:spcPts val="1010"/>
              </a:spcBef>
              <a:buNone/>
            </a:pPr>
            <a:r>
              <a:rPr lang="en-US" sz="900" dirty="0">
                <a:solidFill>
                  <a:srgbClr val="8B9CB6"/>
                </a:solidFill>
                <a:latin typeface="Calibri" pitchFamily="34" charset="0"/>
                <a:ea typeface="Calibri" pitchFamily="34" charset="-122"/>
                <a:cs typeface="Calibri" pitchFamily="34" charset="-120"/>
              </a:rPr>
              <a:t>Low-resource &amp; edge devices</a:t>
            </a:r>
            <a:endParaRPr lang="en-US" sz="900" dirty="0"/>
          </a:p>
        </p:txBody>
      </p:sp>
      <p:sp>
        <p:nvSpPr>
          <p:cNvPr id="29" name="Text 19"/>
          <p:cNvSpPr/>
          <p:nvPr/>
        </p:nvSpPr>
        <p:spPr>
          <a:xfrm>
            <a:off x="5014168" y="3133874"/>
            <a:ext cx="526494" cy="139005"/>
          </a:xfrm>
          <a:prstGeom prst="rect">
            <a:avLst/>
          </a:prstGeom>
          <a:noFill/>
          <a:ln/>
        </p:spPr>
        <p:txBody>
          <a:bodyPr wrap="none" lIns="0" tIns="0" rIns="0" bIns="0" rtlCol="0" anchor="ctr"/>
          <a:lstStyle/>
          <a:p>
            <a:pPr marL="0" indent="0" algn="l">
              <a:lnSpc>
                <a:spcPts val="1095"/>
              </a:lnSpc>
              <a:buNone/>
            </a:pPr>
            <a:r>
              <a:rPr lang="en-US" sz="730" dirty="0">
                <a:solidFill>
                  <a:srgbClr val="F74C00">
                    <a:alpha val="70000"/>
                  </a:srgbClr>
                </a:solidFill>
                <a:latin typeface="Consolas" pitchFamily="34" charset="0"/>
                <a:ea typeface="Consolas" pitchFamily="34" charset="-122"/>
                <a:cs typeface="Consolas" pitchFamily="34" charset="-120"/>
              </a:rPr>
              <a:t>Blazing fast</a:t>
            </a:r>
            <a:endParaRPr lang="en-US" sz="730" dirty="0"/>
          </a:p>
        </p:txBody>
      </p:sp>
      <p:pic>
        <p:nvPicPr>
          <p:cNvPr id="30" name="Image 8" descr="preencoded.png"/>
          <p:cNvPicPr>
            <a:picLocks noChangeAspect="1"/>
          </p:cNvPicPr>
          <p:nvPr/>
        </p:nvPicPr>
        <p:blipFill>
          <a:blip>
            <a:alphaModFix amt="70000"/>
            <a:extLst>
              <a:ext uri="{96DAC541-7B7A-43D3-8B79-37D633B846F1}">
                <asvg:svgBlip xmlns:asvg="http://schemas.microsoft.com/office/drawing/2016/SVG/main" r:embed="rId11"/>
              </a:ext>
            </a:extLst>
          </a:blip>
          <a:stretch>
            <a:fillRect/>
          </a:stretch>
        </p:blipFill>
        <p:spPr>
          <a:xfrm>
            <a:off x="4867135" y="3137008"/>
            <a:ext cx="132588" cy="132588"/>
          </a:xfrm>
          <a:prstGeom prst="rect">
            <a:avLst/>
          </a:prstGeom>
        </p:spPr>
      </p:pic>
      <p:sp>
        <p:nvSpPr>
          <p:cNvPr id="31" name="Text 20"/>
          <p:cNvSpPr/>
          <p:nvPr/>
        </p:nvSpPr>
        <p:spPr>
          <a:xfrm>
            <a:off x="6757988" y="1164878"/>
            <a:ext cx="1928813" cy="3341787"/>
          </a:xfrm>
          <a:prstGeom prst="roundRect">
            <a:avLst>
              <a:gd name="adj" fmla="val 5926"/>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32" name="Text 21"/>
          <p:cNvSpPr/>
          <p:nvPr/>
        </p:nvSpPr>
        <p:spPr>
          <a:xfrm>
            <a:off x="6996113" y="1432173"/>
            <a:ext cx="400050" cy="400050"/>
          </a:xfrm>
          <a:prstGeom prst="roundRect">
            <a:avLst>
              <a:gd name="adj" fmla="val 25079"/>
            </a:avLst>
          </a:prstGeom>
          <a:solidFill>
            <a:srgbClr val="00ADD8">
              <a:alpha val="15000"/>
            </a:srgbClr>
          </a:solidFill>
          <a:ln/>
        </p:spPr>
        <p:txBody>
          <a:bodyPr wrap="square" rtlCol="0" anchor="t"/>
          <a:lstStyle/>
          <a:p>
            <a:pPr marL="0" indent="0">
              <a:buNone/>
            </a:pPr>
            <a:endParaRPr lang="en-US" dirty="0"/>
          </a:p>
        </p:txBody>
      </p:sp>
      <p:pic>
        <p:nvPicPr>
          <p:cNvPr id="33"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7115621" y="1551682"/>
            <a:ext cx="160883" cy="160883"/>
          </a:xfrm>
          <a:prstGeom prst="rect">
            <a:avLst/>
          </a:prstGeom>
        </p:spPr>
      </p:pic>
      <p:sp>
        <p:nvSpPr>
          <p:cNvPr id="34" name="Text 22"/>
          <p:cNvSpPr/>
          <p:nvPr/>
        </p:nvSpPr>
        <p:spPr>
          <a:xfrm>
            <a:off x="6996113" y="1960364"/>
            <a:ext cx="1554242" cy="278160"/>
          </a:xfrm>
          <a:prstGeom prst="rect">
            <a:avLst/>
          </a:prstGeom>
          <a:noFill/>
          <a:ln/>
        </p:spPr>
        <p:txBody>
          <a:bodyPr wrap="none" lIns="0" tIns="0" rIns="0" bIns="0" rtlCol="0" anchor="t"/>
          <a:lstStyle/>
          <a:p>
            <a:pPr marL="0" indent="0" algn="l">
              <a:lnSpc>
                <a:spcPts val="2190"/>
              </a:lnSpc>
              <a:spcBef>
                <a:spcPts val="1010"/>
              </a:spcBef>
              <a:spcAft>
                <a:spcPts val="560"/>
              </a:spcAft>
              <a:buNone/>
            </a:pPr>
            <a:r>
              <a:rPr lang="en-US" sz="1460" b="1" dirty="0">
                <a:solidFill>
                  <a:srgbClr val="E2E8F0"/>
                </a:solidFill>
                <a:latin typeface="Consolas" pitchFamily="34" charset="0"/>
                <a:ea typeface="Consolas" pitchFamily="34" charset="-122"/>
                <a:cs typeface="Consolas" pitchFamily="34" charset="-120"/>
              </a:rPr>
              <a:t>PicoClaw</a:t>
            </a:r>
            <a:endParaRPr lang="en-US" sz="1460" dirty="0"/>
          </a:p>
        </p:txBody>
      </p:sp>
      <p:sp>
        <p:nvSpPr>
          <p:cNvPr id="35" name="Text 23"/>
          <p:cNvSpPr/>
          <p:nvPr/>
        </p:nvSpPr>
        <p:spPr>
          <a:xfrm>
            <a:off x="6996113" y="2309515"/>
            <a:ext cx="478488" cy="209848"/>
          </a:xfrm>
          <a:prstGeom prst="roundRect">
            <a:avLst>
              <a:gd name="adj" fmla="val 68388"/>
            </a:avLst>
          </a:prstGeom>
          <a:solidFill>
            <a:srgbClr val="00ADD8">
              <a:alpha val="18000"/>
            </a:srgbClr>
          </a:solidFill>
          <a:ln/>
        </p:spPr>
        <p:txBody>
          <a:bodyPr wrap="none" lIns="232638" tIns="35560" rIns="100330" bIns="35560" rtlCol="0" anchor="ctr"/>
          <a:lstStyle/>
          <a:p>
            <a:pPr marL="0" indent="0" algn="l">
              <a:buNone/>
            </a:pPr>
            <a:r>
              <a:rPr lang="en-US" sz="730" b="1" kern="0" spc="30" dirty="0">
                <a:solidFill>
                  <a:srgbClr val="00CFF0"/>
                </a:solidFill>
                <a:latin typeface="Consolas" pitchFamily="34" charset="0"/>
                <a:ea typeface="Consolas" pitchFamily="34" charset="-122"/>
                <a:cs typeface="Consolas" pitchFamily="34" charset="-120"/>
              </a:rPr>
              <a:t>Go</a:t>
            </a:r>
            <a:endParaRPr lang="en-US" sz="730" dirty="0"/>
          </a:p>
        </p:txBody>
      </p:sp>
      <p:pic>
        <p:nvPicPr>
          <p:cNvPr id="36"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7067708" y="2348070"/>
            <a:ext cx="132588" cy="132588"/>
          </a:xfrm>
          <a:prstGeom prst="rect">
            <a:avLst/>
          </a:prstGeom>
        </p:spPr>
      </p:pic>
      <p:sp>
        <p:nvSpPr>
          <p:cNvPr id="37" name="Text 24"/>
          <p:cNvSpPr/>
          <p:nvPr/>
        </p:nvSpPr>
        <p:spPr>
          <a:xfrm>
            <a:off x="6996113" y="2647504"/>
            <a:ext cx="1597819" cy="171450"/>
          </a:xfrm>
          <a:prstGeom prst="rect">
            <a:avLst/>
          </a:prstGeom>
          <a:noFill/>
          <a:ln/>
        </p:spPr>
        <p:txBody>
          <a:bodyPr wrap="none" lIns="0" tIns="0" rIns="0" bIns="0" rtlCol="0" anchor="t"/>
          <a:lstStyle/>
          <a:p>
            <a:pPr marL="0" indent="0" algn="l">
              <a:lnSpc>
                <a:spcPts val="1350"/>
              </a:lnSpc>
              <a:spcBef>
                <a:spcPts val="1010"/>
              </a:spcBef>
              <a:buNone/>
            </a:pPr>
            <a:r>
              <a:rPr lang="en-US" sz="900" dirty="0">
                <a:solidFill>
                  <a:srgbClr val="8B9CB6"/>
                </a:solidFill>
                <a:latin typeface="Calibri" pitchFamily="34" charset="0"/>
                <a:ea typeface="Calibri" pitchFamily="34" charset="-122"/>
                <a:cs typeface="Calibri" pitchFamily="34" charset="-120"/>
              </a:rPr>
              <a:t>Single binary deployment</a:t>
            </a:r>
            <a:endParaRPr lang="en-US" sz="900" dirty="0"/>
          </a:p>
        </p:txBody>
      </p:sp>
      <p:sp>
        <p:nvSpPr>
          <p:cNvPr id="38" name="Text 25"/>
          <p:cNvSpPr/>
          <p:nvPr/>
        </p:nvSpPr>
        <p:spPr>
          <a:xfrm>
            <a:off x="7114431" y="2962424"/>
            <a:ext cx="871924" cy="139005"/>
          </a:xfrm>
          <a:prstGeom prst="rect">
            <a:avLst/>
          </a:prstGeom>
          <a:noFill/>
          <a:ln/>
        </p:spPr>
        <p:txBody>
          <a:bodyPr wrap="none" lIns="0" tIns="0" rIns="0" bIns="0" rtlCol="0" anchor="ctr"/>
          <a:lstStyle/>
          <a:p>
            <a:pPr marL="0" indent="0" algn="l">
              <a:lnSpc>
                <a:spcPts val="1095"/>
              </a:lnSpc>
              <a:buNone/>
            </a:pPr>
            <a:r>
              <a:rPr lang="en-US" sz="730" dirty="0">
                <a:solidFill>
                  <a:srgbClr val="00ADD8">
                    <a:alpha val="70000"/>
                  </a:srgbClr>
                </a:solidFill>
                <a:latin typeface="Consolas" pitchFamily="34" charset="0"/>
                <a:ea typeface="Consolas" pitchFamily="34" charset="-122"/>
                <a:cs typeface="Consolas" pitchFamily="34" charset="-120"/>
              </a:rPr>
              <a:t>Zero dependencies</a:t>
            </a:r>
            <a:endParaRPr lang="en-US" sz="730" dirty="0"/>
          </a:p>
        </p:txBody>
      </p:sp>
      <p:pic>
        <p:nvPicPr>
          <p:cNvPr id="39" name="Image 11" descr="preencoded.png"/>
          <p:cNvPicPr>
            <a:picLocks noChangeAspect="1"/>
          </p:cNvPicPr>
          <p:nvPr/>
        </p:nvPicPr>
        <p:blipFill>
          <a:blip>
            <a:alphaModFix amt="70000"/>
            <a:extLst>
              <a:ext uri="{96DAC541-7B7A-43D3-8B79-37D633B846F1}">
                <asvg:svgBlip xmlns:asvg="http://schemas.microsoft.com/office/drawing/2016/SVG/main" r:embed="rId14"/>
              </a:ext>
            </a:extLst>
          </a:blip>
          <a:stretch>
            <a:fillRect/>
          </a:stretch>
        </p:blipFill>
        <p:spPr>
          <a:xfrm>
            <a:off x="6967398" y="2965558"/>
            <a:ext cx="132588" cy="132588"/>
          </a:xfrm>
          <a:prstGeom prst="rect">
            <a:avLst/>
          </a:prstGeom>
        </p:spPr>
      </p:pic>
      <p:sp>
        <p:nvSpPr>
          <p:cNvPr id="40" name="Text 26"/>
          <p:cNvSpPr/>
          <p:nvPr/>
        </p:nvSpPr>
        <p:spPr>
          <a:xfrm>
            <a:off x="45720" y="4707285"/>
            <a:ext cx="9052560" cy="150465"/>
          </a:xfrm>
          <a:prstGeom prst="rect">
            <a:avLst/>
          </a:prstGeom>
          <a:noFill/>
          <a:ln/>
        </p:spPr>
        <p:txBody>
          <a:bodyPr wrap="none" lIns="0" tIns="0" rIns="0" bIns="0" rtlCol="0" anchor="t"/>
          <a:lstStyle/>
          <a:p>
            <a:pPr marL="0" indent="0" algn="ctr">
              <a:lnSpc>
                <a:spcPts val="1185"/>
              </a:lnSpc>
              <a:buNone/>
            </a:pPr>
            <a:r>
              <a:rPr lang="en-US" sz="790" kern="0" spc="30" dirty="0">
                <a:solidFill>
                  <a:srgbClr val="E2E8F0"/>
                </a:solidFill>
                <a:latin typeface="Consolas" pitchFamily="34" charset="0"/>
                <a:ea typeface="Consolas" pitchFamily="34" charset="-122"/>
                <a:cs typeface="Consolas" pitchFamily="34" charset="-120"/>
              </a:rPr>
              <a:t> </a:t>
            </a:r>
            <a:br/>
            <a:r>
              <a:rPr lang="en-US" sz="790" kern="0" spc="30" dirty="0">
                <a:solidFill>
                  <a:srgbClr val="E2E8F0"/>
                </a:solidFill>
                <a:latin typeface="Consolas" pitchFamily="34" charset="0"/>
                <a:ea typeface="Consolas" pitchFamily="34" charset="-122"/>
                <a:cs typeface="Consolas" pitchFamily="34" charset="-120"/>
              </a:rPr>
              <a:t>        All variants share the same </a:t>
            </a:r>
            <a:r>
              <a:rPr lang="en-US" sz="790" kern="0" spc="30" dirty="0">
                <a:solidFill>
                  <a:srgbClr val="76B900"/>
                </a:solidFill>
                <a:latin typeface="Consolas" pitchFamily="34" charset="0"/>
                <a:ea typeface="Consolas" pitchFamily="34" charset="-122"/>
                <a:cs typeface="Consolas" pitchFamily="34" charset="-120"/>
              </a:rPr>
              <a:t>OpenClaw protocol</a:t>
            </a:r>
            <a:r>
              <a:rPr lang="en-US" sz="790" kern="0" spc="30" dirty="0">
                <a:solidFill>
                  <a:srgbClr val="E2E8F0"/>
                </a:solidFill>
                <a:latin typeface="Consolas" pitchFamily="34" charset="0"/>
                <a:ea typeface="Consolas" pitchFamily="34" charset="-122"/>
                <a:cs typeface="Consolas" pitchFamily="34" charset="-120"/>
              </a:rPr>
              <a:t> — pick the language that fits your stack</a:t>
            </a:r>
            <a:br/>
            <a:r>
              <a:rPr lang="en-US" sz="790" kern="0" spc="30" dirty="0">
                <a:solidFill>
                  <a:srgbClr val="E2E8F0"/>
                </a:solidFill>
                <a:latin typeface="Consolas" pitchFamily="34" charset="0"/>
                <a:ea typeface="Consolas" pitchFamily="34" charset="-122"/>
                <a:cs typeface="Consolas" pitchFamily="34" charset="-120"/>
              </a:rPr>
              <a:t>      </a:t>
            </a:r>
            <a:endParaRPr lang="en-US" sz="790" dirty="0"/>
          </a:p>
        </p:txBody>
      </p:sp>
      <p:sp>
        <p:nvSpPr>
          <p:cNvPr id="41" name="Text 27"/>
          <p:cNvSpPr/>
          <p:nvPr/>
        </p:nvSpPr>
        <p:spPr>
          <a:xfrm>
            <a:off x="466725" y="1174403"/>
            <a:ext cx="1909762" cy="29170"/>
          </a:xfrm>
          <a:custGeom>
            <a:avLst/>
            <a:gdLst/>
            <a:ahLst/>
            <a:cxnLst/>
            <a:rect l="l" t="t" r="r" b="b"/>
            <a:pathLst>
              <a:path w="1909762" h="29170">
                <a:moveTo>
                  <a:pt x="114300" y="0"/>
                </a:moveTo>
                <a:lnTo>
                  <a:pt x="1795463" y="0"/>
                </a:lnTo>
                <a:lnTo>
                  <a:pt x="1824102" y="3646"/>
                </a:lnTo>
                <a:lnTo>
                  <a:pt x="1835636" y="7293"/>
                </a:lnTo>
                <a:lnTo>
                  <a:pt x="1844258" y="10939"/>
                </a:lnTo>
                <a:lnTo>
                  <a:pt x="1851332" y="14585"/>
                </a:lnTo>
                <a:lnTo>
                  <a:pt x="1857392" y="18231"/>
                </a:lnTo>
                <a:lnTo>
                  <a:pt x="1862713" y="21878"/>
                </a:lnTo>
                <a:lnTo>
                  <a:pt x="1867458" y="25524"/>
                </a:lnTo>
                <a:lnTo>
                  <a:pt x="1871735" y="29170"/>
                </a:lnTo>
                <a:lnTo>
                  <a:pt x="38028" y="29170"/>
                </a:lnTo>
                <a:lnTo>
                  <a:pt x="42305" y="25524"/>
                </a:lnTo>
                <a:lnTo>
                  <a:pt x="47050" y="21878"/>
                </a:lnTo>
                <a:lnTo>
                  <a:pt x="52370" y="18231"/>
                </a:lnTo>
                <a:lnTo>
                  <a:pt x="58430" y="14585"/>
                </a:lnTo>
                <a:lnTo>
                  <a:pt x="65505" y="10939"/>
                </a:lnTo>
                <a:lnTo>
                  <a:pt x="74127" y="7293"/>
                </a:lnTo>
                <a:lnTo>
                  <a:pt x="85660" y="3646"/>
                </a:lnTo>
                <a:close/>
              </a:path>
            </a:pathLst>
          </a:custGeom>
          <a:gradFill rotWithShape="1">
            <a:gsLst>
              <a:gs pos="0">
                <a:srgbClr val="3776AB"/>
              </a:gs>
              <a:gs pos="100000">
                <a:srgbClr val="FFD43B"/>
              </a:gs>
            </a:gsLst>
            <a:lin ang="0" scaled="1"/>
          </a:gradFill>
          <a:ln/>
        </p:spPr>
        <p:txBody>
          <a:bodyPr wrap="none" rtlCol="0" anchor="t"/>
          <a:lstStyle/>
          <a:p>
            <a:pPr marL="0" indent="0">
              <a:buNone/>
            </a:pPr>
            <a:endParaRPr lang="en-US" dirty="0"/>
          </a:p>
        </p:txBody>
      </p:sp>
      <p:sp>
        <p:nvSpPr>
          <p:cNvPr id="42" name="Text 28"/>
          <p:cNvSpPr/>
          <p:nvPr/>
        </p:nvSpPr>
        <p:spPr>
          <a:xfrm>
            <a:off x="2566988" y="1174403"/>
            <a:ext cx="1909762" cy="29170"/>
          </a:xfrm>
          <a:custGeom>
            <a:avLst/>
            <a:gdLst/>
            <a:ahLst/>
            <a:cxnLst/>
            <a:rect l="l" t="t" r="r" b="b"/>
            <a:pathLst>
              <a:path w="1909762" h="29170">
                <a:moveTo>
                  <a:pt x="114300" y="0"/>
                </a:moveTo>
                <a:lnTo>
                  <a:pt x="1795463" y="0"/>
                </a:lnTo>
                <a:lnTo>
                  <a:pt x="1824102" y="3646"/>
                </a:lnTo>
                <a:lnTo>
                  <a:pt x="1835636" y="7293"/>
                </a:lnTo>
                <a:lnTo>
                  <a:pt x="1844258" y="10939"/>
                </a:lnTo>
                <a:lnTo>
                  <a:pt x="1851332" y="14585"/>
                </a:lnTo>
                <a:lnTo>
                  <a:pt x="1857392" y="18231"/>
                </a:lnTo>
                <a:lnTo>
                  <a:pt x="1862713" y="21878"/>
                </a:lnTo>
                <a:lnTo>
                  <a:pt x="1867458" y="25524"/>
                </a:lnTo>
                <a:lnTo>
                  <a:pt x="1871735" y="29170"/>
                </a:lnTo>
                <a:lnTo>
                  <a:pt x="38028" y="29170"/>
                </a:lnTo>
                <a:lnTo>
                  <a:pt x="42305" y="25524"/>
                </a:lnTo>
                <a:lnTo>
                  <a:pt x="47050" y="21878"/>
                </a:lnTo>
                <a:lnTo>
                  <a:pt x="52370" y="18231"/>
                </a:lnTo>
                <a:lnTo>
                  <a:pt x="58430" y="14585"/>
                </a:lnTo>
                <a:lnTo>
                  <a:pt x="65505" y="10939"/>
                </a:lnTo>
                <a:lnTo>
                  <a:pt x="74127" y="7293"/>
                </a:lnTo>
                <a:lnTo>
                  <a:pt x="85660" y="3646"/>
                </a:lnTo>
                <a:close/>
              </a:path>
            </a:pathLst>
          </a:custGeom>
          <a:gradFill rotWithShape="1">
            <a:gsLst>
              <a:gs pos="0">
                <a:srgbClr val="3178C6"/>
              </a:gs>
              <a:gs pos="100000">
                <a:srgbClr val="235A97"/>
              </a:gs>
            </a:gsLst>
            <a:lin ang="0" scaled="1"/>
          </a:gradFill>
          <a:ln/>
        </p:spPr>
        <p:txBody>
          <a:bodyPr wrap="none" rtlCol="0" anchor="t"/>
          <a:lstStyle/>
          <a:p>
            <a:pPr marL="0" indent="0">
              <a:buNone/>
            </a:pPr>
            <a:endParaRPr lang="en-US" dirty="0"/>
          </a:p>
        </p:txBody>
      </p:sp>
      <p:sp>
        <p:nvSpPr>
          <p:cNvPr id="43" name="Text 29"/>
          <p:cNvSpPr/>
          <p:nvPr/>
        </p:nvSpPr>
        <p:spPr>
          <a:xfrm>
            <a:off x="4667250" y="1174403"/>
            <a:ext cx="1909762" cy="29170"/>
          </a:xfrm>
          <a:custGeom>
            <a:avLst/>
            <a:gdLst/>
            <a:ahLst/>
            <a:cxnLst/>
            <a:rect l="l" t="t" r="r" b="b"/>
            <a:pathLst>
              <a:path w="1909762" h="29170">
                <a:moveTo>
                  <a:pt x="114300" y="0"/>
                </a:moveTo>
                <a:lnTo>
                  <a:pt x="1795463" y="0"/>
                </a:lnTo>
                <a:lnTo>
                  <a:pt x="1824102" y="3646"/>
                </a:lnTo>
                <a:lnTo>
                  <a:pt x="1835636" y="7293"/>
                </a:lnTo>
                <a:lnTo>
                  <a:pt x="1844258" y="10939"/>
                </a:lnTo>
                <a:lnTo>
                  <a:pt x="1851332" y="14585"/>
                </a:lnTo>
                <a:lnTo>
                  <a:pt x="1857392" y="18231"/>
                </a:lnTo>
                <a:lnTo>
                  <a:pt x="1862713" y="21878"/>
                </a:lnTo>
                <a:lnTo>
                  <a:pt x="1867458" y="25524"/>
                </a:lnTo>
                <a:lnTo>
                  <a:pt x="1871735" y="29170"/>
                </a:lnTo>
                <a:lnTo>
                  <a:pt x="38028" y="29170"/>
                </a:lnTo>
                <a:lnTo>
                  <a:pt x="42305" y="25524"/>
                </a:lnTo>
                <a:lnTo>
                  <a:pt x="47050" y="21878"/>
                </a:lnTo>
                <a:lnTo>
                  <a:pt x="52370" y="18231"/>
                </a:lnTo>
                <a:lnTo>
                  <a:pt x="58430" y="14585"/>
                </a:lnTo>
                <a:lnTo>
                  <a:pt x="65505" y="10939"/>
                </a:lnTo>
                <a:lnTo>
                  <a:pt x="74127" y="7293"/>
                </a:lnTo>
                <a:lnTo>
                  <a:pt x="85660" y="3646"/>
                </a:lnTo>
                <a:close/>
              </a:path>
            </a:pathLst>
          </a:custGeom>
          <a:gradFill rotWithShape="1">
            <a:gsLst>
              <a:gs pos="0">
                <a:srgbClr val="CE422B"/>
              </a:gs>
              <a:gs pos="100000">
                <a:srgbClr val="F74C00"/>
              </a:gs>
            </a:gsLst>
            <a:lin ang="0" scaled="1"/>
          </a:gradFill>
          <a:ln/>
        </p:spPr>
        <p:txBody>
          <a:bodyPr wrap="none" rtlCol="0" anchor="t"/>
          <a:lstStyle/>
          <a:p>
            <a:pPr marL="0" indent="0">
              <a:buNone/>
            </a:pPr>
            <a:endParaRPr lang="en-US" dirty="0"/>
          </a:p>
        </p:txBody>
      </p:sp>
      <p:sp>
        <p:nvSpPr>
          <p:cNvPr id="44" name="Text 30"/>
          <p:cNvSpPr/>
          <p:nvPr/>
        </p:nvSpPr>
        <p:spPr>
          <a:xfrm>
            <a:off x="6767513" y="1174403"/>
            <a:ext cx="1909762" cy="29170"/>
          </a:xfrm>
          <a:custGeom>
            <a:avLst/>
            <a:gdLst/>
            <a:ahLst/>
            <a:cxnLst/>
            <a:rect l="l" t="t" r="r" b="b"/>
            <a:pathLst>
              <a:path w="1909762" h="29170">
                <a:moveTo>
                  <a:pt x="114300" y="0"/>
                </a:moveTo>
                <a:lnTo>
                  <a:pt x="1795463" y="0"/>
                </a:lnTo>
                <a:lnTo>
                  <a:pt x="1824102" y="3646"/>
                </a:lnTo>
                <a:lnTo>
                  <a:pt x="1835636" y="7293"/>
                </a:lnTo>
                <a:lnTo>
                  <a:pt x="1844258" y="10939"/>
                </a:lnTo>
                <a:lnTo>
                  <a:pt x="1851332" y="14585"/>
                </a:lnTo>
                <a:lnTo>
                  <a:pt x="1857392" y="18231"/>
                </a:lnTo>
                <a:lnTo>
                  <a:pt x="1862713" y="21878"/>
                </a:lnTo>
                <a:lnTo>
                  <a:pt x="1867458" y="25524"/>
                </a:lnTo>
                <a:lnTo>
                  <a:pt x="1871735" y="29170"/>
                </a:lnTo>
                <a:lnTo>
                  <a:pt x="38028" y="29170"/>
                </a:lnTo>
                <a:lnTo>
                  <a:pt x="42305" y="25524"/>
                </a:lnTo>
                <a:lnTo>
                  <a:pt x="47050" y="21878"/>
                </a:lnTo>
                <a:lnTo>
                  <a:pt x="52370" y="18231"/>
                </a:lnTo>
                <a:lnTo>
                  <a:pt x="58430" y="14585"/>
                </a:lnTo>
                <a:lnTo>
                  <a:pt x="65505" y="10939"/>
                </a:lnTo>
                <a:lnTo>
                  <a:pt x="74127" y="7293"/>
                </a:lnTo>
                <a:lnTo>
                  <a:pt x="85660" y="3646"/>
                </a:lnTo>
                <a:close/>
              </a:path>
            </a:pathLst>
          </a:custGeom>
          <a:gradFill rotWithShape="1">
            <a:gsLst>
              <a:gs pos="0">
                <a:srgbClr val="00ADD8"/>
              </a:gs>
              <a:gs pos="100000">
                <a:srgbClr val="00A29C"/>
              </a:gs>
            </a:gsLst>
            <a:lin ang="0" scaled="1"/>
          </a:gradFill>
          <a:ln/>
        </p:spPr>
        <p:txBody>
          <a:bodyPr wrap="none" rtlCol="0" anchor="t"/>
          <a:lstStyle/>
          <a:p>
            <a:pPr marL="0" indent="0">
              <a:buNone/>
            </a:pP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4000"/>
                </a:srgbClr>
              </a:gs>
              <a:gs pos="100000">
                <a:srgbClr val="000000">
                  <a:alpha val="0"/>
                </a:srgbClr>
              </a:gs>
            </a:gsLst>
            <a:lin ang="5400000" scaled="1"/>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76B900">
                  <a:alpha val="4000"/>
                </a:srgbClr>
              </a:gs>
              <a:gs pos="100000">
                <a:srgbClr val="000000">
                  <a:alpha val="0"/>
                </a:srgbClr>
              </a:gs>
            </a:gsLst>
            <a:lin ang="0" scaled="1"/>
          </a:gradFill>
          <a:ln/>
        </p:spPr>
        <p:txBody>
          <a:bodyPr wrap="square" rtlCol="0" anchor="t"/>
          <a:lstStyle/>
          <a:p>
            <a:pPr marL="0" indent="0">
              <a:buNone/>
            </a:pPr>
            <a:endParaRPr lang="en-US" dirty="0"/>
          </a:p>
        </p:txBody>
      </p:sp>
      <p:sp>
        <p:nvSpPr>
          <p:cNvPr id="4" name="Text 2"/>
          <p:cNvSpPr/>
          <p:nvPr/>
        </p:nvSpPr>
        <p:spPr>
          <a:xfrm>
            <a:off x="523875" y="1542157"/>
            <a:ext cx="3966867" cy="21580"/>
          </a:xfrm>
          <a:custGeom>
            <a:avLst/>
            <a:gdLst/>
            <a:ahLst/>
            <a:cxnLst/>
            <a:rect l="l" t="t" r="r" b="b"/>
            <a:pathLst>
              <a:path w="3966867" h="21580">
                <a:moveTo>
                  <a:pt x="114300" y="0"/>
                </a:moveTo>
                <a:lnTo>
                  <a:pt x="3852567" y="0"/>
                </a:lnTo>
                <a:lnTo>
                  <a:pt x="3877253" y="2698"/>
                </a:lnTo>
                <a:lnTo>
                  <a:pt x="3887269" y="5395"/>
                </a:lnTo>
                <a:lnTo>
                  <a:pt x="3894810" y="8093"/>
                </a:lnTo>
                <a:lnTo>
                  <a:pt x="3901046" y="10790"/>
                </a:lnTo>
                <a:lnTo>
                  <a:pt x="3906431" y="13488"/>
                </a:lnTo>
                <a:lnTo>
                  <a:pt x="3911201" y="16185"/>
                </a:lnTo>
                <a:lnTo>
                  <a:pt x="3915496" y="18883"/>
                </a:lnTo>
                <a:lnTo>
                  <a:pt x="3919407"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5" name="Text 3"/>
          <p:cNvSpPr/>
          <p:nvPr/>
        </p:nvSpPr>
        <p:spPr>
          <a:xfrm>
            <a:off x="4653260" y="1542157"/>
            <a:ext cx="3966867" cy="21580"/>
          </a:xfrm>
          <a:custGeom>
            <a:avLst/>
            <a:gdLst/>
            <a:ahLst/>
            <a:cxnLst/>
            <a:rect l="l" t="t" r="r" b="b"/>
            <a:pathLst>
              <a:path w="3966867" h="21580">
                <a:moveTo>
                  <a:pt x="114300" y="0"/>
                </a:moveTo>
                <a:lnTo>
                  <a:pt x="3852567" y="0"/>
                </a:lnTo>
                <a:lnTo>
                  <a:pt x="3877253" y="2698"/>
                </a:lnTo>
                <a:lnTo>
                  <a:pt x="3887269" y="5395"/>
                </a:lnTo>
                <a:lnTo>
                  <a:pt x="3894810" y="8093"/>
                </a:lnTo>
                <a:lnTo>
                  <a:pt x="3901046" y="10790"/>
                </a:lnTo>
                <a:lnTo>
                  <a:pt x="3906431" y="13488"/>
                </a:lnTo>
                <a:lnTo>
                  <a:pt x="3911201" y="16185"/>
                </a:lnTo>
                <a:lnTo>
                  <a:pt x="3915496" y="18883"/>
                </a:lnTo>
                <a:lnTo>
                  <a:pt x="3919407"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6" name="Text 4"/>
          <p:cNvSpPr/>
          <p:nvPr/>
        </p:nvSpPr>
        <p:spPr>
          <a:xfrm>
            <a:off x="523875" y="3121223"/>
            <a:ext cx="3966867" cy="21580"/>
          </a:xfrm>
          <a:custGeom>
            <a:avLst/>
            <a:gdLst/>
            <a:ahLst/>
            <a:cxnLst/>
            <a:rect l="l" t="t" r="r" b="b"/>
            <a:pathLst>
              <a:path w="3966867" h="21580">
                <a:moveTo>
                  <a:pt x="114300" y="0"/>
                </a:moveTo>
                <a:lnTo>
                  <a:pt x="3852567" y="0"/>
                </a:lnTo>
                <a:lnTo>
                  <a:pt x="3877253" y="2698"/>
                </a:lnTo>
                <a:lnTo>
                  <a:pt x="3887269" y="5395"/>
                </a:lnTo>
                <a:lnTo>
                  <a:pt x="3894810" y="8093"/>
                </a:lnTo>
                <a:lnTo>
                  <a:pt x="3901046" y="10790"/>
                </a:lnTo>
                <a:lnTo>
                  <a:pt x="3906431" y="13488"/>
                </a:lnTo>
                <a:lnTo>
                  <a:pt x="3911201" y="16185"/>
                </a:lnTo>
                <a:lnTo>
                  <a:pt x="3915496" y="18883"/>
                </a:lnTo>
                <a:lnTo>
                  <a:pt x="3919407"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7" name="Text 5"/>
          <p:cNvSpPr/>
          <p:nvPr/>
        </p:nvSpPr>
        <p:spPr>
          <a:xfrm>
            <a:off x="4653260" y="3121223"/>
            <a:ext cx="3966867" cy="21580"/>
          </a:xfrm>
          <a:custGeom>
            <a:avLst/>
            <a:gdLst/>
            <a:ahLst/>
            <a:cxnLst/>
            <a:rect l="l" t="t" r="r" b="b"/>
            <a:pathLst>
              <a:path w="3966867" h="21580">
                <a:moveTo>
                  <a:pt x="114300" y="0"/>
                </a:moveTo>
                <a:lnTo>
                  <a:pt x="3852567" y="0"/>
                </a:lnTo>
                <a:lnTo>
                  <a:pt x="3877253" y="2698"/>
                </a:lnTo>
                <a:lnTo>
                  <a:pt x="3887269" y="5395"/>
                </a:lnTo>
                <a:lnTo>
                  <a:pt x="3894810" y="8093"/>
                </a:lnTo>
                <a:lnTo>
                  <a:pt x="3901046" y="10790"/>
                </a:lnTo>
                <a:lnTo>
                  <a:pt x="3906431" y="13488"/>
                </a:lnTo>
                <a:lnTo>
                  <a:pt x="3911201" y="16185"/>
                </a:lnTo>
                <a:lnTo>
                  <a:pt x="3915496" y="18883"/>
                </a:lnTo>
                <a:lnTo>
                  <a:pt x="3919407"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8" name="Text 6"/>
          <p:cNvSpPr/>
          <p:nvPr/>
        </p:nvSpPr>
        <p:spPr>
          <a:xfrm>
            <a:off x="2785765" y="57150"/>
            <a:ext cx="3572470" cy="1428750"/>
          </a:xfrm>
          <a:prstGeom prst="rect">
            <a:avLst/>
          </a:prstGeom>
          <a:gradFill rotWithShape="1">
            <a:gsLst>
              <a:gs pos="0">
                <a:srgbClr val="76B900">
                  <a:alpha val="12000"/>
                </a:srgbClr>
              </a:gs>
              <a:gs pos="7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10" name="Text 8"/>
          <p:cNvSpPr/>
          <p:nvPr/>
        </p:nvSpPr>
        <p:spPr>
          <a:xfrm>
            <a:off x="230314" y="624632"/>
            <a:ext cx="8683371" cy="407640"/>
          </a:xfrm>
          <a:prstGeom prst="rect">
            <a:avLst/>
          </a:prstGeom>
          <a:noFill/>
          <a:ln/>
        </p:spPr>
        <p:txBody>
          <a:bodyPr wrap="none" lIns="0" tIns="0" rIns="0" bIns="0" rtlCol="0" anchor="t"/>
          <a:lstStyle/>
          <a:p>
            <a:pPr marL="0" indent="0" algn="ctr">
              <a:lnSpc>
                <a:spcPts val="3210"/>
              </a:lnSpc>
              <a:buNone/>
            </a:pPr>
            <a:r>
              <a:rPr lang="en-US" sz="2140" kern="0" spc="-30" dirty="0">
                <a:solidFill>
                  <a:srgbClr val="E2E8F0"/>
                </a:solidFill>
                <a:latin typeface="Consolas" pitchFamily="34" charset="0"/>
                <a:ea typeface="Consolas" pitchFamily="34" charset="-122"/>
                <a:cs typeface="Consolas" pitchFamily="34" charset="-120"/>
              </a:rPr>
              <a:t> Meet </a:t>
            </a:r>
            <a:r>
              <a:rPr lang="en-US" sz="2140" kern="0" spc="-30" dirty="0">
                <a:solidFill>
                  <a:srgbClr val="76B900"/>
                </a:solidFill>
                <a:latin typeface="Consolas" pitchFamily="34" charset="0"/>
                <a:ea typeface="Consolas" pitchFamily="34" charset="-122"/>
                <a:cs typeface="Consolas" pitchFamily="34" charset="-120"/>
              </a:rPr>
              <a:t>Hermes Agent</a:t>
            </a:r>
            <a:r>
              <a:rPr lang="en-US" sz="2140" kern="0" spc="-30" dirty="0">
                <a:solidFill>
                  <a:srgbClr val="E2E8F0"/>
                </a:solidFill>
                <a:latin typeface="Consolas" pitchFamily="34" charset="0"/>
                <a:ea typeface="Consolas" pitchFamily="34" charset="-122"/>
                <a:cs typeface="Consolas" pitchFamily="34" charset="-120"/>
              </a:rPr>
              <a:t> </a:t>
            </a:r>
            <a:br>
              <a:rPr dirty="0"/>
            </a:br>
            <a:r>
              <a:rPr lang="en-US" sz="2140" kern="0" spc="-30" dirty="0">
                <a:solidFill>
                  <a:srgbClr val="E2E8F0"/>
                </a:solidFill>
                <a:latin typeface="Consolas" pitchFamily="34" charset="0"/>
                <a:ea typeface="Consolas" pitchFamily="34" charset="-122"/>
                <a:cs typeface="Consolas" pitchFamily="34" charset="-120"/>
              </a:rPr>
              <a:t>      </a:t>
            </a:r>
            <a:endParaRPr lang="en-US" sz="2140" dirty="0"/>
          </a:p>
        </p:txBody>
      </p:sp>
      <p:sp>
        <p:nvSpPr>
          <p:cNvPr id="11" name="Text 9"/>
          <p:cNvSpPr/>
          <p:nvPr/>
        </p:nvSpPr>
        <p:spPr>
          <a:xfrm>
            <a:off x="180320" y="946547"/>
            <a:ext cx="8926830" cy="171450"/>
          </a:xfrm>
          <a:prstGeom prst="rect">
            <a:avLst/>
          </a:prstGeom>
          <a:noFill/>
          <a:ln/>
        </p:spPr>
        <p:txBody>
          <a:bodyPr wrap="none" lIns="0" tIns="0" rIns="0" bIns="0" rtlCol="0" anchor="t"/>
          <a:lstStyle/>
          <a:p>
            <a:pPr marL="0" indent="0" algn="ctr">
              <a:lnSpc>
                <a:spcPts val="1350"/>
              </a:lnSpc>
              <a:spcBef>
                <a:spcPts val="340"/>
              </a:spcBef>
              <a:buNone/>
            </a:pPr>
            <a:r>
              <a:rPr lang="en-US" sz="900" dirty="0">
                <a:solidFill>
                  <a:srgbClr val="8B9CB6"/>
                </a:solidFill>
                <a:latin typeface="Calibri" pitchFamily="34" charset="0"/>
                <a:ea typeface="Calibri" pitchFamily="34" charset="-122"/>
                <a:cs typeface="Calibri" pitchFamily="34" charset="-120"/>
              </a:rPr>
              <a:t>The intelligent learning layer that evolves with you</a:t>
            </a:r>
            <a:endParaRPr lang="en-US" sz="900" dirty="0"/>
          </a:p>
        </p:txBody>
      </p:sp>
      <p:sp>
        <p:nvSpPr>
          <p:cNvPr id="12" name="Text 10"/>
          <p:cNvSpPr/>
          <p:nvPr/>
        </p:nvSpPr>
        <p:spPr>
          <a:xfrm>
            <a:off x="514350" y="1532632"/>
            <a:ext cx="3985915" cy="1435596"/>
          </a:xfrm>
          <a:prstGeom prst="roundRect">
            <a:avLst>
              <a:gd name="adj" fmla="val 7962"/>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3" name="Text 11"/>
          <p:cNvSpPr/>
          <p:nvPr/>
        </p:nvSpPr>
        <p:spPr>
          <a:xfrm>
            <a:off x="781645" y="1770757"/>
            <a:ext cx="400050" cy="400050"/>
          </a:xfrm>
          <a:prstGeom prst="roundRect">
            <a:avLst>
              <a:gd name="adj" fmla="val 25079"/>
            </a:avLst>
          </a:prstGeom>
          <a:solidFill>
            <a:srgbClr val="76B900">
              <a:alpha val="10000"/>
            </a:srgbClr>
          </a:solidFill>
          <a:ln w="9525">
            <a:solidFill>
              <a:srgbClr val="76B900">
                <a:alpha val="25000"/>
              </a:srgbClr>
            </a:solidFill>
          </a:ln>
        </p:spPr>
        <p:txBody>
          <a:bodyPr wrap="square" rtlCol="0" anchor="t"/>
          <a:lstStyle/>
          <a:p>
            <a:pPr marL="0" indent="0">
              <a:buNone/>
            </a:pPr>
            <a:endParaRPr lang="en-US" dirty="0"/>
          </a:p>
        </p:txBody>
      </p:sp>
      <p:pic>
        <p:nvPicPr>
          <p:cNvPr id="14"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6363" y="1895475"/>
            <a:ext cx="150465" cy="150465"/>
          </a:xfrm>
          <a:prstGeom prst="rect">
            <a:avLst/>
          </a:prstGeom>
        </p:spPr>
      </p:pic>
      <p:sp>
        <p:nvSpPr>
          <p:cNvPr id="15" name="Text 12"/>
          <p:cNvSpPr/>
          <p:nvPr/>
        </p:nvSpPr>
        <p:spPr>
          <a:xfrm>
            <a:off x="1353145" y="1770757"/>
            <a:ext cx="3167807" cy="203746"/>
          </a:xfrm>
          <a:prstGeom prst="rect">
            <a:avLst/>
          </a:prstGeom>
          <a:noFill/>
          <a:ln/>
        </p:spPr>
        <p:txBody>
          <a:bodyPr wrap="none" lIns="0" tIns="0" rIns="0" bIns="0" rtlCol="0" anchor="t"/>
          <a:lstStyle/>
          <a:p>
            <a:pPr marL="0" indent="0" algn="l">
              <a:lnSpc>
                <a:spcPts val="1605"/>
              </a:lnSpc>
              <a:buNone/>
            </a:pPr>
            <a:r>
              <a:rPr lang="en-US" sz="1070" b="1" dirty="0">
                <a:solidFill>
                  <a:srgbClr val="E2E8F0"/>
                </a:solidFill>
                <a:latin typeface="Consolas" pitchFamily="34" charset="0"/>
                <a:ea typeface="Consolas" pitchFamily="34" charset="-122"/>
                <a:cs typeface="Consolas" pitchFamily="34" charset="-120"/>
              </a:rPr>
              <a:t>Self-Improving Learning Loop</a:t>
            </a:r>
            <a:endParaRPr lang="en-US" sz="1070" dirty="0"/>
          </a:p>
        </p:txBody>
      </p:sp>
      <p:sp>
        <p:nvSpPr>
          <p:cNvPr id="16" name="Text 13"/>
          <p:cNvSpPr/>
          <p:nvPr/>
        </p:nvSpPr>
        <p:spPr>
          <a:xfrm>
            <a:off x="1353145" y="2003673"/>
            <a:ext cx="2937421" cy="487092"/>
          </a:xfrm>
          <a:prstGeom prst="rect">
            <a:avLst/>
          </a:prstGeom>
          <a:noFill/>
          <a:ln/>
        </p:spPr>
        <p:txBody>
          <a:bodyPr wrap="square" lIns="0" tIns="0" rIns="0" bIns="0" rtlCol="0" anchor="t"/>
          <a:lstStyle/>
          <a:p>
            <a:pPr marL="0" indent="0" algn="l">
              <a:lnSpc>
                <a:spcPts val="1218"/>
              </a:lnSpc>
              <a:buNone/>
            </a:pPr>
            <a:r>
              <a:rPr lang="en-US" sz="840" dirty="0">
                <a:solidFill>
                  <a:srgbClr val="8B9CB6"/>
                </a:solidFill>
                <a:latin typeface="Calibri" pitchFamily="34" charset="0"/>
                <a:ea typeface="Calibri" pitchFamily="34" charset="-122"/>
                <a:cs typeface="Calibri" pitchFamily="34" charset="-120"/>
              </a:rPr>
              <a:t>Continuously refines its reasoning and behavior after every interaction, getting smarter over time without manual retraining.</a:t>
            </a:r>
            <a:endParaRPr lang="en-US" sz="840" dirty="0"/>
          </a:p>
        </p:txBody>
      </p:sp>
      <p:sp>
        <p:nvSpPr>
          <p:cNvPr id="17" name="Text 14"/>
          <p:cNvSpPr/>
          <p:nvPr/>
        </p:nvSpPr>
        <p:spPr>
          <a:xfrm>
            <a:off x="4643735" y="1532632"/>
            <a:ext cx="3985915" cy="1435596"/>
          </a:xfrm>
          <a:prstGeom prst="roundRect">
            <a:avLst>
              <a:gd name="adj" fmla="val 7962"/>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8" name="Text 15"/>
          <p:cNvSpPr/>
          <p:nvPr/>
        </p:nvSpPr>
        <p:spPr>
          <a:xfrm>
            <a:off x="4911030" y="1770757"/>
            <a:ext cx="400050" cy="400050"/>
          </a:xfrm>
          <a:prstGeom prst="roundRect">
            <a:avLst>
              <a:gd name="adj" fmla="val 25079"/>
            </a:avLst>
          </a:prstGeom>
          <a:solidFill>
            <a:srgbClr val="76B900">
              <a:alpha val="10000"/>
            </a:srgbClr>
          </a:solidFill>
          <a:ln w="9525">
            <a:solidFill>
              <a:srgbClr val="76B900">
                <a:alpha val="25000"/>
              </a:srgbClr>
            </a:solidFill>
          </a:ln>
        </p:spPr>
        <p:txBody>
          <a:bodyPr wrap="square" rtlCol="0" anchor="t"/>
          <a:lstStyle/>
          <a:p>
            <a:pPr marL="0" indent="0">
              <a:buNone/>
            </a:pPr>
            <a:endParaRPr lang="en-US" dirty="0"/>
          </a:p>
        </p:txBody>
      </p:sp>
      <p:pic>
        <p:nvPicPr>
          <p:cNvPr id="19"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35748" y="1895475"/>
            <a:ext cx="150465" cy="150465"/>
          </a:xfrm>
          <a:prstGeom prst="rect">
            <a:avLst/>
          </a:prstGeom>
        </p:spPr>
      </p:pic>
      <p:sp>
        <p:nvSpPr>
          <p:cNvPr id="20" name="Text 16"/>
          <p:cNvSpPr/>
          <p:nvPr/>
        </p:nvSpPr>
        <p:spPr>
          <a:xfrm>
            <a:off x="5482530" y="1770757"/>
            <a:ext cx="3167807" cy="203746"/>
          </a:xfrm>
          <a:prstGeom prst="rect">
            <a:avLst/>
          </a:prstGeom>
          <a:noFill/>
          <a:ln/>
        </p:spPr>
        <p:txBody>
          <a:bodyPr wrap="none" lIns="0" tIns="0" rIns="0" bIns="0" rtlCol="0" anchor="t"/>
          <a:lstStyle/>
          <a:p>
            <a:pPr marL="0" indent="0" algn="l">
              <a:lnSpc>
                <a:spcPts val="1605"/>
              </a:lnSpc>
              <a:buNone/>
            </a:pPr>
            <a:r>
              <a:rPr lang="en-US" sz="1070" b="1" dirty="0">
                <a:solidFill>
                  <a:srgbClr val="E2E8F0"/>
                </a:solidFill>
                <a:latin typeface="Consolas" pitchFamily="34" charset="0"/>
                <a:ea typeface="Consolas" pitchFamily="34" charset="-122"/>
                <a:cs typeface="Consolas" pitchFamily="34" charset="-120"/>
              </a:rPr>
              <a:t>Creates New Skills from Experience</a:t>
            </a:r>
            <a:endParaRPr lang="en-US" sz="1070" dirty="0"/>
          </a:p>
        </p:txBody>
      </p:sp>
      <p:sp>
        <p:nvSpPr>
          <p:cNvPr id="21" name="Text 17"/>
          <p:cNvSpPr/>
          <p:nvPr/>
        </p:nvSpPr>
        <p:spPr>
          <a:xfrm>
            <a:off x="5482530" y="2003673"/>
            <a:ext cx="2937421" cy="487092"/>
          </a:xfrm>
          <a:prstGeom prst="rect">
            <a:avLst/>
          </a:prstGeom>
          <a:noFill/>
          <a:ln/>
        </p:spPr>
        <p:txBody>
          <a:bodyPr wrap="square" lIns="0" tIns="0" rIns="0" bIns="0" rtlCol="0" anchor="t"/>
          <a:lstStyle/>
          <a:p>
            <a:pPr marL="0" indent="0" algn="l">
              <a:lnSpc>
                <a:spcPts val="1218"/>
              </a:lnSpc>
              <a:buNone/>
            </a:pPr>
            <a:r>
              <a:rPr lang="en-US" sz="840" dirty="0">
                <a:solidFill>
                  <a:srgbClr val="8B9CB6"/>
                </a:solidFill>
                <a:latin typeface="Calibri" pitchFamily="34" charset="0"/>
                <a:ea typeface="Calibri" pitchFamily="34" charset="-122"/>
                <a:cs typeface="Calibri" pitchFamily="34" charset="-120"/>
              </a:rPr>
              <a:t>Learns new capabilities autonomously — transforms repeated patterns and successful actions into reusable skills it can call on later.</a:t>
            </a:r>
            <a:endParaRPr lang="en-US" sz="840" dirty="0"/>
          </a:p>
        </p:txBody>
      </p:sp>
      <p:sp>
        <p:nvSpPr>
          <p:cNvPr id="22" name="Text 18"/>
          <p:cNvSpPr/>
          <p:nvPr/>
        </p:nvSpPr>
        <p:spPr>
          <a:xfrm>
            <a:off x="514350" y="3111698"/>
            <a:ext cx="3985915" cy="1435596"/>
          </a:xfrm>
          <a:prstGeom prst="roundRect">
            <a:avLst>
              <a:gd name="adj" fmla="val 7962"/>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3" name="Text 19"/>
          <p:cNvSpPr/>
          <p:nvPr/>
        </p:nvSpPr>
        <p:spPr>
          <a:xfrm>
            <a:off x="781645" y="3349823"/>
            <a:ext cx="400050" cy="400050"/>
          </a:xfrm>
          <a:prstGeom prst="roundRect">
            <a:avLst>
              <a:gd name="adj" fmla="val 25079"/>
            </a:avLst>
          </a:prstGeom>
          <a:solidFill>
            <a:srgbClr val="76B900">
              <a:alpha val="10000"/>
            </a:srgbClr>
          </a:solidFill>
          <a:ln w="9525">
            <a:solidFill>
              <a:srgbClr val="76B900">
                <a:alpha val="25000"/>
              </a:srgbClr>
            </a:solidFill>
          </a:ln>
        </p:spPr>
        <p:txBody>
          <a:bodyPr wrap="square" rtlCol="0" anchor="t"/>
          <a:lstStyle/>
          <a:p>
            <a:pPr marL="0" indent="0">
              <a:buNone/>
            </a:pPr>
            <a:endParaRPr lang="en-US" dirty="0"/>
          </a:p>
        </p:txBody>
      </p:sp>
      <p:pic>
        <p:nvPicPr>
          <p:cNvPr id="2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6363" y="3474541"/>
            <a:ext cx="150465" cy="150465"/>
          </a:xfrm>
          <a:prstGeom prst="rect">
            <a:avLst/>
          </a:prstGeom>
        </p:spPr>
      </p:pic>
      <p:sp>
        <p:nvSpPr>
          <p:cNvPr id="25" name="Text 20"/>
          <p:cNvSpPr/>
          <p:nvPr/>
        </p:nvSpPr>
        <p:spPr>
          <a:xfrm>
            <a:off x="1353145" y="3349823"/>
            <a:ext cx="3167807" cy="203746"/>
          </a:xfrm>
          <a:prstGeom prst="rect">
            <a:avLst/>
          </a:prstGeom>
          <a:noFill/>
          <a:ln/>
        </p:spPr>
        <p:txBody>
          <a:bodyPr wrap="none" lIns="0" tIns="0" rIns="0" bIns="0" rtlCol="0" anchor="t"/>
          <a:lstStyle/>
          <a:p>
            <a:pPr marL="0" indent="0" algn="l">
              <a:lnSpc>
                <a:spcPts val="1605"/>
              </a:lnSpc>
              <a:buNone/>
            </a:pPr>
            <a:r>
              <a:rPr lang="en-US" sz="1070" b="1" dirty="0">
                <a:solidFill>
                  <a:srgbClr val="E2E8F0"/>
                </a:solidFill>
                <a:latin typeface="Consolas" pitchFamily="34" charset="0"/>
                <a:ea typeface="Consolas" pitchFamily="34" charset="-122"/>
                <a:cs typeface="Consolas" pitchFamily="34" charset="-120"/>
              </a:rPr>
              <a:t>Multi-Level Persistent Memory</a:t>
            </a:r>
            <a:endParaRPr lang="en-US" sz="1070" dirty="0"/>
          </a:p>
        </p:txBody>
      </p:sp>
      <p:sp>
        <p:nvSpPr>
          <p:cNvPr id="26" name="Text 21"/>
          <p:cNvSpPr/>
          <p:nvPr/>
        </p:nvSpPr>
        <p:spPr>
          <a:xfrm>
            <a:off x="1353145" y="3582739"/>
            <a:ext cx="2937421" cy="487092"/>
          </a:xfrm>
          <a:prstGeom prst="rect">
            <a:avLst/>
          </a:prstGeom>
          <a:noFill/>
          <a:ln/>
        </p:spPr>
        <p:txBody>
          <a:bodyPr wrap="square" lIns="0" tIns="0" rIns="0" bIns="0" rtlCol="0" anchor="t"/>
          <a:lstStyle/>
          <a:p>
            <a:pPr marL="0" indent="0" algn="l">
              <a:lnSpc>
                <a:spcPts val="1218"/>
              </a:lnSpc>
              <a:buNone/>
            </a:pPr>
            <a:r>
              <a:rPr lang="en-US" sz="840" dirty="0">
                <a:solidFill>
                  <a:srgbClr val="8B9CB6"/>
                </a:solidFill>
                <a:latin typeface="Calibri" pitchFamily="34" charset="0"/>
                <a:ea typeface="Calibri" pitchFamily="34" charset="-122"/>
                <a:cs typeface="Calibri" pitchFamily="34" charset="-120"/>
              </a:rPr>
              <a:t>Maintains short-term working memory, session memory, and long-term knowledge — remembers your preferences, past tasks, and context across sessions.</a:t>
            </a:r>
            <a:endParaRPr lang="en-US" sz="840" dirty="0"/>
          </a:p>
        </p:txBody>
      </p:sp>
      <p:sp>
        <p:nvSpPr>
          <p:cNvPr id="27" name="Text 22"/>
          <p:cNvSpPr/>
          <p:nvPr/>
        </p:nvSpPr>
        <p:spPr>
          <a:xfrm>
            <a:off x="4643735" y="3111698"/>
            <a:ext cx="3985915" cy="1435596"/>
          </a:xfrm>
          <a:prstGeom prst="roundRect">
            <a:avLst>
              <a:gd name="adj" fmla="val 7962"/>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8" name="Text 23"/>
          <p:cNvSpPr/>
          <p:nvPr/>
        </p:nvSpPr>
        <p:spPr>
          <a:xfrm>
            <a:off x="4911030" y="3349823"/>
            <a:ext cx="400050" cy="400050"/>
          </a:xfrm>
          <a:prstGeom prst="roundRect">
            <a:avLst>
              <a:gd name="adj" fmla="val 25079"/>
            </a:avLst>
          </a:prstGeom>
          <a:solidFill>
            <a:srgbClr val="76B900">
              <a:alpha val="10000"/>
            </a:srgbClr>
          </a:solidFill>
          <a:ln w="9525">
            <a:solidFill>
              <a:srgbClr val="76B900">
                <a:alpha val="25000"/>
              </a:srgbClr>
            </a:solidFill>
          </a:ln>
        </p:spPr>
        <p:txBody>
          <a:bodyPr wrap="square" rtlCol="0" anchor="t"/>
          <a:lstStyle/>
          <a:p>
            <a:pPr marL="0" indent="0">
              <a:buNone/>
            </a:pPr>
            <a:endParaRPr lang="en-US" dirty="0"/>
          </a:p>
        </p:txBody>
      </p:sp>
      <p:pic>
        <p:nvPicPr>
          <p:cNvPr id="2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035748" y="3474541"/>
            <a:ext cx="150465" cy="150465"/>
          </a:xfrm>
          <a:prstGeom prst="rect">
            <a:avLst/>
          </a:prstGeom>
        </p:spPr>
      </p:pic>
      <p:sp>
        <p:nvSpPr>
          <p:cNvPr id="30" name="Text 24"/>
          <p:cNvSpPr/>
          <p:nvPr/>
        </p:nvSpPr>
        <p:spPr>
          <a:xfrm>
            <a:off x="5482530" y="3349823"/>
            <a:ext cx="3167807" cy="203746"/>
          </a:xfrm>
          <a:prstGeom prst="rect">
            <a:avLst/>
          </a:prstGeom>
          <a:noFill/>
          <a:ln/>
        </p:spPr>
        <p:txBody>
          <a:bodyPr wrap="none" lIns="0" tIns="0" rIns="0" bIns="0" rtlCol="0" anchor="t"/>
          <a:lstStyle/>
          <a:p>
            <a:pPr marL="0" indent="0" algn="l">
              <a:lnSpc>
                <a:spcPts val="1605"/>
              </a:lnSpc>
              <a:buNone/>
            </a:pPr>
            <a:r>
              <a:rPr lang="en-US" sz="1070" b="1" dirty="0">
                <a:solidFill>
                  <a:srgbClr val="E2E8F0"/>
                </a:solidFill>
                <a:latin typeface="Consolas" pitchFamily="34" charset="0"/>
                <a:ea typeface="Consolas" pitchFamily="34" charset="-122"/>
                <a:cs typeface="Consolas" pitchFamily="34" charset="-120"/>
              </a:rPr>
              <a:t>Model-Agnostic</a:t>
            </a:r>
            <a:endParaRPr lang="en-US" sz="1070" dirty="0"/>
          </a:p>
        </p:txBody>
      </p:sp>
      <p:sp>
        <p:nvSpPr>
          <p:cNvPr id="31" name="Text 25"/>
          <p:cNvSpPr/>
          <p:nvPr/>
        </p:nvSpPr>
        <p:spPr>
          <a:xfrm>
            <a:off x="5482530" y="3582739"/>
            <a:ext cx="2937421" cy="487092"/>
          </a:xfrm>
          <a:prstGeom prst="rect">
            <a:avLst/>
          </a:prstGeom>
          <a:noFill/>
          <a:ln/>
        </p:spPr>
        <p:txBody>
          <a:bodyPr wrap="square" lIns="0" tIns="0" rIns="0" bIns="0" rtlCol="0" anchor="t"/>
          <a:lstStyle/>
          <a:p>
            <a:pPr marL="0" indent="0" algn="l">
              <a:lnSpc>
                <a:spcPts val="1218"/>
              </a:lnSpc>
              <a:buNone/>
            </a:pPr>
            <a:r>
              <a:rPr lang="en-US" sz="840" dirty="0">
                <a:solidFill>
                  <a:srgbClr val="8B9CB6"/>
                </a:solidFill>
                <a:latin typeface="Calibri" pitchFamily="34" charset="0"/>
                <a:ea typeface="Calibri" pitchFamily="34" charset="-122"/>
                <a:cs typeface="Calibri" pitchFamily="34" charset="-120"/>
              </a:rPr>
              <a:t>Works with any local LLM — Qwen, Llama, GLM, and more. Swap models freely without losing your agent's learned skills, memory, or personality.</a:t>
            </a:r>
            <a:endParaRPr lang="en-US" sz="840" dirty="0"/>
          </a:p>
        </p:txBody>
      </p:sp>
      <p:sp>
        <p:nvSpPr>
          <p:cNvPr id="32" name="Text 26"/>
          <p:cNvSpPr/>
          <p:nvPr/>
        </p:nvSpPr>
        <p:spPr>
          <a:xfrm>
            <a:off x="514350" y="4784378"/>
            <a:ext cx="3038475" cy="7590"/>
          </a:xfrm>
          <a:prstGeom prst="rect">
            <a:avLst/>
          </a:prstGeom>
          <a:gradFill rotWithShape="1">
            <a:gsLst>
              <a:gs pos="0">
                <a:srgbClr val="76B900"/>
              </a:gs>
              <a:gs pos="100000">
                <a:srgbClr val="000000">
                  <a:alpha val="0"/>
                </a:srgbClr>
              </a:gs>
            </a:gsLst>
            <a:lin ang="0" scaled="1"/>
          </a:gradFill>
          <a:ln/>
        </p:spPr>
        <p:txBody>
          <a:bodyPr wrap="none" rtlCol="0" anchor="t"/>
          <a:lstStyle/>
          <a:p>
            <a:pPr marL="0" indent="0">
              <a:buNone/>
            </a:pPr>
            <a:endParaRPr lang="en-US" dirty="0"/>
          </a:p>
        </p:txBody>
      </p:sp>
      <p:sp>
        <p:nvSpPr>
          <p:cNvPr id="33" name="Text 27"/>
          <p:cNvSpPr/>
          <p:nvPr/>
        </p:nvSpPr>
        <p:spPr>
          <a:xfrm>
            <a:off x="3667125" y="4718745"/>
            <a:ext cx="1990561" cy="139005"/>
          </a:xfrm>
          <a:prstGeom prst="rect">
            <a:avLst/>
          </a:prstGeom>
          <a:noFill/>
          <a:ln/>
        </p:spPr>
        <p:txBody>
          <a:bodyPr wrap="none" lIns="0" tIns="0" rIns="0" bIns="0" rtlCol="0" anchor="ctr"/>
          <a:lstStyle/>
          <a:p>
            <a:pPr marL="0" indent="0" algn="l">
              <a:lnSpc>
                <a:spcPts val="1095"/>
              </a:lnSpc>
              <a:buNone/>
            </a:pPr>
            <a:r>
              <a:rPr lang="en-US" sz="730" dirty="0">
                <a:solidFill>
                  <a:srgbClr val="8B9CB6"/>
                </a:solidFill>
                <a:latin typeface="Consolas" pitchFamily="34" charset="0"/>
                <a:ea typeface="Consolas" pitchFamily="34" charset="-122"/>
                <a:cs typeface="Consolas" pitchFamily="34" charset="-120"/>
              </a:rPr>
              <a:t>AN AGENT THAT GROWS WITH YOU</a:t>
            </a:r>
            <a:endParaRPr lang="en-US" sz="730" dirty="0"/>
          </a:p>
        </p:txBody>
      </p:sp>
      <p:sp>
        <p:nvSpPr>
          <p:cNvPr id="34" name="Text 28"/>
          <p:cNvSpPr/>
          <p:nvPr/>
        </p:nvSpPr>
        <p:spPr>
          <a:xfrm>
            <a:off x="5591026" y="4784378"/>
            <a:ext cx="3038624" cy="7590"/>
          </a:xfrm>
          <a:prstGeom prst="rect">
            <a:avLst/>
          </a:prstGeom>
          <a:gradFill rotWithShape="1">
            <a:gsLst>
              <a:gs pos="0">
                <a:srgbClr val="76B900"/>
              </a:gs>
              <a:gs pos="100000">
                <a:srgbClr val="000000">
                  <a:alpha val="0"/>
                </a:srgbClr>
              </a:gs>
            </a:gsLst>
            <a:lin ang="10800000" scaled="1"/>
          </a:gradFill>
          <a:ln/>
        </p:spPr>
        <p:txBody>
          <a:bodyPr wrap="none" rtlCol="0" anchor="t"/>
          <a:lstStyle/>
          <a:p>
            <a:pPr marL="0" indent="0">
              <a:buNone/>
            </a:pP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107938" y="93529"/>
            <a:ext cx="8927973" cy="309265"/>
          </a:xfrm>
          <a:prstGeom prst="rect">
            <a:avLst/>
          </a:prstGeom>
          <a:noFill/>
          <a:ln/>
        </p:spPr>
        <p:txBody>
          <a:bodyPr wrap="none" lIns="0" tIns="0" rIns="0" bIns="0" rtlCol="0" anchor="t"/>
          <a:lstStyle/>
          <a:p>
            <a:pPr marL="0" indent="0" algn="ctr">
              <a:lnSpc>
                <a:spcPts val="2436"/>
              </a:lnSpc>
              <a:spcAft>
                <a:spcPts val="450"/>
              </a:spcAft>
              <a:buNone/>
            </a:pPr>
            <a:r>
              <a:rPr lang="en-US" sz="2030" dirty="0">
                <a:solidFill>
                  <a:srgbClr val="E2E8F0"/>
                </a:solidFill>
                <a:latin typeface="Consolas" pitchFamily="34" charset="0"/>
                <a:ea typeface="Consolas" pitchFamily="34" charset="-122"/>
                <a:cs typeface="Consolas" pitchFamily="34" charset="-120"/>
              </a:rPr>
              <a:t> </a:t>
            </a:r>
            <a:br>
              <a:rPr dirty="0"/>
            </a:br>
            <a:r>
              <a:rPr lang="en-US" sz="2030" dirty="0">
                <a:solidFill>
                  <a:srgbClr val="E2E8F0"/>
                </a:solidFill>
                <a:latin typeface="Consolas" pitchFamily="34" charset="0"/>
                <a:ea typeface="Consolas" pitchFamily="34" charset="-122"/>
                <a:cs typeface="Consolas" pitchFamily="34" charset="-120"/>
              </a:rPr>
              <a:t>  </a:t>
            </a:r>
            <a:r>
              <a:rPr lang="en-US" sz="2030">
                <a:solidFill>
                  <a:srgbClr val="E2E8F0"/>
                </a:solidFill>
                <a:latin typeface="Consolas" pitchFamily="34" charset="0"/>
                <a:ea typeface="Consolas" pitchFamily="34" charset="-122"/>
                <a:cs typeface="Consolas" pitchFamily="34" charset="-120"/>
              </a:rPr>
              <a:t>The Agent Stack:</a:t>
            </a:r>
            <a:r>
              <a:rPr lang="en-US" sz="2030" dirty="0">
                <a:solidFill>
                  <a:srgbClr val="E2E8F0"/>
                </a:solidFill>
                <a:latin typeface="Consolas" pitchFamily="34" charset="0"/>
                <a:ea typeface="Consolas" pitchFamily="34" charset="-122"/>
                <a:cs typeface="Consolas" pitchFamily="34" charset="-120"/>
              </a:rPr>
              <a:t> </a:t>
            </a:r>
            <a:r>
              <a:rPr lang="en-US" sz="2030" b="1" dirty="0">
                <a:solidFill>
                  <a:srgbClr val="76B900"/>
                </a:solidFill>
                <a:latin typeface="Consolas" pitchFamily="34" charset="0"/>
                <a:ea typeface="Consolas" pitchFamily="34" charset="-122"/>
                <a:cs typeface="Consolas" pitchFamily="34" charset="-120"/>
              </a:rPr>
              <a:t>OpenClaw</a:t>
            </a:r>
            <a:r>
              <a:rPr lang="en-US" sz="2030" dirty="0">
                <a:solidFill>
                  <a:srgbClr val="E2E8F0"/>
                </a:solidFill>
                <a:latin typeface="Consolas" pitchFamily="34" charset="0"/>
                <a:ea typeface="Consolas" pitchFamily="34" charset="-122"/>
                <a:cs typeface="Consolas" pitchFamily="34" charset="-120"/>
              </a:rPr>
              <a:t> + </a:t>
            </a:r>
            <a:r>
              <a:rPr lang="en-US" sz="2030" b="1" dirty="0">
                <a:solidFill>
                  <a:srgbClr val="60A5FA"/>
                </a:solidFill>
                <a:latin typeface="Consolas" pitchFamily="34" charset="0"/>
                <a:ea typeface="Consolas" pitchFamily="34" charset="-122"/>
                <a:cs typeface="Consolas" pitchFamily="34" charset="-120"/>
              </a:rPr>
              <a:t>Hermes</a:t>
            </a:r>
            <a:r>
              <a:rPr lang="en-US" sz="2030">
                <a:solidFill>
                  <a:srgbClr val="E2E8F0"/>
                </a:solidFill>
                <a:latin typeface="Consolas" pitchFamily="34" charset="0"/>
                <a:ea typeface="Consolas" pitchFamily="34" charset="-122"/>
                <a:cs typeface="Consolas" pitchFamily="34" charset="-120"/>
              </a:rPr>
              <a:t> + </a:t>
            </a:r>
            <a:r>
              <a:rPr lang="en-US" sz="2030" b="1">
                <a:solidFill>
                  <a:srgbClr val="C084FC"/>
                </a:solidFill>
                <a:latin typeface="Consolas" pitchFamily="34" charset="0"/>
                <a:ea typeface="Consolas" pitchFamily="34" charset="-122"/>
                <a:cs typeface="Consolas" pitchFamily="34" charset="-120"/>
              </a:rPr>
              <a:t>Mercury</a:t>
            </a:r>
            <a:br>
              <a:rPr dirty="0"/>
            </a:br>
            <a:r>
              <a:rPr lang="en-US" sz="2030" dirty="0">
                <a:solidFill>
                  <a:srgbClr val="E2E8F0"/>
                </a:solidFill>
                <a:latin typeface="Consolas" pitchFamily="34" charset="0"/>
                <a:ea typeface="Consolas" pitchFamily="34" charset="-122"/>
                <a:cs typeface="Consolas" pitchFamily="34" charset="-120"/>
              </a:rPr>
              <a:t>    </a:t>
            </a:r>
            <a:endParaRPr lang="en-US" sz="2030" dirty="0"/>
          </a:p>
        </p:txBody>
      </p:sp>
      <p:sp>
        <p:nvSpPr>
          <p:cNvPr id="3" name="Text 1"/>
          <p:cNvSpPr/>
          <p:nvPr/>
        </p:nvSpPr>
        <p:spPr>
          <a:xfrm>
            <a:off x="0" y="709315"/>
            <a:ext cx="9144000" cy="182196"/>
          </a:xfrm>
          <a:prstGeom prst="rect">
            <a:avLst/>
          </a:prstGeom>
          <a:noFill/>
          <a:ln/>
        </p:spPr>
        <p:txBody>
          <a:bodyPr wrap="none" lIns="0" tIns="0" rIns="0" bIns="0" rtlCol="0" anchor="t"/>
          <a:lstStyle/>
          <a:p>
            <a:pPr marL="0" indent="0" algn="ctr">
              <a:lnSpc>
                <a:spcPts val="1350"/>
              </a:lnSpc>
              <a:spcAft>
                <a:spcPts val="1800"/>
              </a:spcAft>
              <a:buNone/>
            </a:pPr>
            <a:r>
              <a:rPr lang="en-US" sz="900" kern="0" spc="30">
                <a:solidFill>
                  <a:srgbClr val="8B9CB6"/>
                </a:solidFill>
                <a:latin typeface="Calibri" pitchFamily="34" charset="0"/>
                <a:ea typeface="Calibri" pitchFamily="34" charset="-122"/>
                <a:cs typeface="Calibri" pitchFamily="34" charset="-120"/>
              </a:rPr>
              <a:t>Three </a:t>
            </a:r>
            <a:r>
              <a:rPr lang="en-US" sz="900" kern="0" spc="30" dirty="0">
                <a:solidFill>
                  <a:srgbClr val="8B9CB6"/>
                </a:solidFill>
                <a:latin typeface="Calibri" pitchFamily="34" charset="0"/>
                <a:ea typeface="Calibri" pitchFamily="34" charset="-122"/>
                <a:cs typeface="Calibri" pitchFamily="34" charset="-120"/>
              </a:rPr>
              <a:t>frameworks, one powerful </a:t>
            </a:r>
            <a:r>
              <a:rPr lang="en-US" sz="900" kern="0" spc="30">
                <a:solidFill>
                  <a:srgbClr val="8B9CB6"/>
                </a:solidFill>
                <a:latin typeface="Calibri" pitchFamily="34" charset="0"/>
                <a:ea typeface="Calibri" pitchFamily="34" charset="-122"/>
                <a:cs typeface="Calibri" pitchFamily="34" charset="-120"/>
              </a:rPr>
              <a:t>agent ecosystem</a:t>
            </a:r>
            <a:endParaRPr lang="en-US" sz="900" dirty="0"/>
          </a:p>
        </p:txBody>
      </p:sp>
      <p:sp>
        <p:nvSpPr>
          <p:cNvPr id="4" name="Text 2"/>
          <p:cNvSpPr/>
          <p:nvPr/>
        </p:nvSpPr>
        <p:spPr>
          <a:xfrm>
            <a:off x="400050" y="1109365"/>
            <a:ext cx="2590000" cy="3034754"/>
          </a:xfrm>
          <a:prstGeom prst="roundRect">
            <a:avLst>
              <a:gd name="adj" fmla="val 3766"/>
            </a:avLst>
          </a:prstGeom>
          <a:solidFill>
            <a:srgbClr val="1A2332"/>
          </a:solidFill>
          <a:ln w="9525">
            <a:solidFill>
              <a:srgbClr val="76B900">
                <a:alpha val="25000"/>
              </a:srgbClr>
            </a:solidFill>
          </a:ln>
        </p:spPr>
        <p:txBody>
          <a:bodyPr wrap="square" rtlCol="0" anchor="t"/>
          <a:lstStyle/>
          <a:p>
            <a:pPr marL="0" indent="0">
              <a:buNone/>
            </a:pPr>
            <a:endParaRPr lang="en-US" dirty="0"/>
          </a:p>
        </p:txBody>
      </p:sp>
      <p:sp>
        <p:nvSpPr>
          <p:cNvPr id="5" name="Text 3"/>
          <p:cNvSpPr/>
          <p:nvPr/>
        </p:nvSpPr>
        <p:spPr>
          <a:xfrm>
            <a:off x="638175" y="1376660"/>
            <a:ext cx="765512" cy="139005"/>
          </a:xfrm>
          <a:prstGeom prst="rect">
            <a:avLst/>
          </a:prstGeom>
          <a:noFill/>
          <a:ln/>
        </p:spPr>
        <p:txBody>
          <a:bodyPr wrap="none" lIns="0" tIns="0" rIns="0" bIns="0" rtlCol="0" anchor="t"/>
          <a:lstStyle/>
          <a:p>
            <a:pPr marL="0" indent="0" algn="l">
              <a:lnSpc>
                <a:spcPts val="1095"/>
              </a:lnSpc>
              <a:buNone/>
            </a:pPr>
            <a:r>
              <a:rPr lang="en-US" sz="730" kern="0" spc="170" dirty="0">
                <a:solidFill>
                  <a:srgbClr val="76B900"/>
                </a:solidFill>
                <a:latin typeface="Consolas" pitchFamily="34" charset="0"/>
                <a:ea typeface="Consolas" pitchFamily="34" charset="-122"/>
                <a:cs typeface="Consolas" pitchFamily="34" charset="-120"/>
              </a:rPr>
              <a:t>FRAMEWORK</a:t>
            </a:r>
            <a:endParaRPr lang="en-US" sz="730" dirty="0"/>
          </a:p>
        </p:txBody>
      </p:sp>
      <p:sp>
        <p:nvSpPr>
          <p:cNvPr id="6" name="Text 4"/>
          <p:cNvSpPr/>
          <p:nvPr/>
        </p:nvSpPr>
        <p:spPr>
          <a:xfrm>
            <a:off x="638175" y="1601986"/>
            <a:ext cx="1033189" cy="240655"/>
          </a:xfrm>
          <a:prstGeom prst="rect">
            <a:avLst/>
          </a:prstGeom>
          <a:noFill/>
          <a:ln/>
        </p:spPr>
        <p:txBody>
          <a:bodyPr wrap="none" lIns="0" tIns="0" rIns="0" bIns="0" rtlCol="0" anchor="t"/>
          <a:lstStyle/>
          <a:p>
            <a:pPr marL="0" indent="0" algn="l">
              <a:lnSpc>
                <a:spcPts val="1896"/>
              </a:lnSpc>
              <a:buNone/>
            </a:pPr>
            <a:r>
              <a:rPr lang="en-US" sz="1580" b="1" dirty="0">
                <a:solidFill>
                  <a:srgbClr val="76B900"/>
                </a:solidFill>
                <a:latin typeface="Consolas" pitchFamily="34" charset="0"/>
                <a:ea typeface="Consolas" pitchFamily="34" charset="-122"/>
                <a:cs typeface="Consolas" pitchFamily="34" charset="-120"/>
              </a:rPr>
              <a:t>OpenClaw</a:t>
            </a:r>
            <a:endParaRPr lang="en-US" sz="1580" dirty="0"/>
          </a:p>
        </p:txBody>
      </p:sp>
      <p:sp>
        <p:nvSpPr>
          <p:cNvPr id="7" name="Text 5"/>
          <p:cNvSpPr/>
          <p:nvPr/>
        </p:nvSpPr>
        <p:spPr>
          <a:xfrm>
            <a:off x="638175" y="2014091"/>
            <a:ext cx="257770" cy="257770"/>
          </a:xfrm>
          <a:prstGeom prst="roundRect">
            <a:avLst>
              <a:gd name="adj" fmla="val 27590"/>
            </a:avLst>
          </a:prstGeom>
          <a:solidFill>
            <a:srgbClr val="76B900">
              <a:alpha val="15000"/>
            </a:srgbClr>
          </a:solidFill>
          <a:ln/>
        </p:spPr>
        <p:txBody>
          <a:bodyPr wrap="none" rtlCol="0" anchor="t"/>
          <a:lstStyle/>
          <a:p>
            <a:pPr marL="0" indent="0">
              <a:buNone/>
            </a:pPr>
            <a:endParaRPr lang="en-US" dirty="0"/>
          </a:p>
        </p:txBody>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0692" y="2076608"/>
            <a:ext cx="132588" cy="132588"/>
          </a:xfrm>
          <a:prstGeom prst="rect">
            <a:avLst/>
          </a:prstGeom>
        </p:spPr>
      </p:pic>
      <p:sp>
        <p:nvSpPr>
          <p:cNvPr id="9" name="Text 6"/>
          <p:cNvSpPr/>
          <p:nvPr/>
        </p:nvSpPr>
        <p:spPr>
          <a:xfrm>
            <a:off x="996255" y="2057251"/>
            <a:ext cx="1230124" cy="185886"/>
          </a:xfrm>
          <a:prstGeom prst="rect">
            <a:avLst/>
          </a:prstGeom>
          <a:noFill/>
          <a:ln/>
        </p:spPr>
        <p:txBody>
          <a:bodyPr wrap="none" lIns="0" tIns="0" rIns="0" bIns="0" rtlCol="0" anchor="t"/>
          <a:lstStyle/>
          <a:p>
            <a:pPr marL="0" indent="0" algn="l">
              <a:lnSpc>
                <a:spcPts val="1465"/>
              </a:lnSpc>
              <a:buNone/>
            </a:pPr>
            <a:r>
              <a:rPr lang="en-US" sz="1010" dirty="0">
                <a:solidFill>
                  <a:srgbClr val="E2E8F0"/>
                </a:solidFill>
                <a:latin typeface="Calibri" pitchFamily="34" charset="0"/>
                <a:ea typeface="Calibri" pitchFamily="34" charset="-122"/>
                <a:cs typeface="Calibri" pitchFamily="34" charset="-120"/>
              </a:rPr>
              <a:t>Tools &amp; integrations</a:t>
            </a:r>
            <a:endParaRPr lang="en-US" sz="1010" dirty="0"/>
          </a:p>
        </p:txBody>
      </p:sp>
      <p:sp>
        <p:nvSpPr>
          <p:cNvPr id="10" name="Text 7"/>
          <p:cNvSpPr/>
          <p:nvPr/>
        </p:nvSpPr>
        <p:spPr>
          <a:xfrm>
            <a:off x="638175" y="2400002"/>
            <a:ext cx="257770" cy="257770"/>
          </a:xfrm>
          <a:prstGeom prst="roundRect">
            <a:avLst>
              <a:gd name="adj" fmla="val 27590"/>
            </a:avLst>
          </a:prstGeom>
          <a:solidFill>
            <a:srgbClr val="76B900">
              <a:alpha val="15000"/>
            </a:srgbClr>
          </a:solidFill>
          <a:ln/>
        </p:spPr>
        <p:txBody>
          <a:bodyPr wrap="none" rtlCol="0" anchor="t"/>
          <a:lstStyle/>
          <a:p>
            <a:pPr marL="0" indent="0">
              <a:buNone/>
            </a:pPr>
            <a:endParaRPr lang="en-US" dirty="0"/>
          </a:p>
        </p:txBody>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0692" y="2462519"/>
            <a:ext cx="132588" cy="132588"/>
          </a:xfrm>
          <a:prstGeom prst="rect">
            <a:avLst/>
          </a:prstGeom>
        </p:spPr>
      </p:pic>
      <p:sp>
        <p:nvSpPr>
          <p:cNvPr id="12" name="Text 8"/>
          <p:cNvSpPr/>
          <p:nvPr/>
        </p:nvSpPr>
        <p:spPr>
          <a:xfrm>
            <a:off x="996255" y="2443163"/>
            <a:ext cx="1668869" cy="185886"/>
          </a:xfrm>
          <a:prstGeom prst="rect">
            <a:avLst/>
          </a:prstGeom>
          <a:noFill/>
          <a:ln/>
        </p:spPr>
        <p:txBody>
          <a:bodyPr wrap="none" lIns="0" tIns="0" rIns="0" bIns="0" rtlCol="0" anchor="t"/>
          <a:lstStyle/>
          <a:p>
            <a:pPr marL="0" indent="0" algn="l">
              <a:lnSpc>
                <a:spcPts val="1465"/>
              </a:lnSpc>
              <a:buNone/>
            </a:pPr>
            <a:r>
              <a:rPr lang="en-US" sz="1010" dirty="0">
                <a:solidFill>
                  <a:srgbClr val="E2E8F0"/>
                </a:solidFill>
                <a:latin typeface="Calibri" pitchFamily="34" charset="0"/>
                <a:ea typeface="Calibri" pitchFamily="34" charset="-122"/>
                <a:cs typeface="Calibri" pitchFamily="34" charset="-120"/>
              </a:rPr>
              <a:t>Messaging &amp; orchestration</a:t>
            </a:r>
            <a:endParaRPr lang="en-US" sz="1010" dirty="0"/>
          </a:p>
        </p:txBody>
      </p:sp>
      <p:sp>
        <p:nvSpPr>
          <p:cNvPr id="13" name="Text 9"/>
          <p:cNvSpPr/>
          <p:nvPr/>
        </p:nvSpPr>
        <p:spPr>
          <a:xfrm>
            <a:off x="638175" y="2785914"/>
            <a:ext cx="257770" cy="257770"/>
          </a:xfrm>
          <a:prstGeom prst="roundRect">
            <a:avLst>
              <a:gd name="adj" fmla="val 27590"/>
            </a:avLst>
          </a:prstGeom>
          <a:solidFill>
            <a:srgbClr val="76B900">
              <a:alpha val="15000"/>
            </a:srgbClr>
          </a:solidFill>
          <a:ln/>
        </p:spPr>
        <p:txBody>
          <a:bodyPr wrap="none" rtlCol="0" anchor="t"/>
          <a:lstStyle/>
          <a:p>
            <a:pPr marL="0" indent="0">
              <a:buNone/>
            </a:pPr>
            <a:endParaRPr lang="en-US" dirty="0"/>
          </a:p>
        </p:txBody>
      </p:sp>
      <p:pic>
        <p:nvPicPr>
          <p:cNvPr id="1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0692" y="2848430"/>
            <a:ext cx="132588" cy="132588"/>
          </a:xfrm>
          <a:prstGeom prst="rect">
            <a:avLst/>
          </a:prstGeom>
        </p:spPr>
      </p:pic>
      <p:sp>
        <p:nvSpPr>
          <p:cNvPr id="15" name="Text 10"/>
          <p:cNvSpPr/>
          <p:nvPr/>
        </p:nvSpPr>
        <p:spPr>
          <a:xfrm>
            <a:off x="996255" y="2829074"/>
            <a:ext cx="1379101" cy="185886"/>
          </a:xfrm>
          <a:prstGeom prst="rect">
            <a:avLst/>
          </a:prstGeom>
          <a:noFill/>
          <a:ln/>
        </p:spPr>
        <p:txBody>
          <a:bodyPr wrap="none" lIns="0" tIns="0" rIns="0" bIns="0" rtlCol="0" anchor="t"/>
          <a:lstStyle/>
          <a:p>
            <a:pPr marL="0" indent="0" algn="l">
              <a:lnSpc>
                <a:spcPts val="1465"/>
              </a:lnSpc>
              <a:buNone/>
            </a:pPr>
            <a:r>
              <a:rPr lang="en-US" sz="1010" dirty="0">
                <a:solidFill>
                  <a:srgbClr val="E2E8F0"/>
                </a:solidFill>
                <a:latin typeface="Calibri" pitchFamily="34" charset="0"/>
                <a:ea typeface="Calibri" pitchFamily="34" charset="-122"/>
                <a:cs typeface="Calibri" pitchFamily="34" charset="-120"/>
              </a:rPr>
              <a:t>Action execution layer</a:t>
            </a:r>
            <a:endParaRPr lang="en-US" sz="1010" dirty="0"/>
          </a:p>
        </p:txBody>
      </p:sp>
      <p:sp>
        <p:nvSpPr>
          <p:cNvPr id="20" name="Text 12"/>
          <p:cNvSpPr/>
          <p:nvPr/>
        </p:nvSpPr>
        <p:spPr>
          <a:xfrm>
            <a:off x="3277000" y="1109365"/>
            <a:ext cx="2590000" cy="3034754"/>
          </a:xfrm>
          <a:prstGeom prst="roundRect">
            <a:avLst>
              <a:gd name="adj" fmla="val 3766"/>
            </a:avLst>
          </a:prstGeom>
          <a:solidFill>
            <a:srgbClr val="1A2332"/>
          </a:solidFill>
          <a:ln w="9525">
            <a:solidFill>
              <a:srgbClr val="60A5FA">
                <a:alpha val="25000"/>
              </a:srgbClr>
            </a:solidFill>
          </a:ln>
        </p:spPr>
        <p:txBody>
          <a:bodyPr wrap="square" rtlCol="0" anchor="t"/>
          <a:lstStyle/>
          <a:p>
            <a:pPr marL="0" indent="0">
              <a:buNone/>
            </a:pPr>
            <a:endParaRPr lang="en-US" dirty="0"/>
          </a:p>
        </p:txBody>
      </p:sp>
      <p:sp>
        <p:nvSpPr>
          <p:cNvPr id="21" name="Text 13"/>
          <p:cNvSpPr/>
          <p:nvPr/>
        </p:nvSpPr>
        <p:spPr>
          <a:xfrm>
            <a:off x="3515125" y="1376660"/>
            <a:ext cx="1020738" cy="139005"/>
          </a:xfrm>
          <a:prstGeom prst="rect">
            <a:avLst/>
          </a:prstGeom>
          <a:noFill/>
          <a:ln/>
        </p:spPr>
        <p:txBody>
          <a:bodyPr wrap="none" lIns="0" tIns="0" rIns="0" bIns="0" rtlCol="0" anchor="t"/>
          <a:lstStyle/>
          <a:p>
            <a:pPr marL="0" indent="0" algn="l">
              <a:lnSpc>
                <a:spcPts val="1095"/>
              </a:lnSpc>
              <a:buNone/>
            </a:pPr>
            <a:r>
              <a:rPr lang="en-US" sz="730" kern="0" spc="170" dirty="0">
                <a:solidFill>
                  <a:srgbClr val="60A5FA"/>
                </a:solidFill>
                <a:latin typeface="Consolas" pitchFamily="34" charset="0"/>
                <a:ea typeface="Consolas" pitchFamily="34" charset="-122"/>
                <a:cs typeface="Consolas" pitchFamily="34" charset="-120"/>
              </a:rPr>
              <a:t>INTELLIGENCE</a:t>
            </a:r>
            <a:endParaRPr lang="en-US" sz="730" dirty="0"/>
          </a:p>
        </p:txBody>
      </p:sp>
      <p:sp>
        <p:nvSpPr>
          <p:cNvPr id="22" name="Text 14"/>
          <p:cNvSpPr/>
          <p:nvPr/>
        </p:nvSpPr>
        <p:spPr>
          <a:xfrm>
            <a:off x="3515125" y="1601986"/>
            <a:ext cx="1549783" cy="240655"/>
          </a:xfrm>
          <a:prstGeom prst="rect">
            <a:avLst/>
          </a:prstGeom>
          <a:noFill/>
          <a:ln/>
        </p:spPr>
        <p:txBody>
          <a:bodyPr wrap="none" lIns="0" tIns="0" rIns="0" bIns="0" rtlCol="0" anchor="t"/>
          <a:lstStyle/>
          <a:p>
            <a:pPr marL="0" indent="0" algn="l">
              <a:lnSpc>
                <a:spcPts val="1896"/>
              </a:lnSpc>
              <a:buNone/>
            </a:pPr>
            <a:r>
              <a:rPr lang="en-US" sz="1580" b="1" dirty="0">
                <a:solidFill>
                  <a:srgbClr val="60A5FA"/>
                </a:solidFill>
                <a:latin typeface="Consolas" pitchFamily="34" charset="0"/>
                <a:ea typeface="Consolas" pitchFamily="34" charset="-122"/>
                <a:cs typeface="Consolas" pitchFamily="34" charset="-120"/>
              </a:rPr>
              <a:t>Hermes Agent</a:t>
            </a:r>
            <a:endParaRPr lang="en-US" sz="1580" dirty="0"/>
          </a:p>
        </p:txBody>
      </p:sp>
      <p:sp>
        <p:nvSpPr>
          <p:cNvPr id="23" name="Text 15"/>
          <p:cNvSpPr/>
          <p:nvPr/>
        </p:nvSpPr>
        <p:spPr>
          <a:xfrm>
            <a:off x="3515125" y="2014091"/>
            <a:ext cx="257770" cy="257770"/>
          </a:xfrm>
          <a:prstGeom prst="roundRect">
            <a:avLst>
              <a:gd name="adj" fmla="val 27590"/>
            </a:avLst>
          </a:prstGeom>
          <a:solidFill>
            <a:srgbClr val="60A5FA">
              <a:alpha val="15000"/>
            </a:srgbClr>
          </a:solidFill>
          <a:ln/>
        </p:spPr>
        <p:txBody>
          <a:bodyPr wrap="none" rtlCol="0" anchor="t"/>
          <a:lstStyle/>
          <a:p>
            <a:pPr marL="0" indent="0">
              <a:buNone/>
            </a:pPr>
            <a:endParaRPr lang="en-US" dirty="0"/>
          </a:p>
        </p:txBody>
      </p:sp>
      <p:pic>
        <p:nvPicPr>
          <p:cNvPr id="24" name="Image 6"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77642" y="2076608"/>
            <a:ext cx="132588" cy="132588"/>
          </a:xfrm>
          <a:prstGeom prst="rect">
            <a:avLst/>
          </a:prstGeom>
        </p:spPr>
      </p:pic>
      <p:sp>
        <p:nvSpPr>
          <p:cNvPr id="25" name="Text 16"/>
          <p:cNvSpPr/>
          <p:nvPr/>
        </p:nvSpPr>
        <p:spPr>
          <a:xfrm>
            <a:off x="3873205" y="2057251"/>
            <a:ext cx="1182975" cy="185886"/>
          </a:xfrm>
          <a:prstGeom prst="rect">
            <a:avLst/>
          </a:prstGeom>
          <a:noFill/>
          <a:ln/>
        </p:spPr>
        <p:txBody>
          <a:bodyPr wrap="none" lIns="0" tIns="0" rIns="0" bIns="0" rtlCol="0" anchor="t"/>
          <a:lstStyle/>
          <a:p>
            <a:pPr marL="0" indent="0" algn="l">
              <a:lnSpc>
                <a:spcPts val="1465"/>
              </a:lnSpc>
              <a:buNone/>
            </a:pPr>
            <a:r>
              <a:rPr lang="en-US" sz="1010" dirty="0">
                <a:solidFill>
                  <a:srgbClr val="E2E8F0"/>
                </a:solidFill>
                <a:latin typeface="Calibri" pitchFamily="34" charset="0"/>
                <a:ea typeface="Calibri" pitchFamily="34" charset="-122"/>
                <a:cs typeface="Calibri" pitchFamily="34" charset="-120"/>
              </a:rPr>
              <a:t>Memory &amp; learning</a:t>
            </a:r>
            <a:endParaRPr lang="en-US" sz="1010" dirty="0"/>
          </a:p>
        </p:txBody>
      </p:sp>
      <p:sp>
        <p:nvSpPr>
          <p:cNvPr id="26" name="Text 17"/>
          <p:cNvSpPr/>
          <p:nvPr/>
        </p:nvSpPr>
        <p:spPr>
          <a:xfrm>
            <a:off x="3515125" y="2400002"/>
            <a:ext cx="257770" cy="257770"/>
          </a:xfrm>
          <a:prstGeom prst="roundRect">
            <a:avLst>
              <a:gd name="adj" fmla="val 27590"/>
            </a:avLst>
          </a:prstGeom>
          <a:solidFill>
            <a:srgbClr val="60A5FA">
              <a:alpha val="15000"/>
            </a:srgbClr>
          </a:solidFill>
          <a:ln/>
        </p:spPr>
        <p:txBody>
          <a:bodyPr wrap="none" rtlCol="0" anchor="t"/>
          <a:lstStyle/>
          <a:p>
            <a:pPr marL="0" indent="0">
              <a:buNone/>
            </a:pPr>
            <a:endParaRPr lang="en-US" dirty="0"/>
          </a:p>
        </p:txBody>
      </p:sp>
      <p:pic>
        <p:nvPicPr>
          <p:cNvPr id="27" name="Image 7"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577642" y="2462519"/>
            <a:ext cx="132588" cy="132588"/>
          </a:xfrm>
          <a:prstGeom prst="rect">
            <a:avLst/>
          </a:prstGeom>
        </p:spPr>
      </p:pic>
      <p:sp>
        <p:nvSpPr>
          <p:cNvPr id="28" name="Text 18"/>
          <p:cNvSpPr/>
          <p:nvPr/>
        </p:nvSpPr>
        <p:spPr>
          <a:xfrm>
            <a:off x="3873205" y="2443163"/>
            <a:ext cx="1104558" cy="185886"/>
          </a:xfrm>
          <a:prstGeom prst="rect">
            <a:avLst/>
          </a:prstGeom>
          <a:noFill/>
          <a:ln/>
        </p:spPr>
        <p:txBody>
          <a:bodyPr wrap="none" lIns="0" tIns="0" rIns="0" bIns="0" rtlCol="0" anchor="t"/>
          <a:lstStyle/>
          <a:p>
            <a:pPr marL="0" indent="0" algn="l">
              <a:lnSpc>
                <a:spcPts val="1465"/>
              </a:lnSpc>
              <a:buNone/>
            </a:pPr>
            <a:r>
              <a:rPr lang="en-US" sz="1010" dirty="0">
                <a:solidFill>
                  <a:srgbClr val="E2E8F0"/>
                </a:solidFill>
                <a:latin typeface="Calibri" pitchFamily="34" charset="0"/>
                <a:ea typeface="Calibri" pitchFamily="34" charset="-122"/>
                <a:cs typeface="Calibri" pitchFamily="34" charset="-120"/>
              </a:rPr>
              <a:t>Self-improvement</a:t>
            </a:r>
            <a:endParaRPr lang="en-US" sz="1010" dirty="0"/>
          </a:p>
        </p:txBody>
      </p:sp>
      <p:sp>
        <p:nvSpPr>
          <p:cNvPr id="29" name="Text 19"/>
          <p:cNvSpPr/>
          <p:nvPr/>
        </p:nvSpPr>
        <p:spPr>
          <a:xfrm>
            <a:off x="3515125" y="2785914"/>
            <a:ext cx="257770" cy="257770"/>
          </a:xfrm>
          <a:prstGeom prst="roundRect">
            <a:avLst>
              <a:gd name="adj" fmla="val 27590"/>
            </a:avLst>
          </a:prstGeom>
          <a:solidFill>
            <a:srgbClr val="60A5FA">
              <a:alpha val="15000"/>
            </a:srgbClr>
          </a:solidFill>
          <a:ln/>
        </p:spPr>
        <p:txBody>
          <a:bodyPr wrap="none" rtlCol="0" anchor="t"/>
          <a:lstStyle/>
          <a:p>
            <a:pPr marL="0" indent="0">
              <a:buNone/>
            </a:pPr>
            <a:endParaRPr lang="en-US" dirty="0"/>
          </a:p>
        </p:txBody>
      </p:sp>
      <p:pic>
        <p:nvPicPr>
          <p:cNvPr id="30" name="Image 8"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577642" y="2848430"/>
            <a:ext cx="132588" cy="132588"/>
          </a:xfrm>
          <a:prstGeom prst="rect">
            <a:avLst/>
          </a:prstGeom>
        </p:spPr>
      </p:pic>
      <p:sp>
        <p:nvSpPr>
          <p:cNvPr id="31" name="Text 20"/>
          <p:cNvSpPr/>
          <p:nvPr/>
        </p:nvSpPr>
        <p:spPr>
          <a:xfrm>
            <a:off x="3873205" y="2829074"/>
            <a:ext cx="799073" cy="185886"/>
          </a:xfrm>
          <a:prstGeom prst="rect">
            <a:avLst/>
          </a:prstGeom>
          <a:noFill/>
          <a:ln/>
        </p:spPr>
        <p:txBody>
          <a:bodyPr wrap="none" lIns="0" tIns="0" rIns="0" bIns="0" rtlCol="0" anchor="t"/>
          <a:lstStyle/>
          <a:p>
            <a:pPr marL="0" indent="0" algn="l">
              <a:lnSpc>
                <a:spcPts val="1465"/>
              </a:lnSpc>
              <a:buNone/>
            </a:pPr>
            <a:r>
              <a:rPr lang="en-US" sz="1010" dirty="0">
                <a:solidFill>
                  <a:srgbClr val="E2E8F0"/>
                </a:solidFill>
                <a:latin typeface="Calibri" pitchFamily="34" charset="0"/>
                <a:ea typeface="Calibri" pitchFamily="34" charset="-122"/>
                <a:cs typeface="Calibri" pitchFamily="34" charset="-120"/>
              </a:rPr>
              <a:t>Skill creation</a:t>
            </a:r>
            <a:endParaRPr lang="en-US" sz="1010" dirty="0"/>
          </a:p>
        </p:txBody>
      </p:sp>
      <p:sp>
        <p:nvSpPr>
          <p:cNvPr id="32" name="Text 21"/>
          <p:cNvSpPr/>
          <p:nvPr/>
        </p:nvSpPr>
        <p:spPr>
          <a:xfrm>
            <a:off x="400050" y="4315569"/>
            <a:ext cx="8343900" cy="542181"/>
          </a:xfrm>
          <a:prstGeom prst="roundRect">
            <a:avLst>
              <a:gd name="adj" fmla="val 18505"/>
            </a:avLst>
          </a:prstGeom>
          <a:gradFill rotWithShape="1">
            <a:gsLst>
              <a:gs pos="0">
                <a:srgbClr val="76B900">
                  <a:alpha val="12000"/>
                </a:srgbClr>
              </a:gs>
              <a:gs pos="100000">
                <a:srgbClr val="76B900">
                  <a:alpha val="5000"/>
                </a:srgbClr>
              </a:gs>
            </a:gsLst>
            <a:lin ang="2700000" scaled="1"/>
          </a:gradFill>
          <a:ln w="9525">
            <a:solidFill>
              <a:srgbClr val="76B900">
                <a:alpha val="30000"/>
              </a:srgbClr>
            </a:solidFill>
          </a:ln>
        </p:spPr>
        <p:txBody>
          <a:bodyPr wrap="square" rtlCol="0" anchor="t"/>
          <a:lstStyle/>
          <a:p>
            <a:pPr marL="0" indent="0">
              <a:buNone/>
            </a:pPr>
            <a:endParaRPr lang="en-US" dirty="0"/>
          </a:p>
        </p:txBody>
      </p:sp>
      <p:pic>
        <p:nvPicPr>
          <p:cNvPr id="33" name="Image 9"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090440" y="4511427"/>
            <a:ext cx="150465" cy="150465"/>
          </a:xfrm>
          <a:prstGeom prst="rect">
            <a:avLst/>
          </a:prstGeom>
        </p:spPr>
      </p:pic>
      <p:sp>
        <p:nvSpPr>
          <p:cNvPr id="34" name="Text 22"/>
          <p:cNvSpPr/>
          <p:nvPr/>
        </p:nvSpPr>
        <p:spPr>
          <a:xfrm>
            <a:off x="2133533" y="4468564"/>
            <a:ext cx="4876785" cy="236190"/>
          </a:xfrm>
          <a:prstGeom prst="rect">
            <a:avLst/>
          </a:prstGeom>
          <a:noFill/>
          <a:ln/>
        </p:spPr>
        <p:txBody>
          <a:bodyPr wrap="none" lIns="0" tIns="0" rIns="0" bIns="0" rtlCol="0" anchor="ctr"/>
          <a:lstStyle/>
          <a:p>
            <a:pPr marL="0" indent="0" algn="ctr">
              <a:lnSpc>
                <a:spcPts val="1860"/>
              </a:lnSpc>
              <a:buNone/>
            </a:pPr>
            <a:r>
              <a:rPr lang="en-US" sz="1240" b="1" dirty="0">
                <a:solidFill>
                  <a:srgbClr val="76B900"/>
                </a:solidFill>
                <a:latin typeface="Consolas" pitchFamily="34" charset="0"/>
                <a:ea typeface="Consolas" pitchFamily="34" charset="-122"/>
                <a:cs typeface="Consolas" pitchFamily="34" charset="-120"/>
              </a:rPr>
              <a:t>Together = </a:t>
            </a:r>
            <a:r>
              <a:rPr lang="en-US" sz="1240" b="1">
                <a:solidFill>
                  <a:srgbClr val="76B900"/>
                </a:solidFill>
                <a:latin typeface="Consolas" pitchFamily="34" charset="0"/>
                <a:ea typeface="Consolas" pitchFamily="34" charset="-122"/>
                <a:cs typeface="Consolas" pitchFamily="34" charset="-120"/>
              </a:rPr>
              <a:t>Production-ready autonomous</a:t>
            </a:r>
            <a:r>
              <a:rPr lang="en-US" sz="1240" b="1" dirty="0">
                <a:solidFill>
                  <a:srgbClr val="76B900"/>
                </a:solidFill>
                <a:latin typeface="Consolas" pitchFamily="34" charset="0"/>
                <a:ea typeface="Consolas" pitchFamily="34" charset="-122"/>
                <a:cs typeface="Consolas" pitchFamily="34" charset="-120"/>
              </a:rPr>
              <a:t> agents</a:t>
            </a:r>
            <a:endParaRPr lang="en-US" sz="1240" dirty="0"/>
          </a:p>
        </p:txBody>
      </p:sp>
      <p:pic>
        <p:nvPicPr>
          <p:cNvPr id="35" name="Image 10"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02946" y="4511427"/>
            <a:ext cx="150465" cy="150465"/>
          </a:xfrm>
          <a:prstGeom prst="rect">
            <a:avLst/>
          </a:prstGeom>
        </p:spPr>
      </p:pic>
      <p:sp>
        <p:nvSpPr>
          <p:cNvPr id="36" name="Text 23"/>
          <p:cNvSpPr/>
          <p:nvPr/>
        </p:nvSpPr>
        <p:spPr>
          <a:xfrm>
            <a:off x="409575" y="1118890"/>
            <a:ext cx="2570950" cy="21580"/>
          </a:xfrm>
          <a:custGeom>
            <a:avLst/>
            <a:gdLst/>
            <a:ahLst/>
            <a:cxnLst/>
            <a:rect l="l" t="t" r="r" b="b"/>
            <a:pathLst>
              <a:path w="3867150" h="21580">
                <a:moveTo>
                  <a:pt x="114300" y="0"/>
                </a:moveTo>
                <a:lnTo>
                  <a:pt x="3752850" y="0"/>
                </a:lnTo>
                <a:lnTo>
                  <a:pt x="3777535" y="2698"/>
                </a:lnTo>
                <a:lnTo>
                  <a:pt x="3787551" y="5395"/>
                </a:lnTo>
                <a:lnTo>
                  <a:pt x="3795093" y="8093"/>
                </a:lnTo>
                <a:lnTo>
                  <a:pt x="3801329" y="10790"/>
                </a:lnTo>
                <a:lnTo>
                  <a:pt x="3806714" y="13488"/>
                </a:lnTo>
                <a:lnTo>
                  <a:pt x="3811484" y="16185"/>
                </a:lnTo>
                <a:lnTo>
                  <a:pt x="3815778" y="18883"/>
                </a:lnTo>
                <a:lnTo>
                  <a:pt x="3819689"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solidFill>
            <a:srgbClr val="76B900">
              <a:alpha val="60000"/>
            </a:srgbClr>
          </a:solidFill>
          <a:ln/>
        </p:spPr>
        <p:txBody>
          <a:bodyPr wrap="none" rtlCol="0" anchor="t"/>
          <a:lstStyle/>
          <a:p>
            <a:pPr marL="0" indent="0">
              <a:buNone/>
            </a:pPr>
            <a:endParaRPr lang="en-US" dirty="0"/>
          </a:p>
        </p:txBody>
      </p:sp>
      <p:sp>
        <p:nvSpPr>
          <p:cNvPr id="37" name="Text 24"/>
          <p:cNvSpPr/>
          <p:nvPr/>
        </p:nvSpPr>
        <p:spPr>
          <a:xfrm>
            <a:off x="3286525" y="1118890"/>
            <a:ext cx="2570950" cy="21580"/>
          </a:xfrm>
          <a:custGeom>
            <a:avLst/>
            <a:gdLst/>
            <a:ahLst/>
            <a:cxnLst/>
            <a:rect l="l" t="t" r="r" b="b"/>
            <a:pathLst>
              <a:path w="3867150" h="21580">
                <a:moveTo>
                  <a:pt x="114300" y="0"/>
                </a:moveTo>
                <a:lnTo>
                  <a:pt x="3752850" y="0"/>
                </a:lnTo>
                <a:lnTo>
                  <a:pt x="3777535" y="2698"/>
                </a:lnTo>
                <a:lnTo>
                  <a:pt x="3787551" y="5395"/>
                </a:lnTo>
                <a:lnTo>
                  <a:pt x="3795093" y="8093"/>
                </a:lnTo>
                <a:lnTo>
                  <a:pt x="3801329" y="10790"/>
                </a:lnTo>
                <a:lnTo>
                  <a:pt x="3806714" y="13488"/>
                </a:lnTo>
                <a:lnTo>
                  <a:pt x="3811484" y="16185"/>
                </a:lnTo>
                <a:lnTo>
                  <a:pt x="3815778" y="18883"/>
                </a:lnTo>
                <a:lnTo>
                  <a:pt x="3819689"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solidFill>
            <a:srgbClr val="76B900">
              <a:alpha val="60000"/>
            </a:srgbClr>
          </a:solidFill>
          <a:ln/>
        </p:spPr>
        <p:txBody>
          <a:bodyPr wrap="none" rtlCol="0" anchor="t"/>
          <a:lstStyle/>
          <a:p>
            <a:pPr marL="0" indent="0">
              <a:buNone/>
            </a:pPr>
            <a:endParaRPr lang="en-US" dirty="0"/>
          </a:p>
        </p:txBody>
      </p:sp>
      <p:sp>
        <p:nvSpPr>
          <p:cNvPr id="50" name="Panel3_Card"/>
          <p:cNvSpPr/>
          <p:nvPr/>
        </p:nvSpPr>
        <p:spPr>
          <a:xfrm>
            <a:off x="6153950" y="1109365"/>
            <a:ext cx="2590000" cy="3034754"/>
          </a:xfrm>
          <a:prstGeom prst="roundRect">
            <a:avLst>
              <a:gd name="adj" fmla="val 3766"/>
            </a:avLst>
          </a:prstGeom>
          <a:solidFill>
            <a:srgbClr val="1A2332"/>
          </a:solidFill>
          <a:ln w="9525">
            <a:solidFill>
              <a:srgbClr val="C084FC">
                <a:alpha val="25000"/>
              </a:srgbClr>
            </a:solidFill>
          </a:ln>
        </p:spPr>
        <p:txBody>
          <a:bodyPr wrap="square" rtlCol="0" anchor="t"/>
          <a:lstStyle/>
          <a:p>
            <a:pPr marL="0" indent="0">
              <a:buNone/>
            </a:pPr>
            <a:endParaRPr lang="en-US"/>
          </a:p>
        </p:txBody>
      </p:sp>
      <p:sp>
        <p:nvSpPr>
          <p:cNvPr id="51" name="Panel3_Accent"/>
          <p:cNvSpPr/>
          <p:nvPr/>
        </p:nvSpPr>
        <p:spPr>
          <a:xfrm>
            <a:off x="6163475" y="1118890"/>
            <a:ext cx="2570950" cy="21580"/>
          </a:xfrm>
          <a:prstGeom prst="rect">
            <a:avLst/>
          </a:prstGeom>
          <a:solidFill>
            <a:srgbClr val="C084FC">
              <a:alpha val="60000"/>
            </a:srgbClr>
          </a:solidFill>
          <a:ln/>
        </p:spPr>
        <p:txBody>
          <a:bodyPr wrap="none" rtlCol="0" anchor="t"/>
          <a:lstStyle/>
          <a:p>
            <a:pPr marL="0" indent="0">
              <a:buNone/>
            </a:pPr>
            <a:endParaRPr lang="en-US"/>
          </a:p>
        </p:txBody>
      </p:sp>
      <p:sp>
        <p:nvSpPr>
          <p:cNvPr id="52" name="Panel3_Cat"/>
          <p:cNvSpPr/>
          <p:nvPr/>
        </p:nvSpPr>
        <p:spPr>
          <a:xfrm>
            <a:off x="6392075" y="1376660"/>
            <a:ext cx="765512" cy="139005"/>
          </a:xfrm>
          <a:prstGeom prst="rect">
            <a:avLst/>
          </a:prstGeom>
          <a:noFill/>
          <a:ln/>
        </p:spPr>
        <p:txBody>
          <a:bodyPr wrap="none" lIns="0" tIns="0" rIns="0" bIns="0" rtlCol="0" anchor="t"/>
          <a:lstStyle/>
          <a:p>
            <a:pPr marL="0" indent="0" algn="l">
              <a:lnSpc>
                <a:spcPts val="1095"/>
              </a:lnSpc>
              <a:buNone/>
            </a:pPr>
            <a:r>
              <a:rPr lang="en-US" sz="730" kern="0" spc="170">
                <a:solidFill>
                  <a:srgbClr val="C084FC"/>
                </a:solidFill>
                <a:latin typeface="Consolas" pitchFamily="34" charset="0"/>
                <a:ea typeface="Consolas" pitchFamily="34" charset="-122"/>
                <a:cs typeface="Consolas" pitchFamily="34" charset="-120"/>
              </a:rPr>
              <a:t>AGENT</a:t>
            </a:r>
            <a:endParaRPr lang="en-US" sz="730"/>
          </a:p>
        </p:txBody>
      </p:sp>
      <p:sp>
        <p:nvSpPr>
          <p:cNvPr id="53" name="Panel3_Title"/>
          <p:cNvSpPr/>
          <p:nvPr/>
        </p:nvSpPr>
        <p:spPr>
          <a:xfrm>
            <a:off x="6392075" y="1601986"/>
            <a:ext cx="1549783" cy="240655"/>
          </a:xfrm>
          <a:prstGeom prst="rect">
            <a:avLst/>
          </a:prstGeom>
          <a:noFill/>
          <a:ln/>
        </p:spPr>
        <p:txBody>
          <a:bodyPr wrap="none" lIns="0" tIns="0" rIns="0" bIns="0" rtlCol="0" anchor="t"/>
          <a:lstStyle/>
          <a:p>
            <a:pPr marL="0" indent="0" algn="l">
              <a:lnSpc>
                <a:spcPts val="1896"/>
              </a:lnSpc>
              <a:buNone/>
            </a:pPr>
            <a:r>
              <a:rPr lang="en-US" sz="1580" b="1">
                <a:solidFill>
                  <a:srgbClr val="C084FC"/>
                </a:solidFill>
                <a:latin typeface="Consolas" pitchFamily="34" charset="0"/>
                <a:ea typeface="Consolas" pitchFamily="34" charset="-122"/>
                <a:cs typeface="Consolas" pitchFamily="34" charset="-120"/>
              </a:rPr>
              <a:t>Mercury Agent</a:t>
            </a:r>
            <a:endParaRPr lang="en-US" sz="1580"/>
          </a:p>
        </p:txBody>
      </p:sp>
      <p:sp>
        <p:nvSpPr>
          <p:cNvPr id="54" name="Panel3_Badge1"/>
          <p:cNvSpPr/>
          <p:nvPr/>
        </p:nvSpPr>
        <p:spPr>
          <a:xfrm>
            <a:off x="6392075" y="2014091"/>
            <a:ext cx="257770" cy="257770"/>
          </a:xfrm>
          <a:prstGeom prst="roundRect">
            <a:avLst>
              <a:gd name="adj" fmla="val 27590"/>
            </a:avLst>
          </a:prstGeom>
          <a:solidFill>
            <a:srgbClr val="C084FC">
              <a:alpha val="15000"/>
            </a:srgbClr>
          </a:solidFill>
          <a:ln/>
        </p:spPr>
        <p:txBody>
          <a:bodyPr wrap="square" rtlCol="0" anchor="t"/>
          <a:lstStyle/>
          <a:p>
            <a:pPr marL="0" indent="0">
              <a:buNone/>
            </a:pPr>
            <a:endParaRPr lang="en-US"/>
          </a:p>
        </p:txBody>
      </p:sp>
      <p:pic>
        <p:nvPicPr>
          <p:cNvPr id="70" name="Icon_Panel3_Badge1" descr="icon.sv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454666" y="2076682"/>
            <a:ext cx="132588" cy="132588"/>
          </a:xfrm>
          <a:prstGeom prst="rect">
            <a:avLst/>
          </a:prstGeom>
        </p:spPr>
      </p:pic>
      <p:sp>
        <p:nvSpPr>
          <p:cNvPr id="55" name="Panel3_Feat1"/>
          <p:cNvSpPr/>
          <p:nvPr/>
        </p:nvSpPr>
        <p:spPr>
          <a:xfrm>
            <a:off x="6749855" y="2057251"/>
            <a:ext cx="1500000" cy="185886"/>
          </a:xfrm>
          <a:prstGeom prst="rect">
            <a:avLst/>
          </a:prstGeom>
          <a:noFill/>
          <a:ln/>
        </p:spPr>
        <p:txBody>
          <a:bodyPr wrap="none" lIns="0" tIns="0" rIns="0" bIns="0" rtlCol="0" anchor="t"/>
          <a:lstStyle/>
          <a:p>
            <a:pPr marL="0" indent="0" algn="l">
              <a:lnSpc>
                <a:spcPts val="1465"/>
              </a:lnSpc>
              <a:buNone/>
            </a:pPr>
            <a:r>
              <a:rPr lang="en-US" sz="1010">
                <a:solidFill>
                  <a:srgbClr val="E2E8F0"/>
                </a:solidFill>
                <a:latin typeface="Calibri" pitchFamily="34" charset="0"/>
                <a:ea typeface="Calibri" pitchFamily="34" charset="-122"/>
                <a:cs typeface="Calibri" pitchFamily="34" charset="-120"/>
              </a:rPr>
              <a:t>31 hardened tools</a:t>
            </a:r>
            <a:endParaRPr lang="en-US" sz="1010"/>
          </a:p>
        </p:txBody>
      </p:sp>
      <p:sp>
        <p:nvSpPr>
          <p:cNvPr id="56" name="Panel3_Badge2"/>
          <p:cNvSpPr/>
          <p:nvPr/>
        </p:nvSpPr>
        <p:spPr>
          <a:xfrm>
            <a:off x="6392075" y="2400002"/>
            <a:ext cx="257770" cy="257770"/>
          </a:xfrm>
          <a:prstGeom prst="roundRect">
            <a:avLst>
              <a:gd name="adj" fmla="val 27590"/>
            </a:avLst>
          </a:prstGeom>
          <a:solidFill>
            <a:srgbClr val="C084FC">
              <a:alpha val="15000"/>
            </a:srgbClr>
          </a:solidFill>
          <a:ln/>
        </p:spPr>
        <p:txBody>
          <a:bodyPr wrap="square" rtlCol="0" anchor="t"/>
          <a:lstStyle/>
          <a:p>
            <a:pPr marL="0" indent="0">
              <a:buNone/>
            </a:pPr>
            <a:endParaRPr lang="en-US"/>
          </a:p>
        </p:txBody>
      </p:sp>
      <p:pic>
        <p:nvPicPr>
          <p:cNvPr id="71" name="Icon_Panel3_Badge2" descr="icon.sv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6454666" y="2462593"/>
            <a:ext cx="132588" cy="132588"/>
          </a:xfrm>
          <a:prstGeom prst="rect">
            <a:avLst/>
          </a:prstGeom>
        </p:spPr>
      </p:pic>
      <p:sp>
        <p:nvSpPr>
          <p:cNvPr id="57" name="Panel3_Feat2"/>
          <p:cNvSpPr/>
          <p:nvPr/>
        </p:nvSpPr>
        <p:spPr>
          <a:xfrm>
            <a:off x="6749855" y="2443162"/>
            <a:ext cx="1500000" cy="185886"/>
          </a:xfrm>
          <a:prstGeom prst="rect">
            <a:avLst/>
          </a:prstGeom>
          <a:noFill/>
          <a:ln/>
        </p:spPr>
        <p:txBody>
          <a:bodyPr wrap="none" lIns="0" tIns="0" rIns="0" bIns="0" rtlCol="0" anchor="t"/>
          <a:lstStyle/>
          <a:p>
            <a:pPr marL="0" indent="0" algn="l">
              <a:lnSpc>
                <a:spcPts val="1465"/>
              </a:lnSpc>
              <a:buNone/>
            </a:pPr>
            <a:r>
              <a:rPr lang="en-US" sz="1010">
                <a:solidFill>
                  <a:srgbClr val="E2E8F0"/>
                </a:solidFill>
                <a:latin typeface="Calibri" pitchFamily="34" charset="0"/>
                <a:ea typeface="Calibri" pitchFamily="34" charset="-122"/>
                <a:cs typeface="Calibri" pitchFamily="34" charset="-120"/>
              </a:rPr>
              <a:t>CLI + Telegram</a:t>
            </a:r>
            <a:endParaRPr lang="en-US" sz="1010"/>
          </a:p>
        </p:txBody>
      </p:sp>
      <p:sp>
        <p:nvSpPr>
          <p:cNvPr id="58" name="Panel3_Badge3"/>
          <p:cNvSpPr/>
          <p:nvPr/>
        </p:nvSpPr>
        <p:spPr>
          <a:xfrm>
            <a:off x="6392075" y="2785914"/>
            <a:ext cx="257770" cy="257770"/>
          </a:xfrm>
          <a:prstGeom prst="roundRect">
            <a:avLst>
              <a:gd name="adj" fmla="val 27590"/>
            </a:avLst>
          </a:prstGeom>
          <a:solidFill>
            <a:srgbClr val="C084FC">
              <a:alpha val="15000"/>
            </a:srgbClr>
          </a:solidFill>
          <a:ln/>
        </p:spPr>
        <p:txBody>
          <a:bodyPr wrap="square" rtlCol="0" anchor="t"/>
          <a:lstStyle/>
          <a:p>
            <a:pPr marL="0" indent="0">
              <a:buNone/>
            </a:pPr>
            <a:endParaRPr lang="en-US"/>
          </a:p>
        </p:txBody>
      </p:sp>
      <p:pic>
        <p:nvPicPr>
          <p:cNvPr id="72" name="Icon_Panel3_Badge3" descr="icon.sv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6454666" y="2848505"/>
            <a:ext cx="132588" cy="132588"/>
          </a:xfrm>
          <a:prstGeom prst="rect">
            <a:avLst/>
          </a:prstGeom>
        </p:spPr>
      </p:pic>
      <p:sp>
        <p:nvSpPr>
          <p:cNvPr id="59" name="Panel3_Feat3"/>
          <p:cNvSpPr/>
          <p:nvPr/>
        </p:nvSpPr>
        <p:spPr>
          <a:xfrm>
            <a:off x="6749855" y="2829074"/>
            <a:ext cx="1500000" cy="185886"/>
          </a:xfrm>
          <a:prstGeom prst="rect">
            <a:avLst/>
          </a:prstGeom>
          <a:noFill/>
          <a:ln/>
        </p:spPr>
        <p:txBody>
          <a:bodyPr wrap="none" lIns="0" tIns="0" rIns="0" bIns="0" rtlCol="0" anchor="t"/>
          <a:lstStyle/>
          <a:p>
            <a:pPr marL="0" indent="0" algn="l">
              <a:lnSpc>
                <a:spcPts val="1465"/>
              </a:lnSpc>
              <a:buNone/>
            </a:pPr>
            <a:r>
              <a:rPr lang="en-US" sz="1010">
                <a:solidFill>
                  <a:srgbClr val="E2E8F0"/>
                </a:solidFill>
                <a:latin typeface="Calibri" pitchFamily="34" charset="0"/>
                <a:ea typeface="Calibri" pitchFamily="34" charset="-122"/>
                <a:cs typeface="Calibri" pitchFamily="34" charset="-120"/>
              </a:rPr>
              <a:t>Second Brain memory</a:t>
            </a:r>
            <a:endParaRPr lang="en-US" sz="1010"/>
          </a:p>
        </p:txBody>
      </p:sp>
      <p:sp>
        <p:nvSpPr>
          <p:cNvPr id="60" name="Panel3_Desc"/>
          <p:cNvSpPr/>
          <p:nvPr/>
        </p:nvSpPr>
        <p:spPr>
          <a:xfrm>
            <a:off x="6392075" y="3200000"/>
            <a:ext cx="2100000" cy="600000"/>
          </a:xfrm>
          <a:prstGeom prst="rect">
            <a:avLst/>
          </a:prstGeom>
          <a:noFill/>
          <a:ln/>
        </p:spPr>
        <p:txBody>
          <a:bodyPr wrap="square" lIns="0" tIns="0" rIns="0" bIns="0" rtlCol="0" anchor="t"/>
          <a:lstStyle/>
          <a:p>
            <a:pPr marL="0" indent="0" algn="l">
              <a:lnSpc>
                <a:spcPts val="1100"/>
              </a:lnSpc>
              <a:buNone/>
            </a:pPr>
            <a:r>
              <a:rPr lang="en-US" sz="800">
                <a:solidFill>
                  <a:srgbClr val="8B9CB6"/>
                </a:solidFill>
                <a:latin typeface="Calibri" pitchFamily="34" charset="0"/>
                <a:ea typeface="Calibri" pitchFamily="34" charset="-122"/>
                <a:cs typeface="Calibri" pitchFamily="34" charset="-120"/>
              </a:rPr>
              <a:t>Soul-driven AI agent with token budgets &amp; daemon mode. TypeScript · MIT · ~967 ★</a:t>
            </a:r>
            <a:endParaRPr lang="en-US" sz="800"/>
          </a:p>
        </p:txBody>
      </p:sp>
      <p:sp>
        <p:nvSpPr>
          <p:cNvPr id="61" name="Panel3_Install"/>
          <p:cNvSpPr/>
          <p:nvPr/>
        </p:nvSpPr>
        <p:spPr>
          <a:xfrm>
            <a:off x="6392075" y="3450000"/>
            <a:ext cx="2100000" cy="200000"/>
          </a:xfrm>
          <a:prstGeom prst="rect">
            <a:avLst/>
          </a:prstGeom>
          <a:noFill/>
          <a:ln/>
        </p:spPr>
        <p:txBody>
          <a:bodyPr wrap="square" lIns="0" tIns="0" rIns="0" bIns="0" rtlCol="0" anchor="t"/>
          <a:lstStyle/>
          <a:p>
            <a:pPr marL="0" indent="0" algn="l">
              <a:lnSpc>
                <a:spcPts val="1000"/>
              </a:lnSpc>
              <a:buNone/>
            </a:pPr>
            <a:r>
              <a:rPr lang="en-US" sz="750">
                <a:solidFill>
                  <a:srgbClr val="C084FC"/>
                </a:solidFill>
                <a:latin typeface="Consolas" pitchFamily="34" charset="0"/>
                <a:ea typeface="Consolas" pitchFamily="34" charset="-122"/>
                <a:cs typeface="Consolas" pitchFamily="34" charset="-120"/>
              </a:rPr>
              <a:t>npx @cosmicstack/mercury-agent</a:t>
            </a:r>
            <a:endParaRPr lang="en-US" sz="750"/>
          </a:p>
        </p:txBody>
      </p:sp>
      <p:sp>
        <p:nvSpPr>
          <p:cNvPr id="80" name="NewBadge"/>
          <p:cNvSpPr/>
          <p:nvPr/>
        </p:nvSpPr>
        <p:spPr>
          <a:xfrm rot="1200000">
            <a:off x="8184000" y="659365"/>
            <a:ext cx="960000" cy="960000"/>
          </a:xfrm>
          <a:prstGeom prst="star8">
            <a:avLst>
              <a:gd name="adj" fmla="val 40000"/>
            </a:avLst>
          </a:prstGeom>
          <a:gradFill rotWithShape="1">
            <a:gsLst>
              <a:gs pos="0">
                <a:srgbClr val="D946EF"/>
              </a:gs>
              <a:gs pos="100000">
                <a:srgbClr val="A855F7"/>
              </a:gs>
            </a:gsLst>
            <a:lin ang="2700000" scaled="1"/>
          </a:gradFill>
          <a:effectLst>
            <a:outerShdw blurRad="150000" algn="ctr" rotWithShape="0">
              <a:srgbClr val="C084FC">
                <a:alpha val="50000"/>
              </a:srgbClr>
            </a:outerShdw>
          </a:effectLst>
        </p:spPr>
        <p:txBody>
          <a:bodyPr wrap="none" rtlCol="0" anchor="t"/>
          <a:lstStyle/>
          <a:p>
            <a:pPr marL="0" indent="0">
              <a:buNone/>
            </a:pPr>
            <a:endParaRPr lang="en-US"/>
          </a:p>
        </p:txBody>
      </p:sp>
      <p:sp>
        <p:nvSpPr>
          <p:cNvPr id="81" name="NewBadgeText"/>
          <p:cNvSpPr/>
          <p:nvPr/>
        </p:nvSpPr>
        <p:spPr>
          <a:xfrm>
            <a:off x="8333950" y="939365"/>
            <a:ext cx="619978" cy="400000"/>
          </a:xfrm>
          <a:prstGeom prst="rect">
            <a:avLst/>
          </a:prstGeom>
          <a:noFill/>
          <a:ln/>
        </p:spPr>
        <p:txBody>
          <a:bodyPr wrap="none" lIns="0" tIns="0" rIns="0" bIns="0" rtlCol="0" anchor="ctr"/>
          <a:lstStyle/>
          <a:p>
            <a:pPr marL="0" indent="0" algn="ctr">
              <a:buNone/>
            </a:pPr>
            <a:r>
              <a:rPr lang="en-US" sz="2000" b="1" dirty="0">
                <a:solidFill>
                  <a:srgbClr val="FFFFFF"/>
                </a:solidFill>
                <a:latin typeface="Consolas" pitchFamily="34" charset="0"/>
                <a:ea typeface="Consolas" pitchFamily="34" charset="-122"/>
                <a:cs typeface="Consolas" pitchFamily="34" charset="-120"/>
              </a:rPr>
              <a:t>NEW</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7">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4000"/>
                </a:srgbClr>
              </a:gs>
              <a:gs pos="10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3" name="Text 1"/>
          <p:cNvSpPr/>
          <p:nvPr/>
        </p:nvSpPr>
        <p:spPr>
          <a:xfrm>
            <a:off x="409575" y="1183481"/>
            <a:ext cx="1547222" cy="21580"/>
          </a:xfrm>
          <a:custGeom>
            <a:avLst/>
            <a:gdLst/>
            <a:ahLst/>
            <a:cxnLst/>
            <a:rect l="l" t="t" r="r" b="b"/>
            <a:pathLst>
              <a:path w="1547222" h="21580">
                <a:moveTo>
                  <a:pt x="100330" y="0"/>
                </a:moveTo>
                <a:lnTo>
                  <a:pt x="1446892" y="0"/>
                </a:lnTo>
                <a:lnTo>
                  <a:pt x="1470001" y="2698"/>
                </a:lnTo>
                <a:lnTo>
                  <a:pt x="1479349" y="5395"/>
                </a:lnTo>
                <a:lnTo>
                  <a:pt x="1486368" y="8093"/>
                </a:lnTo>
                <a:lnTo>
                  <a:pt x="1492155" y="10790"/>
                </a:lnTo>
                <a:lnTo>
                  <a:pt x="1497137" y="13488"/>
                </a:lnTo>
                <a:lnTo>
                  <a:pt x="1501534" y="16185"/>
                </a:lnTo>
                <a:lnTo>
                  <a:pt x="1505479" y="18883"/>
                </a:lnTo>
                <a:lnTo>
                  <a:pt x="1509058"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solidFill>
            <a:srgbClr val="76B900">
              <a:alpha val="60000"/>
            </a:srgbClr>
          </a:solidFill>
          <a:ln/>
        </p:spPr>
        <p:txBody>
          <a:bodyPr wrap="none" rtlCol="0" anchor="t"/>
          <a:lstStyle/>
          <a:p>
            <a:pPr marL="0" indent="0">
              <a:buNone/>
            </a:pPr>
            <a:endParaRPr lang="en-US" dirty="0"/>
          </a:p>
        </p:txBody>
      </p:sp>
      <p:sp>
        <p:nvSpPr>
          <p:cNvPr id="4" name="Text 2"/>
          <p:cNvSpPr/>
          <p:nvPr/>
        </p:nvSpPr>
        <p:spPr>
          <a:xfrm>
            <a:off x="2103983" y="1183481"/>
            <a:ext cx="1547222" cy="21580"/>
          </a:xfrm>
          <a:custGeom>
            <a:avLst/>
            <a:gdLst/>
            <a:ahLst/>
            <a:cxnLst/>
            <a:rect l="l" t="t" r="r" b="b"/>
            <a:pathLst>
              <a:path w="1547222" h="21580">
                <a:moveTo>
                  <a:pt x="100330" y="0"/>
                </a:moveTo>
                <a:lnTo>
                  <a:pt x="1446892" y="0"/>
                </a:lnTo>
                <a:lnTo>
                  <a:pt x="1470001" y="2698"/>
                </a:lnTo>
                <a:lnTo>
                  <a:pt x="1479349" y="5395"/>
                </a:lnTo>
                <a:lnTo>
                  <a:pt x="1486368" y="8093"/>
                </a:lnTo>
                <a:lnTo>
                  <a:pt x="1492155" y="10790"/>
                </a:lnTo>
                <a:lnTo>
                  <a:pt x="1497137" y="13488"/>
                </a:lnTo>
                <a:lnTo>
                  <a:pt x="1501534" y="16185"/>
                </a:lnTo>
                <a:lnTo>
                  <a:pt x="1505479" y="18883"/>
                </a:lnTo>
                <a:lnTo>
                  <a:pt x="1509058"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solidFill>
            <a:srgbClr val="76B900">
              <a:alpha val="60000"/>
            </a:srgbClr>
          </a:solidFill>
          <a:ln/>
        </p:spPr>
        <p:txBody>
          <a:bodyPr wrap="none" rtlCol="0" anchor="t"/>
          <a:lstStyle/>
          <a:p>
            <a:pPr marL="0" indent="0">
              <a:buNone/>
            </a:pPr>
            <a:endParaRPr lang="en-US" dirty="0"/>
          </a:p>
        </p:txBody>
      </p:sp>
      <p:sp>
        <p:nvSpPr>
          <p:cNvPr id="5" name="Text 3"/>
          <p:cNvSpPr/>
          <p:nvPr/>
        </p:nvSpPr>
        <p:spPr>
          <a:xfrm>
            <a:off x="3798391" y="1183481"/>
            <a:ext cx="1547222" cy="21580"/>
          </a:xfrm>
          <a:custGeom>
            <a:avLst/>
            <a:gdLst/>
            <a:ahLst/>
            <a:cxnLst/>
            <a:rect l="l" t="t" r="r" b="b"/>
            <a:pathLst>
              <a:path w="1547222" h="21580">
                <a:moveTo>
                  <a:pt x="100330" y="0"/>
                </a:moveTo>
                <a:lnTo>
                  <a:pt x="1446892" y="0"/>
                </a:lnTo>
                <a:lnTo>
                  <a:pt x="1470001" y="2698"/>
                </a:lnTo>
                <a:lnTo>
                  <a:pt x="1479349" y="5395"/>
                </a:lnTo>
                <a:lnTo>
                  <a:pt x="1486368" y="8093"/>
                </a:lnTo>
                <a:lnTo>
                  <a:pt x="1492155" y="10790"/>
                </a:lnTo>
                <a:lnTo>
                  <a:pt x="1497137" y="13488"/>
                </a:lnTo>
                <a:lnTo>
                  <a:pt x="1501534" y="16185"/>
                </a:lnTo>
                <a:lnTo>
                  <a:pt x="1505479" y="18883"/>
                </a:lnTo>
                <a:lnTo>
                  <a:pt x="1509058"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solidFill>
            <a:srgbClr val="76B900">
              <a:alpha val="60000"/>
            </a:srgbClr>
          </a:solidFill>
          <a:ln/>
        </p:spPr>
        <p:txBody>
          <a:bodyPr wrap="none" rtlCol="0" anchor="t"/>
          <a:lstStyle/>
          <a:p>
            <a:pPr marL="0" indent="0">
              <a:buNone/>
            </a:pPr>
            <a:endParaRPr lang="en-US" dirty="0"/>
          </a:p>
        </p:txBody>
      </p:sp>
      <p:sp>
        <p:nvSpPr>
          <p:cNvPr id="6" name="Text 4"/>
          <p:cNvSpPr/>
          <p:nvPr/>
        </p:nvSpPr>
        <p:spPr>
          <a:xfrm>
            <a:off x="5492800" y="1183481"/>
            <a:ext cx="1547222" cy="21580"/>
          </a:xfrm>
          <a:custGeom>
            <a:avLst/>
            <a:gdLst/>
            <a:ahLst/>
            <a:cxnLst/>
            <a:rect l="l" t="t" r="r" b="b"/>
            <a:pathLst>
              <a:path w="1547222" h="21580">
                <a:moveTo>
                  <a:pt x="100330" y="0"/>
                </a:moveTo>
                <a:lnTo>
                  <a:pt x="1446892" y="0"/>
                </a:lnTo>
                <a:lnTo>
                  <a:pt x="1470001" y="2698"/>
                </a:lnTo>
                <a:lnTo>
                  <a:pt x="1479349" y="5395"/>
                </a:lnTo>
                <a:lnTo>
                  <a:pt x="1486368" y="8093"/>
                </a:lnTo>
                <a:lnTo>
                  <a:pt x="1492155" y="10790"/>
                </a:lnTo>
                <a:lnTo>
                  <a:pt x="1497137" y="13488"/>
                </a:lnTo>
                <a:lnTo>
                  <a:pt x="1501534" y="16185"/>
                </a:lnTo>
                <a:lnTo>
                  <a:pt x="1505479" y="18883"/>
                </a:lnTo>
                <a:lnTo>
                  <a:pt x="1509058"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solidFill>
            <a:srgbClr val="76B900">
              <a:alpha val="60000"/>
            </a:srgbClr>
          </a:solidFill>
          <a:ln/>
        </p:spPr>
        <p:txBody>
          <a:bodyPr wrap="none" rtlCol="0" anchor="t"/>
          <a:lstStyle/>
          <a:p>
            <a:pPr marL="0" indent="0">
              <a:buNone/>
            </a:pPr>
            <a:endParaRPr lang="en-US" dirty="0"/>
          </a:p>
        </p:txBody>
      </p:sp>
      <p:sp>
        <p:nvSpPr>
          <p:cNvPr id="7" name="Text 5"/>
          <p:cNvSpPr/>
          <p:nvPr/>
        </p:nvSpPr>
        <p:spPr>
          <a:xfrm>
            <a:off x="7187208" y="1183481"/>
            <a:ext cx="1547222" cy="21580"/>
          </a:xfrm>
          <a:custGeom>
            <a:avLst/>
            <a:gdLst/>
            <a:ahLst/>
            <a:cxnLst/>
            <a:rect l="l" t="t" r="r" b="b"/>
            <a:pathLst>
              <a:path w="1547222" h="21580">
                <a:moveTo>
                  <a:pt x="100330" y="0"/>
                </a:moveTo>
                <a:lnTo>
                  <a:pt x="1446892" y="0"/>
                </a:lnTo>
                <a:lnTo>
                  <a:pt x="1470001" y="2698"/>
                </a:lnTo>
                <a:lnTo>
                  <a:pt x="1479349" y="5395"/>
                </a:lnTo>
                <a:lnTo>
                  <a:pt x="1486368" y="8093"/>
                </a:lnTo>
                <a:lnTo>
                  <a:pt x="1492155" y="10790"/>
                </a:lnTo>
                <a:lnTo>
                  <a:pt x="1497137" y="13488"/>
                </a:lnTo>
                <a:lnTo>
                  <a:pt x="1501534" y="16185"/>
                </a:lnTo>
                <a:lnTo>
                  <a:pt x="1505479" y="18883"/>
                </a:lnTo>
                <a:lnTo>
                  <a:pt x="1509058" y="21580"/>
                </a:lnTo>
                <a:lnTo>
                  <a:pt x="38164" y="21580"/>
                </a:lnTo>
                <a:lnTo>
                  <a:pt x="41743" y="18883"/>
                </a:lnTo>
                <a:lnTo>
                  <a:pt x="45688" y="16185"/>
                </a:lnTo>
                <a:lnTo>
                  <a:pt x="50085" y="13488"/>
                </a:lnTo>
                <a:lnTo>
                  <a:pt x="55067" y="10790"/>
                </a:lnTo>
                <a:lnTo>
                  <a:pt x="60854" y="8093"/>
                </a:lnTo>
                <a:lnTo>
                  <a:pt x="67873" y="5395"/>
                </a:lnTo>
                <a:lnTo>
                  <a:pt x="77221" y="2698"/>
                </a:lnTo>
                <a:close/>
              </a:path>
            </a:pathLst>
          </a:custGeom>
          <a:solidFill>
            <a:srgbClr val="76B900">
              <a:alpha val="60000"/>
            </a:srgbClr>
          </a:solidFill>
          <a:ln/>
        </p:spPr>
        <p:txBody>
          <a:bodyPr wrap="none" rtlCol="0" anchor="t"/>
          <a:lstStyle/>
          <a:p>
            <a:pPr marL="0" indent="0">
              <a:buNone/>
            </a:pPr>
            <a:endParaRPr lang="en-US" dirty="0"/>
          </a:p>
        </p:txBody>
      </p:sp>
      <p:sp>
        <p:nvSpPr>
          <p:cNvPr id="8" name="Text 6"/>
          <p:cNvSpPr/>
          <p:nvPr/>
        </p:nvSpPr>
        <p:spPr>
          <a:xfrm>
            <a:off x="2510623" y="379958"/>
            <a:ext cx="867140" cy="457200"/>
          </a:xfrm>
          <a:prstGeom prst="rect">
            <a:avLst/>
          </a:prstGeom>
          <a:noFill/>
          <a:ln/>
        </p:spPr>
        <p:txBody>
          <a:bodyPr wrap="none" lIns="0" tIns="0" rIns="0" bIns="0" rtlCol="0" anchor="ctr"/>
          <a:lstStyle/>
          <a:p>
            <a:pPr marL="0" indent="0" algn="ctr">
              <a:lnSpc>
                <a:spcPts val="3600"/>
              </a:lnSpc>
              <a:buNone/>
            </a:pPr>
            <a:r>
              <a:rPr lang="en-US" sz="3600" b="1">
                <a:solidFill>
                  <a:srgbClr val="76B900"/>
                </a:solidFill>
                <a:latin typeface="Consolas" pitchFamily="34" charset="0"/>
                <a:ea typeface="Consolas" pitchFamily="34" charset="-122"/>
                <a:cs typeface="Consolas" pitchFamily="34" charset="-120"/>
              </a:rPr>
              <a:t>50</a:t>
            </a:r>
            <a:r>
              <a:rPr lang="en-US" sz="3600" b="1" dirty="0">
                <a:solidFill>
                  <a:srgbClr val="76B900"/>
                </a:solidFill>
                <a:latin typeface="Consolas" pitchFamily="34" charset="0"/>
                <a:ea typeface="Consolas" pitchFamily="34" charset="-122"/>
                <a:cs typeface="Consolas" pitchFamily="34" charset="-120"/>
              </a:rPr>
              <a:t>+</a:t>
            </a:r>
            <a:endParaRPr lang="en-US" sz="3600" dirty="0"/>
          </a:p>
        </p:txBody>
      </p:sp>
      <p:sp>
        <p:nvSpPr>
          <p:cNvPr id="9" name="Text 7"/>
          <p:cNvSpPr/>
          <p:nvPr/>
        </p:nvSpPr>
        <p:spPr>
          <a:xfrm>
            <a:off x="3485257" y="314920"/>
            <a:ext cx="3346397" cy="278904"/>
          </a:xfrm>
          <a:prstGeom prst="rect">
            <a:avLst/>
          </a:prstGeom>
          <a:noFill/>
          <a:ln/>
        </p:spPr>
        <p:txBody>
          <a:bodyPr wrap="none" lIns="0" tIns="0" rIns="0" bIns="0" rtlCol="0" anchor="ctr"/>
          <a:lstStyle/>
          <a:p>
            <a:pPr marL="0" indent="0" algn="l">
              <a:lnSpc>
                <a:spcPts val="2197"/>
              </a:lnSpc>
              <a:buNone/>
            </a:pPr>
            <a:r>
              <a:rPr lang="en-US" sz="1910" b="1" kern="0" spc="-30" dirty="0">
                <a:solidFill>
                  <a:srgbClr val="E2E8F0"/>
                </a:solidFill>
                <a:latin typeface="Consolas" pitchFamily="34" charset="0"/>
                <a:ea typeface="Consolas" pitchFamily="34" charset="-122"/>
                <a:cs typeface="Consolas" pitchFamily="34" charset="-120"/>
              </a:rPr>
              <a:t>Tasks You Can Automate</a:t>
            </a:r>
            <a:endParaRPr lang="en-US" sz="1910" dirty="0"/>
          </a:p>
        </p:txBody>
      </p:sp>
      <p:sp>
        <p:nvSpPr>
          <p:cNvPr id="10" name="Text 8"/>
          <p:cNvSpPr/>
          <p:nvPr/>
        </p:nvSpPr>
        <p:spPr>
          <a:xfrm>
            <a:off x="3485257" y="636984"/>
            <a:ext cx="2468344" cy="265361"/>
          </a:xfrm>
          <a:prstGeom prst="roundRect">
            <a:avLst>
              <a:gd name="adj" fmla="val 64610"/>
            </a:avLst>
          </a:prstGeom>
          <a:solidFill>
            <a:srgbClr val="76B900">
              <a:alpha val="15000"/>
            </a:srgbClr>
          </a:solidFill>
          <a:ln w="9525">
            <a:solidFill>
              <a:srgbClr val="76B900">
                <a:alpha val="40000"/>
              </a:srgbClr>
            </a:solidFill>
          </a:ln>
        </p:spPr>
        <p:txBody>
          <a:bodyPr wrap="none" lIns="286385" tIns="43180" rIns="143510" bIns="43180" rtlCol="0" anchor="ctr"/>
          <a:lstStyle/>
          <a:p>
            <a:pPr marL="0" indent="0" algn="l">
              <a:buNone/>
            </a:pPr>
            <a:r>
              <a:rPr lang="en-US" sz="840" kern="0" spc="30" dirty="0">
                <a:solidFill>
                  <a:srgbClr val="76B900"/>
                </a:solidFill>
                <a:latin typeface="Consolas" pitchFamily="34" charset="0"/>
                <a:ea typeface="Consolas" pitchFamily="34" charset="-122"/>
                <a:cs typeface="Consolas" pitchFamily="34" charset="-120"/>
              </a:rPr>
              <a:t>Built-in Tools &amp; Integrations</a:t>
            </a:r>
            <a:endParaRPr lang="en-US" sz="840" dirty="0"/>
          </a:p>
        </p:txBody>
      </p:sp>
      <p:pic>
        <p:nvPicPr>
          <p:cNvPr id="11"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14821" y="703296"/>
            <a:ext cx="132588" cy="132588"/>
          </a:xfrm>
          <a:prstGeom prst="rect">
            <a:avLst/>
          </a:prstGeom>
        </p:spPr>
      </p:pic>
      <p:sp>
        <p:nvSpPr>
          <p:cNvPr id="12" name="Text 9"/>
          <p:cNvSpPr/>
          <p:nvPr/>
        </p:nvSpPr>
        <p:spPr>
          <a:xfrm>
            <a:off x="400050" y="1173956"/>
            <a:ext cx="1566267" cy="3350000"/>
          </a:xfrm>
          <a:prstGeom prst="roundRect">
            <a:avLst>
              <a:gd name="adj" fmla="val 6406"/>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13" name="Text 10"/>
          <p:cNvSpPr/>
          <p:nvPr/>
        </p:nvSpPr>
        <p:spPr>
          <a:xfrm>
            <a:off x="581025" y="1384102"/>
            <a:ext cx="314920" cy="314920"/>
          </a:xfrm>
          <a:prstGeom prst="roundRect">
            <a:avLst>
              <a:gd name="adj" fmla="val 22584"/>
            </a:avLst>
          </a:prstGeom>
          <a:solidFill>
            <a:srgbClr val="76B900">
              <a:alpha val="12000"/>
            </a:srgbClr>
          </a:solidFill>
          <a:ln/>
        </p:spPr>
        <p:txBody>
          <a:bodyPr wrap="square" rtlCol="0" anchor="t"/>
          <a:lstStyle/>
          <a:p>
            <a:pPr marL="0" indent="0">
              <a:buNone/>
            </a:pPr>
            <a:endParaRPr lang="en-US" dirty="0"/>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8982" y="1472059"/>
            <a:ext cx="139005" cy="139005"/>
          </a:xfrm>
          <a:prstGeom prst="rect">
            <a:avLst/>
          </a:prstGeom>
        </p:spPr>
      </p:pic>
      <p:sp>
        <p:nvSpPr>
          <p:cNvPr id="15" name="Text 11"/>
          <p:cNvSpPr/>
          <p:nvPr/>
        </p:nvSpPr>
        <p:spPr>
          <a:xfrm>
            <a:off x="581025" y="1770013"/>
            <a:ext cx="1324749" cy="137071"/>
          </a:xfrm>
          <a:prstGeom prst="rect">
            <a:avLst/>
          </a:prstGeom>
          <a:noFill/>
          <a:ln/>
        </p:spPr>
        <p:txBody>
          <a:bodyPr wrap="none" lIns="0" tIns="0" rIns="0" bIns="0" rtlCol="0" anchor="t"/>
          <a:lstStyle/>
          <a:p>
            <a:pPr marL="0" indent="0" algn="l">
              <a:lnSpc>
                <a:spcPts val="1080"/>
              </a:lnSpc>
              <a:buNone/>
            </a:pPr>
            <a:r>
              <a:rPr lang="en-US" sz="900" b="1" dirty="0">
                <a:solidFill>
                  <a:srgbClr val="76B900"/>
                </a:solidFill>
                <a:latin typeface="Consolas" pitchFamily="34" charset="0"/>
                <a:ea typeface="Consolas" pitchFamily="34" charset="-122"/>
                <a:cs typeface="Consolas" pitchFamily="34" charset="-120"/>
              </a:rPr>
              <a:t>Core Tools</a:t>
            </a:r>
            <a:endParaRPr lang="en-US" sz="900" dirty="0"/>
          </a:p>
        </p:txBody>
      </p:sp>
      <p:sp>
        <p:nvSpPr>
          <p:cNvPr id="16" name="Text 12"/>
          <p:cNvSpPr/>
          <p:nvPr/>
        </p:nvSpPr>
        <p:spPr>
          <a:xfrm>
            <a:off x="581025" y="1978075"/>
            <a:ext cx="1228404" cy="317227"/>
          </a:xfrm>
          <a:prstGeom prst="rect">
            <a:avLst/>
          </a:prstGeom>
          <a:noFill/>
          <a:ln/>
        </p:spPr>
        <p:txBody>
          <a:bodyPr wrap="square" lIns="0" tIns="0" rIns="0" bIns="0" rtlCol="0" anchor="t"/>
          <a:lstStyle/>
          <a:p>
            <a:pPr marL="0" indent="0" algn="l">
              <a:lnSpc>
                <a:spcPts val="1189"/>
              </a:lnSpc>
              <a:buNone/>
            </a:pPr>
            <a:r>
              <a:rPr lang="en-US" sz="820" dirty="0">
                <a:solidFill>
                  <a:srgbClr val="8B9CB6"/>
                </a:solidFill>
                <a:latin typeface="Calibri" pitchFamily="34" charset="0"/>
                <a:ea typeface="Calibri" pitchFamily="34" charset="-122"/>
                <a:cs typeface="Calibri" pitchFamily="34" charset="-120"/>
              </a:rPr>
              <a:t>System-level power for your agent</a:t>
            </a:r>
            <a:endParaRPr lang="en-US" sz="820" dirty="0"/>
          </a:p>
        </p:txBody>
      </p:sp>
      <p:sp>
        <p:nvSpPr>
          <p:cNvPr id="22" name="Text 18"/>
          <p:cNvSpPr/>
          <p:nvPr/>
        </p:nvSpPr>
        <p:spPr>
          <a:xfrm>
            <a:off x="2094458" y="1173956"/>
            <a:ext cx="1566267" cy="3350000"/>
          </a:xfrm>
          <a:prstGeom prst="roundRect">
            <a:avLst>
              <a:gd name="adj" fmla="val 6406"/>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23" name="Text 19"/>
          <p:cNvSpPr/>
          <p:nvPr/>
        </p:nvSpPr>
        <p:spPr>
          <a:xfrm>
            <a:off x="2275433" y="1384102"/>
            <a:ext cx="314920" cy="314920"/>
          </a:xfrm>
          <a:prstGeom prst="roundRect">
            <a:avLst>
              <a:gd name="adj" fmla="val 22584"/>
            </a:avLst>
          </a:prstGeom>
          <a:solidFill>
            <a:srgbClr val="3B82F6">
              <a:alpha val="12000"/>
            </a:srgbClr>
          </a:solidFill>
          <a:ln/>
        </p:spPr>
        <p:txBody>
          <a:bodyPr wrap="square" rtlCol="0" anchor="t"/>
          <a:lstStyle/>
          <a:p>
            <a:pPr marL="0" indent="0">
              <a:buNone/>
            </a:pPr>
            <a:endParaRPr lang="en-US" dirty="0"/>
          </a:p>
        </p:txBody>
      </p:sp>
      <p:pic>
        <p:nvPicPr>
          <p:cNvPr id="24"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363391" y="1472059"/>
            <a:ext cx="139005" cy="139005"/>
          </a:xfrm>
          <a:prstGeom prst="rect">
            <a:avLst/>
          </a:prstGeom>
        </p:spPr>
      </p:pic>
      <p:sp>
        <p:nvSpPr>
          <p:cNvPr id="25" name="Text 20"/>
          <p:cNvSpPr/>
          <p:nvPr/>
        </p:nvSpPr>
        <p:spPr>
          <a:xfrm>
            <a:off x="2275433" y="1770013"/>
            <a:ext cx="1324749" cy="137071"/>
          </a:xfrm>
          <a:prstGeom prst="rect">
            <a:avLst/>
          </a:prstGeom>
          <a:noFill/>
          <a:ln/>
        </p:spPr>
        <p:txBody>
          <a:bodyPr wrap="none" lIns="0" tIns="0" rIns="0" bIns="0" rtlCol="0" anchor="t"/>
          <a:lstStyle/>
          <a:p>
            <a:pPr marL="0" indent="0" algn="l">
              <a:lnSpc>
                <a:spcPts val="1080"/>
              </a:lnSpc>
              <a:buNone/>
            </a:pPr>
            <a:r>
              <a:rPr lang="en-US" sz="900" b="1" dirty="0">
                <a:solidFill>
                  <a:srgbClr val="3B82F6"/>
                </a:solidFill>
                <a:latin typeface="Consolas" pitchFamily="34" charset="0"/>
                <a:ea typeface="Consolas" pitchFamily="34" charset="-122"/>
                <a:cs typeface="Consolas" pitchFamily="34" charset="-120"/>
              </a:rPr>
              <a:t>Productivity</a:t>
            </a:r>
            <a:endParaRPr lang="en-US" sz="900" dirty="0"/>
          </a:p>
        </p:txBody>
      </p:sp>
      <p:sp>
        <p:nvSpPr>
          <p:cNvPr id="26" name="Text 21"/>
          <p:cNvSpPr/>
          <p:nvPr/>
        </p:nvSpPr>
        <p:spPr>
          <a:xfrm>
            <a:off x="2275433" y="1978075"/>
            <a:ext cx="1228404" cy="317227"/>
          </a:xfrm>
          <a:prstGeom prst="rect">
            <a:avLst/>
          </a:prstGeom>
          <a:noFill/>
          <a:ln/>
        </p:spPr>
        <p:txBody>
          <a:bodyPr wrap="square" lIns="0" tIns="0" rIns="0" bIns="0" rtlCol="0" anchor="t"/>
          <a:lstStyle/>
          <a:p>
            <a:pPr marL="0" indent="0" algn="l">
              <a:lnSpc>
                <a:spcPts val="1189"/>
              </a:lnSpc>
              <a:buNone/>
            </a:pPr>
            <a:r>
              <a:rPr lang="en-US" sz="820" dirty="0">
                <a:solidFill>
                  <a:srgbClr val="8B9CB6"/>
                </a:solidFill>
                <a:latin typeface="Calibri" pitchFamily="34" charset="0"/>
                <a:ea typeface="Calibri" pitchFamily="34" charset="-122"/>
                <a:cs typeface="Calibri" pitchFamily="34" charset="-120"/>
              </a:rPr>
              <a:t>Organize, plan, and manage work</a:t>
            </a:r>
            <a:endParaRPr lang="en-US" sz="820" dirty="0"/>
          </a:p>
        </p:txBody>
      </p:sp>
      <p:sp>
        <p:nvSpPr>
          <p:cNvPr id="31" name="Text 26"/>
          <p:cNvSpPr/>
          <p:nvPr/>
        </p:nvSpPr>
        <p:spPr>
          <a:xfrm>
            <a:off x="3788866" y="1173956"/>
            <a:ext cx="1566267" cy="3350000"/>
          </a:xfrm>
          <a:prstGeom prst="roundRect">
            <a:avLst>
              <a:gd name="adj" fmla="val 6406"/>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32" name="Text 27"/>
          <p:cNvSpPr/>
          <p:nvPr/>
        </p:nvSpPr>
        <p:spPr>
          <a:xfrm>
            <a:off x="3969841" y="1384102"/>
            <a:ext cx="314920" cy="314920"/>
          </a:xfrm>
          <a:prstGeom prst="roundRect">
            <a:avLst>
              <a:gd name="adj" fmla="val 22584"/>
            </a:avLst>
          </a:prstGeom>
          <a:solidFill>
            <a:srgbClr val="A855F7">
              <a:alpha val="12000"/>
            </a:srgbClr>
          </a:solidFill>
          <a:ln/>
        </p:spPr>
        <p:txBody>
          <a:bodyPr wrap="square" rtlCol="0" anchor="t"/>
          <a:lstStyle/>
          <a:p>
            <a:pPr marL="0" indent="0">
              <a:buNone/>
            </a:pPr>
            <a:endParaRPr lang="en-US" dirty="0"/>
          </a:p>
        </p:txBody>
      </p:sp>
      <p:pic>
        <p:nvPicPr>
          <p:cNvPr id="3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057799" y="1472059"/>
            <a:ext cx="139005" cy="139005"/>
          </a:xfrm>
          <a:prstGeom prst="rect">
            <a:avLst/>
          </a:prstGeom>
        </p:spPr>
      </p:pic>
      <p:sp>
        <p:nvSpPr>
          <p:cNvPr id="34" name="Text 28"/>
          <p:cNvSpPr/>
          <p:nvPr/>
        </p:nvSpPr>
        <p:spPr>
          <a:xfrm>
            <a:off x="3969841" y="1770013"/>
            <a:ext cx="1324749" cy="137071"/>
          </a:xfrm>
          <a:prstGeom prst="rect">
            <a:avLst/>
          </a:prstGeom>
          <a:noFill/>
          <a:ln/>
        </p:spPr>
        <p:txBody>
          <a:bodyPr wrap="none" lIns="0" tIns="0" rIns="0" bIns="0" rtlCol="0" anchor="t"/>
          <a:lstStyle/>
          <a:p>
            <a:pPr marL="0" indent="0" algn="l">
              <a:lnSpc>
                <a:spcPts val="1080"/>
              </a:lnSpc>
              <a:buNone/>
            </a:pPr>
            <a:r>
              <a:rPr lang="en-US" sz="900" b="1" dirty="0">
                <a:solidFill>
                  <a:srgbClr val="A855F7"/>
                </a:solidFill>
                <a:latin typeface="Consolas" pitchFamily="34" charset="0"/>
                <a:ea typeface="Consolas" pitchFamily="34" charset="-122"/>
                <a:cs typeface="Consolas" pitchFamily="34" charset="-120"/>
              </a:rPr>
              <a:t>Communication</a:t>
            </a:r>
            <a:endParaRPr lang="en-US" sz="900" dirty="0"/>
          </a:p>
        </p:txBody>
      </p:sp>
      <p:sp>
        <p:nvSpPr>
          <p:cNvPr id="35" name="Text 29"/>
          <p:cNvSpPr/>
          <p:nvPr/>
        </p:nvSpPr>
        <p:spPr>
          <a:xfrm>
            <a:off x="3969841" y="1978075"/>
            <a:ext cx="1228404" cy="317227"/>
          </a:xfrm>
          <a:prstGeom prst="rect">
            <a:avLst/>
          </a:prstGeom>
          <a:noFill/>
          <a:ln/>
        </p:spPr>
        <p:txBody>
          <a:bodyPr wrap="square" lIns="0" tIns="0" rIns="0" bIns="0" rtlCol="0" anchor="t"/>
          <a:lstStyle/>
          <a:p>
            <a:pPr marL="0" indent="0" algn="l">
              <a:lnSpc>
                <a:spcPts val="1189"/>
              </a:lnSpc>
              <a:buNone/>
            </a:pPr>
            <a:r>
              <a:rPr lang="en-US" sz="820" dirty="0">
                <a:solidFill>
                  <a:srgbClr val="8B9CB6"/>
                </a:solidFill>
                <a:latin typeface="Calibri" pitchFamily="34" charset="0"/>
                <a:ea typeface="Calibri" pitchFamily="34" charset="-122"/>
                <a:cs typeface="Calibri" pitchFamily="34" charset="-120"/>
              </a:rPr>
              <a:t>Chat with your agent anywhere</a:t>
            </a:r>
            <a:endParaRPr lang="en-US" sz="820" dirty="0"/>
          </a:p>
        </p:txBody>
      </p:sp>
      <p:sp>
        <p:nvSpPr>
          <p:cNvPr id="40" name="Text 34"/>
          <p:cNvSpPr/>
          <p:nvPr/>
        </p:nvSpPr>
        <p:spPr>
          <a:xfrm>
            <a:off x="5483275" y="1173956"/>
            <a:ext cx="1566267" cy="3350000"/>
          </a:xfrm>
          <a:prstGeom prst="roundRect">
            <a:avLst>
              <a:gd name="adj" fmla="val 6406"/>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41" name="Text 35"/>
          <p:cNvSpPr/>
          <p:nvPr/>
        </p:nvSpPr>
        <p:spPr>
          <a:xfrm>
            <a:off x="5664250" y="1384102"/>
            <a:ext cx="314920" cy="314920"/>
          </a:xfrm>
          <a:prstGeom prst="roundRect">
            <a:avLst>
              <a:gd name="adj" fmla="val 22584"/>
            </a:avLst>
          </a:prstGeom>
          <a:solidFill>
            <a:srgbClr val="F97316">
              <a:alpha val="12000"/>
            </a:srgbClr>
          </a:solidFill>
          <a:ln/>
        </p:spPr>
        <p:txBody>
          <a:bodyPr wrap="square" rtlCol="0" anchor="t"/>
          <a:lstStyle/>
          <a:p>
            <a:pPr marL="0" indent="0">
              <a:buNone/>
            </a:pPr>
            <a:endParaRPr lang="en-US" dirty="0"/>
          </a:p>
        </p:txBody>
      </p:sp>
      <p:pic>
        <p:nvPicPr>
          <p:cNvPr id="42"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52207" y="1472059"/>
            <a:ext cx="139005" cy="139005"/>
          </a:xfrm>
          <a:prstGeom prst="rect">
            <a:avLst/>
          </a:prstGeom>
        </p:spPr>
      </p:pic>
      <p:sp>
        <p:nvSpPr>
          <p:cNvPr id="43" name="Text 36"/>
          <p:cNvSpPr/>
          <p:nvPr/>
        </p:nvSpPr>
        <p:spPr>
          <a:xfrm>
            <a:off x="5664250" y="1770013"/>
            <a:ext cx="1324749" cy="137071"/>
          </a:xfrm>
          <a:prstGeom prst="rect">
            <a:avLst/>
          </a:prstGeom>
          <a:noFill/>
          <a:ln/>
        </p:spPr>
        <p:txBody>
          <a:bodyPr wrap="none" lIns="0" tIns="0" rIns="0" bIns="0" rtlCol="0" anchor="t"/>
          <a:lstStyle/>
          <a:p>
            <a:pPr marL="0" indent="0" algn="l">
              <a:lnSpc>
                <a:spcPts val="1080"/>
              </a:lnSpc>
              <a:buNone/>
            </a:pPr>
            <a:r>
              <a:rPr lang="en-US" sz="900" b="1" dirty="0">
                <a:solidFill>
                  <a:srgbClr val="F97316"/>
                </a:solidFill>
                <a:latin typeface="Consolas" pitchFamily="34" charset="0"/>
                <a:ea typeface="Consolas" pitchFamily="34" charset="-122"/>
                <a:cs typeface="Consolas" pitchFamily="34" charset="-120"/>
              </a:rPr>
              <a:t>Development</a:t>
            </a:r>
            <a:endParaRPr lang="en-US" sz="900" dirty="0"/>
          </a:p>
        </p:txBody>
      </p:sp>
      <p:sp>
        <p:nvSpPr>
          <p:cNvPr id="44" name="Text 37"/>
          <p:cNvSpPr/>
          <p:nvPr/>
        </p:nvSpPr>
        <p:spPr>
          <a:xfrm>
            <a:off x="5664250" y="1978075"/>
            <a:ext cx="1228404" cy="317227"/>
          </a:xfrm>
          <a:prstGeom prst="rect">
            <a:avLst/>
          </a:prstGeom>
          <a:noFill/>
          <a:ln/>
        </p:spPr>
        <p:txBody>
          <a:bodyPr wrap="square" lIns="0" tIns="0" rIns="0" bIns="0" rtlCol="0" anchor="t"/>
          <a:lstStyle/>
          <a:p>
            <a:pPr marL="0" indent="0" algn="l">
              <a:lnSpc>
                <a:spcPts val="1189"/>
              </a:lnSpc>
              <a:buNone/>
            </a:pPr>
            <a:r>
              <a:rPr lang="en-US" sz="820" dirty="0">
                <a:solidFill>
                  <a:srgbClr val="8B9CB6"/>
                </a:solidFill>
                <a:latin typeface="Calibri" pitchFamily="34" charset="0"/>
                <a:ea typeface="Calibri" pitchFamily="34" charset="-122"/>
                <a:cs typeface="Calibri" pitchFamily="34" charset="-120"/>
              </a:rPr>
              <a:t>Code, ship, and self-improve</a:t>
            </a:r>
            <a:endParaRPr lang="en-US" sz="820" dirty="0"/>
          </a:p>
        </p:txBody>
      </p:sp>
      <p:sp>
        <p:nvSpPr>
          <p:cNvPr id="48" name="Text 41"/>
          <p:cNvSpPr/>
          <p:nvPr/>
        </p:nvSpPr>
        <p:spPr>
          <a:xfrm>
            <a:off x="7177683" y="1173956"/>
            <a:ext cx="1566267" cy="3350000"/>
          </a:xfrm>
          <a:prstGeom prst="roundRect">
            <a:avLst>
              <a:gd name="adj" fmla="val 6406"/>
            </a:avLst>
          </a:prstGeom>
          <a:solidFill>
            <a:srgbClr val="1A2332"/>
          </a:solidFill>
          <a:ln w="9525">
            <a:solidFill>
              <a:srgbClr val="76B900">
                <a:alpha val="8000"/>
              </a:srgbClr>
            </a:solidFill>
          </a:ln>
        </p:spPr>
        <p:txBody>
          <a:bodyPr wrap="square" rtlCol="0" anchor="t"/>
          <a:lstStyle/>
          <a:p>
            <a:pPr marL="0" indent="0">
              <a:buNone/>
            </a:pPr>
            <a:endParaRPr lang="en-US" dirty="0"/>
          </a:p>
        </p:txBody>
      </p:sp>
      <p:sp>
        <p:nvSpPr>
          <p:cNvPr id="49" name="Text 42"/>
          <p:cNvSpPr/>
          <p:nvPr/>
        </p:nvSpPr>
        <p:spPr>
          <a:xfrm>
            <a:off x="7358658" y="1384102"/>
            <a:ext cx="314920" cy="314920"/>
          </a:xfrm>
          <a:prstGeom prst="roundRect">
            <a:avLst>
              <a:gd name="adj" fmla="val 22584"/>
            </a:avLst>
          </a:prstGeom>
          <a:solidFill>
            <a:srgbClr val="EC4899">
              <a:alpha val="12000"/>
            </a:srgbClr>
          </a:solidFill>
          <a:ln/>
        </p:spPr>
        <p:txBody>
          <a:bodyPr wrap="square" rtlCol="0" anchor="t"/>
          <a:lstStyle/>
          <a:p>
            <a:pPr marL="0" indent="0">
              <a:buNone/>
            </a:pPr>
            <a:endParaRPr lang="en-US" dirty="0"/>
          </a:p>
        </p:txBody>
      </p:sp>
      <p:pic>
        <p:nvPicPr>
          <p:cNvPr id="50"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446615" y="1472059"/>
            <a:ext cx="139005" cy="139005"/>
          </a:xfrm>
          <a:prstGeom prst="rect">
            <a:avLst/>
          </a:prstGeom>
        </p:spPr>
      </p:pic>
      <p:sp>
        <p:nvSpPr>
          <p:cNvPr id="51" name="Text 43"/>
          <p:cNvSpPr/>
          <p:nvPr/>
        </p:nvSpPr>
        <p:spPr>
          <a:xfrm>
            <a:off x="7358658" y="1770013"/>
            <a:ext cx="1228404" cy="287848"/>
          </a:xfrm>
          <a:prstGeom prst="rect">
            <a:avLst/>
          </a:prstGeom>
          <a:noFill/>
          <a:ln/>
        </p:spPr>
        <p:txBody>
          <a:bodyPr wrap="square" lIns="0" tIns="0" rIns="0" bIns="0" rtlCol="0" anchor="t"/>
          <a:lstStyle/>
          <a:p>
            <a:pPr marL="0" indent="0" algn="l">
              <a:lnSpc>
                <a:spcPts val="1080"/>
              </a:lnSpc>
              <a:buNone/>
            </a:pPr>
            <a:r>
              <a:rPr lang="en-US" sz="900" b="1" dirty="0">
                <a:solidFill>
                  <a:srgbClr val="EC4899"/>
                </a:solidFill>
                <a:latin typeface="Consolas" pitchFamily="34" charset="0"/>
                <a:ea typeface="Consolas" pitchFamily="34" charset="-122"/>
                <a:cs typeface="Consolas" pitchFamily="34" charset="-120"/>
              </a:rPr>
              <a:t>Research &amp; Creative</a:t>
            </a:r>
            <a:endParaRPr lang="en-US" sz="900" dirty="0"/>
          </a:p>
        </p:txBody>
      </p:sp>
      <p:sp>
        <p:nvSpPr>
          <p:cNvPr id="52" name="Text 44"/>
          <p:cNvSpPr/>
          <p:nvPr/>
        </p:nvSpPr>
        <p:spPr>
          <a:xfrm>
            <a:off x="7358658" y="2115145"/>
            <a:ext cx="1228404" cy="317227"/>
          </a:xfrm>
          <a:prstGeom prst="rect">
            <a:avLst/>
          </a:prstGeom>
          <a:noFill/>
          <a:ln/>
        </p:spPr>
        <p:txBody>
          <a:bodyPr wrap="square" lIns="0" tIns="0" rIns="0" bIns="0" rtlCol="0" anchor="t"/>
          <a:lstStyle/>
          <a:p>
            <a:pPr marL="0" indent="0" algn="l">
              <a:lnSpc>
                <a:spcPts val="1189"/>
              </a:lnSpc>
              <a:buNone/>
            </a:pPr>
            <a:r>
              <a:rPr lang="en-US" sz="820" dirty="0">
                <a:solidFill>
                  <a:srgbClr val="8B9CB6"/>
                </a:solidFill>
                <a:latin typeface="Calibri" pitchFamily="34" charset="0"/>
                <a:ea typeface="Calibri" pitchFamily="34" charset="-122"/>
                <a:cs typeface="Calibri" pitchFamily="34" charset="-120"/>
              </a:rPr>
              <a:t>Generate, analyze, and learn</a:t>
            </a:r>
            <a:endParaRPr lang="en-US" sz="820" dirty="0"/>
          </a:p>
        </p:txBody>
      </p:sp>
      <p:sp>
        <p:nvSpPr>
          <p:cNvPr id="56" name="Text 48"/>
          <p:cNvSpPr/>
          <p:nvPr/>
        </p:nvSpPr>
        <p:spPr>
          <a:xfrm>
            <a:off x="2136874" y="4580000"/>
            <a:ext cx="4870252" cy="374452"/>
          </a:xfrm>
          <a:prstGeom prst="roundRect">
            <a:avLst>
              <a:gd name="adj" fmla="val 18993"/>
            </a:avLst>
          </a:prstGeom>
          <a:gradFill rotWithShape="1">
            <a:gsLst>
              <a:gs pos="0">
                <a:srgbClr val="76B900">
                  <a:alpha val="8000"/>
                </a:srgbClr>
              </a:gs>
              <a:gs pos="100000">
                <a:srgbClr val="76B900">
                  <a:alpha val="3000"/>
                </a:srgbClr>
              </a:gs>
            </a:gsLst>
            <a:lin ang="2700000" scaled="1"/>
          </a:gradFill>
          <a:ln w="9525">
            <a:solidFill>
              <a:srgbClr val="76B900">
                <a:alpha val="20000"/>
              </a:srgbClr>
            </a:solidFill>
          </a:ln>
        </p:spPr>
        <p:txBody>
          <a:bodyPr wrap="square" rtlCol="0" anchor="t"/>
          <a:lstStyle/>
          <a:p>
            <a:pPr marL="0" indent="0">
              <a:buNone/>
            </a:pPr>
            <a:endParaRPr lang="en-US" dirty="0"/>
          </a:p>
        </p:txBody>
      </p:sp>
      <p:pic>
        <p:nvPicPr>
          <p:cNvPr id="5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2362507" y="4701000"/>
            <a:ext cx="132588" cy="132588"/>
          </a:xfrm>
          <a:prstGeom prst="rect">
            <a:avLst/>
          </a:prstGeom>
        </p:spPr>
      </p:pic>
      <p:sp>
        <p:nvSpPr>
          <p:cNvPr id="58" name="Text 49"/>
          <p:cNvSpPr/>
          <p:nvPr/>
        </p:nvSpPr>
        <p:spPr>
          <a:xfrm>
            <a:off x="2358918" y="4676000"/>
            <a:ext cx="4620086" cy="182761"/>
          </a:xfrm>
          <a:prstGeom prst="rect">
            <a:avLst/>
          </a:prstGeom>
          <a:noFill/>
          <a:ln/>
        </p:spPr>
        <p:txBody>
          <a:bodyPr wrap="none" lIns="0" tIns="0" rIns="0" bIns="0" rtlCol="0" anchor="ctr"/>
          <a:lstStyle/>
          <a:p>
            <a:pPr marL="0" indent="0" algn="ctr">
              <a:lnSpc>
                <a:spcPts val="1440"/>
              </a:lnSpc>
              <a:buNone/>
            </a:pPr>
            <a:r>
              <a:rPr lang="en-US" sz="960" dirty="0">
                <a:solidFill>
                  <a:srgbClr val="8B9CB6"/>
                </a:solidFill>
                <a:latin typeface="Calibri" pitchFamily="34" charset="0"/>
                <a:ea typeface="Calibri" pitchFamily="34" charset="-122"/>
                <a:cs typeface="Calibri" pitchFamily="34" charset="-120"/>
              </a:rPr>
              <a:t>Extensible architecture — add your own tools via plugins and custom scripts</a:t>
            </a:r>
            <a:endParaRPr lang="en-US" sz="960" dirty="0"/>
          </a:p>
        </p:txBody>
      </p:sp>
      <p:sp>
        <p:nvSpPr>
          <p:cNvPr id="100" name="Pill_100"/>
          <p:cNvSpPr/>
          <p:nvPr/>
        </p:nvSpPr>
        <p:spPr>
          <a:xfrm>
            <a:off x="594866" y="2350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shell commands</a:t>
            </a:r>
            <a:endParaRPr lang="en-US"/>
          </a:p>
        </p:txBody>
      </p:sp>
      <p:sp>
        <p:nvSpPr>
          <p:cNvPr id="101" name="Pill_101"/>
          <p:cNvSpPr/>
          <p:nvPr/>
        </p:nvSpPr>
        <p:spPr>
          <a:xfrm>
            <a:off x="594866" y="2516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code execution</a:t>
            </a:r>
            <a:endParaRPr lang="en-US"/>
          </a:p>
        </p:txBody>
      </p:sp>
      <p:sp>
        <p:nvSpPr>
          <p:cNvPr id="102" name="Pill_102"/>
          <p:cNvSpPr/>
          <p:nvPr/>
        </p:nvSpPr>
        <p:spPr>
          <a:xfrm>
            <a:off x="594866" y="2682000"/>
            <a:ext cx="59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web browsing</a:t>
            </a:r>
            <a:endParaRPr lang="en-US"/>
          </a:p>
        </p:txBody>
      </p:sp>
      <p:sp>
        <p:nvSpPr>
          <p:cNvPr id="103" name="Pill_103"/>
          <p:cNvSpPr/>
          <p:nvPr/>
        </p:nvSpPr>
        <p:spPr>
          <a:xfrm>
            <a:off x="594866" y="2848000"/>
            <a:ext cx="50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web search</a:t>
            </a:r>
            <a:endParaRPr lang="en-US"/>
          </a:p>
        </p:txBody>
      </p:sp>
      <p:sp>
        <p:nvSpPr>
          <p:cNvPr id="104" name="Pill_104"/>
          <p:cNvSpPr/>
          <p:nvPr/>
        </p:nvSpPr>
        <p:spPr>
          <a:xfrm>
            <a:off x="594866" y="3014000"/>
            <a:ext cx="71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file read/write</a:t>
            </a:r>
            <a:endParaRPr lang="en-US"/>
          </a:p>
        </p:txBody>
      </p:sp>
      <p:sp>
        <p:nvSpPr>
          <p:cNvPr id="105" name="Pill_105"/>
          <p:cNvSpPr/>
          <p:nvPr/>
        </p:nvSpPr>
        <p:spPr>
          <a:xfrm>
            <a:off x="594866" y="3180000"/>
            <a:ext cx="71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cron scheduling</a:t>
            </a:r>
            <a:endParaRPr lang="en-US"/>
          </a:p>
        </p:txBody>
      </p:sp>
      <p:sp>
        <p:nvSpPr>
          <p:cNvPr id="106" name="Pill_106"/>
          <p:cNvSpPr/>
          <p:nvPr/>
        </p:nvSpPr>
        <p:spPr>
          <a:xfrm>
            <a:off x="594866" y="3346000"/>
            <a:ext cx="80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SSH remote access</a:t>
            </a:r>
            <a:endParaRPr lang="en-US"/>
          </a:p>
        </p:txBody>
      </p:sp>
      <p:sp>
        <p:nvSpPr>
          <p:cNvPr id="107" name="Pill_107"/>
          <p:cNvSpPr/>
          <p:nvPr/>
        </p:nvSpPr>
        <p:spPr>
          <a:xfrm>
            <a:off x="594866" y="3512000"/>
            <a:ext cx="71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process monitor</a:t>
            </a:r>
            <a:endParaRPr lang="en-US"/>
          </a:p>
        </p:txBody>
      </p:sp>
      <p:sp>
        <p:nvSpPr>
          <p:cNvPr id="108" name="Pill_108"/>
          <p:cNvSpPr/>
          <p:nvPr/>
        </p:nvSpPr>
        <p:spPr>
          <a:xfrm>
            <a:off x="594866" y="3678000"/>
            <a:ext cx="59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log analysis</a:t>
            </a:r>
            <a:endParaRPr lang="en-US"/>
          </a:p>
        </p:txBody>
      </p:sp>
      <p:sp>
        <p:nvSpPr>
          <p:cNvPr id="109" name="Pill_109"/>
          <p:cNvSpPr/>
          <p:nvPr/>
        </p:nvSpPr>
        <p:spPr>
          <a:xfrm>
            <a:off x="594866" y="3844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env management</a:t>
            </a:r>
            <a:endParaRPr lang="en-US"/>
          </a:p>
        </p:txBody>
      </p:sp>
      <p:sp>
        <p:nvSpPr>
          <p:cNvPr id="110" name="Pill_110"/>
          <p:cNvSpPr/>
          <p:nvPr/>
        </p:nvSpPr>
        <p:spPr>
          <a:xfrm>
            <a:off x="594866" y="4010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HTTP requests</a:t>
            </a:r>
            <a:endParaRPr lang="en-US"/>
          </a:p>
        </p:txBody>
      </p:sp>
      <p:sp>
        <p:nvSpPr>
          <p:cNvPr id="111" name="Pill_111"/>
          <p:cNvSpPr/>
          <p:nvPr/>
        </p:nvSpPr>
        <p:spPr>
          <a:xfrm>
            <a:off x="594866" y="4176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regex parsing</a:t>
            </a:r>
            <a:endParaRPr lang="en-US"/>
          </a:p>
        </p:txBody>
      </p:sp>
      <p:sp>
        <p:nvSpPr>
          <p:cNvPr id="112" name="Pill_112"/>
          <p:cNvSpPr/>
          <p:nvPr/>
        </p:nvSpPr>
        <p:spPr>
          <a:xfrm>
            <a:off x="2289274" y="2350000"/>
            <a:ext cx="59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email triage</a:t>
            </a:r>
            <a:endParaRPr lang="en-US"/>
          </a:p>
        </p:txBody>
      </p:sp>
      <p:sp>
        <p:nvSpPr>
          <p:cNvPr id="113" name="Pill_113"/>
          <p:cNvSpPr/>
          <p:nvPr/>
        </p:nvSpPr>
        <p:spPr>
          <a:xfrm>
            <a:off x="2289274" y="2516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calendar mgmt</a:t>
            </a:r>
            <a:endParaRPr lang="en-US"/>
          </a:p>
        </p:txBody>
      </p:sp>
      <p:sp>
        <p:nvSpPr>
          <p:cNvPr id="114" name="Pill_114"/>
          <p:cNvSpPr/>
          <p:nvPr/>
        </p:nvSpPr>
        <p:spPr>
          <a:xfrm>
            <a:off x="2289274" y="2682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meeting notes</a:t>
            </a:r>
            <a:endParaRPr lang="en-US"/>
          </a:p>
        </p:txBody>
      </p:sp>
      <p:sp>
        <p:nvSpPr>
          <p:cNvPr id="115" name="Pill_115"/>
          <p:cNvSpPr/>
          <p:nvPr/>
        </p:nvSpPr>
        <p:spPr>
          <a:xfrm>
            <a:off x="2289274" y="2848000"/>
            <a:ext cx="71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spreadsheet ops</a:t>
            </a:r>
            <a:endParaRPr lang="en-US"/>
          </a:p>
        </p:txBody>
      </p:sp>
      <p:sp>
        <p:nvSpPr>
          <p:cNvPr id="116" name="Pill_116"/>
          <p:cNvSpPr/>
          <p:nvPr/>
        </p:nvSpPr>
        <p:spPr>
          <a:xfrm>
            <a:off x="2289274" y="3014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doc generation</a:t>
            </a:r>
            <a:endParaRPr lang="en-US"/>
          </a:p>
        </p:txBody>
      </p:sp>
      <p:sp>
        <p:nvSpPr>
          <p:cNvPr id="117" name="Pill_117"/>
          <p:cNvSpPr/>
          <p:nvPr/>
        </p:nvSpPr>
        <p:spPr>
          <a:xfrm>
            <a:off x="2289274" y="3180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task tracking</a:t>
            </a:r>
            <a:endParaRPr lang="en-US"/>
          </a:p>
        </p:txBody>
      </p:sp>
      <p:sp>
        <p:nvSpPr>
          <p:cNvPr id="118" name="Pill_118"/>
          <p:cNvSpPr/>
          <p:nvPr/>
        </p:nvSpPr>
        <p:spPr>
          <a:xfrm>
            <a:off x="2289274" y="3346000"/>
            <a:ext cx="84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invoice processing</a:t>
            </a:r>
            <a:endParaRPr lang="en-US"/>
          </a:p>
        </p:txBody>
      </p:sp>
      <p:sp>
        <p:nvSpPr>
          <p:cNvPr id="119" name="Pill_119"/>
          <p:cNvSpPr/>
          <p:nvPr/>
        </p:nvSpPr>
        <p:spPr>
          <a:xfrm>
            <a:off x="2289274" y="3512000"/>
            <a:ext cx="71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expense reports</a:t>
            </a:r>
            <a:endParaRPr lang="en-US"/>
          </a:p>
        </p:txBody>
      </p:sp>
      <p:sp>
        <p:nvSpPr>
          <p:cNvPr id="120" name="Pill_120"/>
          <p:cNvSpPr/>
          <p:nvPr/>
        </p:nvSpPr>
        <p:spPr>
          <a:xfrm>
            <a:off x="2289274" y="3678000"/>
            <a:ext cx="50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data entry</a:t>
            </a:r>
            <a:endParaRPr lang="en-US"/>
          </a:p>
        </p:txBody>
      </p:sp>
      <p:sp>
        <p:nvSpPr>
          <p:cNvPr id="121" name="Pill_121"/>
          <p:cNvSpPr/>
          <p:nvPr/>
        </p:nvSpPr>
        <p:spPr>
          <a:xfrm>
            <a:off x="2289274" y="3844000"/>
            <a:ext cx="59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form filling</a:t>
            </a:r>
            <a:endParaRPr lang="en-US"/>
          </a:p>
        </p:txBody>
      </p:sp>
      <p:sp>
        <p:nvSpPr>
          <p:cNvPr id="122" name="Pill_122"/>
          <p:cNvSpPr/>
          <p:nvPr/>
        </p:nvSpPr>
        <p:spPr>
          <a:xfrm>
            <a:off x="2289274" y="4010000"/>
            <a:ext cx="76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Google Workspace</a:t>
            </a:r>
            <a:endParaRPr lang="en-US"/>
          </a:p>
        </p:txBody>
      </p:sp>
      <p:sp>
        <p:nvSpPr>
          <p:cNvPr id="123" name="Pill_123"/>
          <p:cNvSpPr/>
          <p:nvPr/>
        </p:nvSpPr>
        <p:spPr>
          <a:xfrm>
            <a:off x="2289274" y="4176000"/>
            <a:ext cx="55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Notion sync</a:t>
            </a:r>
            <a:endParaRPr lang="en-US"/>
          </a:p>
        </p:txBody>
      </p:sp>
      <p:sp>
        <p:nvSpPr>
          <p:cNvPr id="124" name="Pill_124"/>
          <p:cNvSpPr/>
          <p:nvPr/>
        </p:nvSpPr>
        <p:spPr>
          <a:xfrm>
            <a:off x="3983682" y="2350000"/>
            <a:ext cx="59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Telegram bot</a:t>
            </a:r>
            <a:endParaRPr lang="en-US"/>
          </a:p>
        </p:txBody>
      </p:sp>
      <p:sp>
        <p:nvSpPr>
          <p:cNvPr id="125" name="Pill_125"/>
          <p:cNvSpPr/>
          <p:nvPr/>
        </p:nvSpPr>
        <p:spPr>
          <a:xfrm>
            <a:off x="3983682" y="2516000"/>
            <a:ext cx="59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WhatsApp bot</a:t>
            </a:r>
            <a:endParaRPr lang="en-US"/>
          </a:p>
        </p:txBody>
      </p:sp>
      <p:sp>
        <p:nvSpPr>
          <p:cNvPr id="126" name="Pill_126"/>
          <p:cNvSpPr/>
          <p:nvPr/>
        </p:nvSpPr>
        <p:spPr>
          <a:xfrm>
            <a:off x="3983682" y="2682000"/>
            <a:ext cx="55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Discord bot</a:t>
            </a:r>
            <a:endParaRPr lang="en-US"/>
          </a:p>
        </p:txBody>
      </p:sp>
      <p:sp>
        <p:nvSpPr>
          <p:cNvPr id="127" name="Pill_127"/>
          <p:cNvSpPr/>
          <p:nvPr/>
        </p:nvSpPr>
        <p:spPr>
          <a:xfrm>
            <a:off x="3983682" y="2848000"/>
            <a:ext cx="46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Slack bot</a:t>
            </a:r>
            <a:endParaRPr lang="en-US"/>
          </a:p>
        </p:txBody>
      </p:sp>
      <p:sp>
        <p:nvSpPr>
          <p:cNvPr id="128" name="Pill_128"/>
          <p:cNvSpPr/>
          <p:nvPr/>
        </p:nvSpPr>
        <p:spPr>
          <a:xfrm>
            <a:off x="3983682" y="3014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Teams messages</a:t>
            </a:r>
            <a:endParaRPr lang="en-US"/>
          </a:p>
        </p:txBody>
      </p:sp>
      <p:sp>
        <p:nvSpPr>
          <p:cNvPr id="129" name="Pill_129"/>
          <p:cNvSpPr/>
          <p:nvPr/>
        </p:nvSpPr>
        <p:spPr>
          <a:xfrm>
            <a:off x="3983682" y="3180000"/>
            <a:ext cx="50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SMS alerts</a:t>
            </a:r>
            <a:endParaRPr lang="en-US"/>
          </a:p>
        </p:txBody>
      </p:sp>
      <p:sp>
        <p:nvSpPr>
          <p:cNvPr id="130" name="Pill_130"/>
          <p:cNvSpPr/>
          <p:nvPr/>
        </p:nvSpPr>
        <p:spPr>
          <a:xfrm>
            <a:off x="3983682" y="3346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email compose</a:t>
            </a:r>
            <a:endParaRPr lang="en-US"/>
          </a:p>
        </p:txBody>
      </p:sp>
      <p:sp>
        <p:nvSpPr>
          <p:cNvPr id="131" name="Pill_131"/>
          <p:cNvSpPr/>
          <p:nvPr/>
        </p:nvSpPr>
        <p:spPr>
          <a:xfrm>
            <a:off x="3983682" y="3512000"/>
            <a:ext cx="50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auto-reply</a:t>
            </a:r>
            <a:endParaRPr lang="en-US"/>
          </a:p>
        </p:txBody>
      </p:sp>
      <p:sp>
        <p:nvSpPr>
          <p:cNvPr id="132" name="Pill_132"/>
          <p:cNvSpPr/>
          <p:nvPr/>
        </p:nvSpPr>
        <p:spPr>
          <a:xfrm>
            <a:off x="3983682" y="3678000"/>
            <a:ext cx="71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chat moderation</a:t>
            </a:r>
            <a:endParaRPr lang="en-US"/>
          </a:p>
        </p:txBody>
      </p:sp>
      <p:sp>
        <p:nvSpPr>
          <p:cNvPr id="133" name="Pill_133"/>
          <p:cNvSpPr/>
          <p:nvPr/>
        </p:nvSpPr>
        <p:spPr>
          <a:xfrm>
            <a:off x="3983682" y="3844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notifications</a:t>
            </a:r>
            <a:endParaRPr lang="en-US"/>
          </a:p>
        </p:txBody>
      </p:sp>
      <p:sp>
        <p:nvSpPr>
          <p:cNvPr id="134" name="Pill_134"/>
          <p:cNvSpPr/>
          <p:nvPr/>
        </p:nvSpPr>
        <p:spPr>
          <a:xfrm>
            <a:off x="3983682" y="4010000"/>
            <a:ext cx="71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webhook routing</a:t>
            </a:r>
            <a:endParaRPr lang="en-US"/>
          </a:p>
        </p:txBody>
      </p:sp>
      <p:sp>
        <p:nvSpPr>
          <p:cNvPr id="135" name="Pill_135"/>
          <p:cNvSpPr/>
          <p:nvPr/>
        </p:nvSpPr>
        <p:spPr>
          <a:xfrm>
            <a:off x="5678091" y="2350000"/>
            <a:ext cx="50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GitHub ops</a:t>
            </a:r>
            <a:endParaRPr lang="en-US"/>
          </a:p>
        </p:txBody>
      </p:sp>
      <p:sp>
        <p:nvSpPr>
          <p:cNvPr id="136" name="Pill_136"/>
          <p:cNvSpPr/>
          <p:nvPr/>
        </p:nvSpPr>
        <p:spPr>
          <a:xfrm>
            <a:off x="5678091" y="2516000"/>
            <a:ext cx="46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PR review</a:t>
            </a:r>
            <a:endParaRPr lang="en-US"/>
          </a:p>
        </p:txBody>
      </p:sp>
      <p:sp>
        <p:nvSpPr>
          <p:cNvPr id="137" name="Pill_137"/>
          <p:cNvSpPr/>
          <p:nvPr/>
        </p:nvSpPr>
        <p:spPr>
          <a:xfrm>
            <a:off x="5678091" y="2682000"/>
            <a:ext cx="50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bug triage</a:t>
            </a:r>
            <a:endParaRPr lang="en-US"/>
          </a:p>
        </p:txBody>
      </p:sp>
      <p:sp>
        <p:nvSpPr>
          <p:cNvPr id="138" name="Pill_138"/>
          <p:cNvSpPr/>
          <p:nvPr/>
        </p:nvSpPr>
        <p:spPr>
          <a:xfrm>
            <a:off x="5678091" y="2848000"/>
            <a:ext cx="71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test generation</a:t>
            </a:r>
            <a:endParaRPr lang="en-US"/>
          </a:p>
        </p:txBody>
      </p:sp>
      <p:sp>
        <p:nvSpPr>
          <p:cNvPr id="139" name="Pill_139"/>
          <p:cNvSpPr/>
          <p:nvPr/>
        </p:nvSpPr>
        <p:spPr>
          <a:xfrm>
            <a:off x="5678091" y="3014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CI/CD pipeline</a:t>
            </a:r>
            <a:endParaRPr lang="en-US"/>
          </a:p>
        </p:txBody>
      </p:sp>
      <p:sp>
        <p:nvSpPr>
          <p:cNvPr id="140" name="Pill_140"/>
          <p:cNvSpPr/>
          <p:nvPr/>
        </p:nvSpPr>
        <p:spPr>
          <a:xfrm>
            <a:off x="5678091" y="3180000"/>
            <a:ext cx="55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dep updates</a:t>
            </a:r>
            <a:endParaRPr lang="en-US"/>
          </a:p>
        </p:txBody>
      </p:sp>
      <p:sp>
        <p:nvSpPr>
          <p:cNvPr id="141" name="Pill_141"/>
          <p:cNvSpPr/>
          <p:nvPr/>
        </p:nvSpPr>
        <p:spPr>
          <a:xfrm>
            <a:off x="5678091" y="3346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code refactor</a:t>
            </a:r>
            <a:endParaRPr lang="en-US"/>
          </a:p>
        </p:txBody>
      </p:sp>
      <p:sp>
        <p:nvSpPr>
          <p:cNvPr id="142" name="Pill_142"/>
          <p:cNvSpPr/>
          <p:nvPr/>
        </p:nvSpPr>
        <p:spPr>
          <a:xfrm>
            <a:off x="5678091" y="3512000"/>
            <a:ext cx="55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API testing</a:t>
            </a:r>
            <a:endParaRPr lang="en-US"/>
          </a:p>
        </p:txBody>
      </p:sp>
      <p:sp>
        <p:nvSpPr>
          <p:cNvPr id="143" name="Pill_143"/>
          <p:cNvSpPr/>
          <p:nvPr/>
        </p:nvSpPr>
        <p:spPr>
          <a:xfrm>
            <a:off x="5678091" y="3678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deploy scripts</a:t>
            </a:r>
            <a:endParaRPr lang="en-US"/>
          </a:p>
        </p:txBody>
      </p:sp>
      <p:sp>
        <p:nvSpPr>
          <p:cNvPr id="144" name="Pill_144"/>
          <p:cNvSpPr/>
          <p:nvPr/>
        </p:nvSpPr>
        <p:spPr>
          <a:xfrm>
            <a:off x="5678091" y="3844000"/>
            <a:ext cx="55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Docker mgmt</a:t>
            </a:r>
            <a:endParaRPr lang="en-US"/>
          </a:p>
        </p:txBody>
      </p:sp>
      <p:sp>
        <p:nvSpPr>
          <p:cNvPr id="145" name="Pill_145"/>
          <p:cNvSpPr/>
          <p:nvPr/>
        </p:nvSpPr>
        <p:spPr>
          <a:xfrm>
            <a:off x="5678091" y="4010000"/>
            <a:ext cx="508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DB queries</a:t>
            </a:r>
            <a:endParaRPr lang="en-US"/>
          </a:p>
        </p:txBody>
      </p:sp>
      <p:sp>
        <p:nvSpPr>
          <p:cNvPr id="146" name="Pill_146"/>
          <p:cNvSpPr/>
          <p:nvPr/>
        </p:nvSpPr>
        <p:spPr>
          <a:xfrm>
            <a:off x="5678091" y="4176000"/>
            <a:ext cx="55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log parsing</a:t>
            </a:r>
            <a:endParaRPr lang="en-US"/>
          </a:p>
        </p:txBody>
      </p:sp>
      <p:sp>
        <p:nvSpPr>
          <p:cNvPr id="147" name="Pill_147"/>
          <p:cNvSpPr/>
          <p:nvPr/>
        </p:nvSpPr>
        <p:spPr>
          <a:xfrm>
            <a:off x="7372499" y="2350000"/>
            <a:ext cx="76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image generation</a:t>
            </a:r>
            <a:endParaRPr lang="en-US"/>
          </a:p>
        </p:txBody>
      </p:sp>
      <p:sp>
        <p:nvSpPr>
          <p:cNvPr id="148" name="Pill_148"/>
          <p:cNvSpPr/>
          <p:nvPr/>
        </p:nvSpPr>
        <p:spPr>
          <a:xfrm>
            <a:off x="7372499" y="2516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PDF processing</a:t>
            </a:r>
            <a:endParaRPr lang="en-US"/>
          </a:p>
        </p:txBody>
      </p:sp>
      <p:sp>
        <p:nvSpPr>
          <p:cNvPr id="149" name="Pill_149"/>
          <p:cNvSpPr/>
          <p:nvPr/>
        </p:nvSpPr>
        <p:spPr>
          <a:xfrm>
            <a:off x="7372499" y="2682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knowledge base</a:t>
            </a:r>
            <a:endParaRPr lang="en-US"/>
          </a:p>
        </p:txBody>
      </p:sp>
      <p:sp>
        <p:nvSpPr>
          <p:cNvPr id="150" name="Pill_150"/>
          <p:cNvSpPr/>
          <p:nvPr/>
        </p:nvSpPr>
        <p:spPr>
          <a:xfrm>
            <a:off x="7372499" y="2848000"/>
            <a:ext cx="59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web scraping</a:t>
            </a:r>
            <a:endParaRPr lang="en-US"/>
          </a:p>
        </p:txBody>
      </p:sp>
      <p:sp>
        <p:nvSpPr>
          <p:cNvPr id="151" name="Pill_151"/>
          <p:cNvSpPr/>
          <p:nvPr/>
        </p:nvSpPr>
        <p:spPr>
          <a:xfrm>
            <a:off x="7372499" y="3014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data analysis</a:t>
            </a:r>
            <a:endParaRPr lang="en-US"/>
          </a:p>
        </p:txBody>
      </p:sp>
      <p:sp>
        <p:nvSpPr>
          <p:cNvPr id="152" name="Pill_152"/>
          <p:cNvSpPr/>
          <p:nvPr/>
        </p:nvSpPr>
        <p:spPr>
          <a:xfrm>
            <a:off x="7372499" y="3180000"/>
            <a:ext cx="676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report writing</a:t>
            </a:r>
            <a:endParaRPr lang="en-US"/>
          </a:p>
        </p:txBody>
      </p:sp>
      <p:sp>
        <p:nvSpPr>
          <p:cNvPr id="153" name="Pill_153"/>
          <p:cNvSpPr/>
          <p:nvPr/>
        </p:nvSpPr>
        <p:spPr>
          <a:xfrm>
            <a:off x="7372499" y="3346000"/>
            <a:ext cx="76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content creation</a:t>
            </a:r>
            <a:endParaRPr lang="en-US"/>
          </a:p>
        </p:txBody>
      </p:sp>
      <p:sp>
        <p:nvSpPr>
          <p:cNvPr id="154" name="Pill_154"/>
          <p:cNvSpPr/>
          <p:nvPr/>
        </p:nvSpPr>
        <p:spPr>
          <a:xfrm>
            <a:off x="7372499" y="3512000"/>
            <a:ext cx="55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translation</a:t>
            </a:r>
            <a:endParaRPr lang="en-US"/>
          </a:p>
        </p:txBody>
      </p:sp>
      <p:sp>
        <p:nvSpPr>
          <p:cNvPr id="155" name="Pill_155"/>
          <p:cNvSpPr/>
          <p:nvPr/>
        </p:nvSpPr>
        <p:spPr>
          <a:xfrm>
            <a:off x="7372499" y="3678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summarization</a:t>
            </a:r>
            <a:endParaRPr lang="en-US"/>
          </a:p>
        </p:txBody>
      </p:sp>
      <p:sp>
        <p:nvSpPr>
          <p:cNvPr id="156" name="Pill_156"/>
          <p:cNvSpPr/>
          <p:nvPr/>
        </p:nvSpPr>
        <p:spPr>
          <a:xfrm>
            <a:off x="7372499" y="3844000"/>
            <a:ext cx="550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SEO content</a:t>
            </a:r>
            <a:endParaRPr lang="en-US"/>
          </a:p>
        </p:txBody>
      </p:sp>
      <p:sp>
        <p:nvSpPr>
          <p:cNvPr id="157" name="Pill_157"/>
          <p:cNvSpPr/>
          <p:nvPr/>
        </p:nvSpPr>
        <p:spPr>
          <a:xfrm>
            <a:off x="7372499" y="4010000"/>
            <a:ext cx="592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social posts</a:t>
            </a:r>
            <a:endParaRPr lang="en-US"/>
          </a:p>
        </p:txBody>
      </p:sp>
      <p:sp>
        <p:nvSpPr>
          <p:cNvPr id="158" name="Pill_158"/>
          <p:cNvSpPr/>
          <p:nvPr/>
        </p:nvSpPr>
        <p:spPr>
          <a:xfrm>
            <a:off x="7372499" y="4176000"/>
            <a:ext cx="634000" cy="148000"/>
          </a:xfrm>
          <a:prstGeom prst="roundRect">
            <a:avLst>
              <a:gd name="adj" fmla="val 15070"/>
            </a:avLst>
          </a:prstGeom>
          <a:solidFill>
            <a:srgbClr val="76B900">
              <a:alpha val="8000"/>
            </a:srgbClr>
          </a:solidFill>
          <a:ln w="9525">
            <a:solidFill>
              <a:srgbClr val="76B900">
                <a:alpha val="15000"/>
              </a:srgbClr>
            </a:solidFill>
          </a:ln>
        </p:spPr>
        <p:txBody>
          <a:bodyPr wrap="none" lIns="0" tIns="0" rIns="0" bIns="0" rtlCol="0" anchor="ctr"/>
          <a:lstStyle/>
          <a:p>
            <a:pPr marL="0" indent="0" algn="ctr">
              <a:buNone/>
            </a:pPr>
            <a:r>
              <a:rPr lang="en-US" sz="580">
                <a:solidFill>
                  <a:srgbClr val="E2E8F0"/>
                </a:solidFill>
                <a:latin typeface="Consolas" pitchFamily="34" charset="0"/>
                <a:ea typeface="Consolas" pitchFamily="34" charset="-122"/>
                <a:cs typeface="Consolas" pitchFamily="34" charset="-120"/>
              </a:rPr>
              <a:t>video scripts</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76B900">
                  <a:alpha val="3000"/>
                </a:srgbClr>
              </a:gs>
              <a:gs pos="100000">
                <a:srgbClr val="000000">
                  <a:alpha val="0"/>
                </a:srgbClr>
              </a:gs>
            </a:gsLst>
            <a:lin ang="0" scaled="1"/>
          </a:gradFill>
          <a:ln/>
        </p:spPr>
        <p:txBody>
          <a:bodyPr wrap="square" rtlCol="0" anchor="t"/>
          <a:lstStyle/>
          <a:p>
            <a:pPr marL="0" indent="0">
              <a:buNone/>
            </a:pPr>
            <a:endParaRPr lang="en-US" dirty="0"/>
          </a:p>
        </p:txBody>
      </p:sp>
      <p:sp>
        <p:nvSpPr>
          <p:cNvPr id="4" name="Text 2"/>
          <p:cNvSpPr/>
          <p:nvPr/>
        </p:nvSpPr>
        <p:spPr>
          <a:xfrm>
            <a:off x="2700635" y="285750"/>
            <a:ext cx="4004721" cy="386655"/>
          </a:xfrm>
          <a:prstGeom prst="rect">
            <a:avLst/>
          </a:prstGeom>
          <a:noFill/>
          <a:ln/>
        </p:spPr>
        <p:txBody>
          <a:bodyPr wrap="none" lIns="0" tIns="0" rIns="0" bIns="0" rtlCol="0" anchor="t"/>
          <a:lstStyle/>
          <a:p>
            <a:pPr marL="0" indent="0" algn="l">
              <a:lnSpc>
                <a:spcPts val="3045"/>
              </a:lnSpc>
              <a:spcAft>
                <a:spcPts val="230"/>
              </a:spcAft>
              <a:buNone/>
            </a:pPr>
            <a:r>
              <a:rPr lang="en-US" sz="2030" b="1" kern="0" spc="60" dirty="0">
                <a:solidFill>
                  <a:srgbClr val="E2E8F0"/>
                </a:solidFill>
                <a:latin typeface="Consolas" pitchFamily="34" charset="0"/>
                <a:ea typeface="Consolas" pitchFamily="34" charset="-122"/>
                <a:cs typeface="Consolas" pitchFamily="34" charset="-120"/>
              </a:rPr>
              <a:t>High-Level Architecture</a:t>
            </a:r>
            <a:endParaRPr lang="en-US" sz="2030" dirty="0"/>
          </a:p>
        </p:txBody>
      </p:sp>
      <p:sp>
        <p:nvSpPr>
          <p:cNvPr id="5" name="Text 3"/>
          <p:cNvSpPr/>
          <p:nvPr/>
        </p:nvSpPr>
        <p:spPr>
          <a:xfrm>
            <a:off x="3129855" y="701576"/>
            <a:ext cx="3172554" cy="171450"/>
          </a:xfrm>
          <a:prstGeom prst="rect">
            <a:avLst/>
          </a:prstGeom>
          <a:noFill/>
          <a:ln/>
        </p:spPr>
        <p:txBody>
          <a:bodyPr wrap="none" lIns="0" tIns="0" rIns="0" bIns="0" rtlCol="0" anchor="t"/>
          <a:lstStyle/>
          <a:p>
            <a:pPr marL="0" indent="0" algn="l">
              <a:lnSpc>
                <a:spcPts val="1350"/>
              </a:lnSpc>
              <a:spcAft>
                <a:spcPts val="450"/>
              </a:spcAft>
              <a:buNone/>
            </a:pPr>
            <a:r>
              <a:rPr lang="en-US" sz="900" dirty="0">
                <a:solidFill>
                  <a:srgbClr val="8B9CB6"/>
                </a:solidFill>
                <a:latin typeface="Calibri" pitchFamily="34" charset="0"/>
                <a:ea typeface="Calibri" pitchFamily="34" charset="-122"/>
                <a:cs typeface="Calibri" pitchFamily="34" charset="-120"/>
              </a:rPr>
              <a:t>How your local AI stack connects — from model to action</a:t>
            </a:r>
            <a:endParaRPr lang="en-US" sz="900" dirty="0"/>
          </a:p>
        </p:txBody>
      </p:sp>
      <p:sp>
        <p:nvSpPr>
          <p:cNvPr id="6" name="Text 4"/>
          <p:cNvSpPr/>
          <p:nvPr/>
        </p:nvSpPr>
        <p:spPr>
          <a:xfrm>
            <a:off x="400050" y="959346"/>
            <a:ext cx="8343900" cy="13841"/>
          </a:xfrm>
          <a:prstGeom prst="roundRect">
            <a:avLst>
              <a:gd name="adj" fmla="val 55054"/>
            </a:avLst>
          </a:prstGeom>
          <a:gradFill rotWithShape="1">
            <a:gsLst>
              <a:gs pos="0">
                <a:srgbClr val="000000">
                  <a:alpha val="0"/>
                </a:srgbClr>
              </a:gs>
              <a:gs pos="25000">
                <a:srgbClr val="76B900">
                  <a:alpha val="50000"/>
                </a:srgbClr>
              </a:gs>
              <a:gs pos="50000">
                <a:srgbClr val="76B900"/>
              </a:gs>
              <a:gs pos="75000">
                <a:srgbClr val="76B900">
                  <a:alpha val="50000"/>
                </a:srgbClr>
              </a:gs>
              <a:gs pos="100000">
                <a:srgbClr val="000000">
                  <a:alpha val="0"/>
                </a:srgbClr>
              </a:gs>
            </a:gsLst>
            <a:lin ang="0" scaled="1"/>
          </a:gradFill>
          <a:ln/>
        </p:spPr>
        <p:txBody>
          <a:bodyPr wrap="none" rtlCol="0" anchor="t"/>
          <a:lstStyle/>
          <a:p>
            <a:pPr marL="0" indent="0">
              <a:buNone/>
            </a:pPr>
            <a:endParaRPr lang="en-US" dirty="0"/>
          </a:p>
        </p:txBody>
      </p:sp>
      <p:sp>
        <p:nvSpPr>
          <p:cNvPr id="7" name="Text 5"/>
          <p:cNvSpPr/>
          <p:nvPr/>
        </p:nvSpPr>
        <p:spPr>
          <a:xfrm>
            <a:off x="2542580" y="1187797"/>
            <a:ext cx="1143000" cy="857250"/>
          </a:xfrm>
          <a:prstGeom prst="roundRect">
            <a:avLst>
              <a:gd name="adj" fmla="val 10074"/>
            </a:avLst>
          </a:prstGeom>
          <a:solidFill>
            <a:srgbClr val="1A2332"/>
          </a:solidFill>
          <a:ln w="9525">
            <a:solidFill>
              <a:srgbClr val="76B900">
                <a:alpha val="25000"/>
              </a:srgbClr>
            </a:solidFill>
          </a:ln>
        </p:spPr>
        <p:txBody>
          <a:bodyPr wrap="square" rtlCol="0" anchor="t"/>
          <a:lstStyle/>
          <a:p>
            <a:pPr marL="0" indent="0">
              <a:buNone/>
            </a:pPr>
            <a:endParaRPr lang="en-US" dirty="0"/>
          </a:p>
        </p:txBody>
      </p:sp>
      <p:sp>
        <p:nvSpPr>
          <p:cNvPr id="8" name="Text 6"/>
          <p:cNvSpPr/>
          <p:nvPr/>
        </p:nvSpPr>
        <p:spPr>
          <a:xfrm>
            <a:off x="3013770" y="1097012"/>
            <a:ext cx="200620" cy="220682"/>
          </a:xfrm>
          <a:prstGeom prst="ellipse">
            <a:avLst/>
          </a:prstGeom>
          <a:solidFill>
            <a:srgbClr val="76B900"/>
          </a:solidFill>
          <a:ln/>
          <a:effectLst>
            <a:outerShdw blurRad="86360" dist="50800" dir="16200000" algn="bl" rotWithShape="0">
              <a:srgbClr val="76B900">
                <a:alpha val="40000"/>
              </a:srgbClr>
            </a:outerShdw>
          </a:effectLst>
        </p:spPr>
        <p:txBody>
          <a:bodyPr wrap="none" lIns="0" tIns="0" rIns="0" bIns="0" rtlCol="0" anchor="ctr"/>
          <a:lstStyle/>
          <a:p>
            <a:pPr marL="0" indent="0" algn="ctr">
              <a:buNone/>
            </a:pPr>
            <a:r>
              <a:rPr lang="en-US" sz="730" b="1" dirty="0">
                <a:solidFill>
                  <a:srgbClr val="0A0F1A"/>
                </a:solidFill>
                <a:latin typeface="Consolas" pitchFamily="34" charset="0"/>
                <a:ea typeface="Consolas" pitchFamily="34" charset="-122"/>
                <a:cs typeface="Consolas" pitchFamily="34" charset="-120"/>
              </a:rPr>
              <a:t>1</a:t>
            </a:r>
            <a:endParaRPr lang="en-US" sz="730" dirty="0"/>
          </a:p>
        </p:txBody>
      </p:sp>
      <p:pic>
        <p:nvPicPr>
          <p:cNvPr id="9"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017341" y="1371749"/>
            <a:ext cx="193328" cy="193328"/>
          </a:xfrm>
          <a:prstGeom prst="rect">
            <a:avLst/>
          </a:prstGeom>
        </p:spPr>
      </p:pic>
      <p:sp>
        <p:nvSpPr>
          <p:cNvPr id="10" name="Text 7"/>
          <p:cNvSpPr/>
          <p:nvPr/>
        </p:nvSpPr>
        <p:spPr>
          <a:xfrm>
            <a:off x="2815478" y="1622227"/>
            <a:ext cx="597054" cy="125313"/>
          </a:xfrm>
          <a:prstGeom prst="rect">
            <a:avLst/>
          </a:prstGeom>
          <a:noFill/>
          <a:ln/>
        </p:spPr>
        <p:txBody>
          <a:bodyPr wrap="none" lIns="0" tIns="0" rIns="0" bIns="0" rtlCol="0" anchor="t"/>
          <a:lstStyle/>
          <a:p>
            <a:pPr marL="0" indent="0" algn="ctr">
              <a:lnSpc>
                <a:spcPts val="988"/>
              </a:lnSpc>
              <a:buNone/>
            </a:pPr>
            <a:r>
              <a:rPr lang="en-US" sz="790" b="1" dirty="0">
                <a:solidFill>
                  <a:srgbClr val="E2E8F0"/>
                </a:solidFill>
                <a:latin typeface="Consolas" pitchFamily="34" charset="0"/>
                <a:ea typeface="Consolas" pitchFamily="34" charset="-122"/>
                <a:cs typeface="Consolas" pitchFamily="34" charset="-120"/>
              </a:rPr>
              <a:t>Local LLM</a:t>
            </a:r>
            <a:endParaRPr lang="en-US" sz="790" dirty="0"/>
          </a:p>
        </p:txBody>
      </p:sp>
      <p:sp>
        <p:nvSpPr>
          <p:cNvPr id="11" name="Text 8"/>
          <p:cNvSpPr/>
          <p:nvPr/>
        </p:nvSpPr>
        <p:spPr>
          <a:xfrm>
            <a:off x="2858534" y="1776710"/>
            <a:ext cx="510942" cy="112216"/>
          </a:xfrm>
          <a:prstGeom prst="rect">
            <a:avLst/>
          </a:prstGeom>
          <a:noFill/>
          <a:ln/>
        </p:spPr>
        <p:txBody>
          <a:bodyPr wrap="none" lIns="0" tIns="0" rIns="0" bIns="0" rtlCol="0" anchor="t"/>
          <a:lstStyle/>
          <a:p>
            <a:pPr marL="0" indent="0" algn="ctr">
              <a:lnSpc>
                <a:spcPts val="884"/>
              </a:lnSpc>
              <a:buNone/>
            </a:pPr>
            <a:r>
              <a:rPr lang="en-US" sz="680" dirty="0">
                <a:solidFill>
                  <a:srgbClr val="8B9CB6"/>
                </a:solidFill>
                <a:latin typeface="Calibri" pitchFamily="34" charset="0"/>
                <a:ea typeface="Calibri" pitchFamily="34" charset="-122"/>
                <a:cs typeface="Calibri" pitchFamily="34" charset="-120"/>
              </a:rPr>
              <a:t>(via Ollama)</a:t>
            </a:r>
            <a:endParaRPr lang="en-US" sz="680" dirty="0"/>
          </a:p>
        </p:txBody>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746302" y="1562546"/>
            <a:ext cx="193328" cy="107603"/>
          </a:xfrm>
          <a:prstGeom prst="rect">
            <a:avLst/>
          </a:prstGeom>
        </p:spPr>
      </p:pic>
      <p:sp>
        <p:nvSpPr>
          <p:cNvPr id="13" name="Text 9"/>
          <p:cNvSpPr/>
          <p:nvPr/>
        </p:nvSpPr>
        <p:spPr>
          <a:xfrm>
            <a:off x="4000500" y="1187797"/>
            <a:ext cx="1143000" cy="857250"/>
          </a:xfrm>
          <a:prstGeom prst="roundRect">
            <a:avLst>
              <a:gd name="adj" fmla="val 10074"/>
            </a:avLst>
          </a:prstGeom>
          <a:solidFill>
            <a:srgbClr val="1A2332"/>
          </a:solidFill>
          <a:ln w="9525">
            <a:solidFill>
              <a:srgbClr val="76B900">
                <a:alpha val="25000"/>
              </a:srgbClr>
            </a:solidFill>
          </a:ln>
        </p:spPr>
        <p:txBody>
          <a:bodyPr wrap="square" rtlCol="0" anchor="t"/>
          <a:lstStyle/>
          <a:p>
            <a:pPr marL="0" indent="0">
              <a:buNone/>
            </a:pPr>
            <a:endParaRPr lang="en-US" dirty="0"/>
          </a:p>
        </p:txBody>
      </p:sp>
      <p:sp>
        <p:nvSpPr>
          <p:cNvPr id="14" name="Text 10"/>
          <p:cNvSpPr/>
          <p:nvPr/>
        </p:nvSpPr>
        <p:spPr>
          <a:xfrm>
            <a:off x="4471690" y="1097012"/>
            <a:ext cx="200620" cy="220682"/>
          </a:xfrm>
          <a:prstGeom prst="ellipse">
            <a:avLst/>
          </a:prstGeom>
          <a:solidFill>
            <a:srgbClr val="76B900"/>
          </a:solidFill>
          <a:ln/>
          <a:effectLst>
            <a:outerShdw blurRad="86360" dist="50800" dir="16200000" algn="bl" rotWithShape="0">
              <a:srgbClr val="76B900">
                <a:alpha val="40000"/>
              </a:srgbClr>
            </a:outerShdw>
          </a:effectLst>
        </p:spPr>
        <p:txBody>
          <a:bodyPr wrap="none" lIns="0" tIns="0" rIns="0" bIns="0" rtlCol="0" anchor="ctr"/>
          <a:lstStyle/>
          <a:p>
            <a:pPr marL="0" indent="0" algn="ctr">
              <a:buNone/>
            </a:pPr>
            <a:r>
              <a:rPr lang="en-US" sz="730" b="1" dirty="0">
                <a:solidFill>
                  <a:srgbClr val="0A0F1A"/>
                </a:solidFill>
                <a:latin typeface="Consolas" pitchFamily="34" charset="0"/>
                <a:ea typeface="Consolas" pitchFamily="34" charset="-122"/>
                <a:cs typeface="Consolas" pitchFamily="34" charset="-120"/>
              </a:rPr>
              <a:t>2</a:t>
            </a:r>
            <a:endParaRPr lang="en-US" sz="730" dirty="0"/>
          </a:p>
        </p:txBody>
      </p:sp>
      <p:pic>
        <p:nvPicPr>
          <p:cNvPr id="1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475262" y="1371749"/>
            <a:ext cx="193328" cy="193328"/>
          </a:xfrm>
          <a:prstGeom prst="rect">
            <a:avLst/>
          </a:prstGeom>
        </p:spPr>
      </p:pic>
      <p:sp>
        <p:nvSpPr>
          <p:cNvPr id="16" name="Text 11"/>
          <p:cNvSpPr/>
          <p:nvPr/>
        </p:nvSpPr>
        <p:spPr>
          <a:xfrm>
            <a:off x="4240322" y="1622227"/>
            <a:ext cx="663357" cy="125313"/>
          </a:xfrm>
          <a:prstGeom prst="rect">
            <a:avLst/>
          </a:prstGeom>
          <a:noFill/>
          <a:ln/>
        </p:spPr>
        <p:txBody>
          <a:bodyPr wrap="none" lIns="0" tIns="0" rIns="0" bIns="0" rtlCol="0" anchor="t"/>
          <a:lstStyle/>
          <a:p>
            <a:pPr marL="0" indent="0" algn="ctr">
              <a:lnSpc>
                <a:spcPts val="988"/>
              </a:lnSpc>
              <a:buNone/>
            </a:pPr>
            <a:r>
              <a:rPr lang="en-US" sz="790" b="1" dirty="0">
                <a:solidFill>
                  <a:srgbClr val="E2E8F0"/>
                </a:solidFill>
                <a:latin typeface="Consolas" pitchFamily="34" charset="0"/>
                <a:ea typeface="Consolas" pitchFamily="34" charset="-122"/>
                <a:cs typeface="Consolas" pitchFamily="34" charset="-120"/>
              </a:rPr>
              <a:t>Open WebUI</a:t>
            </a:r>
            <a:endParaRPr lang="en-US" sz="790" dirty="0"/>
          </a:p>
        </p:txBody>
      </p:sp>
      <p:sp>
        <p:nvSpPr>
          <p:cNvPr id="17" name="Text 12"/>
          <p:cNvSpPr/>
          <p:nvPr/>
        </p:nvSpPr>
        <p:spPr>
          <a:xfrm>
            <a:off x="4258501" y="1776710"/>
            <a:ext cx="626849" cy="112216"/>
          </a:xfrm>
          <a:prstGeom prst="rect">
            <a:avLst/>
          </a:prstGeom>
          <a:noFill/>
          <a:ln/>
        </p:spPr>
        <p:txBody>
          <a:bodyPr wrap="none" lIns="0" tIns="0" rIns="0" bIns="0" rtlCol="0" anchor="t"/>
          <a:lstStyle/>
          <a:p>
            <a:pPr marL="0" indent="0" algn="ctr">
              <a:lnSpc>
                <a:spcPts val="884"/>
              </a:lnSpc>
              <a:buNone/>
            </a:pPr>
            <a:r>
              <a:rPr lang="en-US" sz="680" dirty="0">
                <a:solidFill>
                  <a:srgbClr val="8B9CB6"/>
                </a:solidFill>
                <a:latin typeface="Calibri" pitchFamily="34" charset="0"/>
                <a:ea typeface="Calibri" pitchFamily="34" charset="-122"/>
                <a:cs typeface="Calibri" pitchFamily="34" charset="-120"/>
              </a:rPr>
              <a:t>(GUI Interface)</a:t>
            </a:r>
            <a:endParaRPr lang="en-US" sz="680" dirty="0"/>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204222" y="1562546"/>
            <a:ext cx="193328" cy="107603"/>
          </a:xfrm>
          <a:prstGeom prst="rect">
            <a:avLst/>
          </a:prstGeom>
        </p:spPr>
      </p:pic>
      <p:sp>
        <p:nvSpPr>
          <p:cNvPr id="19" name="Text 13"/>
          <p:cNvSpPr/>
          <p:nvPr/>
        </p:nvSpPr>
        <p:spPr>
          <a:xfrm>
            <a:off x="5458420" y="1187797"/>
            <a:ext cx="1143000" cy="857250"/>
          </a:xfrm>
          <a:prstGeom prst="roundRect">
            <a:avLst>
              <a:gd name="adj" fmla="val 10074"/>
            </a:avLst>
          </a:prstGeom>
          <a:solidFill>
            <a:srgbClr val="1A2332"/>
          </a:solidFill>
          <a:ln w="9525">
            <a:solidFill>
              <a:srgbClr val="76B900">
                <a:alpha val="25000"/>
              </a:srgbClr>
            </a:solidFill>
          </a:ln>
        </p:spPr>
        <p:txBody>
          <a:bodyPr wrap="square" rtlCol="0" anchor="t"/>
          <a:lstStyle/>
          <a:p>
            <a:pPr marL="0" indent="0">
              <a:buNone/>
            </a:pPr>
            <a:endParaRPr lang="en-US" dirty="0"/>
          </a:p>
        </p:txBody>
      </p:sp>
      <p:sp>
        <p:nvSpPr>
          <p:cNvPr id="20" name="Text 14"/>
          <p:cNvSpPr/>
          <p:nvPr/>
        </p:nvSpPr>
        <p:spPr>
          <a:xfrm>
            <a:off x="5929610" y="1097012"/>
            <a:ext cx="200620" cy="220682"/>
          </a:xfrm>
          <a:prstGeom prst="ellipse">
            <a:avLst/>
          </a:prstGeom>
          <a:solidFill>
            <a:srgbClr val="76B900"/>
          </a:solidFill>
          <a:ln/>
          <a:effectLst>
            <a:outerShdw blurRad="86360" dist="50800" dir="16200000" algn="bl" rotWithShape="0">
              <a:srgbClr val="76B900">
                <a:alpha val="40000"/>
              </a:srgbClr>
            </a:outerShdw>
          </a:effectLst>
        </p:spPr>
        <p:txBody>
          <a:bodyPr wrap="none" lIns="0" tIns="0" rIns="0" bIns="0" rtlCol="0" anchor="ctr"/>
          <a:lstStyle/>
          <a:p>
            <a:pPr marL="0" indent="0" algn="ctr">
              <a:buNone/>
            </a:pPr>
            <a:r>
              <a:rPr lang="en-US" sz="730" b="1" dirty="0">
                <a:solidFill>
                  <a:srgbClr val="0A0F1A"/>
                </a:solidFill>
                <a:latin typeface="Consolas" pitchFamily="34" charset="0"/>
                <a:ea typeface="Consolas" pitchFamily="34" charset="-122"/>
                <a:cs typeface="Consolas" pitchFamily="34" charset="-120"/>
              </a:rPr>
              <a:t>3</a:t>
            </a:r>
            <a:endParaRPr lang="en-US" sz="730" dirty="0"/>
          </a:p>
        </p:txBody>
      </p:sp>
      <p:pic>
        <p:nvPicPr>
          <p:cNvPr id="2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933182" y="1371749"/>
            <a:ext cx="193328" cy="193328"/>
          </a:xfrm>
          <a:prstGeom prst="rect">
            <a:avLst/>
          </a:prstGeom>
        </p:spPr>
      </p:pic>
      <p:sp>
        <p:nvSpPr>
          <p:cNvPr id="22" name="Text 15"/>
          <p:cNvSpPr/>
          <p:nvPr/>
        </p:nvSpPr>
        <p:spPr>
          <a:xfrm>
            <a:off x="5764545" y="1622227"/>
            <a:ext cx="530751" cy="125313"/>
          </a:xfrm>
          <a:prstGeom prst="rect">
            <a:avLst/>
          </a:prstGeom>
          <a:noFill/>
          <a:ln/>
        </p:spPr>
        <p:txBody>
          <a:bodyPr wrap="none" lIns="0" tIns="0" rIns="0" bIns="0" rtlCol="0" anchor="t"/>
          <a:lstStyle/>
          <a:p>
            <a:pPr marL="0" indent="0" algn="ctr">
              <a:lnSpc>
                <a:spcPts val="988"/>
              </a:lnSpc>
              <a:buNone/>
            </a:pPr>
            <a:r>
              <a:rPr lang="en-US" sz="790" b="1" dirty="0">
                <a:solidFill>
                  <a:srgbClr val="E2E8F0"/>
                </a:solidFill>
                <a:latin typeface="Consolas" pitchFamily="34" charset="0"/>
                <a:ea typeface="Consolas" pitchFamily="34" charset="-122"/>
                <a:cs typeface="Consolas" pitchFamily="34" charset="-120"/>
              </a:rPr>
              <a:t>OpenClaw</a:t>
            </a:r>
            <a:endParaRPr lang="en-US" sz="790" dirty="0"/>
          </a:p>
        </p:txBody>
      </p:sp>
      <p:sp>
        <p:nvSpPr>
          <p:cNvPr id="23" name="Text 16"/>
          <p:cNvSpPr/>
          <p:nvPr/>
        </p:nvSpPr>
        <p:spPr>
          <a:xfrm>
            <a:off x="5811210" y="1776710"/>
            <a:ext cx="437272" cy="112216"/>
          </a:xfrm>
          <a:prstGeom prst="rect">
            <a:avLst/>
          </a:prstGeom>
          <a:noFill/>
          <a:ln/>
        </p:spPr>
        <p:txBody>
          <a:bodyPr wrap="none" lIns="0" tIns="0" rIns="0" bIns="0" rtlCol="0" anchor="t"/>
          <a:lstStyle/>
          <a:p>
            <a:pPr marL="0" indent="0" algn="ctr">
              <a:lnSpc>
                <a:spcPts val="884"/>
              </a:lnSpc>
              <a:buNone/>
            </a:pPr>
            <a:r>
              <a:rPr lang="en-US" sz="680" dirty="0">
                <a:solidFill>
                  <a:srgbClr val="8B9CB6"/>
                </a:solidFill>
                <a:latin typeface="Calibri" pitchFamily="34" charset="0"/>
                <a:ea typeface="Calibri" pitchFamily="34" charset="-122"/>
                <a:cs typeface="Calibri" pitchFamily="34" charset="-120"/>
              </a:rPr>
              <a:t>(Gateway)</a:t>
            </a:r>
            <a:endParaRPr lang="en-US" sz="680" dirty="0"/>
          </a:p>
        </p:txBody>
      </p:sp>
      <p:pic>
        <p:nvPicPr>
          <p:cNvPr id="24"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975449" y="2127498"/>
            <a:ext cx="107603" cy="236190"/>
          </a:xfrm>
          <a:prstGeom prst="rect">
            <a:avLst/>
          </a:prstGeom>
        </p:spPr>
      </p:pic>
      <p:sp>
        <p:nvSpPr>
          <p:cNvPr id="25" name="Text 17"/>
          <p:cNvSpPr/>
          <p:nvPr/>
        </p:nvSpPr>
        <p:spPr>
          <a:xfrm>
            <a:off x="2489299" y="2446288"/>
            <a:ext cx="1249561" cy="870942"/>
          </a:xfrm>
          <a:prstGeom prst="roundRect">
            <a:avLst>
              <a:gd name="adj" fmla="val 9916"/>
            </a:avLst>
          </a:prstGeom>
          <a:solidFill>
            <a:srgbClr val="1A2332"/>
          </a:solidFill>
          <a:ln w="9525">
            <a:solidFill>
              <a:srgbClr val="76B900">
                <a:alpha val="25000"/>
              </a:srgbClr>
            </a:solidFill>
          </a:ln>
        </p:spPr>
        <p:txBody>
          <a:bodyPr wrap="square" rtlCol="0" anchor="t"/>
          <a:lstStyle/>
          <a:p>
            <a:pPr marL="0" indent="0">
              <a:buNone/>
            </a:pPr>
            <a:endParaRPr lang="en-US" dirty="0"/>
          </a:p>
        </p:txBody>
      </p:sp>
      <p:sp>
        <p:nvSpPr>
          <p:cNvPr id="26" name="Text 18"/>
          <p:cNvSpPr/>
          <p:nvPr/>
        </p:nvSpPr>
        <p:spPr>
          <a:xfrm>
            <a:off x="3013770" y="2355503"/>
            <a:ext cx="200620" cy="220682"/>
          </a:xfrm>
          <a:prstGeom prst="ellipse">
            <a:avLst/>
          </a:prstGeom>
          <a:solidFill>
            <a:srgbClr val="76B900"/>
          </a:solidFill>
          <a:ln/>
          <a:effectLst>
            <a:outerShdw blurRad="86360" dist="50800" dir="16200000" algn="bl" rotWithShape="0">
              <a:srgbClr val="76B900">
                <a:alpha val="40000"/>
              </a:srgbClr>
            </a:outerShdw>
          </a:effectLst>
        </p:spPr>
        <p:txBody>
          <a:bodyPr wrap="none" lIns="0" tIns="0" rIns="0" bIns="0" rtlCol="0" anchor="ctr"/>
          <a:lstStyle/>
          <a:p>
            <a:pPr marL="0" indent="0" algn="ctr">
              <a:buNone/>
            </a:pPr>
            <a:r>
              <a:rPr lang="en-US" sz="730" b="1" dirty="0">
                <a:solidFill>
                  <a:srgbClr val="0A0F1A"/>
                </a:solidFill>
                <a:latin typeface="Consolas" pitchFamily="34" charset="0"/>
                <a:ea typeface="Consolas" pitchFamily="34" charset="-122"/>
                <a:cs typeface="Consolas" pitchFamily="34" charset="-120"/>
              </a:rPr>
              <a:t>6</a:t>
            </a:r>
            <a:endParaRPr lang="en-US" sz="730" dirty="0"/>
          </a:p>
        </p:txBody>
      </p:sp>
      <p:pic>
        <p:nvPicPr>
          <p:cNvPr id="2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017341" y="2583954"/>
            <a:ext cx="193328" cy="193328"/>
          </a:xfrm>
          <a:prstGeom prst="rect">
            <a:avLst/>
          </a:prstGeom>
        </p:spPr>
      </p:pic>
      <p:sp>
        <p:nvSpPr>
          <p:cNvPr id="28" name="Text 19"/>
          <p:cNvSpPr/>
          <p:nvPr/>
        </p:nvSpPr>
        <p:spPr>
          <a:xfrm>
            <a:off x="2659273" y="2834432"/>
            <a:ext cx="909614" cy="243155"/>
          </a:xfrm>
          <a:prstGeom prst="rect">
            <a:avLst/>
          </a:prstGeom>
          <a:noFill/>
          <a:ln/>
        </p:spPr>
        <p:txBody>
          <a:bodyPr wrap="square" lIns="0" tIns="0" rIns="0" bIns="0" rtlCol="0" anchor="ctr"/>
          <a:lstStyle/>
          <a:p>
            <a:pPr marL="0" indent="0" algn="ctr">
              <a:lnSpc>
                <a:spcPts val="913"/>
              </a:lnSpc>
              <a:buNone/>
            </a:pPr>
            <a:r>
              <a:rPr lang="en-US" sz="730" b="1" dirty="0">
                <a:solidFill>
                  <a:srgbClr val="E2E8F0"/>
                </a:solidFill>
                <a:latin typeface="Consolas" pitchFamily="34" charset="0"/>
                <a:ea typeface="Consolas" pitchFamily="34" charset="-122"/>
                <a:cs typeface="Consolas" pitchFamily="34" charset="-120"/>
              </a:rPr>
              <a:t>Messaging Apps</a:t>
            </a:r>
            <a:br/>
            <a:r>
              <a:rPr lang="en-US" sz="730" b="1" dirty="0">
                <a:solidFill>
                  <a:srgbClr val="E2E8F0"/>
                </a:solidFill>
                <a:latin typeface="Consolas" pitchFamily="34" charset="0"/>
                <a:ea typeface="Consolas" pitchFamily="34" charset="-122"/>
                <a:cs typeface="Consolas" pitchFamily="34" charset="-120"/>
              </a:rPr>
              <a:t>+ Tools + Memory</a:t>
            </a:r>
            <a:endParaRPr lang="en-US" sz="730" dirty="0"/>
          </a:p>
        </p:txBody>
      </p:sp>
      <p:sp>
        <p:nvSpPr>
          <p:cNvPr id="29" name="Text 20"/>
          <p:cNvSpPr/>
          <p:nvPr/>
        </p:nvSpPr>
        <p:spPr>
          <a:xfrm>
            <a:off x="2871631" y="3095179"/>
            <a:ext cx="484748" cy="112216"/>
          </a:xfrm>
          <a:prstGeom prst="rect">
            <a:avLst/>
          </a:prstGeom>
          <a:noFill/>
          <a:ln/>
        </p:spPr>
        <p:txBody>
          <a:bodyPr wrap="none" lIns="0" tIns="0" rIns="0" bIns="0" rtlCol="0" anchor="t"/>
          <a:lstStyle/>
          <a:p>
            <a:pPr marL="0" indent="0" algn="ctr">
              <a:lnSpc>
                <a:spcPts val="884"/>
              </a:lnSpc>
              <a:buNone/>
            </a:pPr>
            <a:r>
              <a:rPr lang="en-US" sz="680" dirty="0">
                <a:solidFill>
                  <a:srgbClr val="8B9CB6"/>
                </a:solidFill>
                <a:latin typeface="Calibri" pitchFamily="34" charset="0"/>
                <a:ea typeface="Calibri" pitchFamily="34" charset="-122"/>
                <a:cs typeface="Calibri" pitchFamily="34" charset="-120"/>
              </a:rPr>
              <a:t>(Persistent)</a:t>
            </a:r>
            <a:endParaRPr lang="en-US" sz="680" dirty="0"/>
          </a:p>
        </p:txBody>
      </p:sp>
      <p:pic>
        <p:nvPicPr>
          <p:cNvPr id="30"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799582" y="2827883"/>
            <a:ext cx="193328" cy="107603"/>
          </a:xfrm>
          <a:prstGeom prst="rect">
            <a:avLst/>
          </a:prstGeom>
        </p:spPr>
      </p:pic>
      <p:sp>
        <p:nvSpPr>
          <p:cNvPr id="31" name="Text 21"/>
          <p:cNvSpPr/>
          <p:nvPr/>
        </p:nvSpPr>
        <p:spPr>
          <a:xfrm>
            <a:off x="4053780" y="2446288"/>
            <a:ext cx="1143000" cy="870942"/>
          </a:xfrm>
          <a:prstGeom prst="roundRect">
            <a:avLst>
              <a:gd name="adj" fmla="val 9916"/>
            </a:avLst>
          </a:prstGeom>
          <a:solidFill>
            <a:srgbClr val="1A2332"/>
          </a:solidFill>
          <a:ln w="9525">
            <a:solidFill>
              <a:srgbClr val="76B900">
                <a:alpha val="25000"/>
              </a:srgbClr>
            </a:solidFill>
          </a:ln>
        </p:spPr>
        <p:txBody>
          <a:bodyPr wrap="square" rtlCol="0" anchor="t"/>
          <a:lstStyle/>
          <a:p>
            <a:pPr marL="0" indent="0">
              <a:buNone/>
            </a:pPr>
            <a:endParaRPr lang="en-US" dirty="0"/>
          </a:p>
        </p:txBody>
      </p:sp>
      <p:sp>
        <p:nvSpPr>
          <p:cNvPr id="32" name="Text 22"/>
          <p:cNvSpPr/>
          <p:nvPr/>
        </p:nvSpPr>
        <p:spPr>
          <a:xfrm>
            <a:off x="4524970" y="2355503"/>
            <a:ext cx="200620" cy="220682"/>
          </a:xfrm>
          <a:prstGeom prst="ellipse">
            <a:avLst/>
          </a:prstGeom>
          <a:solidFill>
            <a:srgbClr val="76B900"/>
          </a:solidFill>
          <a:ln/>
          <a:effectLst>
            <a:outerShdw blurRad="86360" dist="50800" dir="16200000" algn="bl" rotWithShape="0">
              <a:srgbClr val="76B900">
                <a:alpha val="40000"/>
              </a:srgbClr>
            </a:outerShdw>
          </a:effectLst>
        </p:spPr>
        <p:txBody>
          <a:bodyPr wrap="none" lIns="0" tIns="0" rIns="0" bIns="0" rtlCol="0" anchor="ctr"/>
          <a:lstStyle/>
          <a:p>
            <a:pPr marL="0" indent="0" algn="ctr">
              <a:buNone/>
            </a:pPr>
            <a:r>
              <a:rPr lang="en-US" sz="730" b="1" dirty="0">
                <a:solidFill>
                  <a:srgbClr val="0A0F1A"/>
                </a:solidFill>
                <a:latin typeface="Consolas" pitchFamily="34" charset="0"/>
                <a:ea typeface="Consolas" pitchFamily="34" charset="-122"/>
                <a:cs typeface="Consolas" pitchFamily="34" charset="-120"/>
              </a:rPr>
              <a:t>5</a:t>
            </a:r>
            <a:endParaRPr lang="en-US" sz="730" dirty="0"/>
          </a:p>
        </p:txBody>
      </p:sp>
      <p:pic>
        <p:nvPicPr>
          <p:cNvPr id="33"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4528542" y="2583954"/>
            <a:ext cx="193328" cy="193328"/>
          </a:xfrm>
          <a:prstGeom prst="rect">
            <a:avLst/>
          </a:prstGeom>
        </p:spPr>
      </p:pic>
      <p:sp>
        <p:nvSpPr>
          <p:cNvPr id="34" name="Text 23"/>
          <p:cNvSpPr/>
          <p:nvPr/>
        </p:nvSpPr>
        <p:spPr>
          <a:xfrm>
            <a:off x="4198861" y="2834432"/>
            <a:ext cx="852839" cy="243155"/>
          </a:xfrm>
          <a:prstGeom prst="rect">
            <a:avLst/>
          </a:prstGeom>
          <a:noFill/>
          <a:ln/>
        </p:spPr>
        <p:txBody>
          <a:bodyPr wrap="square" lIns="0" tIns="0" rIns="0" bIns="0" rtlCol="0" anchor="ctr"/>
          <a:lstStyle/>
          <a:p>
            <a:pPr marL="0" indent="0" algn="ctr">
              <a:lnSpc>
                <a:spcPts val="913"/>
              </a:lnSpc>
              <a:buNone/>
            </a:pPr>
            <a:r>
              <a:rPr lang="en-US" sz="730" b="1" dirty="0">
                <a:solidFill>
                  <a:srgbClr val="E2E8F0"/>
                </a:solidFill>
                <a:latin typeface="Consolas" pitchFamily="34" charset="0"/>
                <a:ea typeface="Consolas" pitchFamily="34" charset="-122"/>
                <a:cs typeface="Consolas" pitchFamily="34" charset="-120"/>
              </a:rPr>
              <a:t>SOUL.md +</a:t>
            </a:r>
            <a:br/>
            <a:r>
              <a:rPr lang="en-US" sz="730" b="1" dirty="0">
                <a:solidFill>
                  <a:srgbClr val="E2E8F0"/>
                </a:solidFill>
                <a:latin typeface="Consolas" pitchFamily="34" charset="0"/>
                <a:ea typeface="Consolas" pitchFamily="34" charset="-122"/>
                <a:cs typeface="Consolas" pitchFamily="34" charset="-120"/>
              </a:rPr>
              <a:t>Workspace Files</a:t>
            </a:r>
            <a:endParaRPr lang="en-US" sz="730" dirty="0"/>
          </a:p>
        </p:txBody>
      </p:sp>
      <p:sp>
        <p:nvSpPr>
          <p:cNvPr id="35" name="Text 24"/>
          <p:cNvSpPr/>
          <p:nvPr/>
        </p:nvSpPr>
        <p:spPr>
          <a:xfrm>
            <a:off x="4311774" y="3095179"/>
            <a:ext cx="627013" cy="112216"/>
          </a:xfrm>
          <a:prstGeom prst="rect">
            <a:avLst/>
          </a:prstGeom>
          <a:noFill/>
          <a:ln/>
        </p:spPr>
        <p:txBody>
          <a:bodyPr wrap="none" lIns="0" tIns="0" rIns="0" bIns="0" rtlCol="0" anchor="t"/>
          <a:lstStyle/>
          <a:p>
            <a:pPr marL="0" indent="0" algn="ctr">
              <a:lnSpc>
                <a:spcPts val="884"/>
              </a:lnSpc>
              <a:buNone/>
            </a:pPr>
            <a:r>
              <a:rPr lang="en-US" sz="680" dirty="0">
                <a:solidFill>
                  <a:srgbClr val="8B9CB6"/>
                </a:solidFill>
                <a:latin typeface="Calibri" pitchFamily="34" charset="0"/>
                <a:ea typeface="Calibri" pitchFamily="34" charset="-122"/>
                <a:cs typeface="Calibri" pitchFamily="34" charset="-120"/>
              </a:rPr>
              <a:t>(Configuration)</a:t>
            </a:r>
            <a:endParaRPr lang="en-US" sz="680" dirty="0"/>
          </a:p>
        </p:txBody>
      </p:sp>
      <p:pic>
        <p:nvPicPr>
          <p:cNvPr id="36"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257502" y="2827883"/>
            <a:ext cx="193328" cy="107603"/>
          </a:xfrm>
          <a:prstGeom prst="rect">
            <a:avLst/>
          </a:prstGeom>
        </p:spPr>
      </p:pic>
      <p:sp>
        <p:nvSpPr>
          <p:cNvPr id="37" name="Text 25"/>
          <p:cNvSpPr/>
          <p:nvPr/>
        </p:nvSpPr>
        <p:spPr>
          <a:xfrm>
            <a:off x="5511701" y="2453134"/>
            <a:ext cx="1143000" cy="857250"/>
          </a:xfrm>
          <a:prstGeom prst="roundRect">
            <a:avLst>
              <a:gd name="adj" fmla="val 10074"/>
            </a:avLst>
          </a:prstGeom>
          <a:solidFill>
            <a:srgbClr val="1A2332"/>
          </a:solidFill>
          <a:ln w="9525">
            <a:solidFill>
              <a:srgbClr val="76B900">
                <a:alpha val="50000"/>
              </a:srgbClr>
            </a:solidFill>
          </a:ln>
          <a:effectLst>
            <a:outerShdw blurRad="143510" dist="50800" dir="16200000" algn="bl" rotWithShape="0">
              <a:srgbClr val="76B900">
                <a:alpha val="10000"/>
              </a:srgbClr>
            </a:outerShdw>
          </a:effectLst>
        </p:spPr>
        <p:txBody>
          <a:bodyPr wrap="square" rtlCol="0" anchor="t"/>
          <a:lstStyle/>
          <a:p>
            <a:pPr marL="0" indent="0">
              <a:buNone/>
            </a:pPr>
            <a:endParaRPr lang="en-US" dirty="0"/>
          </a:p>
        </p:txBody>
      </p:sp>
      <p:sp>
        <p:nvSpPr>
          <p:cNvPr id="38" name="Text 26"/>
          <p:cNvSpPr/>
          <p:nvPr/>
        </p:nvSpPr>
        <p:spPr>
          <a:xfrm>
            <a:off x="5982891" y="2362349"/>
            <a:ext cx="200620" cy="220682"/>
          </a:xfrm>
          <a:prstGeom prst="ellipse">
            <a:avLst/>
          </a:prstGeom>
          <a:solidFill>
            <a:srgbClr val="76B900"/>
          </a:solidFill>
          <a:ln/>
          <a:effectLst>
            <a:outerShdw blurRad="86360" dist="50800" dir="16200000" algn="bl" rotWithShape="0">
              <a:srgbClr val="76B900">
                <a:alpha val="40000"/>
              </a:srgbClr>
            </a:outerShdw>
          </a:effectLst>
        </p:spPr>
        <p:txBody>
          <a:bodyPr wrap="none" lIns="0" tIns="0" rIns="0" bIns="0" rtlCol="0" anchor="ctr"/>
          <a:lstStyle/>
          <a:p>
            <a:pPr marL="0" indent="0" algn="ctr">
              <a:buNone/>
            </a:pPr>
            <a:r>
              <a:rPr lang="en-US" sz="730" b="1" dirty="0">
                <a:solidFill>
                  <a:srgbClr val="0A0F1A"/>
                </a:solidFill>
                <a:latin typeface="Consolas" pitchFamily="34" charset="0"/>
                <a:ea typeface="Consolas" pitchFamily="34" charset="-122"/>
                <a:cs typeface="Consolas" pitchFamily="34" charset="-120"/>
              </a:rPr>
              <a:t>4</a:t>
            </a:r>
            <a:endParaRPr lang="en-US" sz="730" dirty="0"/>
          </a:p>
        </p:txBody>
      </p:sp>
      <p:pic>
        <p:nvPicPr>
          <p:cNvPr id="39"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986463" y="2637086"/>
            <a:ext cx="193328" cy="193328"/>
          </a:xfrm>
          <a:prstGeom prst="rect">
            <a:avLst/>
          </a:prstGeom>
        </p:spPr>
      </p:pic>
      <p:sp>
        <p:nvSpPr>
          <p:cNvPr id="40" name="Text 27"/>
          <p:cNvSpPr/>
          <p:nvPr/>
        </p:nvSpPr>
        <p:spPr>
          <a:xfrm>
            <a:off x="5685063" y="2887563"/>
            <a:ext cx="796126" cy="125313"/>
          </a:xfrm>
          <a:prstGeom prst="rect">
            <a:avLst/>
          </a:prstGeom>
          <a:noFill/>
          <a:ln/>
        </p:spPr>
        <p:txBody>
          <a:bodyPr wrap="none" lIns="0" tIns="0" rIns="0" bIns="0" rtlCol="0" anchor="t"/>
          <a:lstStyle/>
          <a:p>
            <a:pPr marL="0" indent="0" algn="ctr">
              <a:lnSpc>
                <a:spcPts val="988"/>
              </a:lnSpc>
              <a:buNone/>
            </a:pPr>
            <a:r>
              <a:rPr lang="en-US" sz="790" b="1" dirty="0">
                <a:solidFill>
                  <a:srgbClr val="E2E8F0"/>
                </a:solidFill>
                <a:latin typeface="Consolas" pitchFamily="34" charset="0"/>
                <a:ea typeface="Consolas" pitchFamily="34" charset="-122"/>
                <a:cs typeface="Consolas" pitchFamily="34" charset="-120"/>
              </a:rPr>
              <a:t>Hermes Agent</a:t>
            </a:r>
            <a:endParaRPr lang="en-US" sz="790" dirty="0"/>
          </a:p>
        </p:txBody>
      </p:sp>
      <p:sp>
        <p:nvSpPr>
          <p:cNvPr id="41" name="Text 28"/>
          <p:cNvSpPr/>
          <p:nvPr/>
        </p:nvSpPr>
        <p:spPr>
          <a:xfrm>
            <a:off x="5811775" y="3042047"/>
            <a:ext cx="542702" cy="112216"/>
          </a:xfrm>
          <a:prstGeom prst="rect">
            <a:avLst/>
          </a:prstGeom>
          <a:noFill/>
          <a:ln/>
        </p:spPr>
        <p:txBody>
          <a:bodyPr wrap="none" lIns="0" tIns="0" rIns="0" bIns="0" rtlCol="0" anchor="t"/>
          <a:lstStyle/>
          <a:p>
            <a:pPr marL="0" indent="0" algn="ctr">
              <a:lnSpc>
                <a:spcPts val="884"/>
              </a:lnSpc>
              <a:buNone/>
            </a:pPr>
            <a:r>
              <a:rPr lang="en-US" sz="680" dirty="0">
                <a:solidFill>
                  <a:srgbClr val="8B9CB6"/>
                </a:solidFill>
                <a:latin typeface="Calibri" pitchFamily="34" charset="0"/>
                <a:ea typeface="Calibri" pitchFamily="34" charset="-122"/>
                <a:cs typeface="Calibri" pitchFamily="34" charset="-120"/>
              </a:rPr>
              <a:t>(Intelligence)</a:t>
            </a:r>
            <a:endParaRPr lang="en-US" sz="680" dirty="0"/>
          </a:p>
        </p:txBody>
      </p:sp>
      <p:sp>
        <p:nvSpPr>
          <p:cNvPr id="42" name="Text 29"/>
          <p:cNvSpPr/>
          <p:nvPr/>
        </p:nvSpPr>
        <p:spPr>
          <a:xfrm>
            <a:off x="400050" y="3517850"/>
            <a:ext cx="8343900" cy="13841"/>
          </a:xfrm>
          <a:prstGeom prst="roundRect">
            <a:avLst>
              <a:gd name="adj" fmla="val 55054"/>
            </a:avLst>
          </a:prstGeom>
          <a:gradFill rotWithShape="1">
            <a:gsLst>
              <a:gs pos="0">
                <a:srgbClr val="000000">
                  <a:alpha val="0"/>
                </a:srgbClr>
              </a:gs>
              <a:gs pos="25000">
                <a:srgbClr val="76B900">
                  <a:alpha val="50000"/>
                </a:srgbClr>
              </a:gs>
              <a:gs pos="50000">
                <a:srgbClr val="76B900"/>
              </a:gs>
              <a:gs pos="75000">
                <a:srgbClr val="76B900">
                  <a:alpha val="50000"/>
                </a:srgbClr>
              </a:gs>
              <a:gs pos="100000">
                <a:srgbClr val="000000">
                  <a:alpha val="0"/>
                </a:srgbClr>
              </a:gs>
            </a:gsLst>
            <a:lin ang="0" scaled="1"/>
          </a:gradFill>
          <a:ln/>
        </p:spPr>
        <p:txBody>
          <a:bodyPr wrap="none" rtlCol="0" anchor="t"/>
          <a:lstStyle/>
          <a:p>
            <a:pPr marL="0" indent="0">
              <a:buNone/>
            </a:pPr>
            <a:endParaRPr lang="en-US" dirty="0"/>
          </a:p>
        </p:txBody>
      </p:sp>
      <p:sp>
        <p:nvSpPr>
          <p:cNvPr id="43" name="Text 30"/>
          <p:cNvSpPr/>
          <p:nvPr/>
        </p:nvSpPr>
        <p:spPr>
          <a:xfrm>
            <a:off x="3065562" y="3689152"/>
            <a:ext cx="3223619" cy="278160"/>
          </a:xfrm>
          <a:prstGeom prst="rect">
            <a:avLst/>
          </a:prstGeom>
          <a:noFill/>
          <a:ln/>
        </p:spPr>
        <p:txBody>
          <a:bodyPr wrap="none" lIns="0" tIns="0" rIns="0" bIns="0" rtlCol="0" anchor="ctr"/>
          <a:lstStyle/>
          <a:p>
            <a:pPr marL="0" indent="0" algn="l">
              <a:lnSpc>
                <a:spcPts val="2190"/>
              </a:lnSpc>
              <a:buNone/>
            </a:pPr>
            <a:r>
              <a:rPr lang="en-US" sz="1460" b="1" kern="0" spc="110" dirty="0">
                <a:solidFill>
                  <a:srgbClr val="76B900"/>
                </a:solidFill>
                <a:latin typeface="Consolas" pitchFamily="34" charset="0"/>
                <a:ea typeface="Consolas" pitchFamily="34" charset="-122"/>
                <a:cs typeface="Consolas" pitchFamily="34" charset="-120"/>
              </a:rPr>
              <a:t>YOU STAY IN FULL CONTROL</a:t>
            </a:r>
            <a:endParaRPr lang="en-US" sz="1460" dirty="0"/>
          </a:p>
        </p:txBody>
      </p:sp>
      <p:pic>
        <p:nvPicPr>
          <p:cNvPr id="44" name="Image 11" descr="preencoded.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2828776" y="3752999"/>
            <a:ext cx="150465" cy="150465"/>
          </a:xfrm>
          <a:prstGeom prst="rect">
            <a:avLst/>
          </a:prstGeom>
        </p:spPr>
      </p:pic>
      <p:pic>
        <p:nvPicPr>
          <p:cNvPr id="45" name="Image 12" descr="preencoded.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6164610" y="3752999"/>
            <a:ext cx="150465" cy="150465"/>
          </a:xfrm>
          <a:prstGeom prst="rect">
            <a:avLst/>
          </a:prstGeom>
        </p:spPr>
      </p:pic>
      <p:sp>
        <p:nvSpPr>
          <p:cNvPr id="46" name="Text 31"/>
          <p:cNvSpPr/>
          <p:nvPr/>
        </p:nvSpPr>
        <p:spPr>
          <a:xfrm>
            <a:off x="2798713" y="4024461"/>
            <a:ext cx="3901068" cy="150465"/>
          </a:xfrm>
          <a:prstGeom prst="rect">
            <a:avLst/>
          </a:prstGeom>
          <a:noFill/>
          <a:ln/>
        </p:spPr>
        <p:txBody>
          <a:bodyPr wrap="none" lIns="0" tIns="0" rIns="0" bIns="0" rtlCol="0" anchor="t"/>
          <a:lstStyle/>
          <a:p>
            <a:pPr marL="0" indent="0" algn="l">
              <a:lnSpc>
                <a:spcPts val="1185"/>
              </a:lnSpc>
              <a:spcBef>
                <a:spcPts val="450"/>
              </a:spcBef>
              <a:buNone/>
            </a:pPr>
            <a:r>
              <a:rPr lang="en-US" sz="790" i="1" dirty="0">
                <a:solidFill>
                  <a:srgbClr val="8B9CB6"/>
                </a:solidFill>
                <a:latin typeface="Calibri" pitchFamily="34" charset="0"/>
                <a:ea typeface="Calibri" pitchFamily="34" charset="-122"/>
                <a:cs typeface="Calibri" pitchFamily="34" charset="-120"/>
              </a:rPr>
              <a:t>Every component runs locally on your hardware — nothing leaves your network.</a:t>
            </a:r>
            <a:endParaRPr lang="en-US" sz="79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731520" y="45720"/>
            <a:ext cx="7680960" cy="347472"/>
          </a:xfrm>
          <a:prstGeom prst="rect">
            <a:avLst/>
          </a:prstGeom>
          <a:noFill/>
          <a:ln/>
        </p:spPr>
        <p:txBody>
          <a:bodyPr wrap="square" lIns="0" tIns="0" rIns="0" bIns="0" rtlCol="0" anchor="ctr"/>
          <a:lstStyle/>
          <a:p>
            <a:pPr marL="0" indent="0" algn="ctr">
              <a:buNone/>
            </a:pPr>
            <a:r>
              <a:rPr lang="en-US" sz="2200" b="1" dirty="0">
                <a:solidFill>
                  <a:srgbClr val="E8ECF1"/>
                </a:solidFill>
                <a:latin typeface="Calibri" pitchFamily="34" charset="0"/>
                <a:ea typeface="Calibri" pitchFamily="34" charset="-122"/>
                <a:cs typeface="Calibri" pitchFamily="34" charset="-120"/>
              </a:rPr>
              <a:t>OpenClaw Architecture Deep Dive</a:t>
            </a:r>
            <a:endParaRPr lang="en-US" sz="2200" dirty="0"/>
          </a:p>
        </p:txBody>
      </p:sp>
      <p:sp>
        <p:nvSpPr>
          <p:cNvPr id="3" name="Text 1"/>
          <p:cNvSpPr/>
          <p:nvPr/>
        </p:nvSpPr>
        <p:spPr>
          <a:xfrm>
            <a:off x="137160" y="438912"/>
            <a:ext cx="777240" cy="548640"/>
          </a:xfrm>
          <a:prstGeom prst="rect">
            <a:avLst/>
          </a:prstGeom>
          <a:noFill/>
          <a:ln/>
        </p:spPr>
        <p:txBody>
          <a:bodyPr wrap="square" lIns="0" tIns="0" rIns="0" bIns="0" rtlCol="0" anchor="ctr"/>
          <a:lstStyle/>
          <a:p>
            <a:pPr marL="0" indent="0" algn="l">
              <a:buNone/>
            </a:pPr>
            <a:r>
              <a:rPr lang="en-US" sz="850" b="1" dirty="0">
                <a:solidFill>
                  <a:srgbClr val="8B95A5"/>
                </a:solidFill>
                <a:latin typeface="Calibri" pitchFamily="34" charset="0"/>
                <a:ea typeface="Calibri" pitchFamily="34" charset="-122"/>
                <a:cs typeface="Calibri" pitchFamily="34" charset="-120"/>
              </a:rPr>
              <a:t>Layer 1</a:t>
            </a:r>
            <a:endParaRPr lang="en-US" sz="850" dirty="0"/>
          </a:p>
        </p:txBody>
      </p:sp>
      <p:sp>
        <p:nvSpPr>
          <p:cNvPr id="4" name="Shape 2"/>
          <p:cNvSpPr/>
          <p:nvPr/>
        </p:nvSpPr>
        <p:spPr>
          <a:xfrm>
            <a:off x="960120" y="438912"/>
            <a:ext cx="6903720" cy="548640"/>
          </a:xfrm>
          <a:prstGeom prst="roundRect">
            <a:avLst>
              <a:gd name="adj" fmla="val 13333"/>
            </a:avLst>
          </a:prstGeom>
          <a:solidFill>
            <a:srgbClr val="2B4578"/>
          </a:solidFill>
          <a:ln w="6350">
            <a:solidFill>
              <a:srgbClr val="3B6098"/>
            </a:solidFill>
            <a:prstDash val="solid"/>
          </a:ln>
        </p:spPr>
        <p:txBody>
          <a:bodyPr/>
          <a:lstStyle/>
          <a:p>
            <a:endParaRPr lang="en-US"/>
          </a:p>
        </p:txBody>
      </p:sp>
      <p:pic>
        <p:nvPicPr>
          <p:cNvPr id="5" name="Image 0" descr="preencoded.png"/>
          <p:cNvPicPr>
            <a:picLocks noChangeAspect="1"/>
          </p:cNvPicPr>
          <p:nvPr/>
        </p:nvPicPr>
        <p:blipFill>
          <a:blip r:embed="rId3"/>
          <a:stretch>
            <a:fillRect/>
          </a:stretch>
        </p:blipFill>
        <p:spPr>
          <a:xfrm>
            <a:off x="3474720" y="475488"/>
            <a:ext cx="256032" cy="256032"/>
          </a:xfrm>
          <a:prstGeom prst="rect">
            <a:avLst/>
          </a:prstGeom>
        </p:spPr>
      </p:pic>
      <p:pic>
        <p:nvPicPr>
          <p:cNvPr id="6" name="Image 1" descr="preencoded.png"/>
          <p:cNvPicPr>
            <a:picLocks noChangeAspect="1"/>
          </p:cNvPicPr>
          <p:nvPr/>
        </p:nvPicPr>
        <p:blipFill>
          <a:blip r:embed="rId4"/>
          <a:stretch>
            <a:fillRect/>
          </a:stretch>
        </p:blipFill>
        <p:spPr>
          <a:xfrm>
            <a:off x="5120640" y="475488"/>
            <a:ext cx="292608" cy="292608"/>
          </a:xfrm>
          <a:prstGeom prst="rect">
            <a:avLst/>
          </a:prstGeom>
        </p:spPr>
      </p:pic>
      <p:sp>
        <p:nvSpPr>
          <p:cNvPr id="7" name="Text 3"/>
          <p:cNvSpPr/>
          <p:nvPr/>
        </p:nvSpPr>
        <p:spPr>
          <a:xfrm>
            <a:off x="1097280" y="493776"/>
            <a:ext cx="2286000" cy="228600"/>
          </a:xfrm>
          <a:prstGeom prst="rect">
            <a:avLst/>
          </a:prstGeom>
          <a:noFill/>
          <a:ln/>
        </p:spPr>
        <p:txBody>
          <a:bodyPr wrap="square" lIns="0" tIns="0" rIns="0" bIns="0" rtlCol="0" anchor="ctr"/>
          <a:lstStyle/>
          <a:p>
            <a:pPr marL="0" indent="0">
              <a:buNone/>
            </a:pPr>
            <a:r>
              <a:rPr lang="en-US" sz="1300" b="1" dirty="0">
                <a:solidFill>
                  <a:srgbClr val="E8ECF1"/>
                </a:solidFill>
                <a:latin typeface="Calibri" pitchFamily="34" charset="0"/>
                <a:ea typeface="Calibri" pitchFamily="34" charset="-122"/>
                <a:cs typeface="Calibri" pitchFamily="34" charset="-120"/>
              </a:rPr>
              <a:t>User Layer</a:t>
            </a:r>
            <a:endParaRPr lang="en-US" sz="1300" dirty="0"/>
          </a:p>
        </p:txBody>
      </p:sp>
      <p:sp>
        <p:nvSpPr>
          <p:cNvPr id="8" name="Text 4"/>
          <p:cNvSpPr/>
          <p:nvPr/>
        </p:nvSpPr>
        <p:spPr>
          <a:xfrm>
            <a:off x="1097280" y="731520"/>
            <a:ext cx="6629400" cy="201168"/>
          </a:xfrm>
          <a:prstGeom prst="rect">
            <a:avLst/>
          </a:prstGeom>
          <a:noFill/>
          <a:ln/>
        </p:spPr>
        <p:txBody>
          <a:bodyPr wrap="square" lIns="0" tIns="0" rIns="0" bIns="0" rtlCol="0" anchor="ctr"/>
          <a:lstStyle/>
          <a:p>
            <a:pPr marL="0" indent="0" algn="ctr">
              <a:buNone/>
            </a:pPr>
            <a:r>
              <a:rPr lang="en-US" sz="950" dirty="0">
                <a:solidFill>
                  <a:srgbClr val="9CA3AF"/>
                </a:solidFill>
                <a:latin typeface="Calibri" pitchFamily="34" charset="0"/>
                <a:ea typeface="Calibri" pitchFamily="34" charset="-122"/>
                <a:cs typeface="Calibri" pitchFamily="34" charset="-120"/>
              </a:rPr>
              <a:t>Messaging Apps: Telegram  •  WhatsApp  •  Discord  •  Slack  •  Email</a:t>
            </a:r>
            <a:endParaRPr lang="en-US" sz="950" dirty="0"/>
          </a:p>
        </p:txBody>
      </p:sp>
      <p:sp>
        <p:nvSpPr>
          <p:cNvPr id="9" name="Shape 5"/>
          <p:cNvSpPr/>
          <p:nvPr/>
        </p:nvSpPr>
        <p:spPr>
          <a:xfrm>
            <a:off x="4338828" y="987552"/>
            <a:ext cx="146304" cy="109728"/>
          </a:xfrm>
          <a:prstGeom prst="downArrow">
            <a:avLst/>
          </a:prstGeom>
          <a:solidFill>
            <a:srgbClr val="5B9BD5"/>
          </a:solidFill>
          <a:ln w="12700">
            <a:solidFill>
              <a:srgbClr val="333333"/>
            </a:solidFill>
            <a:prstDash val="solid"/>
          </a:ln>
        </p:spPr>
        <p:txBody>
          <a:bodyPr/>
          <a:lstStyle/>
          <a:p>
            <a:endParaRPr lang="en-US"/>
          </a:p>
        </p:txBody>
      </p:sp>
      <p:sp>
        <p:nvSpPr>
          <p:cNvPr id="10" name="Text 6"/>
          <p:cNvSpPr/>
          <p:nvPr/>
        </p:nvSpPr>
        <p:spPr>
          <a:xfrm>
            <a:off x="137160" y="1097280"/>
            <a:ext cx="777240" cy="502920"/>
          </a:xfrm>
          <a:prstGeom prst="rect">
            <a:avLst/>
          </a:prstGeom>
          <a:noFill/>
          <a:ln/>
        </p:spPr>
        <p:txBody>
          <a:bodyPr wrap="square" lIns="0" tIns="0" rIns="0" bIns="0" rtlCol="0" anchor="ctr"/>
          <a:lstStyle/>
          <a:p>
            <a:pPr marL="0" indent="0" algn="l">
              <a:buNone/>
            </a:pPr>
            <a:r>
              <a:rPr lang="en-US" sz="850" b="1" dirty="0">
                <a:solidFill>
                  <a:srgbClr val="8B95A5"/>
                </a:solidFill>
                <a:latin typeface="Calibri" pitchFamily="34" charset="0"/>
                <a:ea typeface="Calibri" pitchFamily="34" charset="-122"/>
                <a:cs typeface="Calibri" pitchFamily="34" charset="-120"/>
              </a:rPr>
              <a:t>Layer 2</a:t>
            </a:r>
            <a:endParaRPr lang="en-US" sz="850" dirty="0"/>
          </a:p>
        </p:txBody>
      </p:sp>
      <p:sp>
        <p:nvSpPr>
          <p:cNvPr id="11" name="Shape 7"/>
          <p:cNvSpPr/>
          <p:nvPr/>
        </p:nvSpPr>
        <p:spPr>
          <a:xfrm>
            <a:off x="960120" y="1097280"/>
            <a:ext cx="6903720" cy="502920"/>
          </a:xfrm>
          <a:prstGeom prst="roundRect">
            <a:avLst>
              <a:gd name="adj" fmla="val 14545"/>
            </a:avLst>
          </a:prstGeom>
          <a:solidFill>
            <a:srgbClr val="1E2533"/>
          </a:solidFill>
          <a:ln w="6350">
            <a:solidFill>
              <a:srgbClr val="3A4560"/>
            </a:solidFill>
            <a:prstDash val="solid"/>
          </a:ln>
        </p:spPr>
        <p:txBody>
          <a:bodyPr/>
          <a:lstStyle/>
          <a:p>
            <a:endParaRPr lang="en-US"/>
          </a:p>
        </p:txBody>
      </p:sp>
      <p:pic>
        <p:nvPicPr>
          <p:cNvPr id="12" name="Image 2" descr="preencoded.png"/>
          <p:cNvPicPr>
            <a:picLocks noChangeAspect="1"/>
          </p:cNvPicPr>
          <p:nvPr/>
        </p:nvPicPr>
        <p:blipFill>
          <a:blip r:embed="rId5"/>
          <a:stretch>
            <a:fillRect/>
          </a:stretch>
        </p:blipFill>
        <p:spPr>
          <a:xfrm>
            <a:off x="1143000" y="1188720"/>
            <a:ext cx="274320" cy="274320"/>
          </a:xfrm>
          <a:prstGeom prst="rect">
            <a:avLst/>
          </a:prstGeom>
        </p:spPr>
      </p:pic>
      <p:sp>
        <p:nvSpPr>
          <p:cNvPr id="13" name="Text 8"/>
          <p:cNvSpPr/>
          <p:nvPr/>
        </p:nvSpPr>
        <p:spPr>
          <a:xfrm>
            <a:off x="1508760" y="1143000"/>
            <a:ext cx="3657600" cy="228600"/>
          </a:xfrm>
          <a:prstGeom prst="rect">
            <a:avLst/>
          </a:prstGeom>
          <a:noFill/>
          <a:ln/>
        </p:spPr>
        <p:txBody>
          <a:bodyPr wrap="square" lIns="0" tIns="0" rIns="0" bIns="0" rtlCol="0" anchor="ctr"/>
          <a:lstStyle/>
          <a:p>
            <a:pPr marL="0" indent="0">
              <a:buNone/>
            </a:pPr>
            <a:r>
              <a:rPr lang="en-US" sz="1300" b="1" dirty="0">
                <a:solidFill>
                  <a:srgbClr val="E8ECF1"/>
                </a:solidFill>
                <a:latin typeface="Calibri" pitchFamily="34" charset="0"/>
                <a:ea typeface="Calibri" pitchFamily="34" charset="-122"/>
                <a:cs typeface="Calibri" pitchFamily="34" charset="-120"/>
              </a:rPr>
              <a:t>OpenClaw Gateway</a:t>
            </a:r>
            <a:endParaRPr lang="en-US" sz="1300" dirty="0"/>
          </a:p>
        </p:txBody>
      </p:sp>
      <p:sp>
        <p:nvSpPr>
          <p:cNvPr id="14" name="Text 9"/>
          <p:cNvSpPr/>
          <p:nvPr/>
        </p:nvSpPr>
        <p:spPr>
          <a:xfrm>
            <a:off x="1508760" y="1353312"/>
            <a:ext cx="6172200" cy="201168"/>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WebSocket / REST API  •  Task Queue &amp; Message Router  •  Proactive Heartbeat System</a:t>
            </a:r>
            <a:endParaRPr lang="en-US" sz="850" dirty="0"/>
          </a:p>
        </p:txBody>
      </p:sp>
      <p:sp>
        <p:nvSpPr>
          <p:cNvPr id="15" name="Shape 10"/>
          <p:cNvSpPr/>
          <p:nvPr/>
        </p:nvSpPr>
        <p:spPr>
          <a:xfrm>
            <a:off x="4338828" y="1600200"/>
            <a:ext cx="146304" cy="109728"/>
          </a:xfrm>
          <a:prstGeom prst="downArrow">
            <a:avLst/>
          </a:prstGeom>
          <a:solidFill>
            <a:srgbClr val="5B9BD5"/>
          </a:solidFill>
          <a:ln w="12700">
            <a:solidFill>
              <a:srgbClr val="333333"/>
            </a:solidFill>
            <a:prstDash val="solid"/>
          </a:ln>
        </p:spPr>
        <p:txBody>
          <a:bodyPr/>
          <a:lstStyle/>
          <a:p>
            <a:endParaRPr lang="en-US"/>
          </a:p>
        </p:txBody>
      </p:sp>
      <p:sp>
        <p:nvSpPr>
          <p:cNvPr id="16" name="Text 11"/>
          <p:cNvSpPr/>
          <p:nvPr/>
        </p:nvSpPr>
        <p:spPr>
          <a:xfrm>
            <a:off x="137160" y="1709928"/>
            <a:ext cx="777240" cy="621792"/>
          </a:xfrm>
          <a:prstGeom prst="rect">
            <a:avLst/>
          </a:prstGeom>
          <a:noFill/>
          <a:ln/>
        </p:spPr>
        <p:txBody>
          <a:bodyPr wrap="square" lIns="0" tIns="0" rIns="0" bIns="0" rtlCol="0" anchor="ctr"/>
          <a:lstStyle/>
          <a:p>
            <a:pPr marL="0" indent="0" algn="l">
              <a:buNone/>
            </a:pPr>
            <a:r>
              <a:rPr lang="en-US" sz="850" b="1" dirty="0">
                <a:solidFill>
                  <a:srgbClr val="8B95A5"/>
                </a:solidFill>
                <a:latin typeface="Calibri" pitchFamily="34" charset="0"/>
                <a:ea typeface="Calibri" pitchFamily="34" charset="-122"/>
                <a:cs typeface="Calibri" pitchFamily="34" charset="-120"/>
              </a:rPr>
              <a:t>Layer 3</a:t>
            </a:r>
            <a:endParaRPr lang="en-US" sz="850" dirty="0"/>
          </a:p>
        </p:txBody>
      </p:sp>
      <p:sp>
        <p:nvSpPr>
          <p:cNvPr id="17" name="Shape 12"/>
          <p:cNvSpPr/>
          <p:nvPr/>
        </p:nvSpPr>
        <p:spPr>
          <a:xfrm>
            <a:off x="960120" y="1709928"/>
            <a:ext cx="6903720" cy="621792"/>
          </a:xfrm>
          <a:prstGeom prst="roundRect">
            <a:avLst>
              <a:gd name="adj" fmla="val 11765"/>
            </a:avLst>
          </a:prstGeom>
          <a:solidFill>
            <a:srgbClr val="232B3A"/>
          </a:solidFill>
          <a:ln w="6350">
            <a:solidFill>
              <a:srgbClr val="3A4560"/>
            </a:solidFill>
            <a:prstDash val="solid"/>
          </a:ln>
        </p:spPr>
        <p:txBody>
          <a:bodyPr/>
          <a:lstStyle/>
          <a:p>
            <a:endParaRPr lang="en-US"/>
          </a:p>
        </p:txBody>
      </p:sp>
      <p:sp>
        <p:nvSpPr>
          <p:cNvPr id="18" name="Text 13"/>
          <p:cNvSpPr/>
          <p:nvPr/>
        </p:nvSpPr>
        <p:spPr>
          <a:xfrm>
            <a:off x="1051560" y="1728216"/>
            <a:ext cx="1828800" cy="182880"/>
          </a:xfrm>
          <a:prstGeom prst="rect">
            <a:avLst/>
          </a:prstGeom>
          <a:noFill/>
          <a:ln/>
        </p:spPr>
        <p:txBody>
          <a:bodyPr wrap="square" lIns="0" tIns="0" rIns="0" bIns="0" rtlCol="0" anchor="ctr"/>
          <a:lstStyle/>
          <a:p>
            <a:pPr marL="0" indent="0">
              <a:buNone/>
            </a:pPr>
            <a:r>
              <a:rPr lang="en-US" sz="900" b="1" dirty="0">
                <a:solidFill>
                  <a:srgbClr val="8B95A5"/>
                </a:solidFill>
                <a:latin typeface="Calibri" pitchFamily="34" charset="0"/>
                <a:ea typeface="Calibri" pitchFamily="34" charset="-122"/>
                <a:cs typeface="Calibri" pitchFamily="34" charset="-120"/>
              </a:rPr>
              <a:t>Agent Runtime</a:t>
            </a:r>
            <a:endParaRPr lang="en-US" sz="900" dirty="0"/>
          </a:p>
        </p:txBody>
      </p:sp>
      <p:sp>
        <p:nvSpPr>
          <p:cNvPr id="19" name="Shape 14"/>
          <p:cNvSpPr/>
          <p:nvPr/>
        </p:nvSpPr>
        <p:spPr>
          <a:xfrm>
            <a:off x="1069848" y="1911096"/>
            <a:ext cx="2154936" cy="365760"/>
          </a:xfrm>
          <a:prstGeom prst="roundRect">
            <a:avLst>
              <a:gd name="adj" fmla="val 15000"/>
            </a:avLst>
          </a:prstGeom>
          <a:solidFill>
            <a:srgbClr val="2A3545"/>
          </a:solidFill>
          <a:ln w="12700">
            <a:solidFill>
              <a:srgbClr val="76B900"/>
            </a:solidFill>
            <a:prstDash val="solid"/>
          </a:ln>
        </p:spPr>
        <p:txBody>
          <a:bodyPr/>
          <a:lstStyle/>
          <a:p>
            <a:endParaRPr lang="en-US"/>
          </a:p>
        </p:txBody>
      </p:sp>
      <p:pic>
        <p:nvPicPr>
          <p:cNvPr id="20" name="Image 3" descr="preencoded.png"/>
          <p:cNvPicPr>
            <a:picLocks noChangeAspect="1"/>
          </p:cNvPicPr>
          <p:nvPr/>
        </p:nvPicPr>
        <p:blipFill>
          <a:blip r:embed="rId6"/>
          <a:stretch>
            <a:fillRect/>
          </a:stretch>
        </p:blipFill>
        <p:spPr>
          <a:xfrm>
            <a:off x="1143000" y="1965960"/>
            <a:ext cx="201168" cy="201168"/>
          </a:xfrm>
          <a:prstGeom prst="rect">
            <a:avLst/>
          </a:prstGeom>
        </p:spPr>
      </p:pic>
      <p:sp>
        <p:nvSpPr>
          <p:cNvPr id="21" name="Text 15"/>
          <p:cNvSpPr/>
          <p:nvPr/>
        </p:nvSpPr>
        <p:spPr>
          <a:xfrm>
            <a:off x="1362456" y="1929384"/>
            <a:ext cx="1789176" cy="164592"/>
          </a:xfrm>
          <a:prstGeom prst="rect">
            <a:avLst/>
          </a:prstGeom>
          <a:noFill/>
          <a:ln/>
        </p:spPr>
        <p:txBody>
          <a:bodyPr wrap="square" lIns="0" tIns="0" rIns="0" bIns="0" rtlCol="0" anchor="ctr"/>
          <a:lstStyle/>
          <a:p>
            <a:pPr marL="0" indent="0">
              <a:buNone/>
            </a:pPr>
            <a:r>
              <a:rPr lang="en-US" sz="1100" b="1" dirty="0" err="1">
                <a:solidFill>
                  <a:srgbClr val="E8ECF1"/>
                </a:solidFill>
                <a:latin typeface="Calibri" pitchFamily="34" charset="0"/>
                <a:ea typeface="Calibri" pitchFamily="34" charset="-122"/>
                <a:cs typeface="Calibri" pitchFamily="34" charset="-120"/>
              </a:rPr>
              <a:t>ReAct</a:t>
            </a:r>
            <a:r>
              <a:rPr lang="en-US" sz="1100" b="1" dirty="0">
                <a:solidFill>
                  <a:srgbClr val="E8ECF1"/>
                </a:solidFill>
                <a:latin typeface="Calibri" pitchFamily="34" charset="0"/>
                <a:ea typeface="Calibri" pitchFamily="34" charset="-122"/>
                <a:cs typeface="Calibri" pitchFamily="34" charset="-120"/>
              </a:rPr>
              <a:t> (Reasoning)</a:t>
            </a:r>
            <a:endParaRPr lang="en-US" sz="1100" dirty="0"/>
          </a:p>
        </p:txBody>
      </p:sp>
      <p:sp>
        <p:nvSpPr>
          <p:cNvPr id="22" name="Text 16"/>
          <p:cNvSpPr/>
          <p:nvPr/>
        </p:nvSpPr>
        <p:spPr>
          <a:xfrm>
            <a:off x="1362456" y="2093976"/>
            <a:ext cx="1789176" cy="146304"/>
          </a:xfrm>
          <a:prstGeom prst="rect">
            <a:avLst/>
          </a:prstGeom>
          <a:noFill/>
          <a:ln/>
        </p:spPr>
        <p:txBody>
          <a:bodyPr wrap="square" lIns="0" tIns="0" rIns="0" bIns="0" rtlCol="0" anchor="ctr"/>
          <a:lstStyle/>
          <a:p>
            <a:pPr marL="0" indent="0">
              <a:buNone/>
            </a:pPr>
            <a:r>
              <a:rPr lang="en-US" sz="750" dirty="0">
                <a:solidFill>
                  <a:srgbClr val="76B900"/>
                </a:solidFill>
                <a:latin typeface="Calibri" pitchFamily="34" charset="0"/>
                <a:ea typeface="Calibri" pitchFamily="34" charset="-122"/>
                <a:cs typeface="Calibri" pitchFamily="34" charset="-120"/>
              </a:rPr>
              <a:t>Observe → Think → Act</a:t>
            </a:r>
            <a:endParaRPr lang="en-US" sz="750" dirty="0"/>
          </a:p>
        </p:txBody>
      </p:sp>
      <p:sp>
        <p:nvSpPr>
          <p:cNvPr id="23" name="Shape 17"/>
          <p:cNvSpPr/>
          <p:nvPr/>
        </p:nvSpPr>
        <p:spPr>
          <a:xfrm>
            <a:off x="3334512" y="1911096"/>
            <a:ext cx="2154936" cy="365760"/>
          </a:xfrm>
          <a:prstGeom prst="roundRect">
            <a:avLst>
              <a:gd name="adj" fmla="val 15000"/>
            </a:avLst>
          </a:prstGeom>
          <a:solidFill>
            <a:srgbClr val="2A3545"/>
          </a:solidFill>
          <a:ln w="12700">
            <a:solidFill>
              <a:srgbClr val="E67E22"/>
            </a:solidFill>
            <a:prstDash val="solid"/>
          </a:ln>
        </p:spPr>
        <p:txBody>
          <a:bodyPr/>
          <a:lstStyle/>
          <a:p>
            <a:endParaRPr lang="en-US"/>
          </a:p>
        </p:txBody>
      </p:sp>
      <p:pic>
        <p:nvPicPr>
          <p:cNvPr id="24" name="Image 4" descr="preencoded.png"/>
          <p:cNvPicPr>
            <a:picLocks noChangeAspect="1"/>
          </p:cNvPicPr>
          <p:nvPr/>
        </p:nvPicPr>
        <p:blipFill>
          <a:blip r:embed="rId7"/>
          <a:stretch>
            <a:fillRect/>
          </a:stretch>
        </p:blipFill>
        <p:spPr>
          <a:xfrm>
            <a:off x="3407664" y="1965960"/>
            <a:ext cx="201168" cy="201168"/>
          </a:xfrm>
          <a:prstGeom prst="rect">
            <a:avLst/>
          </a:prstGeom>
        </p:spPr>
      </p:pic>
      <p:sp>
        <p:nvSpPr>
          <p:cNvPr id="25" name="Text 18"/>
          <p:cNvSpPr/>
          <p:nvPr/>
        </p:nvSpPr>
        <p:spPr>
          <a:xfrm>
            <a:off x="3627120" y="1929384"/>
            <a:ext cx="1789176" cy="164592"/>
          </a:xfrm>
          <a:prstGeom prst="rect">
            <a:avLst/>
          </a:prstGeom>
          <a:noFill/>
          <a:ln/>
        </p:spPr>
        <p:txBody>
          <a:bodyPr wrap="square" lIns="0" tIns="0" rIns="0" bIns="0" rtlCol="0" anchor="ctr"/>
          <a:lstStyle/>
          <a:p>
            <a:pPr marL="0" indent="0">
              <a:buNone/>
            </a:pPr>
            <a:r>
              <a:rPr lang="en-US" sz="1100" b="1" dirty="0">
                <a:solidFill>
                  <a:srgbClr val="E8ECF1"/>
                </a:solidFill>
                <a:latin typeface="Calibri" pitchFamily="34" charset="0"/>
                <a:ea typeface="Calibri" pitchFamily="34" charset="-122"/>
                <a:cs typeface="Calibri" pitchFamily="34" charset="-120"/>
              </a:rPr>
              <a:t>Mercury</a:t>
            </a:r>
            <a:endParaRPr lang="en-US" sz="1100" dirty="0"/>
          </a:p>
        </p:txBody>
      </p:sp>
      <p:sp>
        <p:nvSpPr>
          <p:cNvPr id="26" name="Text 19"/>
          <p:cNvSpPr/>
          <p:nvPr/>
        </p:nvSpPr>
        <p:spPr>
          <a:xfrm>
            <a:off x="3627120" y="2093976"/>
            <a:ext cx="1789176" cy="146304"/>
          </a:xfrm>
          <a:prstGeom prst="rect">
            <a:avLst/>
          </a:prstGeom>
          <a:noFill/>
          <a:ln/>
        </p:spPr>
        <p:txBody>
          <a:bodyPr wrap="square" lIns="0" tIns="0" rIns="0" bIns="0" rtlCol="0" anchor="ctr"/>
          <a:lstStyle/>
          <a:p>
            <a:pPr marL="0" indent="0">
              <a:buNone/>
            </a:pPr>
            <a:r>
              <a:rPr lang="en-US" sz="750" dirty="0">
                <a:solidFill>
                  <a:srgbClr val="E67E22"/>
                </a:solidFill>
                <a:latin typeface="Calibri" pitchFamily="34" charset="0"/>
                <a:ea typeface="Calibri" pitchFamily="34" charset="-122"/>
                <a:cs typeface="Calibri" pitchFamily="34" charset="-120"/>
              </a:rPr>
              <a:t>Orchestration Agent</a:t>
            </a:r>
            <a:endParaRPr lang="en-US" sz="750" dirty="0"/>
          </a:p>
        </p:txBody>
      </p:sp>
      <p:sp>
        <p:nvSpPr>
          <p:cNvPr id="27" name="Shape 20"/>
          <p:cNvSpPr/>
          <p:nvPr/>
        </p:nvSpPr>
        <p:spPr>
          <a:xfrm>
            <a:off x="5599176" y="1911096"/>
            <a:ext cx="2154936" cy="365760"/>
          </a:xfrm>
          <a:prstGeom prst="roundRect">
            <a:avLst>
              <a:gd name="adj" fmla="val 15000"/>
            </a:avLst>
          </a:prstGeom>
          <a:solidFill>
            <a:srgbClr val="2A3545"/>
          </a:solidFill>
          <a:ln w="12700">
            <a:solidFill>
              <a:srgbClr val="9B6DD7"/>
            </a:solidFill>
            <a:prstDash val="solid"/>
          </a:ln>
        </p:spPr>
        <p:txBody>
          <a:bodyPr/>
          <a:lstStyle/>
          <a:p>
            <a:endParaRPr lang="en-US"/>
          </a:p>
        </p:txBody>
      </p:sp>
      <p:pic>
        <p:nvPicPr>
          <p:cNvPr id="28" name="Image 5" descr="preencoded.png"/>
          <p:cNvPicPr>
            <a:picLocks noChangeAspect="1"/>
          </p:cNvPicPr>
          <p:nvPr/>
        </p:nvPicPr>
        <p:blipFill>
          <a:blip r:embed="rId8"/>
          <a:stretch>
            <a:fillRect/>
          </a:stretch>
        </p:blipFill>
        <p:spPr>
          <a:xfrm>
            <a:off x="5672328" y="1965960"/>
            <a:ext cx="201168" cy="201168"/>
          </a:xfrm>
          <a:prstGeom prst="rect">
            <a:avLst/>
          </a:prstGeom>
        </p:spPr>
      </p:pic>
      <p:sp>
        <p:nvSpPr>
          <p:cNvPr id="29" name="Text 21"/>
          <p:cNvSpPr/>
          <p:nvPr/>
        </p:nvSpPr>
        <p:spPr>
          <a:xfrm>
            <a:off x="5891784" y="1929384"/>
            <a:ext cx="1789176" cy="164592"/>
          </a:xfrm>
          <a:prstGeom prst="rect">
            <a:avLst/>
          </a:prstGeom>
          <a:noFill/>
          <a:ln/>
        </p:spPr>
        <p:txBody>
          <a:bodyPr wrap="square" lIns="0" tIns="0" rIns="0" bIns="0" rtlCol="0" anchor="ctr"/>
          <a:lstStyle/>
          <a:p>
            <a:pPr marL="0" indent="0">
              <a:buNone/>
            </a:pPr>
            <a:r>
              <a:rPr lang="en-US" sz="1100" b="1" dirty="0">
                <a:solidFill>
                  <a:srgbClr val="E8ECF1"/>
                </a:solidFill>
                <a:latin typeface="Calibri" pitchFamily="34" charset="0"/>
                <a:ea typeface="Calibri" pitchFamily="34" charset="-122"/>
                <a:cs typeface="Calibri" pitchFamily="34" charset="-120"/>
              </a:rPr>
              <a:t>Hermes Agent</a:t>
            </a:r>
            <a:endParaRPr lang="en-US" sz="1100" dirty="0"/>
          </a:p>
        </p:txBody>
      </p:sp>
      <p:sp>
        <p:nvSpPr>
          <p:cNvPr id="30" name="Text 22"/>
          <p:cNvSpPr/>
          <p:nvPr/>
        </p:nvSpPr>
        <p:spPr>
          <a:xfrm>
            <a:off x="5891784" y="2093976"/>
            <a:ext cx="1789176" cy="146304"/>
          </a:xfrm>
          <a:prstGeom prst="rect">
            <a:avLst/>
          </a:prstGeom>
          <a:noFill/>
          <a:ln/>
        </p:spPr>
        <p:txBody>
          <a:bodyPr wrap="square" lIns="0" tIns="0" rIns="0" bIns="0" rtlCol="0" anchor="ctr"/>
          <a:lstStyle/>
          <a:p>
            <a:pPr marL="0" indent="0">
              <a:buNone/>
            </a:pPr>
            <a:r>
              <a:rPr lang="en-US" sz="750" dirty="0">
                <a:solidFill>
                  <a:srgbClr val="9B6DD7"/>
                </a:solidFill>
                <a:latin typeface="Calibri" pitchFamily="34" charset="0"/>
                <a:ea typeface="Calibri" pitchFamily="34" charset="-122"/>
                <a:cs typeface="Calibri" pitchFamily="34" charset="-120"/>
              </a:rPr>
              <a:t>Self-Improving Loop</a:t>
            </a:r>
            <a:endParaRPr lang="en-US" sz="750" dirty="0"/>
          </a:p>
        </p:txBody>
      </p:sp>
      <p:sp>
        <p:nvSpPr>
          <p:cNvPr id="31" name="Shape 23"/>
          <p:cNvSpPr/>
          <p:nvPr/>
        </p:nvSpPr>
        <p:spPr>
          <a:xfrm>
            <a:off x="3233928" y="2075688"/>
            <a:ext cx="91440" cy="0"/>
          </a:xfrm>
          <a:prstGeom prst="line">
            <a:avLst/>
          </a:prstGeom>
          <a:noFill/>
          <a:ln w="19050">
            <a:solidFill>
              <a:srgbClr val="76B900"/>
            </a:solidFill>
            <a:prstDash val="solid"/>
            <a:headEnd type="triangle"/>
            <a:tailEnd type="triangle"/>
          </a:ln>
        </p:spPr>
        <p:txBody>
          <a:bodyPr/>
          <a:lstStyle/>
          <a:p>
            <a:endParaRPr lang="en-US"/>
          </a:p>
        </p:txBody>
      </p:sp>
      <p:sp>
        <p:nvSpPr>
          <p:cNvPr id="32" name="Shape 24"/>
          <p:cNvSpPr/>
          <p:nvPr/>
        </p:nvSpPr>
        <p:spPr>
          <a:xfrm>
            <a:off x="5498592" y="2112264"/>
            <a:ext cx="91440" cy="0"/>
          </a:xfrm>
          <a:prstGeom prst="line">
            <a:avLst/>
          </a:prstGeom>
          <a:noFill/>
          <a:ln w="19050">
            <a:solidFill>
              <a:srgbClr val="9B6DD7"/>
            </a:solidFill>
            <a:prstDash val="solid"/>
            <a:headEnd type="triangle"/>
            <a:tailEnd type="triangle"/>
          </a:ln>
        </p:spPr>
        <p:txBody>
          <a:bodyPr/>
          <a:lstStyle/>
          <a:p>
            <a:endParaRPr lang="en-US"/>
          </a:p>
        </p:txBody>
      </p:sp>
      <p:sp>
        <p:nvSpPr>
          <p:cNvPr id="33" name="Shape 25"/>
          <p:cNvSpPr/>
          <p:nvPr/>
        </p:nvSpPr>
        <p:spPr>
          <a:xfrm>
            <a:off x="4338828" y="2331720"/>
            <a:ext cx="146304" cy="109728"/>
          </a:xfrm>
          <a:prstGeom prst="downArrow">
            <a:avLst/>
          </a:prstGeom>
          <a:solidFill>
            <a:srgbClr val="5B9BD5"/>
          </a:solidFill>
          <a:ln w="12700">
            <a:solidFill>
              <a:srgbClr val="333333"/>
            </a:solidFill>
            <a:prstDash val="solid"/>
          </a:ln>
        </p:spPr>
        <p:txBody>
          <a:bodyPr/>
          <a:lstStyle/>
          <a:p>
            <a:endParaRPr lang="en-US"/>
          </a:p>
        </p:txBody>
      </p:sp>
      <p:sp>
        <p:nvSpPr>
          <p:cNvPr id="34" name="Text 26"/>
          <p:cNvSpPr/>
          <p:nvPr/>
        </p:nvSpPr>
        <p:spPr>
          <a:xfrm>
            <a:off x="137160" y="2441448"/>
            <a:ext cx="777240" cy="438912"/>
          </a:xfrm>
          <a:prstGeom prst="rect">
            <a:avLst/>
          </a:prstGeom>
          <a:noFill/>
          <a:ln/>
        </p:spPr>
        <p:txBody>
          <a:bodyPr wrap="square" lIns="0" tIns="0" rIns="0" bIns="0" rtlCol="0" anchor="ctr"/>
          <a:lstStyle/>
          <a:p>
            <a:pPr marL="0" indent="0" algn="l">
              <a:buNone/>
            </a:pPr>
            <a:r>
              <a:rPr lang="en-US" sz="850" b="1" dirty="0">
                <a:solidFill>
                  <a:srgbClr val="8B95A5"/>
                </a:solidFill>
                <a:latin typeface="Calibri" pitchFamily="34" charset="0"/>
                <a:ea typeface="Calibri" pitchFamily="34" charset="-122"/>
                <a:cs typeface="Calibri" pitchFamily="34" charset="-120"/>
              </a:rPr>
              <a:t>Memory</a:t>
            </a:r>
            <a:endParaRPr lang="en-US" sz="850" dirty="0"/>
          </a:p>
          <a:p>
            <a:pPr marL="0" indent="0" algn="l">
              <a:buNone/>
            </a:pPr>
            <a:r>
              <a:rPr lang="en-US" sz="850" b="1" dirty="0">
                <a:solidFill>
                  <a:srgbClr val="8B95A5"/>
                </a:solidFill>
                <a:latin typeface="Calibri" pitchFamily="34" charset="0"/>
                <a:ea typeface="Calibri" pitchFamily="34" charset="-122"/>
                <a:cs typeface="Calibri" pitchFamily="34" charset="-120"/>
              </a:rPr>
              <a:t>&amp; State</a:t>
            </a:r>
            <a:endParaRPr lang="en-US" sz="850" dirty="0"/>
          </a:p>
        </p:txBody>
      </p:sp>
      <p:sp>
        <p:nvSpPr>
          <p:cNvPr id="35" name="Shape 27"/>
          <p:cNvSpPr/>
          <p:nvPr/>
        </p:nvSpPr>
        <p:spPr>
          <a:xfrm>
            <a:off x="960120" y="2441448"/>
            <a:ext cx="6903720" cy="438912"/>
          </a:xfrm>
          <a:prstGeom prst="roundRect">
            <a:avLst>
              <a:gd name="adj" fmla="val 16667"/>
            </a:avLst>
          </a:prstGeom>
          <a:solidFill>
            <a:srgbClr val="1E2533"/>
          </a:solidFill>
          <a:ln w="6350">
            <a:solidFill>
              <a:srgbClr val="3A4560"/>
            </a:solidFill>
            <a:prstDash val="solid"/>
          </a:ln>
        </p:spPr>
        <p:txBody>
          <a:bodyPr/>
          <a:lstStyle/>
          <a:p>
            <a:endParaRPr lang="en-US"/>
          </a:p>
        </p:txBody>
      </p:sp>
      <p:pic>
        <p:nvPicPr>
          <p:cNvPr id="36" name="Image 6" descr="preencoded.png"/>
          <p:cNvPicPr>
            <a:picLocks noChangeAspect="1"/>
          </p:cNvPicPr>
          <p:nvPr/>
        </p:nvPicPr>
        <p:blipFill>
          <a:blip r:embed="rId9"/>
          <a:stretch>
            <a:fillRect/>
          </a:stretch>
        </p:blipFill>
        <p:spPr>
          <a:xfrm>
            <a:off x="1143000" y="2532888"/>
            <a:ext cx="228600" cy="228600"/>
          </a:xfrm>
          <a:prstGeom prst="rect">
            <a:avLst/>
          </a:prstGeom>
        </p:spPr>
      </p:pic>
      <p:sp>
        <p:nvSpPr>
          <p:cNvPr id="37" name="Text 28"/>
          <p:cNvSpPr/>
          <p:nvPr/>
        </p:nvSpPr>
        <p:spPr>
          <a:xfrm>
            <a:off x="1463040" y="2478024"/>
            <a:ext cx="3200400" cy="182880"/>
          </a:xfrm>
          <a:prstGeom prst="rect">
            <a:avLst/>
          </a:prstGeom>
          <a:noFill/>
          <a:ln/>
        </p:spPr>
        <p:txBody>
          <a:bodyPr wrap="square" lIns="0" tIns="0" rIns="0" bIns="0" rtlCol="0" anchor="ctr"/>
          <a:lstStyle/>
          <a:p>
            <a:pPr marL="0" indent="0">
              <a:buNone/>
            </a:pPr>
            <a:r>
              <a:rPr lang="en-US" sz="1100" b="1" dirty="0">
                <a:solidFill>
                  <a:srgbClr val="E8ECF1"/>
                </a:solidFill>
                <a:latin typeface="Calibri" pitchFamily="34" charset="0"/>
                <a:ea typeface="Calibri" pitchFamily="34" charset="-122"/>
                <a:cs typeface="Calibri" pitchFamily="34" charset="-120"/>
              </a:rPr>
              <a:t>Persistent Memory &amp; State</a:t>
            </a:r>
            <a:endParaRPr lang="en-US" sz="1100" dirty="0"/>
          </a:p>
        </p:txBody>
      </p:sp>
      <p:sp>
        <p:nvSpPr>
          <p:cNvPr id="38" name="Text 29"/>
          <p:cNvSpPr/>
          <p:nvPr/>
        </p:nvSpPr>
        <p:spPr>
          <a:xfrm>
            <a:off x="1463040" y="2660904"/>
            <a:ext cx="6263640" cy="164592"/>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SOUL.md  •  MEMORY.md  •  USER.md  •  HEARTBEAT.md  •  AGENTS.md</a:t>
            </a:r>
            <a:endParaRPr lang="en-US" sz="850" dirty="0"/>
          </a:p>
        </p:txBody>
      </p:sp>
      <p:sp>
        <p:nvSpPr>
          <p:cNvPr id="39" name="Shape 30"/>
          <p:cNvSpPr/>
          <p:nvPr/>
        </p:nvSpPr>
        <p:spPr>
          <a:xfrm>
            <a:off x="4338828" y="2880360"/>
            <a:ext cx="146304" cy="109728"/>
          </a:xfrm>
          <a:prstGeom prst="downArrow">
            <a:avLst/>
          </a:prstGeom>
          <a:solidFill>
            <a:srgbClr val="5B9BD5"/>
          </a:solidFill>
          <a:ln w="12700">
            <a:solidFill>
              <a:srgbClr val="333333"/>
            </a:solidFill>
            <a:prstDash val="solid"/>
          </a:ln>
        </p:spPr>
        <p:txBody>
          <a:bodyPr/>
          <a:lstStyle/>
          <a:p>
            <a:endParaRPr lang="en-US"/>
          </a:p>
        </p:txBody>
      </p:sp>
      <p:sp>
        <p:nvSpPr>
          <p:cNvPr id="40" name="Text 31"/>
          <p:cNvSpPr/>
          <p:nvPr/>
        </p:nvSpPr>
        <p:spPr>
          <a:xfrm>
            <a:off x="137160" y="2990088"/>
            <a:ext cx="777240" cy="530352"/>
          </a:xfrm>
          <a:prstGeom prst="rect">
            <a:avLst/>
          </a:prstGeom>
          <a:noFill/>
          <a:ln/>
        </p:spPr>
        <p:txBody>
          <a:bodyPr wrap="square" lIns="0" tIns="0" rIns="0" bIns="0" rtlCol="0" anchor="ctr"/>
          <a:lstStyle/>
          <a:p>
            <a:pPr marL="0" indent="0" algn="l">
              <a:buNone/>
            </a:pPr>
            <a:r>
              <a:rPr lang="en-US" sz="850" b="1" dirty="0">
                <a:solidFill>
                  <a:srgbClr val="8B95A5"/>
                </a:solidFill>
                <a:latin typeface="Calibri" pitchFamily="34" charset="0"/>
                <a:ea typeface="Calibri" pitchFamily="34" charset="-122"/>
                <a:cs typeface="Calibri" pitchFamily="34" charset="-120"/>
              </a:rPr>
              <a:t>Layer 5</a:t>
            </a:r>
            <a:endParaRPr lang="en-US" sz="850" dirty="0"/>
          </a:p>
        </p:txBody>
      </p:sp>
      <p:sp>
        <p:nvSpPr>
          <p:cNvPr id="41" name="Shape 32"/>
          <p:cNvSpPr/>
          <p:nvPr/>
        </p:nvSpPr>
        <p:spPr>
          <a:xfrm>
            <a:off x="960120" y="2990088"/>
            <a:ext cx="6903720" cy="530352"/>
          </a:xfrm>
          <a:prstGeom prst="roundRect">
            <a:avLst>
              <a:gd name="adj" fmla="val 13793"/>
            </a:avLst>
          </a:prstGeom>
          <a:solidFill>
            <a:srgbClr val="1E2533"/>
          </a:solidFill>
          <a:ln w="6350">
            <a:solidFill>
              <a:srgbClr val="3A4560"/>
            </a:solidFill>
            <a:prstDash val="solid"/>
          </a:ln>
        </p:spPr>
        <p:txBody>
          <a:bodyPr/>
          <a:lstStyle/>
          <a:p>
            <a:endParaRPr lang="en-US"/>
          </a:p>
        </p:txBody>
      </p:sp>
      <p:pic>
        <p:nvPicPr>
          <p:cNvPr id="42" name="Image 7" descr="preencoded.png"/>
          <p:cNvPicPr>
            <a:picLocks noChangeAspect="1"/>
          </p:cNvPicPr>
          <p:nvPr/>
        </p:nvPicPr>
        <p:blipFill>
          <a:blip r:embed="rId10"/>
          <a:stretch>
            <a:fillRect/>
          </a:stretch>
        </p:blipFill>
        <p:spPr>
          <a:xfrm>
            <a:off x="1143000" y="3063240"/>
            <a:ext cx="228600" cy="228600"/>
          </a:xfrm>
          <a:prstGeom prst="rect">
            <a:avLst/>
          </a:prstGeom>
        </p:spPr>
      </p:pic>
      <p:sp>
        <p:nvSpPr>
          <p:cNvPr id="43" name="Text 33"/>
          <p:cNvSpPr/>
          <p:nvPr/>
        </p:nvSpPr>
        <p:spPr>
          <a:xfrm>
            <a:off x="1463040" y="3026664"/>
            <a:ext cx="2743200" cy="201168"/>
          </a:xfrm>
          <a:prstGeom prst="rect">
            <a:avLst/>
          </a:prstGeom>
          <a:noFill/>
          <a:ln/>
        </p:spPr>
        <p:txBody>
          <a:bodyPr wrap="square" lIns="0" tIns="0" rIns="0" bIns="0" rtlCol="0" anchor="ctr"/>
          <a:lstStyle/>
          <a:p>
            <a:pPr marL="0" indent="0">
              <a:buNone/>
            </a:pPr>
            <a:r>
              <a:rPr lang="en-US" sz="1100" b="1" dirty="0">
                <a:solidFill>
                  <a:srgbClr val="E8ECF1"/>
                </a:solidFill>
                <a:latin typeface="Calibri" pitchFamily="34" charset="0"/>
                <a:ea typeface="Calibri" pitchFamily="34" charset="-122"/>
                <a:cs typeface="Calibri" pitchFamily="34" charset="-120"/>
              </a:rPr>
              <a:t>Tools &amp; Skills Layer</a:t>
            </a:r>
            <a:endParaRPr lang="en-US" sz="1100" dirty="0"/>
          </a:p>
        </p:txBody>
      </p:sp>
      <p:sp>
        <p:nvSpPr>
          <p:cNvPr id="44" name="Text 34"/>
          <p:cNvSpPr/>
          <p:nvPr/>
        </p:nvSpPr>
        <p:spPr>
          <a:xfrm>
            <a:off x="1463040" y="3246120"/>
            <a:ext cx="6263640" cy="201168"/>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40+ ClawHub Skills: exec  •  browser  •  gog  •  calendar  •  github  •  notion  •  and more</a:t>
            </a:r>
            <a:endParaRPr lang="en-US" sz="850" dirty="0"/>
          </a:p>
        </p:txBody>
      </p:sp>
      <p:sp>
        <p:nvSpPr>
          <p:cNvPr id="45" name="Shape 35"/>
          <p:cNvSpPr/>
          <p:nvPr/>
        </p:nvSpPr>
        <p:spPr>
          <a:xfrm>
            <a:off x="4338828" y="3520440"/>
            <a:ext cx="146304" cy="109728"/>
          </a:xfrm>
          <a:prstGeom prst="downArrow">
            <a:avLst/>
          </a:prstGeom>
          <a:solidFill>
            <a:srgbClr val="5B9BD5"/>
          </a:solidFill>
          <a:ln w="12700">
            <a:solidFill>
              <a:srgbClr val="333333"/>
            </a:solidFill>
            <a:prstDash val="solid"/>
          </a:ln>
        </p:spPr>
        <p:txBody>
          <a:bodyPr/>
          <a:lstStyle/>
          <a:p>
            <a:endParaRPr lang="en-US"/>
          </a:p>
        </p:txBody>
      </p:sp>
      <p:sp>
        <p:nvSpPr>
          <p:cNvPr id="46" name="Text 36"/>
          <p:cNvSpPr/>
          <p:nvPr/>
        </p:nvSpPr>
        <p:spPr>
          <a:xfrm>
            <a:off x="137160" y="3630168"/>
            <a:ext cx="777240" cy="502920"/>
          </a:xfrm>
          <a:prstGeom prst="rect">
            <a:avLst/>
          </a:prstGeom>
          <a:noFill/>
          <a:ln/>
        </p:spPr>
        <p:txBody>
          <a:bodyPr wrap="square" lIns="0" tIns="0" rIns="0" bIns="0" rtlCol="0" anchor="ctr"/>
          <a:lstStyle/>
          <a:p>
            <a:pPr marL="0" indent="0" algn="l">
              <a:buNone/>
            </a:pPr>
            <a:r>
              <a:rPr lang="en-US" sz="850" b="1" dirty="0">
                <a:solidFill>
                  <a:srgbClr val="8B95A5"/>
                </a:solidFill>
                <a:latin typeface="Calibri" pitchFamily="34" charset="0"/>
                <a:ea typeface="Calibri" pitchFamily="34" charset="-122"/>
                <a:cs typeface="Calibri" pitchFamily="34" charset="-120"/>
              </a:rPr>
              <a:t>Layer 6</a:t>
            </a:r>
            <a:endParaRPr lang="en-US" sz="850" dirty="0"/>
          </a:p>
        </p:txBody>
      </p:sp>
      <p:sp>
        <p:nvSpPr>
          <p:cNvPr id="47" name="Shape 37"/>
          <p:cNvSpPr/>
          <p:nvPr/>
        </p:nvSpPr>
        <p:spPr>
          <a:xfrm>
            <a:off x="960120" y="3630168"/>
            <a:ext cx="6903720" cy="502920"/>
          </a:xfrm>
          <a:prstGeom prst="roundRect">
            <a:avLst>
              <a:gd name="adj" fmla="val 14545"/>
            </a:avLst>
          </a:prstGeom>
          <a:solidFill>
            <a:srgbClr val="1E2533"/>
          </a:solidFill>
          <a:ln w="6350">
            <a:solidFill>
              <a:srgbClr val="3A4560"/>
            </a:solidFill>
            <a:prstDash val="solid"/>
          </a:ln>
        </p:spPr>
        <p:txBody>
          <a:bodyPr/>
          <a:lstStyle/>
          <a:p>
            <a:endParaRPr lang="en-US"/>
          </a:p>
        </p:txBody>
      </p:sp>
      <p:pic>
        <p:nvPicPr>
          <p:cNvPr id="48" name="Image 8" descr="preencoded.png"/>
          <p:cNvPicPr>
            <a:picLocks noChangeAspect="1"/>
          </p:cNvPicPr>
          <p:nvPr/>
        </p:nvPicPr>
        <p:blipFill>
          <a:blip r:embed="rId11"/>
          <a:stretch>
            <a:fillRect/>
          </a:stretch>
        </p:blipFill>
        <p:spPr>
          <a:xfrm>
            <a:off x="1143000" y="3703320"/>
            <a:ext cx="256032" cy="256032"/>
          </a:xfrm>
          <a:prstGeom prst="rect">
            <a:avLst/>
          </a:prstGeom>
        </p:spPr>
      </p:pic>
      <p:sp>
        <p:nvSpPr>
          <p:cNvPr id="49" name="Text 38"/>
          <p:cNvSpPr/>
          <p:nvPr/>
        </p:nvSpPr>
        <p:spPr>
          <a:xfrm>
            <a:off x="1463040" y="3666744"/>
            <a:ext cx="3657600" cy="201168"/>
          </a:xfrm>
          <a:prstGeom prst="rect">
            <a:avLst/>
          </a:prstGeom>
          <a:noFill/>
          <a:ln/>
        </p:spPr>
        <p:txBody>
          <a:bodyPr wrap="square" lIns="0" tIns="0" rIns="0" bIns="0" rtlCol="0" anchor="ctr"/>
          <a:lstStyle/>
          <a:p>
            <a:pPr marL="0" indent="0">
              <a:buNone/>
            </a:pPr>
            <a:r>
              <a:rPr lang="en-US" sz="1100" b="1" dirty="0">
                <a:solidFill>
                  <a:srgbClr val="E8ECF1"/>
                </a:solidFill>
                <a:latin typeface="Calibri" pitchFamily="34" charset="0"/>
                <a:ea typeface="Calibri" pitchFamily="34" charset="-122"/>
                <a:cs typeface="Calibri" pitchFamily="34" charset="-120"/>
              </a:rPr>
              <a:t>GPU / LLM Engine</a:t>
            </a:r>
            <a:endParaRPr lang="en-US" sz="1100" dirty="0"/>
          </a:p>
        </p:txBody>
      </p:sp>
      <p:sp>
        <p:nvSpPr>
          <p:cNvPr id="50" name="Text 39"/>
          <p:cNvSpPr/>
          <p:nvPr/>
        </p:nvSpPr>
        <p:spPr>
          <a:xfrm>
            <a:off x="1463040" y="3886200"/>
            <a:ext cx="6263640" cy="201168"/>
          </a:xfrm>
          <a:prstGeom prst="rect">
            <a:avLst/>
          </a:prstGeom>
          <a:noFill/>
          <a:ln/>
        </p:spPr>
        <p:txBody>
          <a:bodyPr wrap="square" lIns="0" tIns="0" rIns="0" bIns="0" rtlCol="0" anchor="ctr"/>
          <a:lstStyle/>
          <a:p>
            <a:pPr marL="0" indent="0">
              <a:buNone/>
            </a:pPr>
            <a:r>
              <a:rPr lang="en-US" sz="850" dirty="0">
                <a:solidFill>
                  <a:srgbClr val="9CA3AF"/>
                </a:solidFill>
                <a:latin typeface="Calibri" pitchFamily="34" charset="0"/>
                <a:ea typeface="Calibri" pitchFamily="34" charset="-122"/>
                <a:cs typeface="Calibri" pitchFamily="34" charset="-120"/>
              </a:rPr>
              <a:t>Local LLM via Ollama  •  Qwen3.5  •  Llama  •  GLM  •  OpenAI-Compatible API</a:t>
            </a:r>
            <a:endParaRPr lang="en-US" sz="850" dirty="0"/>
          </a:p>
        </p:txBody>
      </p:sp>
      <p:sp>
        <p:nvSpPr>
          <p:cNvPr id="51" name="Shape 40"/>
          <p:cNvSpPr/>
          <p:nvPr/>
        </p:nvSpPr>
        <p:spPr>
          <a:xfrm>
            <a:off x="8001000" y="1234440"/>
            <a:ext cx="0" cy="2715768"/>
          </a:xfrm>
          <a:prstGeom prst="line">
            <a:avLst/>
          </a:prstGeom>
          <a:noFill/>
          <a:ln w="19050">
            <a:solidFill>
              <a:srgbClr val="E67E22"/>
            </a:solidFill>
            <a:prstDash val="solid"/>
          </a:ln>
        </p:spPr>
        <p:txBody>
          <a:bodyPr/>
          <a:lstStyle/>
          <a:p>
            <a:endParaRPr lang="en-US"/>
          </a:p>
        </p:txBody>
      </p:sp>
      <p:sp>
        <p:nvSpPr>
          <p:cNvPr id="52" name="Shape 41"/>
          <p:cNvSpPr/>
          <p:nvPr/>
        </p:nvSpPr>
        <p:spPr>
          <a:xfrm>
            <a:off x="7863840" y="1234440"/>
            <a:ext cx="137160" cy="0"/>
          </a:xfrm>
          <a:prstGeom prst="line">
            <a:avLst/>
          </a:prstGeom>
          <a:noFill/>
          <a:ln w="19050">
            <a:solidFill>
              <a:srgbClr val="E67E22"/>
            </a:solidFill>
            <a:prstDash val="solid"/>
            <a:headEnd type="triangle"/>
          </a:ln>
        </p:spPr>
        <p:txBody>
          <a:bodyPr/>
          <a:lstStyle/>
          <a:p>
            <a:endParaRPr lang="en-US"/>
          </a:p>
        </p:txBody>
      </p:sp>
      <p:sp>
        <p:nvSpPr>
          <p:cNvPr id="53" name="Shape 42"/>
          <p:cNvSpPr/>
          <p:nvPr/>
        </p:nvSpPr>
        <p:spPr>
          <a:xfrm>
            <a:off x="7863840" y="3950208"/>
            <a:ext cx="137160" cy="0"/>
          </a:xfrm>
          <a:prstGeom prst="line">
            <a:avLst/>
          </a:prstGeom>
          <a:noFill/>
          <a:ln w="19050">
            <a:solidFill>
              <a:srgbClr val="E67E22"/>
            </a:solidFill>
            <a:prstDash val="solid"/>
            <a:headEnd type="triangle"/>
          </a:ln>
        </p:spPr>
        <p:txBody>
          <a:bodyPr/>
          <a:lstStyle/>
          <a:p>
            <a:endParaRPr lang="en-US"/>
          </a:p>
        </p:txBody>
      </p:sp>
      <p:sp>
        <p:nvSpPr>
          <p:cNvPr id="54" name="Text 43"/>
          <p:cNvSpPr/>
          <p:nvPr/>
        </p:nvSpPr>
        <p:spPr>
          <a:xfrm>
            <a:off x="8092440" y="4206240"/>
            <a:ext cx="182880" cy="164592"/>
          </a:xfrm>
          <a:prstGeom prst="rect">
            <a:avLst/>
          </a:prstGeom>
          <a:noFill/>
          <a:ln/>
        </p:spPr>
        <p:txBody>
          <a:bodyPr wrap="square" lIns="0" tIns="0" rIns="0" bIns="0" rtlCol="0" anchor="ctr"/>
          <a:lstStyle/>
          <a:p>
            <a:pPr marL="0" indent="0">
              <a:buNone/>
            </a:pPr>
            <a:r>
              <a:rPr lang="en-US" sz="1000" b="1" dirty="0">
                <a:solidFill>
                  <a:srgbClr val="76B900"/>
                </a:solidFill>
                <a:latin typeface="Calibri" pitchFamily="34" charset="0"/>
                <a:ea typeface="Calibri" pitchFamily="34" charset="-122"/>
                <a:cs typeface="Calibri" pitchFamily="34" charset="-120"/>
              </a:rPr>
              <a:t>→</a:t>
            </a:r>
            <a:endParaRPr lang="en-US" sz="1000" dirty="0"/>
          </a:p>
        </p:txBody>
      </p:sp>
      <p:sp>
        <p:nvSpPr>
          <p:cNvPr id="55" name="Text 44"/>
          <p:cNvSpPr/>
          <p:nvPr/>
        </p:nvSpPr>
        <p:spPr>
          <a:xfrm>
            <a:off x="8275320" y="4206240"/>
            <a:ext cx="640080" cy="164592"/>
          </a:xfrm>
          <a:prstGeom prst="rect">
            <a:avLst/>
          </a:prstGeom>
          <a:noFill/>
          <a:ln/>
        </p:spPr>
        <p:txBody>
          <a:bodyPr wrap="square" lIns="0" tIns="0" rIns="0" bIns="0" rtlCol="0" anchor="ctr"/>
          <a:lstStyle/>
          <a:p>
            <a:pPr marL="0" indent="0">
              <a:buNone/>
            </a:pPr>
            <a:r>
              <a:rPr lang="en-US" sz="800" dirty="0">
                <a:solidFill>
                  <a:srgbClr val="76B900"/>
                </a:solidFill>
                <a:latin typeface="Calibri" pitchFamily="34" charset="0"/>
                <a:ea typeface="Calibri" pitchFamily="34" charset="-122"/>
                <a:cs typeface="Calibri" pitchFamily="34" charset="-120"/>
              </a:rPr>
              <a:t>ReAct</a:t>
            </a:r>
            <a:endParaRPr lang="en-US" sz="800" dirty="0"/>
          </a:p>
        </p:txBody>
      </p:sp>
      <p:sp>
        <p:nvSpPr>
          <p:cNvPr id="56" name="Text 45"/>
          <p:cNvSpPr/>
          <p:nvPr/>
        </p:nvSpPr>
        <p:spPr>
          <a:xfrm>
            <a:off x="8092440" y="4389120"/>
            <a:ext cx="182880" cy="164592"/>
          </a:xfrm>
          <a:prstGeom prst="rect">
            <a:avLst/>
          </a:prstGeom>
          <a:noFill/>
          <a:ln/>
        </p:spPr>
        <p:txBody>
          <a:bodyPr wrap="square" lIns="0" tIns="0" rIns="0" bIns="0" rtlCol="0" anchor="ctr"/>
          <a:lstStyle/>
          <a:p>
            <a:pPr marL="0" indent="0">
              <a:buNone/>
            </a:pPr>
            <a:r>
              <a:rPr lang="en-US" sz="1000" b="1" dirty="0">
                <a:solidFill>
                  <a:srgbClr val="E67E22"/>
                </a:solidFill>
                <a:latin typeface="Calibri" pitchFamily="34" charset="0"/>
                <a:ea typeface="Calibri" pitchFamily="34" charset="-122"/>
                <a:cs typeface="Calibri" pitchFamily="34" charset="-120"/>
              </a:rPr>
              <a:t>→</a:t>
            </a:r>
            <a:endParaRPr lang="en-US" sz="1000" dirty="0"/>
          </a:p>
        </p:txBody>
      </p:sp>
      <p:sp>
        <p:nvSpPr>
          <p:cNvPr id="57" name="Text 46"/>
          <p:cNvSpPr/>
          <p:nvPr/>
        </p:nvSpPr>
        <p:spPr>
          <a:xfrm>
            <a:off x="8275320" y="4389120"/>
            <a:ext cx="640080" cy="164592"/>
          </a:xfrm>
          <a:prstGeom prst="rect">
            <a:avLst/>
          </a:prstGeom>
          <a:noFill/>
          <a:ln/>
        </p:spPr>
        <p:txBody>
          <a:bodyPr wrap="square" lIns="0" tIns="0" rIns="0" bIns="0" rtlCol="0" anchor="ctr"/>
          <a:lstStyle/>
          <a:p>
            <a:pPr marL="0" indent="0">
              <a:buNone/>
            </a:pPr>
            <a:r>
              <a:rPr lang="en-US" sz="800" dirty="0">
                <a:solidFill>
                  <a:srgbClr val="E67E22"/>
                </a:solidFill>
                <a:latin typeface="Calibri" pitchFamily="34" charset="0"/>
                <a:ea typeface="Calibri" pitchFamily="34" charset="-122"/>
                <a:cs typeface="Calibri" pitchFamily="34" charset="-120"/>
              </a:rPr>
              <a:t>Mercury</a:t>
            </a:r>
            <a:endParaRPr lang="en-US" sz="800" dirty="0"/>
          </a:p>
        </p:txBody>
      </p:sp>
      <p:sp>
        <p:nvSpPr>
          <p:cNvPr id="58" name="Text 47"/>
          <p:cNvSpPr/>
          <p:nvPr/>
        </p:nvSpPr>
        <p:spPr>
          <a:xfrm>
            <a:off x="8092440" y="4572000"/>
            <a:ext cx="182880" cy="164592"/>
          </a:xfrm>
          <a:prstGeom prst="rect">
            <a:avLst/>
          </a:prstGeom>
          <a:noFill/>
          <a:ln/>
        </p:spPr>
        <p:txBody>
          <a:bodyPr wrap="square" lIns="0" tIns="0" rIns="0" bIns="0" rtlCol="0" anchor="ctr"/>
          <a:lstStyle/>
          <a:p>
            <a:pPr marL="0" indent="0">
              <a:buNone/>
            </a:pPr>
            <a:r>
              <a:rPr lang="en-US" sz="1000" b="1" dirty="0">
                <a:solidFill>
                  <a:srgbClr val="9B6DD7"/>
                </a:solidFill>
                <a:latin typeface="Calibri" pitchFamily="34" charset="0"/>
                <a:ea typeface="Calibri" pitchFamily="34" charset="-122"/>
                <a:cs typeface="Calibri" pitchFamily="34" charset="-120"/>
              </a:rPr>
              <a:t>→</a:t>
            </a:r>
            <a:endParaRPr lang="en-US" sz="1000" dirty="0"/>
          </a:p>
        </p:txBody>
      </p:sp>
      <p:sp>
        <p:nvSpPr>
          <p:cNvPr id="59" name="Text 48"/>
          <p:cNvSpPr/>
          <p:nvPr/>
        </p:nvSpPr>
        <p:spPr>
          <a:xfrm>
            <a:off x="8275320" y="4572000"/>
            <a:ext cx="640080" cy="164592"/>
          </a:xfrm>
          <a:prstGeom prst="rect">
            <a:avLst/>
          </a:prstGeom>
          <a:noFill/>
          <a:ln/>
        </p:spPr>
        <p:txBody>
          <a:bodyPr wrap="square" lIns="0" tIns="0" rIns="0" bIns="0" rtlCol="0" anchor="ctr"/>
          <a:lstStyle/>
          <a:p>
            <a:pPr marL="0" indent="0">
              <a:buNone/>
            </a:pPr>
            <a:r>
              <a:rPr lang="en-US" sz="800" dirty="0">
                <a:solidFill>
                  <a:srgbClr val="9B6DD7"/>
                </a:solidFill>
                <a:latin typeface="Calibri" pitchFamily="34" charset="0"/>
                <a:ea typeface="Calibri" pitchFamily="34" charset="-122"/>
                <a:cs typeface="Calibri" pitchFamily="34" charset="-120"/>
              </a:rPr>
              <a:t>Hermes</a:t>
            </a:r>
            <a:endParaRPr lang="en-US" sz="800" dirty="0"/>
          </a:p>
        </p:txBody>
      </p:sp>
      <p:sp>
        <p:nvSpPr>
          <p:cNvPr id="60" name="Text 49"/>
          <p:cNvSpPr/>
          <p:nvPr/>
        </p:nvSpPr>
        <p:spPr>
          <a:xfrm>
            <a:off x="1371600" y="4251960"/>
            <a:ext cx="5486400" cy="256032"/>
          </a:xfrm>
          <a:prstGeom prst="rect">
            <a:avLst/>
          </a:prstGeom>
          <a:noFill/>
          <a:ln/>
        </p:spPr>
        <p:txBody>
          <a:bodyPr wrap="square" lIns="0" tIns="0" rIns="0" bIns="0" rtlCol="0" anchor="ctr"/>
          <a:lstStyle/>
          <a:p>
            <a:pPr marL="0" indent="0" algn="ctr">
              <a:buNone/>
            </a:pPr>
            <a:r>
              <a:rPr lang="en-US" sz="1000" b="1" kern="0" spc="300" dirty="0">
                <a:solidFill>
                  <a:srgbClr val="76B900"/>
                </a:solidFill>
                <a:latin typeface="Calibri" pitchFamily="34" charset="0"/>
                <a:ea typeface="Calibri" pitchFamily="34" charset="-122"/>
                <a:cs typeface="Calibri" pitchFamily="34" charset="-120"/>
              </a:rPr>
              <a:t>YOU STAY IN FULL CONTROL</a:t>
            </a:r>
            <a:endParaRPr lang="en-US" sz="1000" dirty="0"/>
          </a:p>
        </p:txBody>
      </p:sp>
      <p:sp>
        <p:nvSpPr>
          <p:cNvPr id="61" name="Text 50"/>
          <p:cNvSpPr/>
          <p:nvPr/>
        </p:nvSpPr>
        <p:spPr>
          <a:xfrm>
            <a:off x="1371600" y="4498848"/>
            <a:ext cx="5486400" cy="201168"/>
          </a:xfrm>
          <a:prstGeom prst="rect">
            <a:avLst/>
          </a:prstGeom>
          <a:noFill/>
          <a:ln/>
        </p:spPr>
        <p:txBody>
          <a:bodyPr wrap="square" lIns="0" tIns="0" rIns="0" bIns="0" rtlCol="0" anchor="ctr"/>
          <a:lstStyle/>
          <a:p>
            <a:pPr marL="0" indent="0" algn="ctr">
              <a:buNone/>
            </a:pPr>
            <a:r>
              <a:rPr lang="en-US" sz="750" dirty="0">
                <a:solidFill>
                  <a:srgbClr val="8B95A5"/>
                </a:solidFill>
                <a:latin typeface="Calibri" pitchFamily="34" charset="0"/>
                <a:ea typeface="Calibri" pitchFamily="34" charset="-122"/>
                <a:cs typeface="Calibri" pitchFamily="34" charset="-120"/>
              </a:rPr>
              <a:t>Every component runs locally on your hardware — nothing leaves your network.</a:t>
            </a:r>
            <a:endParaRPr lang="en-US" sz="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1">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000000">
                  <a:alpha val="0"/>
                </a:srgbClr>
              </a:gs>
              <a:gs pos="50000">
                <a:srgbClr val="000000">
                  <a:alpha val="0"/>
                </a:srgbClr>
              </a:gs>
              <a:gs pos="100000">
                <a:srgbClr val="76B900">
                  <a:alpha val="1000"/>
                </a:srgbClr>
              </a:gs>
            </a:gsLst>
            <a:lin ang="16200000" scaled="1"/>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000000">
                  <a:alpha val="0"/>
                </a:srgbClr>
              </a:gs>
              <a:gs pos="50000">
                <a:srgbClr val="000000">
                  <a:alpha val="0"/>
                </a:srgbClr>
              </a:gs>
              <a:gs pos="100000">
                <a:srgbClr val="76B900">
                  <a:alpha val="1000"/>
                </a:srgbClr>
              </a:gs>
            </a:gsLst>
            <a:lin ang="0" scaled="1"/>
          </a:gradFill>
          <a:ln/>
        </p:spPr>
        <p:txBody>
          <a:bodyPr wrap="square" rtlCol="0" anchor="t"/>
          <a:lstStyle/>
          <a:p>
            <a:pPr marL="0" indent="0">
              <a:buNone/>
            </a:pPr>
            <a:endParaRPr lang="en-US" dirty="0"/>
          </a:p>
        </p:txBody>
      </p:sp>
      <p:sp>
        <p:nvSpPr>
          <p:cNvPr id="4" name="Text 2"/>
          <p:cNvSpPr/>
          <p:nvPr/>
        </p:nvSpPr>
        <p:spPr>
          <a:xfrm>
            <a:off x="0" y="5121920"/>
            <a:ext cx="9144000" cy="21580"/>
          </a:xfrm>
          <a:prstGeom prst="rect">
            <a:avLst/>
          </a:prstGeom>
          <a:gradFill rotWithShape="1">
            <a:gsLst>
              <a:gs pos="0">
                <a:srgbClr val="000000">
                  <a:alpha val="0"/>
                </a:srgbClr>
              </a:gs>
              <a:gs pos="50000">
                <a:srgbClr val="76B900">
                  <a:alpha val="50000"/>
                </a:srgbClr>
              </a:gs>
              <a:gs pos="100000">
                <a:srgbClr val="000000">
                  <a:alpha val="0"/>
                </a:srgbClr>
              </a:gs>
            </a:gsLst>
            <a:lin ang="0" scaled="1"/>
          </a:gradFill>
          <a:ln/>
        </p:spPr>
        <p:txBody>
          <a:bodyPr wrap="none" rtlCol="0" anchor="t"/>
          <a:lstStyle/>
          <a:p>
            <a:pPr marL="0" indent="0">
              <a:buNone/>
            </a:pPr>
            <a:endParaRPr lang="en-US" dirty="0"/>
          </a:p>
        </p:txBody>
      </p:sp>
      <p:sp>
        <p:nvSpPr>
          <p:cNvPr id="5" name="Text 3"/>
          <p:cNvSpPr/>
          <p:nvPr/>
        </p:nvSpPr>
        <p:spPr>
          <a:xfrm>
            <a:off x="556895" y="1148135"/>
            <a:ext cx="2133009" cy="7590"/>
          </a:xfrm>
          <a:prstGeom prst="rect">
            <a:avLst/>
          </a:prstGeom>
          <a:gradFill rotWithShape="1">
            <a:gsLst>
              <a:gs pos="0">
                <a:srgbClr val="76B900"/>
              </a:gs>
              <a:gs pos="100000">
                <a:srgbClr val="000000">
                  <a:alpha val="0"/>
                </a:srgbClr>
              </a:gs>
            </a:gsLst>
            <a:lin ang="0" scaled="1"/>
          </a:gradFill>
          <a:ln/>
        </p:spPr>
        <p:txBody>
          <a:bodyPr wrap="none" rtlCol="0" anchor="t"/>
          <a:lstStyle/>
          <a:p>
            <a:pPr marL="0" indent="0">
              <a:buNone/>
            </a:pPr>
            <a:endParaRPr lang="en-US" dirty="0"/>
          </a:p>
        </p:txBody>
      </p:sp>
      <p:sp>
        <p:nvSpPr>
          <p:cNvPr id="6" name="Text 4"/>
          <p:cNvSpPr/>
          <p:nvPr/>
        </p:nvSpPr>
        <p:spPr>
          <a:xfrm>
            <a:off x="4993461" y="1148135"/>
            <a:ext cx="1901133" cy="7590"/>
          </a:xfrm>
          <a:prstGeom prst="rect">
            <a:avLst/>
          </a:prstGeom>
          <a:gradFill rotWithShape="1">
            <a:gsLst>
              <a:gs pos="0">
                <a:srgbClr val="76B900"/>
              </a:gs>
              <a:gs pos="100000">
                <a:srgbClr val="000000">
                  <a:alpha val="0"/>
                </a:srgbClr>
              </a:gs>
            </a:gsLst>
            <a:lin ang="0" scaled="1"/>
          </a:gradFill>
          <a:ln/>
        </p:spPr>
        <p:txBody>
          <a:bodyPr wrap="none" rtlCol="0" anchor="t"/>
          <a:lstStyle/>
          <a:p>
            <a:pPr marL="0" indent="0">
              <a:buNone/>
            </a:pPr>
            <a:endParaRPr lang="en-US" dirty="0"/>
          </a:p>
        </p:txBody>
      </p:sp>
      <p:sp>
        <p:nvSpPr>
          <p:cNvPr id="7" name="Text 5"/>
          <p:cNvSpPr/>
          <p:nvPr/>
        </p:nvSpPr>
        <p:spPr>
          <a:xfrm>
            <a:off x="216027" y="0"/>
            <a:ext cx="8927973" cy="296317"/>
          </a:xfrm>
          <a:prstGeom prst="rect">
            <a:avLst/>
          </a:prstGeom>
          <a:noFill/>
          <a:ln/>
        </p:spPr>
        <p:txBody>
          <a:bodyPr wrap="none" lIns="0" tIns="0" rIns="0" bIns="0" rtlCol="0" anchor="t"/>
          <a:lstStyle/>
          <a:p>
            <a:pPr marL="0" indent="0" algn="l">
              <a:lnSpc>
                <a:spcPts val="2335"/>
              </a:lnSpc>
              <a:spcAft>
                <a:spcPts val="340"/>
              </a:spcAft>
              <a:buNone/>
            </a:pPr>
            <a:r>
              <a:rPr lang="en-US" sz="2030" dirty="0">
                <a:solidFill>
                  <a:srgbClr val="E2E8F0"/>
                </a:solidFill>
                <a:latin typeface="Consolas" pitchFamily="34" charset="0"/>
                <a:ea typeface="Consolas" pitchFamily="34" charset="-122"/>
                <a:cs typeface="Consolas" pitchFamily="34" charset="-120"/>
              </a:rPr>
              <a:t> </a:t>
            </a:r>
            <a:br>
              <a:rPr dirty="0"/>
            </a:br>
            <a:r>
              <a:rPr lang="en-US" sz="2030" dirty="0">
                <a:solidFill>
                  <a:srgbClr val="E2E8F0"/>
                </a:solidFill>
                <a:latin typeface="Consolas" pitchFamily="34" charset="0"/>
                <a:ea typeface="Consolas" pitchFamily="34" charset="-122"/>
                <a:cs typeface="Consolas" pitchFamily="34" charset="-120"/>
              </a:rPr>
              <a:t>        Companion Workspace Files </a:t>
            </a:r>
            <a:r>
              <a:rPr lang="en-US" sz="2030" b="1" dirty="0">
                <a:solidFill>
                  <a:srgbClr val="76B900"/>
                </a:solidFill>
                <a:latin typeface="Consolas" pitchFamily="34" charset="0"/>
                <a:ea typeface="Consolas" pitchFamily="34" charset="-122"/>
                <a:cs typeface="Consolas" pitchFamily="34" charset="-120"/>
              </a:rPr>
              <a:t>&amp;</a:t>
            </a:r>
            <a:r>
              <a:rPr lang="en-US" sz="2030" dirty="0">
                <a:solidFill>
                  <a:srgbClr val="E2E8F0"/>
                </a:solidFill>
                <a:latin typeface="Consolas" pitchFamily="34" charset="0"/>
                <a:ea typeface="Consolas" pitchFamily="34" charset="-122"/>
                <a:cs typeface="Consolas" pitchFamily="34" charset="-120"/>
              </a:rPr>
              <a:t> Popular Repos</a:t>
            </a:r>
            <a:br>
              <a:rPr dirty="0"/>
            </a:br>
            <a:r>
              <a:rPr lang="en-US" sz="2030" dirty="0">
                <a:solidFill>
                  <a:srgbClr val="E2E8F0"/>
                </a:solidFill>
                <a:latin typeface="Consolas" pitchFamily="34" charset="0"/>
                <a:ea typeface="Consolas" pitchFamily="34" charset="-122"/>
                <a:cs typeface="Consolas" pitchFamily="34" charset="-120"/>
              </a:rPr>
              <a:t>      </a:t>
            </a:r>
            <a:endParaRPr lang="en-US" sz="2030" dirty="0"/>
          </a:p>
        </p:txBody>
      </p:sp>
      <p:sp>
        <p:nvSpPr>
          <p:cNvPr id="8" name="Text 6"/>
          <p:cNvSpPr/>
          <p:nvPr/>
        </p:nvSpPr>
        <p:spPr>
          <a:xfrm>
            <a:off x="443210" y="718691"/>
            <a:ext cx="8700790" cy="156160"/>
          </a:xfrm>
          <a:prstGeom prst="rect">
            <a:avLst/>
          </a:prstGeom>
          <a:noFill/>
          <a:ln/>
        </p:spPr>
        <p:txBody>
          <a:bodyPr wrap="none" lIns="0" tIns="0" rIns="0" bIns="0" rtlCol="0" anchor="t"/>
          <a:lstStyle/>
          <a:p>
            <a:pPr marL="0" indent="0" algn="l">
              <a:lnSpc>
                <a:spcPts val="1350"/>
              </a:lnSpc>
              <a:buNone/>
            </a:pPr>
            <a:r>
              <a:rPr lang="en-US" sz="900" dirty="0">
                <a:solidFill>
                  <a:srgbClr val="8B9CB6"/>
                </a:solidFill>
                <a:latin typeface="Calibri" pitchFamily="34" charset="0"/>
                <a:ea typeface="Calibri" pitchFamily="34" charset="-122"/>
                <a:cs typeface="Calibri" pitchFamily="34" charset="-120"/>
              </a:rPr>
              <a:t>The configuration files that define your agent — and community resources to get started fast.</a:t>
            </a:r>
            <a:endParaRPr lang="en-US" sz="900" dirty="0"/>
          </a:p>
        </p:txBody>
      </p:sp>
      <p:sp>
        <p:nvSpPr>
          <p:cNvPr id="9" name="Text 7"/>
          <p:cNvSpPr/>
          <p:nvPr/>
        </p:nvSpPr>
        <p:spPr>
          <a:xfrm>
            <a:off x="556766" y="1082427"/>
            <a:ext cx="1701120" cy="139005"/>
          </a:xfrm>
          <a:prstGeom prst="rect">
            <a:avLst/>
          </a:prstGeom>
          <a:noFill/>
          <a:ln/>
        </p:spPr>
        <p:txBody>
          <a:bodyPr wrap="none" lIns="0" tIns="0" rIns="0" bIns="0" rtlCol="0" anchor="ctr"/>
          <a:lstStyle/>
          <a:p>
            <a:pPr marL="0" indent="0" algn="l">
              <a:lnSpc>
                <a:spcPts val="1095"/>
              </a:lnSpc>
              <a:buNone/>
            </a:pPr>
            <a:r>
              <a:rPr lang="en-US" sz="730" b="1" kern="0" spc="170" dirty="0">
                <a:solidFill>
                  <a:srgbClr val="76B900"/>
                </a:solidFill>
                <a:latin typeface="Consolas" pitchFamily="34" charset="0"/>
                <a:ea typeface="Consolas" pitchFamily="34" charset="-122"/>
                <a:cs typeface="Consolas" pitchFamily="34" charset="-120"/>
              </a:rPr>
              <a:t>CORE WORKSPACE FILES</a:t>
            </a:r>
            <a:endParaRPr lang="en-US" sz="730" dirty="0"/>
          </a:p>
        </p:txBody>
      </p:sp>
      <p:pic>
        <p:nvPicPr>
          <p:cNvPr id="10"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6619" y="1085636"/>
            <a:ext cx="132588" cy="132588"/>
          </a:xfrm>
          <a:prstGeom prst="rect">
            <a:avLst/>
          </a:prstGeom>
        </p:spPr>
      </p:pic>
      <p:sp>
        <p:nvSpPr>
          <p:cNvPr id="11" name="Text 8"/>
          <p:cNvSpPr/>
          <p:nvPr/>
        </p:nvSpPr>
        <p:spPr>
          <a:xfrm>
            <a:off x="400050" y="1335732"/>
            <a:ext cx="3907185" cy="449461"/>
          </a:xfrm>
          <a:prstGeom prst="roundRect">
            <a:avLst>
              <a:gd name="adj" fmla="val 15823"/>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2" name="Text 9"/>
          <p:cNvSpPr/>
          <p:nvPr/>
        </p:nvSpPr>
        <p:spPr>
          <a:xfrm>
            <a:off x="523875" y="1431578"/>
            <a:ext cx="257770" cy="257770"/>
          </a:xfrm>
          <a:prstGeom prst="roundRect">
            <a:avLst>
              <a:gd name="adj" fmla="val 22171"/>
            </a:avLst>
          </a:prstGeom>
          <a:solidFill>
            <a:srgbClr val="76B900">
              <a:alpha val="15000"/>
            </a:srgbClr>
          </a:solidFill>
          <a:ln/>
        </p:spPr>
        <p:txBody>
          <a:bodyPr wrap="none" rtlCol="0" anchor="t"/>
          <a:lstStyle/>
          <a:p>
            <a:pPr marL="0" indent="0">
              <a:buNone/>
            </a:pPr>
            <a:endParaRPr lang="en-US" dirty="0"/>
          </a:p>
        </p:txBody>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6392" y="1494094"/>
            <a:ext cx="132588" cy="132588"/>
          </a:xfrm>
          <a:prstGeom prst="rect">
            <a:avLst/>
          </a:prstGeom>
        </p:spPr>
      </p:pic>
      <p:sp>
        <p:nvSpPr>
          <p:cNvPr id="14" name="Text 10"/>
          <p:cNvSpPr/>
          <p:nvPr/>
        </p:nvSpPr>
        <p:spPr>
          <a:xfrm>
            <a:off x="867966" y="1480393"/>
            <a:ext cx="2982977" cy="159990"/>
          </a:xfrm>
          <a:prstGeom prst="rect">
            <a:avLst/>
          </a:prstGeom>
          <a:noFill/>
          <a:ln/>
        </p:spPr>
        <p:txBody>
          <a:bodyPr wrap="none" lIns="0" tIns="0" rIns="0" bIns="0" rtlCol="0" anchor="t"/>
          <a:lstStyle/>
          <a:p>
            <a:pPr marL="0" indent="0" algn="l">
              <a:lnSpc>
                <a:spcPts val="1260"/>
              </a:lnSpc>
              <a:buNone/>
            </a:pPr>
            <a:r>
              <a:rPr lang="en-US" sz="840" b="1" dirty="0">
                <a:solidFill>
                  <a:srgbClr val="E2E8F0"/>
                </a:solidFill>
                <a:latin typeface="Consolas" pitchFamily="34" charset="0"/>
                <a:ea typeface="Consolas" pitchFamily="34" charset="-122"/>
                <a:cs typeface="Consolas" pitchFamily="34" charset="-120"/>
              </a:rPr>
              <a:t>SOUL.md</a:t>
            </a:r>
            <a:endParaRPr lang="en-US" sz="840" dirty="0"/>
          </a:p>
        </p:txBody>
      </p:sp>
      <p:sp>
        <p:nvSpPr>
          <p:cNvPr id="15" name="Text 11"/>
          <p:cNvSpPr/>
          <p:nvPr/>
        </p:nvSpPr>
        <p:spPr>
          <a:xfrm>
            <a:off x="3666083" y="1493193"/>
            <a:ext cx="517327" cy="147831"/>
          </a:xfrm>
          <a:prstGeom prst="roundRect">
            <a:avLst>
              <a:gd name="adj" fmla="val 19759"/>
            </a:avLst>
          </a:prstGeom>
          <a:solidFill>
            <a:srgbClr val="76B900">
              <a:alpha val="12000"/>
            </a:srgbClr>
          </a:solidFill>
          <a:ln/>
        </p:spPr>
        <p:txBody>
          <a:bodyPr wrap="none" lIns="0" tIns="0" rIns="0" bIns="0" rtlCol="0" anchor="ctr"/>
          <a:lstStyle/>
          <a:p>
            <a:pPr marL="0" indent="0" algn="ctr">
              <a:buNone/>
            </a:pPr>
            <a:r>
              <a:rPr lang="en-US" sz="560" b="1" dirty="0">
                <a:solidFill>
                  <a:srgbClr val="76B900"/>
                </a:solidFill>
                <a:latin typeface="Consolas" pitchFamily="34" charset="0"/>
                <a:ea typeface="Consolas" pitchFamily="34" charset="-122"/>
                <a:cs typeface="Consolas" pitchFamily="34" charset="-120"/>
              </a:rPr>
              <a:t>IDENTITY</a:t>
            </a:r>
            <a:endParaRPr lang="en-US" sz="560" dirty="0"/>
          </a:p>
        </p:txBody>
      </p:sp>
      <p:sp>
        <p:nvSpPr>
          <p:cNvPr id="16" name="Text 12"/>
          <p:cNvSpPr/>
          <p:nvPr/>
        </p:nvSpPr>
        <p:spPr>
          <a:xfrm>
            <a:off x="400050" y="1856184"/>
            <a:ext cx="3907185" cy="449461"/>
          </a:xfrm>
          <a:prstGeom prst="roundRect">
            <a:avLst>
              <a:gd name="adj" fmla="val 15823"/>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7" name="Text 13"/>
          <p:cNvSpPr/>
          <p:nvPr/>
        </p:nvSpPr>
        <p:spPr>
          <a:xfrm>
            <a:off x="523875" y="1952030"/>
            <a:ext cx="257770" cy="257770"/>
          </a:xfrm>
          <a:prstGeom prst="roundRect">
            <a:avLst>
              <a:gd name="adj" fmla="val 22171"/>
            </a:avLst>
          </a:prstGeom>
          <a:solidFill>
            <a:srgbClr val="60A5FA">
              <a:alpha val="12000"/>
            </a:srgbClr>
          </a:solidFill>
          <a:ln/>
        </p:spPr>
        <p:txBody>
          <a:bodyPr wrap="none" rtlCol="0" anchor="t"/>
          <a:lstStyle/>
          <a:p>
            <a:pPr marL="0" indent="0">
              <a:buNone/>
            </a:pPr>
            <a:endParaRPr lang="en-US" dirty="0"/>
          </a:p>
        </p:txBody>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6392" y="2014546"/>
            <a:ext cx="132588" cy="132588"/>
          </a:xfrm>
          <a:prstGeom prst="rect">
            <a:avLst/>
          </a:prstGeom>
        </p:spPr>
      </p:pic>
      <p:sp>
        <p:nvSpPr>
          <p:cNvPr id="19" name="Text 14"/>
          <p:cNvSpPr/>
          <p:nvPr/>
        </p:nvSpPr>
        <p:spPr>
          <a:xfrm>
            <a:off x="867966" y="2000845"/>
            <a:ext cx="3038475" cy="159990"/>
          </a:xfrm>
          <a:prstGeom prst="rect">
            <a:avLst/>
          </a:prstGeom>
          <a:noFill/>
          <a:ln/>
        </p:spPr>
        <p:txBody>
          <a:bodyPr wrap="none" lIns="0" tIns="0" rIns="0" bIns="0" rtlCol="0" anchor="t"/>
          <a:lstStyle/>
          <a:p>
            <a:pPr marL="0" indent="0" algn="l">
              <a:lnSpc>
                <a:spcPts val="1260"/>
              </a:lnSpc>
              <a:buNone/>
            </a:pPr>
            <a:r>
              <a:rPr lang="en-US" sz="840" b="1" dirty="0">
                <a:solidFill>
                  <a:srgbClr val="E2E8F0"/>
                </a:solidFill>
                <a:latin typeface="Consolas" pitchFamily="34" charset="0"/>
                <a:ea typeface="Consolas" pitchFamily="34" charset="-122"/>
                <a:cs typeface="Consolas" pitchFamily="34" charset="-120"/>
              </a:rPr>
              <a:t>USER.md</a:t>
            </a:r>
            <a:endParaRPr lang="en-US" sz="840" dirty="0"/>
          </a:p>
        </p:txBody>
      </p:sp>
      <p:sp>
        <p:nvSpPr>
          <p:cNvPr id="20" name="Text 15"/>
          <p:cNvSpPr/>
          <p:nvPr/>
        </p:nvSpPr>
        <p:spPr>
          <a:xfrm>
            <a:off x="3716536" y="2013645"/>
            <a:ext cx="466874" cy="147831"/>
          </a:xfrm>
          <a:prstGeom prst="roundRect">
            <a:avLst>
              <a:gd name="adj" fmla="val 19759"/>
            </a:avLst>
          </a:prstGeom>
          <a:solidFill>
            <a:srgbClr val="60A5FA">
              <a:alpha val="10000"/>
            </a:srgbClr>
          </a:solidFill>
          <a:ln/>
        </p:spPr>
        <p:txBody>
          <a:bodyPr wrap="none" lIns="0" tIns="0" rIns="0" bIns="0" rtlCol="0" anchor="ctr"/>
          <a:lstStyle/>
          <a:p>
            <a:pPr marL="0" indent="0" algn="ctr">
              <a:buNone/>
            </a:pPr>
            <a:r>
              <a:rPr lang="en-US" sz="560" b="1" dirty="0">
                <a:solidFill>
                  <a:srgbClr val="60A5FA"/>
                </a:solidFill>
                <a:latin typeface="Consolas" pitchFamily="34" charset="0"/>
                <a:ea typeface="Consolas" pitchFamily="34" charset="-122"/>
                <a:cs typeface="Consolas" pitchFamily="34" charset="-120"/>
              </a:rPr>
              <a:t>CONTEXT</a:t>
            </a:r>
            <a:endParaRPr lang="en-US" sz="560" dirty="0"/>
          </a:p>
        </p:txBody>
      </p:sp>
      <p:sp>
        <p:nvSpPr>
          <p:cNvPr id="21" name="Text 16"/>
          <p:cNvSpPr/>
          <p:nvPr/>
        </p:nvSpPr>
        <p:spPr>
          <a:xfrm>
            <a:off x="400050" y="2376636"/>
            <a:ext cx="3907185" cy="449461"/>
          </a:xfrm>
          <a:prstGeom prst="roundRect">
            <a:avLst>
              <a:gd name="adj" fmla="val 15823"/>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2" name="Text 17"/>
          <p:cNvSpPr/>
          <p:nvPr/>
        </p:nvSpPr>
        <p:spPr>
          <a:xfrm>
            <a:off x="523875" y="2472482"/>
            <a:ext cx="257770" cy="257770"/>
          </a:xfrm>
          <a:prstGeom prst="roundRect">
            <a:avLst>
              <a:gd name="adj" fmla="val 22171"/>
            </a:avLst>
          </a:prstGeom>
          <a:solidFill>
            <a:srgbClr val="FBBF24">
              <a:alpha val="12000"/>
            </a:srgbClr>
          </a:solidFill>
          <a:ln/>
        </p:spPr>
        <p:txBody>
          <a:bodyPr wrap="none" rtlCol="0" anchor="t"/>
          <a:lstStyle/>
          <a:p>
            <a:pPr marL="0" indent="0">
              <a:buNone/>
            </a:pPr>
            <a:endParaRPr lang="en-US" dirty="0"/>
          </a:p>
        </p:txBody>
      </p:sp>
      <p:pic>
        <p:nvPicPr>
          <p:cNvPr id="2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6392" y="2534998"/>
            <a:ext cx="132588" cy="132588"/>
          </a:xfrm>
          <a:prstGeom prst="rect">
            <a:avLst/>
          </a:prstGeom>
        </p:spPr>
      </p:pic>
      <p:sp>
        <p:nvSpPr>
          <p:cNvPr id="24" name="Text 18"/>
          <p:cNvSpPr/>
          <p:nvPr/>
        </p:nvSpPr>
        <p:spPr>
          <a:xfrm>
            <a:off x="867966" y="2521297"/>
            <a:ext cx="2982977" cy="159990"/>
          </a:xfrm>
          <a:prstGeom prst="rect">
            <a:avLst/>
          </a:prstGeom>
          <a:noFill/>
          <a:ln/>
        </p:spPr>
        <p:txBody>
          <a:bodyPr wrap="none" lIns="0" tIns="0" rIns="0" bIns="0" rtlCol="0" anchor="t"/>
          <a:lstStyle/>
          <a:p>
            <a:pPr marL="0" indent="0" algn="l">
              <a:lnSpc>
                <a:spcPts val="1260"/>
              </a:lnSpc>
              <a:buNone/>
            </a:pPr>
            <a:r>
              <a:rPr lang="en-US" sz="840" b="1" dirty="0">
                <a:solidFill>
                  <a:srgbClr val="E2E8F0"/>
                </a:solidFill>
                <a:latin typeface="Consolas" pitchFamily="34" charset="0"/>
                <a:ea typeface="Consolas" pitchFamily="34" charset="-122"/>
                <a:cs typeface="Consolas" pitchFamily="34" charset="-120"/>
              </a:rPr>
              <a:t>AGENTS.md</a:t>
            </a:r>
            <a:endParaRPr lang="en-US" sz="840" dirty="0"/>
          </a:p>
        </p:txBody>
      </p:sp>
      <p:sp>
        <p:nvSpPr>
          <p:cNvPr id="25" name="Text 19"/>
          <p:cNvSpPr/>
          <p:nvPr/>
        </p:nvSpPr>
        <p:spPr>
          <a:xfrm>
            <a:off x="3666083" y="2534096"/>
            <a:ext cx="517327" cy="147831"/>
          </a:xfrm>
          <a:prstGeom prst="roundRect">
            <a:avLst>
              <a:gd name="adj" fmla="val 19759"/>
            </a:avLst>
          </a:prstGeom>
          <a:solidFill>
            <a:srgbClr val="FBBF24">
              <a:alpha val="10000"/>
            </a:srgbClr>
          </a:solidFill>
          <a:ln/>
        </p:spPr>
        <p:txBody>
          <a:bodyPr wrap="none" lIns="0" tIns="0" rIns="0" bIns="0" rtlCol="0" anchor="ctr"/>
          <a:lstStyle/>
          <a:p>
            <a:pPr marL="0" indent="0" algn="ctr">
              <a:buNone/>
            </a:pPr>
            <a:r>
              <a:rPr lang="en-US" sz="560" b="1" dirty="0">
                <a:solidFill>
                  <a:srgbClr val="FBBF24"/>
                </a:solidFill>
                <a:latin typeface="Consolas" pitchFamily="34" charset="0"/>
                <a:ea typeface="Consolas" pitchFamily="34" charset="-122"/>
                <a:cs typeface="Consolas" pitchFamily="34" charset="-120"/>
              </a:rPr>
              <a:t>REGISTRY</a:t>
            </a:r>
            <a:endParaRPr lang="en-US" sz="560" dirty="0"/>
          </a:p>
        </p:txBody>
      </p:sp>
      <p:sp>
        <p:nvSpPr>
          <p:cNvPr id="26" name="Text 20"/>
          <p:cNvSpPr/>
          <p:nvPr/>
        </p:nvSpPr>
        <p:spPr>
          <a:xfrm>
            <a:off x="400050" y="2897088"/>
            <a:ext cx="3907185" cy="449461"/>
          </a:xfrm>
          <a:prstGeom prst="roundRect">
            <a:avLst>
              <a:gd name="adj" fmla="val 15823"/>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7" name="Text 21"/>
          <p:cNvSpPr/>
          <p:nvPr/>
        </p:nvSpPr>
        <p:spPr>
          <a:xfrm>
            <a:off x="523875" y="2992934"/>
            <a:ext cx="257770" cy="257770"/>
          </a:xfrm>
          <a:prstGeom prst="roundRect">
            <a:avLst>
              <a:gd name="adj" fmla="val 22171"/>
            </a:avLst>
          </a:prstGeom>
          <a:solidFill>
            <a:srgbClr val="C084FC">
              <a:alpha val="12000"/>
            </a:srgbClr>
          </a:solidFill>
          <a:ln/>
        </p:spPr>
        <p:txBody>
          <a:bodyPr wrap="none" rtlCol="0" anchor="t"/>
          <a:lstStyle/>
          <a:p>
            <a:pPr marL="0" indent="0">
              <a:buNone/>
            </a:pPr>
            <a:endParaRPr lang="en-US" dirty="0"/>
          </a:p>
        </p:txBody>
      </p:sp>
      <p:pic>
        <p:nvPicPr>
          <p:cNvPr id="28"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6392" y="3055450"/>
            <a:ext cx="132588" cy="132588"/>
          </a:xfrm>
          <a:prstGeom prst="rect">
            <a:avLst/>
          </a:prstGeom>
        </p:spPr>
      </p:pic>
      <p:sp>
        <p:nvSpPr>
          <p:cNvPr id="29" name="Text 22"/>
          <p:cNvSpPr/>
          <p:nvPr/>
        </p:nvSpPr>
        <p:spPr>
          <a:xfrm>
            <a:off x="867966" y="3041749"/>
            <a:ext cx="2872308" cy="159990"/>
          </a:xfrm>
          <a:prstGeom prst="rect">
            <a:avLst/>
          </a:prstGeom>
          <a:noFill/>
          <a:ln/>
        </p:spPr>
        <p:txBody>
          <a:bodyPr wrap="none" lIns="0" tIns="0" rIns="0" bIns="0" rtlCol="0" anchor="t"/>
          <a:lstStyle/>
          <a:p>
            <a:pPr marL="0" indent="0" algn="l">
              <a:lnSpc>
                <a:spcPts val="1260"/>
              </a:lnSpc>
              <a:buNone/>
            </a:pPr>
            <a:r>
              <a:rPr lang="en-US" sz="840" b="1" dirty="0">
                <a:solidFill>
                  <a:srgbClr val="E2E8F0"/>
                </a:solidFill>
                <a:latin typeface="Consolas" pitchFamily="34" charset="0"/>
                <a:ea typeface="Consolas" pitchFamily="34" charset="-122"/>
                <a:cs typeface="Consolas" pitchFamily="34" charset="-120"/>
              </a:rPr>
              <a:t>MEMORY.md</a:t>
            </a:r>
            <a:endParaRPr lang="en-US" sz="840" dirty="0"/>
          </a:p>
        </p:txBody>
      </p:sp>
      <p:sp>
        <p:nvSpPr>
          <p:cNvPr id="30" name="Text 23"/>
          <p:cNvSpPr/>
          <p:nvPr/>
        </p:nvSpPr>
        <p:spPr>
          <a:xfrm>
            <a:off x="3565475" y="3054548"/>
            <a:ext cx="617934" cy="147831"/>
          </a:xfrm>
          <a:prstGeom prst="roundRect">
            <a:avLst>
              <a:gd name="adj" fmla="val 19759"/>
            </a:avLst>
          </a:prstGeom>
          <a:solidFill>
            <a:srgbClr val="C084FC">
              <a:alpha val="10000"/>
            </a:srgbClr>
          </a:solidFill>
          <a:ln/>
        </p:spPr>
        <p:txBody>
          <a:bodyPr wrap="none" lIns="0" tIns="0" rIns="0" bIns="0" rtlCol="0" anchor="ctr"/>
          <a:lstStyle/>
          <a:p>
            <a:pPr marL="0" indent="0" algn="ctr">
              <a:buNone/>
            </a:pPr>
            <a:r>
              <a:rPr lang="en-US" sz="560" b="1" dirty="0">
                <a:solidFill>
                  <a:srgbClr val="C084FC"/>
                </a:solidFill>
                <a:latin typeface="Consolas" pitchFamily="34" charset="0"/>
                <a:ea typeface="Consolas" pitchFamily="34" charset="-122"/>
                <a:cs typeface="Consolas" pitchFamily="34" charset="-120"/>
              </a:rPr>
              <a:t>PERSISTENT</a:t>
            </a:r>
            <a:endParaRPr lang="en-US" sz="560" dirty="0"/>
          </a:p>
        </p:txBody>
      </p:sp>
      <p:sp>
        <p:nvSpPr>
          <p:cNvPr id="31" name="Text 24"/>
          <p:cNvSpPr/>
          <p:nvPr/>
        </p:nvSpPr>
        <p:spPr>
          <a:xfrm>
            <a:off x="400050" y="3417540"/>
            <a:ext cx="3907185" cy="449461"/>
          </a:xfrm>
          <a:prstGeom prst="roundRect">
            <a:avLst>
              <a:gd name="adj" fmla="val 15823"/>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32" name="Text 25"/>
          <p:cNvSpPr/>
          <p:nvPr/>
        </p:nvSpPr>
        <p:spPr>
          <a:xfrm>
            <a:off x="523875" y="3513386"/>
            <a:ext cx="257770" cy="257770"/>
          </a:xfrm>
          <a:prstGeom prst="roundRect">
            <a:avLst>
              <a:gd name="adj" fmla="val 22171"/>
            </a:avLst>
          </a:prstGeom>
          <a:solidFill>
            <a:srgbClr val="F87171">
              <a:alpha val="12000"/>
            </a:srgbClr>
          </a:solidFill>
          <a:ln/>
        </p:spPr>
        <p:txBody>
          <a:bodyPr wrap="none" rtlCol="0" anchor="t"/>
          <a:lstStyle/>
          <a:p>
            <a:pPr marL="0" indent="0">
              <a:buNone/>
            </a:pPr>
            <a:endParaRPr lang="en-US" dirty="0"/>
          </a:p>
        </p:txBody>
      </p:sp>
      <p:pic>
        <p:nvPicPr>
          <p:cNvPr id="33"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86392" y="3575902"/>
            <a:ext cx="132588" cy="132588"/>
          </a:xfrm>
          <a:prstGeom prst="rect">
            <a:avLst/>
          </a:prstGeom>
        </p:spPr>
      </p:pic>
      <p:sp>
        <p:nvSpPr>
          <p:cNvPr id="34" name="Text 26"/>
          <p:cNvSpPr/>
          <p:nvPr/>
        </p:nvSpPr>
        <p:spPr>
          <a:xfrm>
            <a:off x="867966" y="3562201"/>
            <a:ext cx="2927643" cy="159990"/>
          </a:xfrm>
          <a:prstGeom prst="rect">
            <a:avLst/>
          </a:prstGeom>
          <a:noFill/>
          <a:ln/>
        </p:spPr>
        <p:txBody>
          <a:bodyPr wrap="none" lIns="0" tIns="0" rIns="0" bIns="0" rtlCol="0" anchor="t"/>
          <a:lstStyle/>
          <a:p>
            <a:pPr marL="0" indent="0" algn="l">
              <a:lnSpc>
                <a:spcPts val="1260"/>
              </a:lnSpc>
              <a:buNone/>
            </a:pPr>
            <a:r>
              <a:rPr lang="en-US" sz="840" b="1" dirty="0">
                <a:solidFill>
                  <a:srgbClr val="E2E8F0"/>
                </a:solidFill>
                <a:latin typeface="Consolas" pitchFamily="34" charset="0"/>
                <a:ea typeface="Consolas" pitchFamily="34" charset="-122"/>
                <a:cs typeface="Consolas" pitchFamily="34" charset="-120"/>
              </a:rPr>
              <a:t>HEARTBEAT.md</a:t>
            </a:r>
            <a:endParaRPr lang="en-US" sz="840" dirty="0"/>
          </a:p>
        </p:txBody>
      </p:sp>
      <p:sp>
        <p:nvSpPr>
          <p:cNvPr id="35" name="Text 27"/>
          <p:cNvSpPr/>
          <p:nvPr/>
        </p:nvSpPr>
        <p:spPr>
          <a:xfrm>
            <a:off x="3615779" y="3575000"/>
            <a:ext cx="567630" cy="147831"/>
          </a:xfrm>
          <a:prstGeom prst="roundRect">
            <a:avLst>
              <a:gd name="adj" fmla="val 19759"/>
            </a:avLst>
          </a:prstGeom>
          <a:solidFill>
            <a:srgbClr val="F87171">
              <a:alpha val="10000"/>
            </a:srgbClr>
          </a:solidFill>
          <a:ln/>
        </p:spPr>
        <p:txBody>
          <a:bodyPr wrap="none" lIns="0" tIns="0" rIns="0" bIns="0" rtlCol="0" anchor="ctr"/>
          <a:lstStyle/>
          <a:p>
            <a:pPr marL="0" indent="0" algn="ctr">
              <a:buNone/>
            </a:pPr>
            <a:r>
              <a:rPr lang="en-US" sz="560" b="1" dirty="0">
                <a:solidFill>
                  <a:srgbClr val="F87171"/>
                </a:solidFill>
                <a:latin typeface="Consolas" pitchFamily="34" charset="0"/>
                <a:ea typeface="Consolas" pitchFamily="34" charset="-122"/>
                <a:cs typeface="Consolas" pitchFamily="34" charset="-120"/>
              </a:rPr>
              <a:t>SCHEDULER</a:t>
            </a:r>
            <a:endParaRPr lang="en-US" sz="560" dirty="0"/>
          </a:p>
        </p:txBody>
      </p:sp>
      <p:sp>
        <p:nvSpPr>
          <p:cNvPr id="36" name="Text 28"/>
          <p:cNvSpPr/>
          <p:nvPr/>
        </p:nvSpPr>
        <p:spPr>
          <a:xfrm>
            <a:off x="400050" y="4766667"/>
            <a:ext cx="43160" cy="43160"/>
          </a:xfrm>
          <a:prstGeom prst="ellipse">
            <a:avLst/>
          </a:prstGeom>
          <a:solidFill>
            <a:srgbClr val="76B900"/>
          </a:solidFill>
          <a:ln/>
          <a:effectLst>
            <a:outerShdw blurRad="57150" dist="50800" dir="16200000" algn="bl" rotWithShape="0">
              <a:srgbClr val="76B900">
                <a:alpha val="50000"/>
              </a:srgbClr>
            </a:outerShdw>
          </a:effectLst>
        </p:spPr>
        <p:txBody>
          <a:bodyPr wrap="none" rtlCol="0" anchor="t"/>
          <a:lstStyle/>
          <a:p>
            <a:pPr marL="0" indent="0">
              <a:buNone/>
            </a:pPr>
            <a:endParaRPr lang="en-US" dirty="0"/>
          </a:p>
        </p:txBody>
      </p:sp>
      <p:sp>
        <p:nvSpPr>
          <p:cNvPr id="37" name="Text 29"/>
          <p:cNvSpPr/>
          <p:nvPr/>
        </p:nvSpPr>
        <p:spPr>
          <a:xfrm>
            <a:off x="4565005" y="1082427"/>
            <a:ext cx="13841" cy="3775323"/>
          </a:xfrm>
          <a:prstGeom prst="rect">
            <a:avLst/>
          </a:prstGeom>
          <a:gradFill rotWithShape="1">
            <a:gsLst>
              <a:gs pos="0">
                <a:srgbClr val="000000">
                  <a:alpha val="0"/>
                </a:srgbClr>
              </a:gs>
              <a:gs pos="50000">
                <a:srgbClr val="76B900">
                  <a:alpha val="40000"/>
                </a:srgbClr>
              </a:gs>
              <a:gs pos="100000">
                <a:srgbClr val="000000">
                  <a:alpha val="0"/>
                </a:srgbClr>
              </a:gs>
            </a:gsLst>
            <a:lin ang="5400000" scaled="1"/>
          </a:gradFill>
          <a:ln/>
        </p:spPr>
        <p:txBody>
          <a:bodyPr wrap="square" rtlCol="0" anchor="t"/>
          <a:lstStyle/>
          <a:p>
            <a:pPr marL="0" indent="0">
              <a:buNone/>
            </a:pPr>
            <a:endParaRPr lang="en-US" dirty="0"/>
          </a:p>
        </p:txBody>
      </p:sp>
      <p:sp>
        <p:nvSpPr>
          <p:cNvPr id="38" name="Text 30"/>
          <p:cNvSpPr/>
          <p:nvPr/>
        </p:nvSpPr>
        <p:spPr>
          <a:xfrm>
            <a:off x="4993332" y="1082427"/>
            <a:ext cx="1956346" cy="139005"/>
          </a:xfrm>
          <a:prstGeom prst="rect">
            <a:avLst/>
          </a:prstGeom>
          <a:noFill/>
          <a:ln/>
        </p:spPr>
        <p:txBody>
          <a:bodyPr wrap="none" lIns="0" tIns="0" rIns="0" bIns="0" rtlCol="0" anchor="ctr"/>
          <a:lstStyle/>
          <a:p>
            <a:pPr marL="0" indent="0" algn="l">
              <a:lnSpc>
                <a:spcPts val="1095"/>
              </a:lnSpc>
              <a:buNone/>
            </a:pPr>
            <a:r>
              <a:rPr lang="en-US" sz="730" b="1" kern="0" spc="170" dirty="0">
                <a:solidFill>
                  <a:srgbClr val="76B900"/>
                </a:solidFill>
                <a:latin typeface="Consolas" pitchFamily="34" charset="0"/>
                <a:ea typeface="Consolas" pitchFamily="34" charset="-122"/>
                <a:cs typeface="Consolas" pitchFamily="34" charset="-120"/>
              </a:rPr>
              <a:t>POPULAR COMMUNITY REPOS</a:t>
            </a:r>
            <a:endParaRPr lang="en-US" sz="730" dirty="0"/>
          </a:p>
        </p:txBody>
      </p:sp>
      <p:pic>
        <p:nvPicPr>
          <p:cNvPr id="39"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813185" y="1085636"/>
            <a:ext cx="132588" cy="132588"/>
          </a:xfrm>
          <a:prstGeom prst="rect">
            <a:avLst/>
          </a:prstGeom>
        </p:spPr>
      </p:pic>
      <p:sp>
        <p:nvSpPr>
          <p:cNvPr id="40" name="Text 31"/>
          <p:cNvSpPr/>
          <p:nvPr/>
        </p:nvSpPr>
        <p:spPr>
          <a:xfrm>
            <a:off x="4836616" y="1335732"/>
            <a:ext cx="3907334" cy="513457"/>
          </a:xfrm>
          <a:prstGeom prst="roundRect">
            <a:avLst>
              <a:gd name="adj" fmla="val 13851"/>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41" name="Text 32"/>
          <p:cNvSpPr/>
          <p:nvPr/>
        </p:nvSpPr>
        <p:spPr>
          <a:xfrm>
            <a:off x="4974282" y="1456581"/>
            <a:ext cx="271760" cy="271760"/>
          </a:xfrm>
          <a:prstGeom prst="ellipse">
            <a:avLst/>
          </a:prstGeom>
          <a:solidFill>
            <a:srgbClr val="76B900">
              <a:alpha val="8000"/>
            </a:srgbClr>
          </a:solidFill>
          <a:ln/>
        </p:spPr>
        <p:txBody>
          <a:bodyPr wrap="none" rtlCol="0" anchor="t"/>
          <a:lstStyle/>
          <a:p>
            <a:pPr marL="0" indent="0">
              <a:buNone/>
            </a:pPr>
            <a:endParaRPr lang="en-US" dirty="0"/>
          </a:p>
        </p:txBody>
      </p:sp>
      <p:pic>
        <p:nvPicPr>
          <p:cNvPr id="42"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043869" y="1526167"/>
            <a:ext cx="132588" cy="132588"/>
          </a:xfrm>
          <a:prstGeom prst="rect">
            <a:avLst/>
          </a:prstGeom>
        </p:spPr>
      </p:pic>
      <p:sp>
        <p:nvSpPr>
          <p:cNvPr id="43" name="Text 33"/>
          <p:cNvSpPr/>
          <p:nvPr/>
        </p:nvSpPr>
        <p:spPr>
          <a:xfrm>
            <a:off x="5346353" y="1445568"/>
            <a:ext cx="3585924" cy="150465"/>
          </a:xfrm>
          <a:prstGeom prst="rect">
            <a:avLst/>
          </a:prstGeom>
          <a:noFill/>
          <a:ln/>
        </p:spPr>
        <p:txBody>
          <a:bodyPr wrap="none" lIns="0" tIns="0" rIns="0" bIns="0" rtlCol="0" anchor="t"/>
          <a:lstStyle/>
          <a:p>
            <a:pPr marL="0" indent="0" algn="l">
              <a:lnSpc>
                <a:spcPts val="1185"/>
              </a:lnSpc>
              <a:buNone/>
            </a:pPr>
            <a:r>
              <a:rPr lang="en-US" sz="790" b="1" dirty="0">
                <a:solidFill>
                  <a:srgbClr val="76B900"/>
                </a:solidFill>
                <a:latin typeface="Consolas" pitchFamily="34" charset="0"/>
                <a:ea typeface="Consolas" pitchFamily="34" charset="-122"/>
                <a:cs typeface="Consolas" pitchFamily="34" charset="-120"/>
              </a:rPr>
              <a:t>mergisi/awesome-openclaw-agents</a:t>
            </a:r>
            <a:endParaRPr lang="en-US" sz="790" dirty="0"/>
          </a:p>
        </p:txBody>
      </p:sp>
      <p:sp>
        <p:nvSpPr>
          <p:cNvPr id="44" name="Text 34"/>
          <p:cNvSpPr/>
          <p:nvPr/>
        </p:nvSpPr>
        <p:spPr>
          <a:xfrm>
            <a:off x="5346353" y="1609874"/>
            <a:ext cx="3585924" cy="129480"/>
          </a:xfrm>
          <a:prstGeom prst="rect">
            <a:avLst/>
          </a:prstGeom>
          <a:noFill/>
          <a:ln/>
        </p:spPr>
        <p:txBody>
          <a:bodyPr wrap="none" lIns="0" tIns="0" rIns="0" bIns="0" rtlCol="0" anchor="t"/>
          <a:lstStyle/>
          <a:p>
            <a:pPr marL="0" indent="0" algn="l">
              <a:lnSpc>
                <a:spcPts val="1020"/>
              </a:lnSpc>
              <a:buNone/>
            </a:pPr>
            <a:r>
              <a:rPr lang="en-US" sz="680" dirty="0">
                <a:solidFill>
                  <a:srgbClr val="8B9CB6"/>
                </a:solidFill>
                <a:latin typeface="Calibri" pitchFamily="34" charset="0"/>
                <a:ea typeface="Calibri" pitchFamily="34" charset="-122"/>
                <a:cs typeface="Calibri" pitchFamily="34" charset="-120"/>
              </a:rPr>
              <a:t>Curated list of community-built agents and tools</a:t>
            </a:r>
            <a:endParaRPr lang="en-US" sz="680" dirty="0"/>
          </a:p>
        </p:txBody>
      </p:sp>
      <p:sp>
        <p:nvSpPr>
          <p:cNvPr id="45" name="Text 35"/>
          <p:cNvSpPr/>
          <p:nvPr/>
        </p:nvSpPr>
        <p:spPr>
          <a:xfrm>
            <a:off x="4836616" y="1949500"/>
            <a:ext cx="3907334" cy="513457"/>
          </a:xfrm>
          <a:prstGeom prst="roundRect">
            <a:avLst>
              <a:gd name="adj" fmla="val 13851"/>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46" name="Text 36"/>
          <p:cNvSpPr/>
          <p:nvPr/>
        </p:nvSpPr>
        <p:spPr>
          <a:xfrm>
            <a:off x="4974282" y="2070348"/>
            <a:ext cx="271760" cy="271760"/>
          </a:xfrm>
          <a:prstGeom prst="ellipse">
            <a:avLst/>
          </a:prstGeom>
          <a:solidFill>
            <a:srgbClr val="76B900">
              <a:alpha val="8000"/>
            </a:srgbClr>
          </a:solidFill>
          <a:ln/>
        </p:spPr>
        <p:txBody>
          <a:bodyPr wrap="none" rtlCol="0" anchor="t"/>
          <a:lstStyle/>
          <a:p>
            <a:pPr marL="0" indent="0">
              <a:buNone/>
            </a:pPr>
            <a:endParaRPr lang="en-US" dirty="0"/>
          </a:p>
        </p:txBody>
      </p:sp>
      <p:pic>
        <p:nvPicPr>
          <p:cNvPr id="47"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043869" y="2139934"/>
            <a:ext cx="132588" cy="132588"/>
          </a:xfrm>
          <a:prstGeom prst="rect">
            <a:avLst/>
          </a:prstGeom>
        </p:spPr>
      </p:pic>
      <p:sp>
        <p:nvSpPr>
          <p:cNvPr id="48" name="Text 37"/>
          <p:cNvSpPr/>
          <p:nvPr/>
        </p:nvSpPr>
        <p:spPr>
          <a:xfrm>
            <a:off x="5346353" y="2059335"/>
            <a:ext cx="3585924" cy="150465"/>
          </a:xfrm>
          <a:prstGeom prst="rect">
            <a:avLst/>
          </a:prstGeom>
          <a:noFill/>
          <a:ln/>
        </p:spPr>
        <p:txBody>
          <a:bodyPr wrap="none" lIns="0" tIns="0" rIns="0" bIns="0" rtlCol="0" anchor="t"/>
          <a:lstStyle/>
          <a:p>
            <a:pPr marL="0" indent="0" algn="l">
              <a:lnSpc>
                <a:spcPts val="1185"/>
              </a:lnSpc>
              <a:buNone/>
            </a:pPr>
            <a:r>
              <a:rPr lang="en-US" sz="790" b="1" dirty="0">
                <a:solidFill>
                  <a:srgbClr val="76B900"/>
                </a:solidFill>
                <a:latin typeface="Consolas" pitchFamily="34" charset="0"/>
                <a:ea typeface="Consolas" pitchFamily="34" charset="-122"/>
                <a:cs typeface="Consolas" pitchFamily="34" charset="-120"/>
              </a:rPr>
              <a:t>aaronjmars/soul.md</a:t>
            </a:r>
            <a:endParaRPr lang="en-US" sz="790" dirty="0"/>
          </a:p>
        </p:txBody>
      </p:sp>
      <p:sp>
        <p:nvSpPr>
          <p:cNvPr id="49" name="Text 38"/>
          <p:cNvSpPr/>
          <p:nvPr/>
        </p:nvSpPr>
        <p:spPr>
          <a:xfrm>
            <a:off x="5346353" y="2223641"/>
            <a:ext cx="3585924" cy="129480"/>
          </a:xfrm>
          <a:prstGeom prst="rect">
            <a:avLst/>
          </a:prstGeom>
          <a:noFill/>
          <a:ln/>
        </p:spPr>
        <p:txBody>
          <a:bodyPr wrap="none" lIns="0" tIns="0" rIns="0" bIns="0" rtlCol="0" anchor="t"/>
          <a:lstStyle/>
          <a:p>
            <a:pPr marL="0" indent="0" algn="l">
              <a:lnSpc>
                <a:spcPts val="1020"/>
              </a:lnSpc>
              <a:buNone/>
            </a:pPr>
            <a:r>
              <a:rPr lang="en-US" sz="680" dirty="0">
                <a:solidFill>
                  <a:srgbClr val="8B9CB6"/>
                </a:solidFill>
                <a:latin typeface="Calibri" pitchFamily="34" charset="0"/>
                <a:ea typeface="Calibri" pitchFamily="34" charset="-122"/>
                <a:cs typeface="Calibri" pitchFamily="34" charset="-120"/>
              </a:rPr>
              <a:t>Reference SOUL.md templates and best practices</a:t>
            </a:r>
            <a:endParaRPr lang="en-US" sz="680" dirty="0"/>
          </a:p>
        </p:txBody>
      </p:sp>
      <p:sp>
        <p:nvSpPr>
          <p:cNvPr id="50" name="Text 39"/>
          <p:cNvSpPr/>
          <p:nvPr/>
        </p:nvSpPr>
        <p:spPr>
          <a:xfrm>
            <a:off x="4836616" y="2563267"/>
            <a:ext cx="3907334" cy="513457"/>
          </a:xfrm>
          <a:prstGeom prst="roundRect">
            <a:avLst>
              <a:gd name="adj" fmla="val 13851"/>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51" name="Text 40"/>
          <p:cNvSpPr/>
          <p:nvPr/>
        </p:nvSpPr>
        <p:spPr>
          <a:xfrm>
            <a:off x="4974282" y="2684115"/>
            <a:ext cx="271760" cy="271760"/>
          </a:xfrm>
          <a:prstGeom prst="ellipse">
            <a:avLst/>
          </a:prstGeom>
          <a:solidFill>
            <a:srgbClr val="76B900">
              <a:alpha val="8000"/>
            </a:srgbClr>
          </a:solidFill>
          <a:ln/>
        </p:spPr>
        <p:txBody>
          <a:bodyPr wrap="none" rtlCol="0" anchor="t"/>
          <a:lstStyle/>
          <a:p>
            <a:pPr marL="0" indent="0">
              <a:buNone/>
            </a:pPr>
            <a:endParaRPr lang="en-US" dirty="0"/>
          </a:p>
        </p:txBody>
      </p:sp>
      <p:pic>
        <p:nvPicPr>
          <p:cNvPr id="52"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043869" y="2753701"/>
            <a:ext cx="132588" cy="132588"/>
          </a:xfrm>
          <a:prstGeom prst="rect">
            <a:avLst/>
          </a:prstGeom>
        </p:spPr>
      </p:pic>
      <p:sp>
        <p:nvSpPr>
          <p:cNvPr id="53" name="Text 41"/>
          <p:cNvSpPr/>
          <p:nvPr/>
        </p:nvSpPr>
        <p:spPr>
          <a:xfrm>
            <a:off x="5346353" y="2673102"/>
            <a:ext cx="3585924" cy="150465"/>
          </a:xfrm>
          <a:prstGeom prst="rect">
            <a:avLst/>
          </a:prstGeom>
          <a:noFill/>
          <a:ln/>
        </p:spPr>
        <p:txBody>
          <a:bodyPr wrap="none" lIns="0" tIns="0" rIns="0" bIns="0" rtlCol="0" anchor="t"/>
          <a:lstStyle/>
          <a:p>
            <a:pPr marL="0" indent="0" algn="l">
              <a:lnSpc>
                <a:spcPts val="1185"/>
              </a:lnSpc>
              <a:buNone/>
            </a:pPr>
            <a:r>
              <a:rPr lang="en-US" sz="790" b="1" dirty="0">
                <a:solidFill>
                  <a:srgbClr val="76B900"/>
                </a:solidFill>
                <a:latin typeface="Consolas" pitchFamily="34" charset="0"/>
                <a:ea typeface="Consolas" pitchFamily="34" charset="-122"/>
                <a:cs typeface="Consolas" pitchFamily="34" charset="-120"/>
              </a:rPr>
              <a:t>thedaviddias/souls.directory</a:t>
            </a:r>
            <a:endParaRPr lang="en-US" sz="790" dirty="0"/>
          </a:p>
        </p:txBody>
      </p:sp>
      <p:sp>
        <p:nvSpPr>
          <p:cNvPr id="54" name="Text 42"/>
          <p:cNvSpPr/>
          <p:nvPr/>
        </p:nvSpPr>
        <p:spPr>
          <a:xfrm>
            <a:off x="5346353" y="2837408"/>
            <a:ext cx="3585924" cy="129480"/>
          </a:xfrm>
          <a:prstGeom prst="rect">
            <a:avLst/>
          </a:prstGeom>
          <a:noFill/>
          <a:ln/>
        </p:spPr>
        <p:txBody>
          <a:bodyPr wrap="none" lIns="0" tIns="0" rIns="0" bIns="0" rtlCol="0" anchor="t"/>
          <a:lstStyle/>
          <a:p>
            <a:pPr marL="0" indent="0" algn="l">
              <a:lnSpc>
                <a:spcPts val="1020"/>
              </a:lnSpc>
              <a:buNone/>
            </a:pPr>
            <a:r>
              <a:rPr lang="en-US" sz="680" dirty="0">
                <a:solidFill>
                  <a:srgbClr val="8B9CB6"/>
                </a:solidFill>
                <a:latin typeface="Calibri" pitchFamily="34" charset="0"/>
                <a:ea typeface="Calibri" pitchFamily="34" charset="-122"/>
                <a:cs typeface="Calibri" pitchFamily="34" charset="-120"/>
              </a:rPr>
              <a:t>Searchable directory of public agent souls</a:t>
            </a:r>
            <a:endParaRPr lang="en-US" sz="680" dirty="0"/>
          </a:p>
        </p:txBody>
      </p:sp>
      <p:sp>
        <p:nvSpPr>
          <p:cNvPr id="55" name="Text 43"/>
          <p:cNvSpPr/>
          <p:nvPr/>
        </p:nvSpPr>
        <p:spPr>
          <a:xfrm>
            <a:off x="4836616" y="3177034"/>
            <a:ext cx="3907334" cy="513457"/>
          </a:xfrm>
          <a:prstGeom prst="roundRect">
            <a:avLst>
              <a:gd name="adj" fmla="val 13851"/>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56" name="Text 44"/>
          <p:cNvSpPr/>
          <p:nvPr/>
        </p:nvSpPr>
        <p:spPr>
          <a:xfrm>
            <a:off x="4974282" y="3297882"/>
            <a:ext cx="271760" cy="271760"/>
          </a:xfrm>
          <a:prstGeom prst="ellipse">
            <a:avLst/>
          </a:prstGeom>
          <a:solidFill>
            <a:srgbClr val="76B900">
              <a:alpha val="8000"/>
            </a:srgbClr>
          </a:solidFill>
          <a:ln/>
        </p:spPr>
        <p:txBody>
          <a:bodyPr wrap="none" rtlCol="0" anchor="t"/>
          <a:lstStyle/>
          <a:p>
            <a:pPr marL="0" indent="0">
              <a:buNone/>
            </a:pPr>
            <a:endParaRPr lang="en-US" dirty="0"/>
          </a:p>
        </p:txBody>
      </p:sp>
      <p:pic>
        <p:nvPicPr>
          <p:cNvPr id="57"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043869" y="3367469"/>
            <a:ext cx="132588" cy="132588"/>
          </a:xfrm>
          <a:prstGeom prst="rect">
            <a:avLst/>
          </a:prstGeom>
        </p:spPr>
      </p:pic>
      <p:sp>
        <p:nvSpPr>
          <p:cNvPr id="58" name="Text 45"/>
          <p:cNvSpPr/>
          <p:nvPr/>
        </p:nvSpPr>
        <p:spPr>
          <a:xfrm>
            <a:off x="5346353" y="3286869"/>
            <a:ext cx="3585924" cy="150465"/>
          </a:xfrm>
          <a:prstGeom prst="rect">
            <a:avLst/>
          </a:prstGeom>
          <a:noFill/>
          <a:ln/>
        </p:spPr>
        <p:txBody>
          <a:bodyPr wrap="none" lIns="0" tIns="0" rIns="0" bIns="0" rtlCol="0" anchor="t"/>
          <a:lstStyle/>
          <a:p>
            <a:pPr marL="0" indent="0" algn="l">
              <a:lnSpc>
                <a:spcPts val="1185"/>
              </a:lnSpc>
              <a:buNone/>
            </a:pPr>
            <a:r>
              <a:rPr lang="en-US" sz="790" b="1" dirty="0">
                <a:solidFill>
                  <a:srgbClr val="76B900"/>
                </a:solidFill>
                <a:latin typeface="Consolas" pitchFamily="34" charset="0"/>
                <a:ea typeface="Consolas" pitchFamily="34" charset="-122"/>
                <a:cs typeface="Consolas" pitchFamily="34" charset="-120"/>
              </a:rPr>
              <a:t>clawsouls/clawsouls</a:t>
            </a:r>
            <a:endParaRPr lang="en-US" sz="790" dirty="0"/>
          </a:p>
        </p:txBody>
      </p:sp>
      <p:sp>
        <p:nvSpPr>
          <p:cNvPr id="59" name="Text 46"/>
          <p:cNvSpPr/>
          <p:nvPr/>
        </p:nvSpPr>
        <p:spPr>
          <a:xfrm>
            <a:off x="5346353" y="3451175"/>
            <a:ext cx="3585924" cy="129480"/>
          </a:xfrm>
          <a:prstGeom prst="rect">
            <a:avLst/>
          </a:prstGeom>
          <a:noFill/>
          <a:ln/>
        </p:spPr>
        <p:txBody>
          <a:bodyPr wrap="none" lIns="0" tIns="0" rIns="0" bIns="0" rtlCol="0" anchor="t"/>
          <a:lstStyle/>
          <a:p>
            <a:pPr marL="0" indent="0" algn="l">
              <a:lnSpc>
                <a:spcPts val="1020"/>
              </a:lnSpc>
              <a:buNone/>
            </a:pPr>
            <a:r>
              <a:rPr lang="en-US" sz="680" dirty="0">
                <a:solidFill>
                  <a:srgbClr val="8B9CB6"/>
                </a:solidFill>
                <a:latin typeface="Calibri" pitchFamily="34" charset="0"/>
                <a:ea typeface="Calibri" pitchFamily="34" charset="-122"/>
                <a:cs typeface="Calibri" pitchFamily="34" charset="-120"/>
              </a:rPr>
              <a:t>Official collection of ready-to-use agent souls</a:t>
            </a:r>
            <a:endParaRPr lang="en-US" sz="680" dirty="0"/>
          </a:p>
        </p:txBody>
      </p:sp>
      <p:sp>
        <p:nvSpPr>
          <p:cNvPr id="60" name="Text 47"/>
          <p:cNvSpPr/>
          <p:nvPr/>
        </p:nvSpPr>
        <p:spPr>
          <a:xfrm>
            <a:off x="4836616" y="4766667"/>
            <a:ext cx="43160" cy="43160"/>
          </a:xfrm>
          <a:prstGeom prst="ellipse">
            <a:avLst/>
          </a:prstGeom>
          <a:solidFill>
            <a:srgbClr val="76B900"/>
          </a:solidFill>
          <a:ln/>
          <a:effectLst>
            <a:outerShdw blurRad="57150" dist="50800" dir="16200000" algn="bl" rotWithShape="0">
              <a:srgbClr val="76B900">
                <a:alpha val="50000"/>
              </a:srgbClr>
            </a:outerShdw>
          </a:effectLst>
        </p:spPr>
        <p:txBody>
          <a:bodyPr wrap="none" rtlCol="0" anchor="t"/>
          <a:lstStyle/>
          <a:p>
            <a:pPr marL="0" indent="0">
              <a:buNone/>
            </a:pP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3">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7143750" y="0"/>
            <a:ext cx="1428750" cy="999530"/>
          </a:xfrm>
          <a:prstGeom prst="ellipse">
            <a:avLst/>
          </a:prstGeom>
          <a:gradFill rotWithShape="1">
            <a:gsLst>
              <a:gs pos="0">
                <a:srgbClr val="76B900">
                  <a:alpha val="8000"/>
                </a:srgbClr>
              </a:gs>
              <a:gs pos="7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3" name="Text 1"/>
          <p:cNvSpPr/>
          <p:nvPr/>
        </p:nvSpPr>
        <p:spPr>
          <a:xfrm>
            <a:off x="857250" y="4286250"/>
            <a:ext cx="1428750" cy="857250"/>
          </a:xfrm>
          <a:prstGeom prst="ellipse">
            <a:avLst/>
          </a:prstGeom>
          <a:gradFill rotWithShape="1">
            <a:gsLst>
              <a:gs pos="0">
                <a:srgbClr val="76B900">
                  <a:alpha val="8000"/>
                </a:srgbClr>
              </a:gs>
              <a:gs pos="7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4" name="Text 2"/>
          <p:cNvSpPr/>
          <p:nvPr/>
        </p:nvSpPr>
        <p:spPr>
          <a:xfrm>
            <a:off x="514350" y="364778"/>
            <a:ext cx="342900" cy="342900"/>
          </a:xfrm>
          <a:prstGeom prst="roundRect">
            <a:avLst>
              <a:gd name="adj" fmla="val 25185"/>
            </a:avLst>
          </a:prstGeom>
          <a:gradFill rotWithShape="1">
            <a:gsLst>
              <a:gs pos="0">
                <a:srgbClr val="76B900"/>
              </a:gs>
              <a:gs pos="100000">
                <a:srgbClr val="5A9400"/>
              </a:gs>
            </a:gsLst>
            <a:lin ang="2700000" scaled="1"/>
          </a:gradFill>
          <a:ln/>
        </p:spPr>
        <p:txBody>
          <a:bodyPr wrap="square" rtlCol="0" anchor="t"/>
          <a:lstStyle/>
          <a:p>
            <a:pPr marL="0" indent="0">
              <a:buNone/>
            </a:pPr>
            <a:endParaRPr lang="en-US" dirty="0"/>
          </a:p>
        </p:txBody>
      </p:sp>
      <p:pic>
        <p:nvPicPr>
          <p:cNvPr id="5"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0493" y="460921"/>
            <a:ext cx="150465" cy="150465"/>
          </a:xfrm>
          <a:prstGeom prst="rect">
            <a:avLst/>
          </a:prstGeom>
        </p:spPr>
      </p:pic>
      <p:sp>
        <p:nvSpPr>
          <p:cNvPr id="6" name="Text 3"/>
          <p:cNvSpPr/>
          <p:nvPr/>
        </p:nvSpPr>
        <p:spPr>
          <a:xfrm>
            <a:off x="971550" y="342900"/>
            <a:ext cx="848782" cy="386655"/>
          </a:xfrm>
          <a:prstGeom prst="rect">
            <a:avLst/>
          </a:prstGeom>
          <a:noFill/>
          <a:ln/>
        </p:spPr>
        <p:txBody>
          <a:bodyPr wrap="none" lIns="0" tIns="0" rIns="0" bIns="0" rtlCol="0" anchor="ctr"/>
          <a:lstStyle/>
          <a:p>
            <a:pPr marL="0" indent="0" algn="l">
              <a:lnSpc>
                <a:spcPts val="3045"/>
              </a:lnSpc>
              <a:buNone/>
            </a:pPr>
            <a:r>
              <a:rPr lang="en-US" sz="2030" kern="0" spc="-30" dirty="0">
                <a:solidFill>
                  <a:srgbClr val="E2E8F0"/>
                </a:solidFill>
                <a:latin typeface="Consolas" pitchFamily="34" charset="0"/>
                <a:ea typeface="Consolas" pitchFamily="34" charset="-122"/>
                <a:cs typeface="Consolas" pitchFamily="34" charset="-120"/>
              </a:rPr>
              <a:t>Ollama</a:t>
            </a:r>
            <a:endParaRPr lang="en-US" sz="2030" dirty="0"/>
          </a:p>
        </p:txBody>
      </p:sp>
      <p:sp>
        <p:nvSpPr>
          <p:cNvPr id="7" name="Text 4"/>
          <p:cNvSpPr/>
          <p:nvPr/>
        </p:nvSpPr>
        <p:spPr>
          <a:xfrm>
            <a:off x="514350" y="800546"/>
            <a:ext cx="1928223" cy="255836"/>
          </a:xfrm>
          <a:prstGeom prst="roundRect">
            <a:avLst>
              <a:gd name="adj" fmla="val 56095"/>
            </a:avLst>
          </a:prstGeom>
          <a:solidFill>
            <a:srgbClr val="76B900">
              <a:alpha val="10000"/>
            </a:srgbClr>
          </a:solidFill>
          <a:ln w="9525">
            <a:solidFill>
              <a:srgbClr val="76B900">
                <a:alpha val="25000"/>
              </a:srgbClr>
            </a:solidFill>
          </a:ln>
        </p:spPr>
        <p:txBody>
          <a:bodyPr wrap="none" lIns="260579" tIns="43180" rIns="128270" bIns="43180" rtlCol="0" anchor="ctr"/>
          <a:lstStyle/>
          <a:p>
            <a:pPr marL="0" indent="0" algn="l">
              <a:buNone/>
            </a:pPr>
            <a:r>
              <a:rPr lang="en-US" sz="790" kern="0" spc="30" dirty="0">
                <a:solidFill>
                  <a:srgbClr val="76B900"/>
                </a:solidFill>
                <a:latin typeface="Consolas" pitchFamily="34" charset="0"/>
                <a:ea typeface="Consolas" pitchFamily="34" charset="-122"/>
                <a:cs typeface="Consolas" pitchFamily="34" charset="-120"/>
              </a:rPr>
              <a:t>YOUR LOCAL LLM MANAGER</a:t>
            </a:r>
            <a:endParaRPr lang="en-US" sz="790"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3301" y="862170"/>
            <a:ext cx="132588" cy="132588"/>
          </a:xfrm>
          <a:prstGeom prst="rect">
            <a:avLst/>
          </a:prstGeom>
        </p:spPr>
      </p:pic>
      <p:sp>
        <p:nvSpPr>
          <p:cNvPr id="9" name="Text 5"/>
          <p:cNvSpPr/>
          <p:nvPr/>
        </p:nvSpPr>
        <p:spPr>
          <a:xfrm>
            <a:off x="6589395" y="459581"/>
            <a:ext cx="2040255" cy="503969"/>
          </a:xfrm>
          <a:prstGeom prst="rect">
            <a:avLst/>
          </a:prstGeom>
          <a:noFill/>
          <a:ln/>
        </p:spPr>
        <p:txBody>
          <a:bodyPr wrap="square" lIns="0" tIns="0" rIns="0" bIns="0" rtlCol="0" anchor="ctr"/>
          <a:lstStyle/>
          <a:p>
            <a:pPr marL="0" indent="0" algn="r">
              <a:lnSpc>
                <a:spcPts val="1260"/>
              </a:lnSpc>
              <a:buNone/>
            </a:pPr>
            <a:r>
              <a:rPr lang="en-US" sz="840" dirty="0">
                <a:solidFill>
                  <a:srgbClr val="E2E8F0"/>
                </a:solidFill>
                <a:latin typeface="Calibri" pitchFamily="34" charset="0"/>
                <a:ea typeface="Calibri" pitchFamily="34" charset="-122"/>
                <a:cs typeface="Calibri" pitchFamily="34" charset="-120"/>
              </a:rPr>
              <a:t>The essential tool for downloading, running, and managing local language models</a:t>
            </a:r>
            <a:endParaRPr lang="en-US" sz="840" dirty="0"/>
          </a:p>
        </p:txBody>
      </p:sp>
      <p:sp>
        <p:nvSpPr>
          <p:cNvPr id="10" name="Text 6"/>
          <p:cNvSpPr/>
          <p:nvPr/>
        </p:nvSpPr>
        <p:spPr>
          <a:xfrm>
            <a:off x="514350" y="1142702"/>
            <a:ext cx="8115300" cy="7590"/>
          </a:xfrm>
          <a:prstGeom prst="rect">
            <a:avLst/>
          </a:prstGeom>
          <a:gradFill rotWithShape="1">
            <a:gsLst>
              <a:gs pos="0">
                <a:srgbClr val="76B900"/>
              </a:gs>
              <a:gs pos="50000">
                <a:srgbClr val="76B900">
                  <a:alpha val="10000"/>
                </a:srgbClr>
              </a:gs>
              <a:gs pos="100000">
                <a:srgbClr val="000000">
                  <a:alpha val="0"/>
                </a:srgbClr>
              </a:gs>
            </a:gsLst>
            <a:lin ang="0" scaled="1"/>
          </a:gradFill>
          <a:ln/>
        </p:spPr>
        <p:txBody>
          <a:bodyPr wrap="none" rtlCol="0" anchor="t"/>
          <a:lstStyle/>
          <a:p>
            <a:pPr marL="0" indent="0">
              <a:buNone/>
            </a:pPr>
            <a:endParaRPr lang="en-US" dirty="0"/>
          </a:p>
        </p:txBody>
      </p:sp>
      <p:sp>
        <p:nvSpPr>
          <p:cNvPr id="11" name="Text 7"/>
          <p:cNvSpPr/>
          <p:nvPr/>
        </p:nvSpPr>
        <p:spPr>
          <a:xfrm>
            <a:off x="514350" y="1378893"/>
            <a:ext cx="3985915" cy="1421904"/>
          </a:xfrm>
          <a:prstGeom prst="roundRect">
            <a:avLst>
              <a:gd name="adj" fmla="val 8039"/>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2" name="Text 8"/>
          <p:cNvSpPr/>
          <p:nvPr/>
        </p:nvSpPr>
        <p:spPr>
          <a:xfrm>
            <a:off x="781645" y="1617018"/>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1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6363" y="1741736"/>
            <a:ext cx="150465" cy="150465"/>
          </a:xfrm>
          <a:prstGeom prst="rect">
            <a:avLst/>
          </a:prstGeom>
        </p:spPr>
      </p:pic>
      <p:sp>
        <p:nvSpPr>
          <p:cNvPr id="14" name="Text 9"/>
          <p:cNvSpPr/>
          <p:nvPr/>
        </p:nvSpPr>
        <p:spPr>
          <a:xfrm>
            <a:off x="1353145" y="1617018"/>
            <a:ext cx="3167807" cy="215205"/>
          </a:xfrm>
          <a:prstGeom prst="rect">
            <a:avLst/>
          </a:prstGeom>
          <a:noFill/>
          <a:ln/>
        </p:spPr>
        <p:txBody>
          <a:bodyPr wrap="none" lIns="0" tIns="0" rIns="0" bIns="0" rtlCol="0" anchor="t"/>
          <a:lstStyle/>
          <a:p>
            <a:pPr marL="0" indent="0" algn="l">
              <a:lnSpc>
                <a:spcPts val="1695"/>
              </a:lnSpc>
              <a:spcAft>
                <a:spcPts val="450"/>
              </a:spcAft>
              <a:buNone/>
            </a:pPr>
            <a:r>
              <a:rPr lang="en-US" sz="1130" kern="0" spc="20" dirty="0">
                <a:solidFill>
                  <a:srgbClr val="E2E8F0"/>
                </a:solidFill>
                <a:latin typeface="Consolas" pitchFamily="34" charset="0"/>
                <a:ea typeface="Consolas" pitchFamily="34" charset="-122"/>
                <a:cs typeface="Consolas" pitchFamily="34" charset="-120"/>
              </a:rPr>
              <a:t>One-Command Download &amp; Run</a:t>
            </a:r>
            <a:endParaRPr lang="en-US" sz="1130" dirty="0"/>
          </a:p>
        </p:txBody>
      </p:sp>
      <p:sp>
        <p:nvSpPr>
          <p:cNvPr id="15" name="Text 10"/>
          <p:cNvSpPr/>
          <p:nvPr/>
        </p:nvSpPr>
        <p:spPr>
          <a:xfrm>
            <a:off x="1353145" y="1889373"/>
            <a:ext cx="2937421" cy="347231"/>
          </a:xfrm>
          <a:prstGeom prst="rect">
            <a:avLst/>
          </a:prstGeom>
          <a:noFill/>
          <a:ln/>
        </p:spPr>
        <p:txBody>
          <a:bodyPr wrap="square" lIns="0" tIns="0" rIns="0" bIns="0" rtlCol="0" anchor="t"/>
          <a:lstStyle/>
          <a:p>
            <a:pPr marL="0" indent="0" algn="l">
              <a:lnSpc>
                <a:spcPts val="1302"/>
              </a:lnSpc>
              <a:buNone/>
            </a:pPr>
            <a:r>
              <a:rPr lang="en-US" sz="840" dirty="0">
                <a:solidFill>
                  <a:srgbClr val="8B9CB6"/>
                </a:solidFill>
                <a:latin typeface="Calibri" pitchFamily="34" charset="0"/>
                <a:ea typeface="Calibri" pitchFamily="34" charset="-122"/>
                <a:cs typeface="Calibri" pitchFamily="34" charset="-120"/>
              </a:rPr>
              <a:t>Pull any model from the Ollama library and start inferencing instantly. A single </a:t>
            </a:r>
            <a:r>
              <a:rPr lang="en-US" sz="790" dirty="0">
                <a:solidFill>
                  <a:srgbClr val="76B900"/>
                </a:solidFill>
                <a:highlight>
                  <a:srgbClr val="76B900">
                    <a:alpha val="8000"/>
                  </a:srgbClr>
                </a:highlight>
                <a:latin typeface="Consolas" pitchFamily="34" charset="0"/>
                <a:ea typeface="Consolas" pitchFamily="34" charset="-122"/>
                <a:cs typeface="Consolas" pitchFamily="34" charset="-120"/>
              </a:rPr>
              <a:t>ollama run</a:t>
            </a:r>
            <a:r>
              <a:rPr lang="en-US" sz="840" dirty="0">
                <a:solidFill>
                  <a:srgbClr val="8B9CB6"/>
                </a:solidFill>
                <a:latin typeface="Calibri" pitchFamily="34" charset="0"/>
                <a:ea typeface="Calibri" pitchFamily="34" charset="-122"/>
                <a:cs typeface="Calibri" pitchFamily="34" charset="-120"/>
              </a:rPr>
              <a:t> command is all it takes.</a:t>
            </a:r>
            <a:endParaRPr lang="en-US" sz="840" dirty="0"/>
          </a:p>
        </p:txBody>
      </p:sp>
      <p:sp>
        <p:nvSpPr>
          <p:cNvPr id="16" name="Text 11"/>
          <p:cNvSpPr/>
          <p:nvPr/>
        </p:nvSpPr>
        <p:spPr>
          <a:xfrm>
            <a:off x="4643735" y="1378893"/>
            <a:ext cx="3985915" cy="1421904"/>
          </a:xfrm>
          <a:prstGeom prst="roundRect">
            <a:avLst>
              <a:gd name="adj" fmla="val 8039"/>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7" name="Text 12"/>
          <p:cNvSpPr/>
          <p:nvPr/>
        </p:nvSpPr>
        <p:spPr>
          <a:xfrm>
            <a:off x="4911030" y="1617018"/>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18"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035748" y="1741736"/>
            <a:ext cx="150465" cy="150465"/>
          </a:xfrm>
          <a:prstGeom prst="rect">
            <a:avLst/>
          </a:prstGeom>
        </p:spPr>
      </p:pic>
      <p:sp>
        <p:nvSpPr>
          <p:cNvPr id="19" name="Text 13"/>
          <p:cNvSpPr/>
          <p:nvPr/>
        </p:nvSpPr>
        <p:spPr>
          <a:xfrm>
            <a:off x="5482530" y="1617018"/>
            <a:ext cx="3167807" cy="215205"/>
          </a:xfrm>
          <a:prstGeom prst="rect">
            <a:avLst/>
          </a:prstGeom>
          <a:noFill/>
          <a:ln/>
        </p:spPr>
        <p:txBody>
          <a:bodyPr wrap="none" lIns="0" tIns="0" rIns="0" bIns="0" rtlCol="0" anchor="t"/>
          <a:lstStyle/>
          <a:p>
            <a:pPr marL="0" indent="0" algn="l">
              <a:lnSpc>
                <a:spcPts val="1695"/>
              </a:lnSpc>
              <a:spcAft>
                <a:spcPts val="450"/>
              </a:spcAft>
              <a:buNone/>
            </a:pPr>
            <a:r>
              <a:rPr lang="en-US" sz="1130" kern="0" spc="20" dirty="0">
                <a:solidFill>
                  <a:srgbClr val="E2E8F0"/>
                </a:solidFill>
                <a:latin typeface="Consolas" pitchFamily="34" charset="0"/>
                <a:ea typeface="Consolas" pitchFamily="34" charset="-122"/>
                <a:cs typeface="Consolas" pitchFamily="34" charset="-120"/>
              </a:rPr>
              <a:t>Automatic GPU Acceleration</a:t>
            </a:r>
            <a:endParaRPr lang="en-US" sz="1130" dirty="0"/>
          </a:p>
        </p:txBody>
      </p:sp>
      <p:sp>
        <p:nvSpPr>
          <p:cNvPr id="20" name="Text 14"/>
          <p:cNvSpPr/>
          <p:nvPr/>
        </p:nvSpPr>
        <p:spPr>
          <a:xfrm>
            <a:off x="5482530" y="1889373"/>
            <a:ext cx="2937421" cy="520846"/>
          </a:xfrm>
          <a:prstGeom prst="rect">
            <a:avLst/>
          </a:prstGeom>
          <a:noFill/>
          <a:ln/>
        </p:spPr>
        <p:txBody>
          <a:bodyPr wrap="square" lIns="0" tIns="0" rIns="0" bIns="0" rtlCol="0" anchor="t"/>
          <a:lstStyle/>
          <a:p>
            <a:pPr marL="0" indent="0" algn="l">
              <a:lnSpc>
                <a:spcPts val="1302"/>
              </a:lnSpc>
              <a:buNone/>
            </a:pPr>
            <a:r>
              <a:rPr lang="en-US" sz="840" dirty="0">
                <a:solidFill>
                  <a:srgbClr val="8B9CB6"/>
                </a:solidFill>
                <a:latin typeface="Calibri" pitchFamily="34" charset="0"/>
                <a:ea typeface="Calibri" pitchFamily="34" charset="-122"/>
                <a:cs typeface="Calibri" pitchFamily="34" charset="-120"/>
              </a:rPr>
              <a:t>Detects your NVIDIA, AMD, or Apple Silicon GPU and offloads layers automatically. Zero manual configuration needed for blazing-fast inference.</a:t>
            </a:r>
            <a:endParaRPr lang="en-US" sz="840" dirty="0"/>
          </a:p>
        </p:txBody>
      </p:sp>
      <p:sp>
        <p:nvSpPr>
          <p:cNvPr id="21" name="Text 15"/>
          <p:cNvSpPr/>
          <p:nvPr/>
        </p:nvSpPr>
        <p:spPr>
          <a:xfrm>
            <a:off x="514350" y="2944267"/>
            <a:ext cx="3985915" cy="1422053"/>
          </a:xfrm>
          <a:prstGeom prst="roundRect">
            <a:avLst>
              <a:gd name="adj" fmla="val 8038"/>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2" name="Text 16"/>
          <p:cNvSpPr/>
          <p:nvPr/>
        </p:nvSpPr>
        <p:spPr>
          <a:xfrm>
            <a:off x="781645" y="3182392"/>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6363" y="3307110"/>
            <a:ext cx="150465" cy="150465"/>
          </a:xfrm>
          <a:prstGeom prst="rect">
            <a:avLst/>
          </a:prstGeom>
        </p:spPr>
      </p:pic>
      <p:sp>
        <p:nvSpPr>
          <p:cNvPr id="24" name="Text 17"/>
          <p:cNvSpPr/>
          <p:nvPr/>
        </p:nvSpPr>
        <p:spPr>
          <a:xfrm>
            <a:off x="1353145" y="3182392"/>
            <a:ext cx="3167807" cy="215205"/>
          </a:xfrm>
          <a:prstGeom prst="rect">
            <a:avLst/>
          </a:prstGeom>
          <a:noFill/>
          <a:ln/>
        </p:spPr>
        <p:txBody>
          <a:bodyPr wrap="none" lIns="0" tIns="0" rIns="0" bIns="0" rtlCol="0" anchor="t"/>
          <a:lstStyle/>
          <a:p>
            <a:pPr marL="0" indent="0" algn="l">
              <a:lnSpc>
                <a:spcPts val="1695"/>
              </a:lnSpc>
              <a:spcAft>
                <a:spcPts val="450"/>
              </a:spcAft>
              <a:buNone/>
            </a:pPr>
            <a:r>
              <a:rPr lang="en-US" sz="1130" kern="0" spc="20" dirty="0">
                <a:solidFill>
                  <a:srgbClr val="E2E8F0"/>
                </a:solidFill>
                <a:latin typeface="Consolas" pitchFamily="34" charset="0"/>
                <a:ea typeface="Consolas" pitchFamily="34" charset="-122"/>
                <a:cs typeface="Consolas" pitchFamily="34" charset="-120"/>
              </a:rPr>
              <a:t>OpenAI-Compatible API</a:t>
            </a:r>
            <a:endParaRPr lang="en-US" sz="1130" dirty="0"/>
          </a:p>
        </p:txBody>
      </p:sp>
      <p:sp>
        <p:nvSpPr>
          <p:cNvPr id="25" name="Text 18"/>
          <p:cNvSpPr/>
          <p:nvPr/>
        </p:nvSpPr>
        <p:spPr>
          <a:xfrm>
            <a:off x="1353145" y="3454747"/>
            <a:ext cx="2937421" cy="520846"/>
          </a:xfrm>
          <a:prstGeom prst="rect">
            <a:avLst/>
          </a:prstGeom>
          <a:noFill/>
          <a:ln/>
        </p:spPr>
        <p:txBody>
          <a:bodyPr wrap="square" lIns="0" tIns="0" rIns="0" bIns="0" rtlCol="0" anchor="t"/>
          <a:lstStyle/>
          <a:p>
            <a:pPr marL="0" indent="0" algn="l">
              <a:lnSpc>
                <a:spcPts val="1302"/>
              </a:lnSpc>
              <a:buNone/>
            </a:pPr>
            <a:r>
              <a:rPr lang="en-US" sz="840" dirty="0">
                <a:solidFill>
                  <a:srgbClr val="8B9CB6"/>
                </a:solidFill>
                <a:latin typeface="Calibri" pitchFamily="34" charset="0"/>
                <a:ea typeface="Calibri" pitchFamily="34" charset="-122"/>
                <a:cs typeface="Calibri" pitchFamily="34" charset="-120"/>
              </a:rPr>
              <a:t>Exposes a local REST API at </a:t>
            </a:r>
            <a:r>
              <a:rPr lang="en-US" sz="790" dirty="0">
                <a:solidFill>
                  <a:srgbClr val="76B900"/>
                </a:solidFill>
                <a:highlight>
                  <a:srgbClr val="76B900">
                    <a:alpha val="8000"/>
                  </a:srgbClr>
                </a:highlight>
                <a:latin typeface="Consolas" pitchFamily="34" charset="0"/>
                <a:ea typeface="Consolas" pitchFamily="34" charset="-122"/>
                <a:cs typeface="Consolas" pitchFamily="34" charset="-120"/>
              </a:rPr>
              <a:t>localhost:11434</a:t>
            </a:r>
            <a:r>
              <a:rPr lang="en-US" sz="840" dirty="0">
                <a:solidFill>
                  <a:srgbClr val="8B9CB6"/>
                </a:solidFill>
                <a:latin typeface="Calibri" pitchFamily="34" charset="0"/>
                <a:ea typeface="Calibri" pitchFamily="34" charset="-122"/>
                <a:cs typeface="Calibri" pitchFamily="34" charset="-120"/>
              </a:rPr>
              <a:t> that's drop-in compatible with OpenAI clients, SDKs, and agent frameworks.</a:t>
            </a:r>
            <a:endParaRPr lang="en-US" sz="840" dirty="0"/>
          </a:p>
        </p:txBody>
      </p:sp>
      <p:sp>
        <p:nvSpPr>
          <p:cNvPr id="26" name="Text 19"/>
          <p:cNvSpPr/>
          <p:nvPr/>
        </p:nvSpPr>
        <p:spPr>
          <a:xfrm>
            <a:off x="4643735" y="2944267"/>
            <a:ext cx="3985915" cy="1422053"/>
          </a:xfrm>
          <a:prstGeom prst="roundRect">
            <a:avLst>
              <a:gd name="adj" fmla="val 8038"/>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7" name="Text 20"/>
          <p:cNvSpPr/>
          <p:nvPr/>
        </p:nvSpPr>
        <p:spPr>
          <a:xfrm>
            <a:off x="4911030" y="3182392"/>
            <a:ext cx="400050" cy="400050"/>
          </a:xfrm>
          <a:prstGeom prst="roundRect">
            <a:avLst>
              <a:gd name="adj" fmla="val 25079"/>
            </a:avLst>
          </a:prstGeom>
          <a:solidFill>
            <a:srgbClr val="76B900">
              <a:alpha val="12000"/>
            </a:srgbClr>
          </a:solidFill>
          <a:ln/>
        </p:spPr>
        <p:txBody>
          <a:bodyPr wrap="square" rtlCol="0" anchor="t"/>
          <a:lstStyle/>
          <a:p>
            <a:pPr marL="0" indent="0">
              <a:buNone/>
            </a:pPr>
            <a:endParaRPr lang="en-US" dirty="0"/>
          </a:p>
        </p:txBody>
      </p:sp>
      <p:pic>
        <p:nvPicPr>
          <p:cNvPr id="28"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35748" y="3307110"/>
            <a:ext cx="150465" cy="150465"/>
          </a:xfrm>
          <a:prstGeom prst="rect">
            <a:avLst/>
          </a:prstGeom>
        </p:spPr>
      </p:pic>
      <p:sp>
        <p:nvSpPr>
          <p:cNvPr id="29" name="Text 21"/>
          <p:cNvSpPr/>
          <p:nvPr/>
        </p:nvSpPr>
        <p:spPr>
          <a:xfrm>
            <a:off x="5482530" y="3182392"/>
            <a:ext cx="3167807" cy="215205"/>
          </a:xfrm>
          <a:prstGeom prst="rect">
            <a:avLst/>
          </a:prstGeom>
          <a:noFill/>
          <a:ln/>
        </p:spPr>
        <p:txBody>
          <a:bodyPr wrap="none" lIns="0" tIns="0" rIns="0" bIns="0" rtlCol="0" anchor="t"/>
          <a:lstStyle/>
          <a:p>
            <a:pPr marL="0" indent="0" algn="l">
              <a:lnSpc>
                <a:spcPts val="1695"/>
              </a:lnSpc>
              <a:spcAft>
                <a:spcPts val="450"/>
              </a:spcAft>
              <a:buNone/>
            </a:pPr>
            <a:r>
              <a:rPr lang="en-US" sz="1130" kern="0" spc="20" dirty="0">
                <a:solidFill>
                  <a:srgbClr val="E2E8F0"/>
                </a:solidFill>
                <a:latin typeface="Consolas" pitchFamily="34" charset="0"/>
                <a:ea typeface="Consolas" pitchFamily="34" charset="-122"/>
                <a:cs typeface="Consolas" pitchFamily="34" charset="-120"/>
              </a:rPr>
              <a:t>Supports Custom Modelfiles</a:t>
            </a:r>
            <a:endParaRPr lang="en-US" sz="1130" dirty="0"/>
          </a:p>
        </p:txBody>
      </p:sp>
      <p:sp>
        <p:nvSpPr>
          <p:cNvPr id="30" name="Text 22"/>
          <p:cNvSpPr/>
          <p:nvPr/>
        </p:nvSpPr>
        <p:spPr>
          <a:xfrm>
            <a:off x="5482530" y="3454747"/>
            <a:ext cx="2937421" cy="520846"/>
          </a:xfrm>
          <a:prstGeom prst="rect">
            <a:avLst/>
          </a:prstGeom>
          <a:noFill/>
          <a:ln/>
        </p:spPr>
        <p:txBody>
          <a:bodyPr wrap="square" lIns="0" tIns="0" rIns="0" bIns="0" rtlCol="0" anchor="t"/>
          <a:lstStyle/>
          <a:p>
            <a:pPr marL="0" indent="0" algn="l">
              <a:lnSpc>
                <a:spcPts val="1302"/>
              </a:lnSpc>
              <a:buNone/>
            </a:pPr>
            <a:r>
              <a:rPr lang="en-US" sz="840" dirty="0">
                <a:solidFill>
                  <a:srgbClr val="8B9CB6"/>
                </a:solidFill>
                <a:latin typeface="Calibri" pitchFamily="34" charset="0"/>
                <a:ea typeface="Calibri" pitchFamily="34" charset="-122"/>
                <a:cs typeface="Calibri" pitchFamily="34" charset="-120"/>
              </a:rPr>
              <a:t>Define system prompts, temperature, context length, and stop tokens in a declarative </a:t>
            </a:r>
            <a:r>
              <a:rPr lang="en-US" sz="790" dirty="0">
                <a:solidFill>
                  <a:srgbClr val="76B900"/>
                </a:solidFill>
                <a:highlight>
                  <a:srgbClr val="76B900">
                    <a:alpha val="8000"/>
                  </a:srgbClr>
                </a:highlight>
                <a:latin typeface="Consolas" pitchFamily="34" charset="0"/>
                <a:ea typeface="Consolas" pitchFamily="34" charset="-122"/>
                <a:cs typeface="Consolas" pitchFamily="34" charset="-120"/>
              </a:rPr>
              <a:t>Modelfile</a:t>
            </a:r>
            <a:r>
              <a:rPr lang="en-US" sz="840" dirty="0">
                <a:solidFill>
                  <a:srgbClr val="8B9CB6"/>
                </a:solidFill>
                <a:latin typeface="Calibri" pitchFamily="34" charset="0"/>
                <a:ea typeface="Calibri" pitchFamily="34" charset="-122"/>
                <a:cs typeface="Calibri" pitchFamily="34" charset="-120"/>
              </a:rPr>
              <a:t> — then build reusable custom models.</a:t>
            </a:r>
            <a:endParaRPr lang="en-US" sz="840" dirty="0"/>
          </a:p>
        </p:txBody>
      </p:sp>
      <p:sp>
        <p:nvSpPr>
          <p:cNvPr id="31" name="Text 23"/>
          <p:cNvSpPr/>
          <p:nvPr/>
        </p:nvSpPr>
        <p:spPr>
          <a:xfrm>
            <a:off x="514350" y="4537770"/>
            <a:ext cx="8115300" cy="9525"/>
          </a:xfrm>
          <a:prstGeom prst="rect">
            <a:avLst/>
          </a:prstGeom>
          <a:solidFill>
            <a:srgbClr val="8B9CB6">
              <a:alpha val="12000"/>
            </a:srgbClr>
          </a:solidFill>
          <a:ln/>
        </p:spPr>
        <p:txBody>
          <a:bodyPr wrap="none" rtlCol="0" anchor="t"/>
          <a:lstStyle/>
          <a:p>
            <a:pPr marL="0" indent="0">
              <a:buNone/>
            </a:pPr>
            <a:endParaRPr lang="en-US" dirty="0"/>
          </a:p>
        </p:txBody>
      </p:sp>
      <p:sp>
        <p:nvSpPr>
          <p:cNvPr id="32" name="Text 24"/>
          <p:cNvSpPr/>
          <p:nvPr/>
        </p:nvSpPr>
        <p:spPr>
          <a:xfrm>
            <a:off x="514350" y="4661595"/>
            <a:ext cx="477872" cy="139005"/>
          </a:xfrm>
          <a:prstGeom prst="rect">
            <a:avLst/>
          </a:prstGeom>
          <a:noFill/>
          <a:ln/>
        </p:spPr>
        <p:txBody>
          <a:bodyPr wrap="none" lIns="0" tIns="0" rIns="0" bIns="0" rtlCol="0" anchor="ctr"/>
          <a:lstStyle/>
          <a:p>
            <a:pPr marL="0" indent="0" algn="l">
              <a:lnSpc>
                <a:spcPts val="1095"/>
              </a:lnSpc>
              <a:buNone/>
            </a:pPr>
            <a:r>
              <a:rPr lang="en-US" sz="730" dirty="0">
                <a:solidFill>
                  <a:srgbClr val="8B9CB6"/>
                </a:solidFill>
                <a:latin typeface="Consolas" pitchFamily="34" charset="0"/>
                <a:ea typeface="Consolas" pitchFamily="34" charset="-122"/>
                <a:cs typeface="Consolas" pitchFamily="34" charset="-120"/>
              </a:rPr>
              <a:t>ollama.com</a:t>
            </a:r>
            <a:endParaRPr lang="en-US" sz="730" dirty="0"/>
          </a:p>
        </p:txBody>
      </p:sp>
      <p:sp>
        <p:nvSpPr>
          <p:cNvPr id="33" name="Text 25"/>
          <p:cNvSpPr/>
          <p:nvPr/>
        </p:nvSpPr>
        <p:spPr>
          <a:xfrm>
            <a:off x="5957888" y="4702522"/>
            <a:ext cx="57150" cy="57150"/>
          </a:xfrm>
          <a:prstGeom prst="ellipse">
            <a:avLst/>
          </a:prstGeom>
          <a:solidFill>
            <a:srgbClr val="76B900"/>
          </a:solidFill>
          <a:ln/>
          <a:effectLst>
            <a:outerShdw blurRad="57150" dist="50800" dir="16200000" algn="bl" rotWithShape="0">
              <a:srgbClr val="76B900">
                <a:alpha val="40000"/>
              </a:srgbClr>
            </a:outerShdw>
          </a:effectLst>
        </p:spPr>
        <p:txBody>
          <a:bodyPr wrap="none" rtlCol="0" anchor="t"/>
          <a:lstStyle/>
          <a:p>
            <a:pPr marL="0" indent="0">
              <a:buNone/>
            </a:pPr>
            <a:endParaRPr lang="en-US" dirty="0"/>
          </a:p>
        </p:txBody>
      </p:sp>
      <p:sp>
        <p:nvSpPr>
          <p:cNvPr id="34" name="Text 26"/>
          <p:cNvSpPr/>
          <p:nvPr/>
        </p:nvSpPr>
        <p:spPr>
          <a:xfrm>
            <a:off x="6072188" y="4661595"/>
            <a:ext cx="667777" cy="139005"/>
          </a:xfrm>
          <a:prstGeom prst="rect">
            <a:avLst/>
          </a:prstGeom>
          <a:noFill/>
          <a:ln/>
        </p:spPr>
        <p:txBody>
          <a:bodyPr wrap="none" lIns="0" tIns="0" rIns="0" bIns="0" rtlCol="0" anchor="ctr"/>
          <a:lstStyle/>
          <a:p>
            <a:pPr marL="0" indent="0" algn="l">
              <a:lnSpc>
                <a:spcPts val="1095"/>
              </a:lnSpc>
              <a:buNone/>
            </a:pPr>
            <a:r>
              <a:rPr lang="en-US" sz="730" dirty="0">
                <a:solidFill>
                  <a:srgbClr val="8B9CB6"/>
                </a:solidFill>
                <a:latin typeface="Calibri" pitchFamily="34" charset="0"/>
                <a:ea typeface="Calibri" pitchFamily="34" charset="-122"/>
                <a:cs typeface="Calibri" pitchFamily="34" charset="-120"/>
              </a:rPr>
              <a:t>Cross-platform</a:t>
            </a:r>
            <a:endParaRPr lang="en-US" sz="730" dirty="0"/>
          </a:p>
        </p:txBody>
      </p:sp>
      <p:sp>
        <p:nvSpPr>
          <p:cNvPr id="35" name="Text 27"/>
          <p:cNvSpPr/>
          <p:nvPr/>
        </p:nvSpPr>
        <p:spPr>
          <a:xfrm>
            <a:off x="6850707" y="4702522"/>
            <a:ext cx="57150" cy="57150"/>
          </a:xfrm>
          <a:prstGeom prst="ellipse">
            <a:avLst/>
          </a:prstGeom>
          <a:solidFill>
            <a:srgbClr val="76B900"/>
          </a:solidFill>
          <a:ln/>
          <a:effectLst>
            <a:outerShdw blurRad="57150" dist="50800" dir="16200000" algn="bl" rotWithShape="0">
              <a:srgbClr val="76B900">
                <a:alpha val="40000"/>
              </a:srgbClr>
            </a:outerShdw>
          </a:effectLst>
        </p:spPr>
        <p:txBody>
          <a:bodyPr wrap="none" rtlCol="0" anchor="t"/>
          <a:lstStyle/>
          <a:p>
            <a:pPr marL="0" indent="0">
              <a:buNone/>
            </a:pPr>
            <a:endParaRPr lang="en-US" dirty="0"/>
          </a:p>
        </p:txBody>
      </p:sp>
      <p:sp>
        <p:nvSpPr>
          <p:cNvPr id="36" name="Text 28"/>
          <p:cNvSpPr/>
          <p:nvPr/>
        </p:nvSpPr>
        <p:spPr>
          <a:xfrm>
            <a:off x="6965007" y="4661595"/>
            <a:ext cx="871597" cy="139005"/>
          </a:xfrm>
          <a:prstGeom prst="rect">
            <a:avLst/>
          </a:prstGeom>
          <a:noFill/>
          <a:ln/>
        </p:spPr>
        <p:txBody>
          <a:bodyPr wrap="none" lIns="0" tIns="0" rIns="0" bIns="0" rtlCol="0" anchor="ctr"/>
          <a:lstStyle/>
          <a:p>
            <a:pPr marL="0" indent="0" algn="l">
              <a:lnSpc>
                <a:spcPts val="1095"/>
              </a:lnSpc>
              <a:buNone/>
            </a:pPr>
            <a:r>
              <a:rPr lang="en-US" sz="730" dirty="0">
                <a:solidFill>
                  <a:srgbClr val="8B9CB6"/>
                </a:solidFill>
                <a:latin typeface="Calibri" pitchFamily="34" charset="0"/>
                <a:ea typeface="Calibri" pitchFamily="34" charset="-122"/>
                <a:cs typeface="Calibri" pitchFamily="34" charset="-120"/>
              </a:rPr>
              <a:t>Open Source (MIT)</a:t>
            </a:r>
            <a:endParaRPr lang="en-US" sz="730" dirty="0"/>
          </a:p>
        </p:txBody>
      </p:sp>
      <p:sp>
        <p:nvSpPr>
          <p:cNvPr id="37" name="Text 29"/>
          <p:cNvSpPr/>
          <p:nvPr/>
        </p:nvSpPr>
        <p:spPr>
          <a:xfrm>
            <a:off x="7928818" y="4702522"/>
            <a:ext cx="57150" cy="57150"/>
          </a:xfrm>
          <a:prstGeom prst="ellipse">
            <a:avLst/>
          </a:prstGeom>
          <a:solidFill>
            <a:srgbClr val="76B900"/>
          </a:solidFill>
          <a:ln/>
          <a:effectLst>
            <a:outerShdw blurRad="57150" dist="50800" dir="16200000" algn="bl" rotWithShape="0">
              <a:srgbClr val="76B900">
                <a:alpha val="40000"/>
              </a:srgbClr>
            </a:outerShdw>
          </a:effectLst>
        </p:spPr>
        <p:txBody>
          <a:bodyPr wrap="none" rtlCol="0" anchor="t"/>
          <a:lstStyle/>
          <a:p>
            <a:pPr marL="0" indent="0">
              <a:buNone/>
            </a:pPr>
            <a:endParaRPr lang="en-US" dirty="0"/>
          </a:p>
        </p:txBody>
      </p:sp>
      <p:sp>
        <p:nvSpPr>
          <p:cNvPr id="38" name="Text 30"/>
          <p:cNvSpPr/>
          <p:nvPr/>
        </p:nvSpPr>
        <p:spPr>
          <a:xfrm>
            <a:off x="8043118" y="4661595"/>
            <a:ext cx="645185" cy="139005"/>
          </a:xfrm>
          <a:prstGeom prst="rect">
            <a:avLst/>
          </a:prstGeom>
          <a:noFill/>
          <a:ln/>
        </p:spPr>
        <p:txBody>
          <a:bodyPr wrap="none" lIns="0" tIns="0" rIns="0" bIns="0" rtlCol="0" anchor="ctr"/>
          <a:lstStyle/>
          <a:p>
            <a:pPr marL="0" indent="0" algn="l">
              <a:lnSpc>
                <a:spcPts val="1095"/>
              </a:lnSpc>
              <a:buNone/>
            </a:pPr>
            <a:r>
              <a:rPr lang="en-US" sz="730" dirty="0">
                <a:solidFill>
                  <a:srgbClr val="8B9CB6"/>
                </a:solidFill>
                <a:latin typeface="Calibri" pitchFamily="34" charset="0"/>
                <a:ea typeface="Calibri" pitchFamily="34" charset="-122"/>
                <a:cs typeface="Calibri" pitchFamily="34" charset="-120"/>
              </a:rPr>
              <a:t>Docker Ready</a:t>
            </a:r>
            <a:endParaRPr lang="en-US" sz="730" dirty="0"/>
          </a:p>
        </p:txBody>
      </p:sp>
      <p:sp>
        <p:nvSpPr>
          <p:cNvPr id="39" name="Text 31"/>
          <p:cNvSpPr/>
          <p:nvPr/>
        </p:nvSpPr>
        <p:spPr>
          <a:xfrm>
            <a:off x="523875" y="1388418"/>
            <a:ext cx="3966867" cy="21580"/>
          </a:xfrm>
          <a:custGeom>
            <a:avLst/>
            <a:gdLst/>
            <a:ahLst/>
            <a:cxnLst/>
            <a:rect l="l" t="t" r="r" b="b"/>
            <a:pathLst>
              <a:path w="3966867" h="21580">
                <a:moveTo>
                  <a:pt x="114300" y="0"/>
                </a:moveTo>
                <a:lnTo>
                  <a:pt x="3852567" y="0"/>
                </a:lnTo>
                <a:lnTo>
                  <a:pt x="3877253" y="2698"/>
                </a:lnTo>
                <a:lnTo>
                  <a:pt x="3887269" y="5395"/>
                </a:lnTo>
                <a:lnTo>
                  <a:pt x="3894810" y="8093"/>
                </a:lnTo>
                <a:lnTo>
                  <a:pt x="3901046" y="10790"/>
                </a:lnTo>
                <a:lnTo>
                  <a:pt x="3906431" y="13488"/>
                </a:lnTo>
                <a:lnTo>
                  <a:pt x="3911201" y="16185"/>
                </a:lnTo>
                <a:lnTo>
                  <a:pt x="3915496" y="18883"/>
                </a:lnTo>
                <a:lnTo>
                  <a:pt x="3919407"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40" name="Text 32"/>
          <p:cNvSpPr/>
          <p:nvPr/>
        </p:nvSpPr>
        <p:spPr>
          <a:xfrm>
            <a:off x="4653260" y="1388418"/>
            <a:ext cx="3966867" cy="21580"/>
          </a:xfrm>
          <a:custGeom>
            <a:avLst/>
            <a:gdLst/>
            <a:ahLst/>
            <a:cxnLst/>
            <a:rect l="l" t="t" r="r" b="b"/>
            <a:pathLst>
              <a:path w="3966867" h="21580">
                <a:moveTo>
                  <a:pt x="114300" y="0"/>
                </a:moveTo>
                <a:lnTo>
                  <a:pt x="3852567" y="0"/>
                </a:lnTo>
                <a:lnTo>
                  <a:pt x="3877253" y="2698"/>
                </a:lnTo>
                <a:lnTo>
                  <a:pt x="3887269" y="5395"/>
                </a:lnTo>
                <a:lnTo>
                  <a:pt x="3894810" y="8093"/>
                </a:lnTo>
                <a:lnTo>
                  <a:pt x="3901046" y="10790"/>
                </a:lnTo>
                <a:lnTo>
                  <a:pt x="3906431" y="13488"/>
                </a:lnTo>
                <a:lnTo>
                  <a:pt x="3911201" y="16185"/>
                </a:lnTo>
                <a:lnTo>
                  <a:pt x="3915496" y="18883"/>
                </a:lnTo>
                <a:lnTo>
                  <a:pt x="3919407"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41" name="Text 33"/>
          <p:cNvSpPr/>
          <p:nvPr/>
        </p:nvSpPr>
        <p:spPr>
          <a:xfrm>
            <a:off x="523875" y="2953792"/>
            <a:ext cx="3966867" cy="21580"/>
          </a:xfrm>
          <a:custGeom>
            <a:avLst/>
            <a:gdLst/>
            <a:ahLst/>
            <a:cxnLst/>
            <a:rect l="l" t="t" r="r" b="b"/>
            <a:pathLst>
              <a:path w="3966867" h="21580">
                <a:moveTo>
                  <a:pt x="114300" y="0"/>
                </a:moveTo>
                <a:lnTo>
                  <a:pt x="3852567" y="0"/>
                </a:lnTo>
                <a:lnTo>
                  <a:pt x="3877253" y="2698"/>
                </a:lnTo>
                <a:lnTo>
                  <a:pt x="3887269" y="5395"/>
                </a:lnTo>
                <a:lnTo>
                  <a:pt x="3894810" y="8093"/>
                </a:lnTo>
                <a:lnTo>
                  <a:pt x="3901046" y="10790"/>
                </a:lnTo>
                <a:lnTo>
                  <a:pt x="3906431" y="13488"/>
                </a:lnTo>
                <a:lnTo>
                  <a:pt x="3911201" y="16185"/>
                </a:lnTo>
                <a:lnTo>
                  <a:pt x="3915496" y="18883"/>
                </a:lnTo>
                <a:lnTo>
                  <a:pt x="3919407"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42" name="Text 34"/>
          <p:cNvSpPr/>
          <p:nvPr/>
        </p:nvSpPr>
        <p:spPr>
          <a:xfrm>
            <a:off x="4653260" y="2953792"/>
            <a:ext cx="3966867" cy="21580"/>
          </a:xfrm>
          <a:custGeom>
            <a:avLst/>
            <a:gdLst/>
            <a:ahLst/>
            <a:cxnLst/>
            <a:rect l="l" t="t" r="r" b="b"/>
            <a:pathLst>
              <a:path w="3966867" h="21580">
                <a:moveTo>
                  <a:pt x="114300" y="0"/>
                </a:moveTo>
                <a:lnTo>
                  <a:pt x="3852567" y="0"/>
                </a:lnTo>
                <a:lnTo>
                  <a:pt x="3877253" y="2698"/>
                </a:lnTo>
                <a:lnTo>
                  <a:pt x="3887269" y="5395"/>
                </a:lnTo>
                <a:lnTo>
                  <a:pt x="3894810" y="8093"/>
                </a:lnTo>
                <a:lnTo>
                  <a:pt x="3901046" y="10790"/>
                </a:lnTo>
                <a:lnTo>
                  <a:pt x="3906431" y="13488"/>
                </a:lnTo>
                <a:lnTo>
                  <a:pt x="3911201" y="16185"/>
                </a:lnTo>
                <a:lnTo>
                  <a:pt x="3915496" y="18883"/>
                </a:lnTo>
                <a:lnTo>
                  <a:pt x="3919407" y="21580"/>
                </a:lnTo>
                <a:lnTo>
                  <a:pt x="47461" y="21580"/>
                </a:lnTo>
                <a:lnTo>
                  <a:pt x="51372" y="18883"/>
                </a:lnTo>
                <a:lnTo>
                  <a:pt x="55666" y="16185"/>
                </a:lnTo>
                <a:lnTo>
                  <a:pt x="60436" y="13488"/>
                </a:lnTo>
                <a:lnTo>
                  <a:pt x="65821" y="10790"/>
                </a:lnTo>
                <a:lnTo>
                  <a:pt x="72057" y="8093"/>
                </a:lnTo>
                <a:lnTo>
                  <a:pt x="79599" y="5395"/>
                </a:lnTo>
                <a:lnTo>
                  <a:pt x="89615" y="2698"/>
                </a:lnTo>
                <a:close/>
              </a:path>
            </a:pathLst>
          </a:custGeom>
          <a:gradFill rotWithShape="1">
            <a:gsLst>
              <a:gs pos="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Mercury Agent">
    <p:bg>
      <p:bgPr>
        <a:solidFill>
          <a:srgbClr val="0A0F1A"/>
        </a:solidFill>
        <a:effectLst/>
      </p:bgPr>
    </p:bg>
    <p:spTree>
      <p:nvGrpSpPr>
        <p:cNvPr id="1" name=""/>
        <p:cNvGrpSpPr/>
        <p:nvPr/>
      </p:nvGrpSpPr>
      <p:grpSpPr>
        <a:xfrm>
          <a:off x="0" y="0"/>
          <a:ext cx="0" cy="0"/>
          <a:chOff x="0" y="0"/>
          <a:chExt cx="0" cy="0"/>
        </a:xfrm>
      </p:grpSpPr>
      <p:sp>
        <p:nvSpPr>
          <p:cNvPr id="2" name="TopGrad"/>
          <p:cNvSpPr/>
          <p:nvPr/>
        </p:nvSpPr>
        <p:spPr>
          <a:xfrm>
            <a:off x="0" y="0"/>
            <a:ext cx="9144000" cy="342900"/>
          </a:xfrm>
          <a:prstGeom prst="rect">
            <a:avLst/>
          </a:prstGeom>
          <a:gradFill rotWithShape="1">
            <a:gsLst>
              <a:gs pos="0">
                <a:srgbClr val="C084FC">
                  <a:alpha val="8000"/>
                </a:srgbClr>
              </a:gs>
              <a:gs pos="100000">
                <a:srgbClr val="000000">
                  <a:alpha val="0"/>
                </a:srgbClr>
              </a:gs>
            </a:gsLst>
            <a:lin ang="5400000" scaled="1"/>
          </a:gradFill>
          <a:ln/>
        </p:spPr>
        <p:txBody>
          <a:bodyPr wrap="none" rtlCol="0" anchor="t"/>
          <a:lstStyle/>
          <a:p>
            <a:pPr marL="0" indent="0">
              <a:buNone/>
            </a:pPr>
            <a:endParaRPr lang="en-US"/>
          </a:p>
        </p:txBody>
      </p:sp>
      <p:sp>
        <p:nvSpPr>
          <p:cNvPr id="8" name="Category"/>
          <p:cNvSpPr/>
          <p:nvPr/>
        </p:nvSpPr>
        <p:spPr>
          <a:xfrm>
            <a:off x="342900" y="400050"/>
            <a:ext cx="8801100" cy="139005"/>
          </a:xfrm>
          <a:prstGeom prst="rect">
            <a:avLst/>
          </a:prstGeom>
          <a:noFill/>
          <a:ln/>
        </p:spPr>
        <p:txBody>
          <a:bodyPr wrap="none" lIns="0" tIns="0" rIns="0" bIns="0" rtlCol="0" anchor="t"/>
          <a:lstStyle/>
          <a:p>
            <a:pPr marL="0" indent="0" algn="l">
              <a:lnSpc>
                <a:spcPts val="1095"/>
              </a:lnSpc>
              <a:buNone/>
            </a:pPr>
            <a:r>
              <a:rPr lang="en-US" sz="730" kern="0" spc="170">
                <a:solidFill>
                  <a:srgbClr val="C084FC"/>
                </a:solidFill>
                <a:latin typeface="Consolas" pitchFamily="34" charset="0"/>
                <a:ea typeface="Consolas" pitchFamily="34" charset="-122"/>
                <a:cs typeface="Consolas" pitchFamily="34" charset="-120"/>
              </a:rPr>
              <a:t>SOUL-DRIVEN AI AGENT</a:t>
            </a:r>
            <a:endParaRPr lang="en-US" sz="730"/>
          </a:p>
        </p:txBody>
      </p:sp>
      <p:sp>
        <p:nvSpPr>
          <p:cNvPr id="9" name="Title"/>
          <p:cNvSpPr/>
          <p:nvPr/>
        </p:nvSpPr>
        <p:spPr>
          <a:xfrm>
            <a:off x="571500" y="625376"/>
            <a:ext cx="8401050" cy="500000"/>
          </a:xfrm>
          <a:prstGeom prst="rect">
            <a:avLst/>
          </a:prstGeom>
          <a:noFill/>
          <a:ln/>
        </p:spPr>
        <p:txBody>
          <a:bodyPr wrap="none" lIns="0" tIns="0" rIns="0" bIns="0" rtlCol="0" anchor="t"/>
          <a:lstStyle/>
          <a:p>
            <a:pPr marL="0" indent="0" algn="l">
              <a:lnSpc>
                <a:spcPts val="3900"/>
              </a:lnSpc>
              <a:buNone/>
            </a:pPr>
            <a:r>
              <a:rPr lang="en-US" sz="2030" dirty="0">
                <a:solidFill>
                  <a:srgbClr val="E2E8F0"/>
                </a:solidFill>
                <a:latin typeface="Consolas" pitchFamily="34" charset="0"/>
                <a:ea typeface="Consolas" pitchFamily="34" charset="-122"/>
                <a:cs typeface="Consolas" pitchFamily="34" charset="-120"/>
              </a:rPr>
              <a:t>Meet </a:t>
            </a:r>
            <a:r>
              <a:rPr lang="en-US" sz="2030" b="1" dirty="0">
                <a:solidFill>
                  <a:srgbClr val="C084FC"/>
                </a:solidFill>
                <a:latin typeface="Consolas" pitchFamily="34" charset="0"/>
                <a:ea typeface="Consolas" pitchFamily="34" charset="-122"/>
                <a:cs typeface="Consolas" pitchFamily="34" charset="-120"/>
              </a:rPr>
              <a:t>Mercury Agent</a:t>
            </a:r>
            <a:r>
              <a:rPr lang="en-US" sz="2030" dirty="0">
                <a:solidFill>
                  <a:srgbClr val="E2E8F0"/>
                </a:solidFill>
                <a:latin typeface="Consolas" pitchFamily="34" charset="0"/>
                <a:ea typeface="Consolas" pitchFamily="34" charset="-122"/>
                <a:cs typeface="Consolas" pitchFamily="34" charset="-120"/>
              </a:rPr>
              <a:t>  </a:t>
            </a:r>
            <a:endParaRPr lang="en-US" sz="2030" dirty="0"/>
          </a:p>
        </p:txBody>
      </p:sp>
      <p:sp>
        <p:nvSpPr>
          <p:cNvPr id="5" name="Dot1"/>
          <p:cNvSpPr/>
          <p:nvPr/>
        </p:nvSpPr>
        <p:spPr>
          <a:xfrm>
            <a:off x="581025" y="1359098"/>
            <a:ext cx="29170" cy="29170"/>
          </a:xfrm>
          <a:prstGeom prst="ellipse">
            <a:avLst/>
          </a:prstGeom>
          <a:solidFill>
            <a:srgbClr val="C084FC"/>
          </a:solidFill>
          <a:ln/>
        </p:spPr>
        <p:txBody>
          <a:bodyPr wrap="none" rtlCol="0" anchor="t"/>
          <a:lstStyle/>
          <a:p>
            <a:pPr marL="0" indent="0">
              <a:buNone/>
            </a:pPr>
            <a:endParaRPr lang="en-US"/>
          </a:p>
        </p:txBody>
      </p:sp>
      <p:sp>
        <p:nvSpPr>
          <p:cNvPr id="6" name="Dot2"/>
          <p:cNvSpPr/>
          <p:nvPr/>
        </p:nvSpPr>
        <p:spPr>
          <a:xfrm>
            <a:off x="581025" y="2689027"/>
            <a:ext cx="29170" cy="29170"/>
          </a:xfrm>
          <a:prstGeom prst="ellipse">
            <a:avLst/>
          </a:prstGeom>
          <a:solidFill>
            <a:srgbClr val="C084FC"/>
          </a:solidFill>
          <a:ln/>
        </p:spPr>
        <p:txBody>
          <a:bodyPr wrap="none" rtlCol="0" anchor="t"/>
          <a:lstStyle/>
          <a:p>
            <a:pPr marL="0" indent="0">
              <a:buNone/>
            </a:pPr>
            <a:endParaRPr lang="en-US"/>
          </a:p>
        </p:txBody>
      </p:sp>
      <p:sp>
        <p:nvSpPr>
          <p:cNvPr id="7" name="Dot3"/>
          <p:cNvSpPr/>
          <p:nvPr/>
        </p:nvSpPr>
        <p:spPr>
          <a:xfrm>
            <a:off x="581025" y="4018955"/>
            <a:ext cx="29170" cy="29170"/>
          </a:xfrm>
          <a:prstGeom prst="ellipse">
            <a:avLst/>
          </a:prstGeom>
          <a:solidFill>
            <a:srgbClr val="C084FC"/>
          </a:solidFill>
          <a:ln/>
        </p:spPr>
        <p:txBody>
          <a:bodyPr wrap="none" rtlCol="0" anchor="t"/>
          <a:lstStyle/>
          <a:p>
            <a:pPr marL="0" indent="0">
              <a:buNone/>
            </a:pPr>
            <a:endParaRPr lang="en-US"/>
          </a:p>
        </p:txBody>
      </p:sp>
      <p:sp>
        <p:nvSpPr>
          <p:cNvPr id="10" name="Card1Bg"/>
          <p:cNvSpPr/>
          <p:nvPr/>
        </p:nvSpPr>
        <p:spPr>
          <a:xfrm>
            <a:off x="571500" y="1349573"/>
            <a:ext cx="8001000" cy="1200000"/>
          </a:xfrm>
          <a:prstGeom prst="roundRect">
            <a:avLst>
              <a:gd name="adj" fmla="val 5384"/>
            </a:avLst>
          </a:prstGeom>
          <a:solidFill>
            <a:srgbClr val="1A2332"/>
          </a:solidFill>
          <a:ln w="9525">
            <a:solidFill>
              <a:srgbClr val="C084FC">
                <a:alpha val="12000"/>
              </a:srgbClr>
            </a:solidFill>
          </a:ln>
        </p:spPr>
        <p:txBody>
          <a:bodyPr wrap="square" rtlCol="0" anchor="t"/>
          <a:lstStyle/>
          <a:p>
            <a:pPr marL="0" indent="0">
              <a:buNone/>
            </a:pPr>
            <a:endParaRPr lang="en-US"/>
          </a:p>
        </p:txBody>
      </p:sp>
      <p:sp>
        <p:nvSpPr>
          <p:cNvPr id="11" name="Card1Badge"/>
          <p:cNvSpPr/>
          <p:nvPr/>
        </p:nvSpPr>
        <p:spPr>
          <a:xfrm>
            <a:off x="866775" y="1616869"/>
            <a:ext cx="400050" cy="400050"/>
          </a:xfrm>
          <a:prstGeom prst="roundRect">
            <a:avLst>
              <a:gd name="adj" fmla="val 24889"/>
            </a:avLst>
          </a:prstGeom>
          <a:solidFill>
            <a:srgbClr val="C084FC">
              <a:alpha val="15000"/>
            </a:srgbClr>
          </a:solidFill>
          <a:ln/>
        </p:spPr>
        <p:txBody>
          <a:bodyPr wrap="square" rtlCol="0" anchor="ctr" anchorCtr="1"/>
          <a:lstStyle/>
          <a:p>
            <a:pPr marL="0" indent="0" algn="ctr">
              <a:buNone/>
            </a:pPr>
            <a:r>
              <a:rPr lang="en-US" sz="1400">
                <a:solidFill>
                  <a:srgbClr val="C084FC"/>
                </a:solidFill>
                <a:latin typeface="Consolas"/>
              </a:rPr>
              <a:t>🛡</a:t>
            </a:r>
            <a:endParaRPr lang="en-US"/>
          </a:p>
        </p:txBody>
      </p:sp>
      <p:sp>
        <p:nvSpPr>
          <p:cNvPr id="13" name="Card1Title"/>
          <p:cNvSpPr/>
          <p:nvPr/>
        </p:nvSpPr>
        <p:spPr>
          <a:xfrm>
            <a:off x="1467445" y="1616869"/>
            <a:ext cx="7490758" cy="236190"/>
          </a:xfrm>
          <a:prstGeom prst="rect">
            <a:avLst/>
          </a:prstGeom>
          <a:noFill/>
          <a:ln/>
        </p:spPr>
        <p:txBody>
          <a:bodyPr wrap="none" lIns="0" tIns="0" rIns="0" bIns="0" rtlCol="0" anchor="t"/>
          <a:lstStyle/>
          <a:p>
            <a:pPr marL="0" indent="0" algn="l">
              <a:lnSpc>
                <a:spcPts val="1860"/>
              </a:lnSpc>
              <a:buNone/>
            </a:pPr>
            <a:r>
              <a:rPr lang="en-US" sz="1240" b="1" kern="0" spc="25">
                <a:solidFill>
                  <a:srgbClr val="E2E8F0"/>
                </a:solidFill>
                <a:latin typeface="Consolas" pitchFamily="34" charset="0"/>
                <a:ea typeface="Consolas" pitchFamily="34" charset="-122"/>
                <a:cs typeface="Consolas" pitchFamily="34" charset="-120"/>
              </a:rPr>
              <a:t>31 Permission-Hardened Tools with Token Budgets</a:t>
            </a:r>
            <a:endParaRPr lang="en-US" sz="1240"/>
          </a:p>
        </p:txBody>
      </p:sp>
      <p:sp>
        <p:nvSpPr>
          <p:cNvPr id="14" name="Card1Desc"/>
          <p:cNvSpPr/>
          <p:nvPr/>
        </p:nvSpPr>
        <p:spPr>
          <a:xfrm>
            <a:off x="1467445" y="1875234"/>
            <a:ext cx="6945975" cy="500000"/>
          </a:xfrm>
          <a:prstGeom prst="rect">
            <a:avLst/>
          </a:prstGeom>
          <a:noFill/>
          <a:ln/>
        </p:spPr>
        <p:txBody>
          <a:bodyPr wrap="square" lIns="0" tIns="0" rIns="0" bIns="0" rtlCol="0" anchor="t"/>
          <a:lstStyle/>
          <a:p>
            <a:pPr marL="0" indent="0" algn="l">
              <a:lnSpc>
                <a:spcPts val="1400"/>
              </a:lnSpc>
              <a:buNone/>
            </a:pPr>
            <a:r>
              <a:rPr lang="en-US" sz="900">
                <a:solidFill>
                  <a:srgbClr val="8B9CB6"/>
                </a:solidFill>
                <a:latin typeface="Calibri" pitchFamily="34" charset="0"/>
                <a:ea typeface="Calibri" pitchFamily="34" charset="-122"/>
                <a:cs typeface="Calibri" pitchFamily="34" charset="-120"/>
              </a:rPr>
              <a:t>Every tool runs with explicit permission gates and configurable token budgets. File operations, shell commands, web browsing, email — all sandboxed. The agent can’t overspend or overreach without your say-so. Install with a single command: npx @cosmicstack/mercury-agent</a:t>
            </a:r>
            <a:endParaRPr lang="en-US" sz="900"/>
          </a:p>
        </p:txBody>
      </p:sp>
      <p:sp>
        <p:nvSpPr>
          <p:cNvPr id="15" name="Card2Bg"/>
          <p:cNvSpPr/>
          <p:nvPr/>
        </p:nvSpPr>
        <p:spPr>
          <a:xfrm>
            <a:off x="571500" y="2679502"/>
            <a:ext cx="8001000" cy="1200000"/>
          </a:xfrm>
          <a:prstGeom prst="roundRect">
            <a:avLst>
              <a:gd name="adj" fmla="val 5384"/>
            </a:avLst>
          </a:prstGeom>
          <a:solidFill>
            <a:srgbClr val="1A2332"/>
          </a:solidFill>
          <a:ln w="9525">
            <a:solidFill>
              <a:srgbClr val="C084FC">
                <a:alpha val="12000"/>
              </a:srgbClr>
            </a:solidFill>
          </a:ln>
        </p:spPr>
        <p:txBody>
          <a:bodyPr wrap="square" rtlCol="0" anchor="t"/>
          <a:lstStyle/>
          <a:p>
            <a:pPr marL="0" indent="0">
              <a:buNone/>
            </a:pPr>
            <a:endParaRPr lang="en-US"/>
          </a:p>
        </p:txBody>
      </p:sp>
      <p:sp>
        <p:nvSpPr>
          <p:cNvPr id="16" name="Card2Badge"/>
          <p:cNvSpPr/>
          <p:nvPr/>
        </p:nvSpPr>
        <p:spPr>
          <a:xfrm>
            <a:off x="866775" y="2946797"/>
            <a:ext cx="400050" cy="400050"/>
          </a:xfrm>
          <a:prstGeom prst="roundRect">
            <a:avLst>
              <a:gd name="adj" fmla="val 24889"/>
            </a:avLst>
          </a:prstGeom>
          <a:solidFill>
            <a:srgbClr val="C084FC">
              <a:alpha val="15000"/>
            </a:srgbClr>
          </a:solidFill>
          <a:ln/>
        </p:spPr>
        <p:txBody>
          <a:bodyPr wrap="square" rtlCol="0" anchor="ctr" anchorCtr="1"/>
          <a:lstStyle/>
          <a:p>
            <a:pPr marL="0" indent="0" algn="ctr">
              <a:buNone/>
            </a:pPr>
            <a:r>
              <a:rPr lang="en-US" sz="1400">
                <a:solidFill>
                  <a:srgbClr val="C084FC"/>
                </a:solidFill>
                <a:latin typeface="Consolas"/>
              </a:rPr>
              <a:t>&gt;_</a:t>
            </a:r>
            <a:endParaRPr lang="en-US"/>
          </a:p>
        </p:txBody>
      </p:sp>
      <p:sp>
        <p:nvSpPr>
          <p:cNvPr id="18" name="Card2Title"/>
          <p:cNvSpPr/>
          <p:nvPr/>
        </p:nvSpPr>
        <p:spPr>
          <a:xfrm>
            <a:off x="1467445" y="2946797"/>
            <a:ext cx="7490758" cy="236190"/>
          </a:xfrm>
          <a:prstGeom prst="rect">
            <a:avLst/>
          </a:prstGeom>
          <a:noFill/>
          <a:ln/>
        </p:spPr>
        <p:txBody>
          <a:bodyPr wrap="none" lIns="0" tIns="0" rIns="0" bIns="0" rtlCol="0" anchor="t"/>
          <a:lstStyle/>
          <a:p>
            <a:pPr marL="0" indent="0" algn="l">
              <a:lnSpc>
                <a:spcPts val="1860"/>
              </a:lnSpc>
              <a:buNone/>
            </a:pPr>
            <a:r>
              <a:rPr lang="en-US" sz="1240" b="1" kern="0" spc="25">
                <a:solidFill>
                  <a:srgbClr val="E2E8F0"/>
                </a:solidFill>
                <a:latin typeface="Consolas" pitchFamily="34" charset="0"/>
                <a:ea typeface="Consolas" pitchFamily="34" charset="-122"/>
                <a:cs typeface="Consolas" pitchFamily="34" charset="-120"/>
              </a:rPr>
              <a:t>CLI + Telegram — Runs 24/7 in Daemon Mode</a:t>
            </a:r>
            <a:endParaRPr lang="en-US" sz="1240"/>
          </a:p>
        </p:txBody>
      </p:sp>
      <p:sp>
        <p:nvSpPr>
          <p:cNvPr id="19" name="Card2Desc"/>
          <p:cNvSpPr/>
          <p:nvPr/>
        </p:nvSpPr>
        <p:spPr>
          <a:xfrm>
            <a:off x="1467445" y="3205163"/>
            <a:ext cx="6945975" cy="500000"/>
          </a:xfrm>
          <a:prstGeom prst="rect">
            <a:avLst/>
          </a:prstGeom>
          <a:noFill/>
          <a:ln/>
        </p:spPr>
        <p:txBody>
          <a:bodyPr wrap="square" lIns="0" tIns="0" rIns="0" bIns="0" rtlCol="0" anchor="t"/>
          <a:lstStyle/>
          <a:p>
            <a:pPr marL="0" indent="0" algn="l">
              <a:lnSpc>
                <a:spcPts val="1400"/>
              </a:lnSpc>
              <a:buNone/>
            </a:pPr>
            <a:r>
              <a:rPr lang="en-US" sz="900">
                <a:solidFill>
                  <a:srgbClr val="8B9CB6"/>
                </a:solidFill>
                <a:latin typeface="Calibri" pitchFamily="34" charset="0"/>
                <a:ea typeface="Calibri" pitchFamily="34" charset="-122"/>
                <a:cs typeface="Calibri" pitchFamily="34" charset="-120"/>
              </a:rPr>
              <a:t>Talk to your agent from the terminal or Telegram — same soul, same tools, any channel. Daemon mode keeps it alive in the background, listening for tasks while you focus on other work. TypeScript-based, MIT-licensed, ~967 stars on GitHub.</a:t>
            </a:r>
            <a:endParaRPr lang="en-US" sz="900"/>
          </a:p>
        </p:txBody>
      </p:sp>
      <p:sp>
        <p:nvSpPr>
          <p:cNvPr id="20" name="Card3Bg"/>
          <p:cNvSpPr/>
          <p:nvPr/>
        </p:nvSpPr>
        <p:spPr>
          <a:xfrm>
            <a:off x="571500" y="4009430"/>
            <a:ext cx="8001000" cy="1000000"/>
          </a:xfrm>
          <a:prstGeom prst="roundRect">
            <a:avLst>
              <a:gd name="adj" fmla="val 5384"/>
            </a:avLst>
          </a:prstGeom>
          <a:solidFill>
            <a:srgbClr val="1A2332"/>
          </a:solidFill>
          <a:ln w="9525">
            <a:solidFill>
              <a:srgbClr val="C084FC">
                <a:alpha val="12000"/>
              </a:srgbClr>
            </a:solidFill>
          </a:ln>
        </p:spPr>
        <p:txBody>
          <a:bodyPr wrap="square" rtlCol="0" anchor="t"/>
          <a:lstStyle/>
          <a:p>
            <a:pPr marL="0" indent="0">
              <a:buNone/>
            </a:pPr>
            <a:endParaRPr lang="en-US"/>
          </a:p>
        </p:txBody>
      </p:sp>
      <p:sp>
        <p:nvSpPr>
          <p:cNvPr id="21" name="Card3Badge"/>
          <p:cNvSpPr/>
          <p:nvPr/>
        </p:nvSpPr>
        <p:spPr>
          <a:xfrm>
            <a:off x="866775" y="4276725"/>
            <a:ext cx="400050" cy="400050"/>
          </a:xfrm>
          <a:prstGeom prst="roundRect">
            <a:avLst>
              <a:gd name="adj" fmla="val 24889"/>
            </a:avLst>
          </a:prstGeom>
          <a:solidFill>
            <a:srgbClr val="C084FC">
              <a:alpha val="15000"/>
            </a:srgbClr>
          </a:solidFill>
          <a:ln/>
        </p:spPr>
        <p:txBody>
          <a:bodyPr wrap="square" rtlCol="0" anchor="ctr" anchorCtr="1"/>
          <a:lstStyle/>
          <a:p>
            <a:pPr marL="0" indent="0" algn="ctr">
              <a:buNone/>
            </a:pPr>
            <a:r>
              <a:rPr lang="en-US" sz="1400">
                <a:solidFill>
                  <a:srgbClr val="C084FC"/>
                </a:solidFill>
                <a:latin typeface="Consolas"/>
              </a:rPr>
              <a:t>🧠</a:t>
            </a:r>
            <a:endParaRPr lang="en-US"/>
          </a:p>
        </p:txBody>
      </p:sp>
      <p:sp>
        <p:nvSpPr>
          <p:cNvPr id="23" name="Card3Title"/>
          <p:cNvSpPr/>
          <p:nvPr/>
        </p:nvSpPr>
        <p:spPr>
          <a:xfrm>
            <a:off x="1467445" y="4276725"/>
            <a:ext cx="7490758" cy="236190"/>
          </a:xfrm>
          <a:prstGeom prst="rect">
            <a:avLst/>
          </a:prstGeom>
          <a:noFill/>
          <a:ln/>
        </p:spPr>
        <p:txBody>
          <a:bodyPr wrap="none" lIns="0" tIns="0" rIns="0" bIns="0" rtlCol="0" anchor="t"/>
          <a:lstStyle/>
          <a:p>
            <a:pPr marL="0" indent="0" algn="l">
              <a:lnSpc>
                <a:spcPts val="1860"/>
              </a:lnSpc>
              <a:buNone/>
            </a:pPr>
            <a:r>
              <a:rPr lang="en-US" sz="1240" b="1" kern="0" spc="25">
                <a:solidFill>
                  <a:srgbClr val="E2E8F0"/>
                </a:solidFill>
                <a:latin typeface="Consolas" pitchFamily="34" charset="0"/>
                <a:ea typeface="Consolas" pitchFamily="34" charset="-122"/>
                <a:cs typeface="Consolas" pitchFamily="34" charset="-120"/>
              </a:rPr>
              <a:t>Second Brain Memory — Learns and Remembers</a:t>
            </a:r>
            <a:endParaRPr lang="en-US" sz="1240"/>
          </a:p>
        </p:txBody>
      </p:sp>
      <p:sp>
        <p:nvSpPr>
          <p:cNvPr id="24" name="Card3Desc"/>
          <p:cNvSpPr/>
          <p:nvPr/>
        </p:nvSpPr>
        <p:spPr>
          <a:xfrm>
            <a:off x="1467445" y="4535091"/>
            <a:ext cx="6945975" cy="400000"/>
          </a:xfrm>
          <a:prstGeom prst="rect">
            <a:avLst/>
          </a:prstGeom>
          <a:noFill/>
          <a:ln/>
        </p:spPr>
        <p:txBody>
          <a:bodyPr wrap="square" lIns="0" tIns="0" rIns="0" bIns="0" rtlCol="0" anchor="t"/>
          <a:lstStyle/>
          <a:p>
            <a:pPr marL="0" indent="0" algn="l">
              <a:lnSpc>
                <a:spcPts val="1400"/>
              </a:lnSpc>
              <a:buNone/>
            </a:pPr>
            <a:r>
              <a:rPr lang="en-US" sz="900">
                <a:solidFill>
                  <a:srgbClr val="8B9CB6"/>
                </a:solidFill>
                <a:latin typeface="Calibri" pitchFamily="34" charset="0"/>
                <a:ea typeface="Calibri" pitchFamily="34" charset="-122"/>
                <a:cs typeface="Calibri" pitchFamily="34" charset="-120"/>
              </a:rPr>
              <a:t>Mercury builds a persistent knowledge graph as it works — your Second Brain. It remembers past conversations, preferences, and context across sessions. The more you use it, the smarter it gets at anticipating what you need.</a:t>
            </a:r>
            <a:endParaRPr lang="en-US" sz="9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7">
    <p:bg>
      <p:bgPr>
        <a:solidFill>
          <a:srgbClr val="0A0F1A"/>
        </a:solidFill>
        <a:effectLst/>
      </p:bgPr>
    </p:bg>
    <p:spTree>
      <p:nvGrpSpPr>
        <p:cNvPr id="1" name=""/>
        <p:cNvGrpSpPr/>
        <p:nvPr/>
      </p:nvGrpSpPr>
      <p:grpSpPr>
        <a:xfrm>
          <a:off x="0" y="0"/>
          <a:ext cx="0" cy="0"/>
          <a:chOff x="0" y="0"/>
          <a:chExt cx="0" cy="0"/>
        </a:xfrm>
      </p:grpSpPr>
      <p:sp>
        <p:nvSpPr>
          <p:cNvPr id="2" name="GreenLine"/>
          <p:cNvSpPr/>
          <p:nvPr/>
        </p:nvSpPr>
        <p:spPr>
          <a:xfrm>
            <a:off x="614660" y="1057870"/>
            <a:ext cx="13841" cy="3742730"/>
          </a:xfrm>
          <a:prstGeom prst="roundRect">
            <a:avLst>
              <a:gd name="adj" fmla="val 100932"/>
            </a:avLst>
          </a:prstGeom>
          <a:gradFill rotWithShape="1">
            <a:gsLst>
              <a:gs pos="0">
                <a:srgbClr val="76B900"/>
              </a:gs>
              <a:gs pos="100000">
                <a:srgbClr val="76B900">
                  <a:alpha val="8000"/>
                </a:srgbClr>
              </a:gs>
            </a:gsLst>
            <a:lin ang="5400000" scaled="1"/>
          </a:gradFill>
          <a:ln/>
        </p:spPr>
        <p:txBody>
          <a:bodyPr wrap="square" rtlCol="0" anchor="t"/>
          <a:lstStyle/>
          <a:p>
            <a:pPr marL="0" indent="0">
              <a:buNone/>
            </a:pPr>
            <a:endParaRPr lang="en-US"/>
          </a:p>
        </p:txBody>
      </p:sp>
      <p:sp>
        <p:nvSpPr>
          <p:cNvPr id="3" name="Tag"/>
          <p:cNvSpPr/>
          <p:nvPr/>
        </p:nvSpPr>
        <p:spPr>
          <a:xfrm>
            <a:off x="8178403" y="185291"/>
            <a:ext cx="580000" cy="207913"/>
          </a:xfrm>
          <a:prstGeom prst="roundRect">
            <a:avLst>
              <a:gd name="adj" fmla="val 20768"/>
            </a:avLst>
          </a:prstGeom>
          <a:solidFill>
            <a:srgbClr val="76B900">
              <a:alpha val="8000"/>
            </a:srgbClr>
          </a:solidFill>
          <a:ln w="9525">
            <a:solidFill>
              <a:srgbClr val="76B900">
                <a:alpha val="15000"/>
              </a:srgbClr>
            </a:solidFill>
          </a:ln>
        </p:spPr>
        <p:txBody>
          <a:bodyPr wrap="none" lIns="100330" tIns="35560" rIns="100330" bIns="35560" rtlCol="0" anchor="t"/>
          <a:lstStyle/>
          <a:p>
            <a:pPr marL="0" indent="0" algn="l">
              <a:buNone/>
            </a:pPr>
            <a:r>
              <a:rPr lang="en-US" sz="620" kern="0" spc="80">
                <a:solidFill>
                  <a:srgbClr val="8B9CB6"/>
                </a:solidFill>
                <a:latin typeface="Consolas" pitchFamily="34" charset="0"/>
              </a:rPr>
              <a:t>LINUX</a:t>
            </a:r>
          </a:p>
        </p:txBody>
      </p:sp>
      <p:sp>
        <p:nvSpPr>
          <p:cNvPr id="5" name="Title"/>
          <p:cNvSpPr/>
          <p:nvPr/>
        </p:nvSpPr>
        <p:spPr>
          <a:xfrm>
            <a:off x="758130" y="342900"/>
            <a:ext cx="5000000" cy="296317"/>
          </a:xfrm>
          <a:prstGeom prst="rect">
            <a:avLst/>
          </a:prstGeom>
          <a:noFill/>
          <a:ln/>
        </p:spPr>
        <p:txBody>
          <a:bodyPr wrap="none" lIns="0" tIns="0" rIns="0" bIns="0" rtlCol="0" anchor="ctr"/>
          <a:lstStyle/>
          <a:p>
            <a:pPr marL="0" indent="0" algn="l">
              <a:lnSpc>
                <a:spcPts val="2335"/>
              </a:lnSpc>
              <a:buNone/>
            </a:pPr>
            <a:r>
              <a:rPr lang="en-US" sz="2030" b="1" kern="0" spc="-30">
                <a:solidFill>
                  <a:srgbClr val="E2E8F0"/>
                </a:solidFill>
                <a:latin typeface="Consolas" pitchFamily="34" charset="0"/>
                <a:ea typeface="Consolas" pitchFamily="34" charset="-122"/>
                <a:cs typeface="Consolas" pitchFamily="34" charset="-120"/>
              </a:rPr>
              <a:t>Linux Installation</a:t>
            </a:r>
          </a:p>
        </p:txBody>
      </p:sp>
      <p:sp>
        <p:nvSpPr>
          <p:cNvPr id="6" name="Subtitle"/>
          <p:cNvSpPr/>
          <p:nvPr/>
        </p:nvSpPr>
        <p:spPr>
          <a:xfrm>
            <a:off x="758130" y="682377"/>
            <a:ext cx="8200000" cy="171450"/>
          </a:xfrm>
          <a:prstGeom prst="rect">
            <a:avLst/>
          </a:prstGeom>
          <a:noFill/>
          <a:ln/>
        </p:spPr>
        <p:txBody>
          <a:bodyPr wrap="square" lIns="299720" tIns="0" rIns="0" bIns="0" rtlCol="0" anchor="t"/>
          <a:lstStyle/>
          <a:p>
            <a:pPr marL="0" indent="0" algn="l">
              <a:lnSpc>
                <a:spcPts val="1350"/>
              </a:lnSpc>
              <a:buNone/>
            </a:pPr>
            <a:r>
              <a:rPr lang="en-US" sz="900">
                <a:solidFill>
                  <a:srgbClr val="8B9CB6"/>
                </a:solidFill>
                <a:latin typeface="Calibri" pitchFamily="34" charset="0"/>
              </a:rPr>
              <a:t>Most common for servers — uses curl install script and systemd for service management</a:t>
            </a:r>
          </a:p>
        </p:txBody>
      </p:sp>
      <p:sp>
        <p:nvSpPr>
          <p:cNvPr id="7" name="CardBg"/>
          <p:cNvSpPr/>
          <p:nvPr/>
        </p:nvSpPr>
        <p:spPr>
          <a:xfrm>
            <a:off x="758130" y="977281"/>
            <a:ext cx="7956649" cy="3100000"/>
          </a:xfrm>
          <a:prstGeom prst="roundRect">
            <a:avLst>
              <a:gd name="adj" fmla="val 4000"/>
            </a:avLst>
          </a:prstGeom>
          <a:solidFill>
            <a:srgbClr val="131C2A"/>
          </a:solidFill>
          <a:ln w="9525">
            <a:solidFill>
              <a:srgbClr val="76B900">
                <a:alpha val="18000"/>
              </a:srgbClr>
            </a:solidFill>
          </a:ln>
        </p:spPr>
        <p:txBody>
          <a:bodyPr wrap="square" rtlCol="0" anchor="t"/>
          <a:lstStyle/>
          <a:p>
            <a:pPr marL="0" indent="0">
              <a:buNone/>
            </a:pPr>
            <a:endParaRPr lang="en-US"/>
          </a:p>
        </p:txBody>
      </p:sp>
      <p:sp>
        <p:nvSpPr>
          <p:cNvPr id="10" name="Num1"/>
          <p:cNvSpPr/>
          <p:nvPr/>
        </p:nvSpPr>
        <p:spPr>
          <a:xfrm>
            <a:off x="900000" y="108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1</a:t>
            </a:r>
          </a:p>
        </p:txBody>
      </p:sp>
      <p:sp>
        <p:nvSpPr>
          <p:cNvPr id="11" name="Label1"/>
          <p:cNvSpPr/>
          <p:nvPr/>
        </p:nvSpPr>
        <p:spPr>
          <a:xfrm>
            <a:off x="1280000" y="1070000"/>
            <a:ext cx="30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INSTALL OLLAMA</a:t>
            </a:r>
          </a:p>
        </p:txBody>
      </p:sp>
      <p:sp>
        <p:nvSpPr>
          <p:cNvPr id="12" name="Code1"/>
          <p:cNvSpPr/>
          <p:nvPr/>
        </p:nvSpPr>
        <p:spPr>
          <a:xfrm>
            <a:off x="1280000" y="1280000"/>
            <a:ext cx="7148179" cy="300000"/>
          </a:xfrm>
          <a:prstGeom prst="roundRect">
            <a:avLst>
              <a:gd name="adj" fmla="val 16909"/>
            </a:avLst>
          </a:prstGeom>
          <a:solidFill>
            <a:srgbClr val="76B900">
              <a:alpha val="7000"/>
            </a:srgbClr>
          </a:solidFill>
          <a:ln w="9525">
            <a:solidFill>
              <a:srgbClr val="76B900">
                <a:alpha val="13000"/>
              </a:srgbClr>
            </a:solidFill>
          </a:ln>
        </p:spPr>
        <p:txBody>
          <a:bodyPr wrap="square" lIns="114300" tIns="78740" rIns="114300" bIns="78740" rtlCol="0" anchor="ctr"/>
          <a:lstStyle/>
          <a:p>
            <a:pPr marL="0" indent="0" algn="l">
              <a:buNone/>
            </a:pPr>
            <a:r>
              <a:rPr lang="en-US" sz="900">
                <a:solidFill>
                  <a:srgbClr val="76B900"/>
                </a:solidFill>
                <a:latin typeface="Consolas" pitchFamily="34" charset="0"/>
              </a:rPr>
              <a:t>curl -fsSL https://ollama.com/install.sh | sh</a:t>
            </a:r>
          </a:p>
        </p:txBody>
      </p:sp>
      <p:sp>
        <p:nvSpPr>
          <p:cNvPr id="20" name="Num2"/>
          <p:cNvSpPr/>
          <p:nvPr/>
        </p:nvSpPr>
        <p:spPr>
          <a:xfrm>
            <a:off x="900000" y="172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2</a:t>
            </a:r>
          </a:p>
        </p:txBody>
      </p:sp>
      <p:sp>
        <p:nvSpPr>
          <p:cNvPr id="21" name="Label2"/>
          <p:cNvSpPr/>
          <p:nvPr/>
        </p:nvSpPr>
        <p:spPr>
          <a:xfrm>
            <a:off x="1280000" y="1710000"/>
            <a:ext cx="30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START THE SERVICE</a:t>
            </a:r>
          </a:p>
        </p:txBody>
      </p:sp>
      <p:sp>
        <p:nvSpPr>
          <p:cNvPr id="22" name="Desc2"/>
          <p:cNvSpPr/>
          <p:nvPr/>
        </p:nvSpPr>
        <p:spPr>
          <a:xfrm>
            <a:off x="1280000" y="1900000"/>
            <a:ext cx="7148179" cy="160000"/>
          </a:xfrm>
          <a:prstGeom prst="rect">
            <a:avLst/>
          </a:prstGeom>
          <a:noFill/>
          <a:ln/>
        </p:spPr>
        <p:txBody>
          <a:bodyPr wrap="square" lIns="0" tIns="0" rIns="0" bIns="0" rtlCol="0" anchor="t"/>
          <a:lstStyle/>
          <a:p>
            <a:pPr marL="0" indent="0" algn="l">
              <a:lnSpc>
                <a:spcPts val="1200"/>
              </a:lnSpc>
              <a:buNone/>
            </a:pPr>
            <a:r>
              <a:rPr lang="en-US" sz="800">
                <a:solidFill>
                  <a:srgbClr val="8B9CB6"/>
                </a:solidFill>
                <a:latin typeface="Calibri" pitchFamily="34" charset="0"/>
              </a:rPr>
              <a:t>Use systemd (recommended) or run directly with ollama serve &amp;</a:t>
            </a:r>
          </a:p>
        </p:txBody>
      </p:sp>
      <p:sp>
        <p:nvSpPr>
          <p:cNvPr id="23" name="Code2"/>
          <p:cNvSpPr/>
          <p:nvPr/>
        </p:nvSpPr>
        <p:spPr>
          <a:xfrm>
            <a:off x="1280000" y="2100000"/>
            <a:ext cx="7148179" cy="300000"/>
          </a:xfrm>
          <a:prstGeom prst="roundRect">
            <a:avLst>
              <a:gd name="adj" fmla="val 16909"/>
            </a:avLst>
          </a:prstGeom>
          <a:solidFill>
            <a:srgbClr val="76B900">
              <a:alpha val="7000"/>
            </a:srgbClr>
          </a:solidFill>
          <a:ln w="9525">
            <a:solidFill>
              <a:srgbClr val="76B900">
                <a:alpha val="13000"/>
              </a:srgbClr>
            </a:solidFill>
          </a:ln>
        </p:spPr>
        <p:txBody>
          <a:bodyPr wrap="square" lIns="114300" tIns="78740" rIns="114300" bIns="78740" rtlCol="0" anchor="ctr"/>
          <a:lstStyle/>
          <a:p>
            <a:pPr marL="0" indent="0" algn="l">
              <a:buNone/>
            </a:pPr>
            <a:r>
              <a:rPr lang="en-US" sz="900">
                <a:solidFill>
                  <a:srgbClr val="76B900"/>
                </a:solidFill>
                <a:latin typeface="Consolas" pitchFamily="34" charset="0"/>
              </a:rPr>
              <a:t>sudo systemctl start ollama</a:t>
            </a:r>
          </a:p>
        </p:txBody>
      </p:sp>
      <p:sp>
        <p:nvSpPr>
          <p:cNvPr id="30" name="Num3"/>
          <p:cNvSpPr/>
          <p:nvPr/>
        </p:nvSpPr>
        <p:spPr>
          <a:xfrm>
            <a:off x="900000" y="256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3</a:t>
            </a:r>
          </a:p>
        </p:txBody>
      </p:sp>
      <p:sp>
        <p:nvSpPr>
          <p:cNvPr id="31" name="Label3"/>
          <p:cNvSpPr/>
          <p:nvPr/>
        </p:nvSpPr>
        <p:spPr>
          <a:xfrm>
            <a:off x="1280000" y="2550000"/>
            <a:ext cx="30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DOWNLOAD AND RUN A MODEL</a:t>
            </a:r>
          </a:p>
        </p:txBody>
      </p:sp>
      <p:sp>
        <p:nvSpPr>
          <p:cNvPr id="32" name="Code3"/>
          <p:cNvSpPr/>
          <p:nvPr/>
        </p:nvSpPr>
        <p:spPr>
          <a:xfrm>
            <a:off x="1280000" y="2760000"/>
            <a:ext cx="7148179" cy="470000"/>
          </a:xfrm>
          <a:prstGeom prst="roundRect">
            <a:avLst>
              <a:gd name="adj" fmla="val 12000"/>
            </a:avLst>
          </a:prstGeom>
          <a:solidFill>
            <a:srgbClr val="76B900">
              <a:alpha val="7000"/>
            </a:srgbClr>
          </a:solidFill>
          <a:ln w="9525">
            <a:solidFill>
              <a:srgbClr val="76B900">
                <a:alpha val="13000"/>
              </a:srgbClr>
            </a:solidFill>
          </a:ln>
        </p:spPr>
        <p:txBody>
          <a:bodyPr wrap="square" lIns="114300" tIns="68580" rIns="114300" bIns="68580" rtlCol="0" anchor="t"/>
          <a:lstStyle/>
          <a:p>
            <a:pPr marL="0" indent="0" algn="l">
              <a:lnSpc>
                <a:spcPts val="1200"/>
              </a:lnSpc>
              <a:buNone/>
            </a:pPr>
            <a:r>
              <a:rPr lang="en-US" sz="900">
                <a:solidFill>
                  <a:srgbClr val="76B900"/>
                </a:solidFill>
                <a:latin typeface="Consolas" pitchFamily="34" charset="0"/>
              </a:rPr>
              <a:t>ollama run tinyllama      </a:t>
            </a:r>
            <a:r>
              <a:rPr lang="en-US" sz="750">
                <a:solidFill>
                  <a:srgbClr val="8B9CB6"/>
                </a:solidFill>
                <a:latin typeface="Consolas" pitchFamily="34" charset="0"/>
              </a:rPr>
              <a:t># pull + run (auto-downloads)</a:t>
            </a:r>
          </a:p>
          <a:p>
            <a:pPr marL="0" indent="0" algn="l">
              <a:lnSpc>
                <a:spcPts val="1200"/>
              </a:lnSpc>
              <a:buNone/>
            </a:pPr>
            <a:r>
              <a:rPr lang="en-US" sz="900">
                <a:solidFill>
                  <a:srgbClr val="76B900"/>
                </a:solidFill>
                <a:latin typeface="Consolas" pitchFamily="34" charset="0"/>
              </a:rPr>
              <a:t>ollama pull tinyllama     </a:t>
            </a:r>
            <a:r>
              <a:rPr lang="en-US" sz="750">
                <a:solidFill>
                  <a:srgbClr val="8B9CB6"/>
                </a:solidFill>
                <a:latin typeface="Consolas" pitchFamily="34" charset="0"/>
              </a:rPr>
              <a:t># download only, no chat</a:t>
            </a:r>
          </a:p>
        </p:txBody>
      </p:sp>
      <p:sp>
        <p:nvSpPr>
          <p:cNvPr id="40" name="Num4"/>
          <p:cNvSpPr/>
          <p:nvPr/>
        </p:nvSpPr>
        <p:spPr>
          <a:xfrm>
            <a:off x="900000" y="340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4</a:t>
            </a:r>
          </a:p>
        </p:txBody>
      </p:sp>
      <p:sp>
        <p:nvSpPr>
          <p:cNvPr id="41" name="Label4"/>
          <p:cNvSpPr/>
          <p:nvPr/>
        </p:nvSpPr>
        <p:spPr>
          <a:xfrm>
            <a:off x="1280000" y="3390000"/>
            <a:ext cx="30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AUTO-START ON BOOT (SYSTEMD)</a:t>
            </a:r>
          </a:p>
        </p:txBody>
      </p:sp>
      <p:sp>
        <p:nvSpPr>
          <p:cNvPr id="42" name="Code4"/>
          <p:cNvSpPr/>
          <p:nvPr/>
        </p:nvSpPr>
        <p:spPr>
          <a:xfrm>
            <a:off x="1280000" y="3600000"/>
            <a:ext cx="7148179" cy="300000"/>
          </a:xfrm>
          <a:prstGeom prst="roundRect">
            <a:avLst>
              <a:gd name="adj" fmla="val 16909"/>
            </a:avLst>
          </a:prstGeom>
          <a:solidFill>
            <a:srgbClr val="76B900">
              <a:alpha val="7000"/>
            </a:srgbClr>
          </a:solidFill>
          <a:ln w="9525">
            <a:solidFill>
              <a:srgbClr val="76B900">
                <a:alpha val="13000"/>
              </a:srgbClr>
            </a:solidFill>
          </a:ln>
        </p:spPr>
        <p:txBody>
          <a:bodyPr wrap="square" lIns="114300" tIns="78740" rIns="114300" bIns="78740" rtlCol="0" anchor="ctr"/>
          <a:lstStyle/>
          <a:p>
            <a:pPr marL="0" indent="0" algn="l">
              <a:buNone/>
            </a:pPr>
            <a:r>
              <a:rPr lang="en-US" sz="900">
                <a:solidFill>
                  <a:srgbClr val="76B900"/>
                </a:solidFill>
                <a:latin typeface="Consolas" pitchFamily="34" charset="0"/>
              </a:rPr>
              <a:t>sudo systemctl enable ollama</a:t>
            </a:r>
          </a:p>
        </p:txBody>
      </p:sp>
      <p:sp>
        <p:nvSpPr>
          <p:cNvPr id="50" name="AltModels"/>
          <p:cNvSpPr/>
          <p:nvPr/>
        </p:nvSpPr>
        <p:spPr>
          <a:xfrm>
            <a:off x="900000" y="4080000"/>
            <a:ext cx="7500000" cy="500000"/>
          </a:xfrm>
          <a:prstGeom prst="rect">
            <a:avLst/>
          </a:prstGeom>
          <a:noFill/>
          <a:ln/>
        </p:spPr>
        <p:txBody>
          <a:bodyPr wrap="square" lIns="0" tIns="0" rIns="0" bIns="0" rtlCol="0" anchor="t"/>
          <a:lstStyle/>
          <a:p>
            <a:pPr marL="0" indent="0" algn="l">
              <a:lnSpc>
                <a:spcPts val="1100"/>
              </a:lnSpc>
              <a:buNone/>
            </a:pPr>
            <a:r>
              <a:rPr lang="en-US" sz="700" b="1">
                <a:solidFill>
                  <a:srgbClr val="E2E8F0"/>
                </a:solidFill>
                <a:latin typeface="Calibri" pitchFamily="34" charset="0"/>
              </a:rPr>
              <a:t>Other very small models:</a:t>
            </a:r>
            <a:r>
              <a:rPr lang="en-US" sz="700">
                <a:solidFill>
                  <a:srgbClr val="8B9CB6"/>
                </a:solidFill>
                <a:latin typeface="Calibri" pitchFamily="34" charset="0"/>
              </a:rPr>
              <a:t>  </a:t>
            </a:r>
            <a:r>
              <a:rPr lang="en-US" sz="700">
                <a:solidFill>
                  <a:srgbClr val="76B900"/>
                </a:solidFill>
                <a:latin typeface="Consolas" pitchFamily="34" charset="0"/>
              </a:rPr>
              <a:t>ollama pull gemma3:1b</a:t>
            </a:r>
            <a:r>
              <a:rPr lang="en-US" sz="700">
                <a:solidFill>
                  <a:srgbClr val="8B9CB6"/>
                </a:solidFill>
                <a:latin typeface="Calibri" pitchFamily="34" charset="0"/>
              </a:rPr>
              <a:t> (~800MB)   </a:t>
            </a:r>
            <a:r>
              <a:rPr lang="en-US" sz="700">
                <a:solidFill>
                  <a:srgbClr val="76B900"/>
                </a:solidFill>
                <a:latin typeface="Consolas" pitchFamily="34" charset="0"/>
              </a:rPr>
              <a:t>ollama pull smollm:135m</a:t>
            </a:r>
            <a:r>
              <a:rPr lang="en-US" sz="700">
                <a:solidFill>
                  <a:srgbClr val="8B9CB6"/>
                </a:solidFill>
                <a:latin typeface="Calibri" pitchFamily="34" charset="0"/>
              </a:rPr>
              <a:t> (extremely tiny)</a:t>
            </a:r>
          </a:p>
          <a:p>
            <a:pPr marL="0" indent="0" algn="l">
              <a:lnSpc>
                <a:spcPts val="1100"/>
              </a:lnSpc>
              <a:spcBef>
                <a:spcPts val="300"/>
              </a:spcBef>
              <a:buNone/>
            </a:pPr>
            <a:r>
              <a:rPr lang="en-US" sz="700">
                <a:solidFill>
                  <a:srgbClr val="8B9CB6"/>
                </a:solidFill>
                <a:latin typeface="Calibri" pitchFamily="34" charset="0"/>
              </a:rPr>
              <a:t>Expose on network: </a:t>
            </a:r>
            <a:r>
              <a:rPr lang="en-US" sz="700">
                <a:solidFill>
                  <a:srgbClr val="76B900"/>
                </a:solidFill>
                <a:latin typeface="Consolas" pitchFamily="34" charset="0"/>
              </a:rPr>
              <a:t>OLLAMA_HOST=0.0.0.0 ollama serve</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8">
    <p:bg>
      <p:bgPr>
        <a:solidFill>
          <a:srgbClr val="0A0F1A"/>
        </a:solidFill>
        <a:effectLst/>
      </p:bgPr>
    </p:bg>
    <p:spTree>
      <p:nvGrpSpPr>
        <p:cNvPr id="1" name=""/>
        <p:cNvGrpSpPr/>
        <p:nvPr/>
      </p:nvGrpSpPr>
      <p:grpSpPr>
        <a:xfrm>
          <a:off x="0" y="0"/>
          <a:ext cx="0" cy="0"/>
          <a:chOff x="0" y="0"/>
          <a:chExt cx="0" cy="0"/>
        </a:xfrm>
      </p:grpSpPr>
      <p:sp>
        <p:nvSpPr>
          <p:cNvPr id="2" name="GreenLine"/>
          <p:cNvSpPr/>
          <p:nvPr/>
        </p:nvSpPr>
        <p:spPr>
          <a:xfrm>
            <a:off x="614660" y="1057870"/>
            <a:ext cx="13841" cy="3742730"/>
          </a:xfrm>
          <a:prstGeom prst="roundRect">
            <a:avLst>
              <a:gd name="adj" fmla="val 100932"/>
            </a:avLst>
          </a:prstGeom>
          <a:gradFill rotWithShape="1">
            <a:gsLst>
              <a:gs pos="0">
                <a:srgbClr val="76B900"/>
              </a:gs>
              <a:gs pos="100000">
                <a:srgbClr val="76B900">
                  <a:alpha val="8000"/>
                </a:srgbClr>
              </a:gs>
            </a:gsLst>
            <a:lin ang="5400000" scaled="1"/>
          </a:gradFill>
          <a:ln/>
        </p:spPr>
        <p:txBody>
          <a:bodyPr wrap="square" rtlCol="0" anchor="t"/>
          <a:lstStyle/>
          <a:p>
            <a:pPr marL="0" indent="0">
              <a:buNone/>
            </a:pPr>
            <a:endParaRPr lang="en-US"/>
          </a:p>
        </p:txBody>
      </p:sp>
      <p:sp>
        <p:nvSpPr>
          <p:cNvPr id="3" name="Tag"/>
          <p:cNvSpPr/>
          <p:nvPr/>
        </p:nvSpPr>
        <p:spPr>
          <a:xfrm>
            <a:off x="8078403" y="185291"/>
            <a:ext cx="700000" cy="207913"/>
          </a:xfrm>
          <a:prstGeom prst="roundRect">
            <a:avLst>
              <a:gd name="adj" fmla="val 20768"/>
            </a:avLst>
          </a:prstGeom>
          <a:solidFill>
            <a:srgbClr val="76B900">
              <a:alpha val="8000"/>
            </a:srgbClr>
          </a:solidFill>
          <a:ln w="9525">
            <a:solidFill>
              <a:srgbClr val="76B900">
                <a:alpha val="15000"/>
              </a:srgbClr>
            </a:solidFill>
          </a:ln>
        </p:spPr>
        <p:txBody>
          <a:bodyPr wrap="none" lIns="100330" tIns="35560" rIns="100330" bIns="35560" rtlCol="0" anchor="t"/>
          <a:lstStyle/>
          <a:p>
            <a:pPr marL="0" indent="0" algn="l">
              <a:buNone/>
            </a:pPr>
            <a:r>
              <a:rPr lang="en-US" sz="620" kern="0" spc="80">
                <a:solidFill>
                  <a:srgbClr val="8B9CB6"/>
                </a:solidFill>
                <a:latin typeface="Consolas" pitchFamily="34" charset="0"/>
              </a:rPr>
              <a:t>macOS</a:t>
            </a:r>
          </a:p>
        </p:txBody>
      </p:sp>
      <p:sp>
        <p:nvSpPr>
          <p:cNvPr id="5" name="Title"/>
          <p:cNvSpPr/>
          <p:nvPr/>
        </p:nvSpPr>
        <p:spPr>
          <a:xfrm>
            <a:off x="758130" y="342900"/>
            <a:ext cx="5000000" cy="296317"/>
          </a:xfrm>
          <a:prstGeom prst="rect">
            <a:avLst/>
          </a:prstGeom>
          <a:noFill/>
          <a:ln/>
        </p:spPr>
        <p:txBody>
          <a:bodyPr wrap="none" lIns="0" tIns="0" rIns="0" bIns="0" rtlCol="0" anchor="ctr"/>
          <a:lstStyle/>
          <a:p>
            <a:pPr marL="0" indent="0" algn="l">
              <a:lnSpc>
                <a:spcPts val="2335"/>
              </a:lnSpc>
              <a:buNone/>
            </a:pPr>
            <a:r>
              <a:rPr lang="en-US" sz="2030" b="1" kern="0" spc="-30">
                <a:solidFill>
                  <a:srgbClr val="E2E8F0"/>
                </a:solidFill>
                <a:latin typeface="Consolas" pitchFamily="34" charset="0"/>
                <a:ea typeface="Consolas" pitchFamily="34" charset="-122"/>
                <a:cs typeface="Consolas" pitchFamily="34" charset="-120"/>
              </a:rPr>
              <a:t>macOS Installation</a:t>
            </a:r>
          </a:p>
        </p:txBody>
      </p:sp>
      <p:sp>
        <p:nvSpPr>
          <p:cNvPr id="6" name="Subtitle"/>
          <p:cNvSpPr/>
          <p:nvPr/>
        </p:nvSpPr>
        <p:spPr>
          <a:xfrm>
            <a:off x="758130" y="682377"/>
            <a:ext cx="8200000" cy="171450"/>
          </a:xfrm>
          <a:prstGeom prst="rect">
            <a:avLst/>
          </a:prstGeom>
          <a:noFill/>
          <a:ln/>
        </p:spPr>
        <p:txBody>
          <a:bodyPr wrap="square" lIns="299720" tIns="0" rIns="0" bIns="0" rtlCol="0" anchor="t"/>
          <a:lstStyle/>
          <a:p>
            <a:pPr marL="0" indent="0" algn="l">
              <a:lnSpc>
                <a:spcPts val="1350"/>
              </a:lnSpc>
              <a:buNone/>
            </a:pPr>
            <a:r>
              <a:rPr lang="en-US" sz="900">
                <a:solidFill>
                  <a:srgbClr val="8B9CB6"/>
                </a:solidFill>
                <a:latin typeface="Calibri" pitchFamily="34" charset="0"/>
              </a:rPr>
              <a:t>Install via Homebrew or download the desktop app from ollama.com</a:t>
            </a:r>
          </a:p>
        </p:txBody>
      </p:sp>
      <p:sp>
        <p:nvSpPr>
          <p:cNvPr id="7" name="CardBg"/>
          <p:cNvSpPr/>
          <p:nvPr/>
        </p:nvSpPr>
        <p:spPr>
          <a:xfrm>
            <a:off x="758130" y="977281"/>
            <a:ext cx="7956649" cy="3100000"/>
          </a:xfrm>
          <a:prstGeom prst="roundRect">
            <a:avLst>
              <a:gd name="adj" fmla="val 4000"/>
            </a:avLst>
          </a:prstGeom>
          <a:solidFill>
            <a:srgbClr val="131C2A"/>
          </a:solidFill>
          <a:ln w="9525">
            <a:solidFill>
              <a:srgbClr val="76B900">
                <a:alpha val="18000"/>
              </a:srgbClr>
            </a:solidFill>
          </a:ln>
        </p:spPr>
        <p:txBody>
          <a:bodyPr wrap="square" rtlCol="0" anchor="t"/>
          <a:lstStyle/>
          <a:p>
            <a:pPr marL="0" indent="0">
              <a:buNone/>
            </a:pPr>
            <a:endParaRPr lang="en-US"/>
          </a:p>
        </p:txBody>
      </p:sp>
      <p:sp>
        <p:nvSpPr>
          <p:cNvPr id="10" name="Num1"/>
          <p:cNvSpPr/>
          <p:nvPr/>
        </p:nvSpPr>
        <p:spPr>
          <a:xfrm>
            <a:off x="900000" y="108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1</a:t>
            </a:r>
          </a:p>
        </p:txBody>
      </p:sp>
      <p:sp>
        <p:nvSpPr>
          <p:cNvPr id="11" name="Label1"/>
          <p:cNvSpPr/>
          <p:nvPr/>
        </p:nvSpPr>
        <p:spPr>
          <a:xfrm>
            <a:off x="1280000" y="1070000"/>
            <a:ext cx="30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INSTALL VIA HOMEBREW</a:t>
            </a:r>
          </a:p>
        </p:txBody>
      </p:sp>
      <p:sp>
        <p:nvSpPr>
          <p:cNvPr id="12" name="Code1"/>
          <p:cNvSpPr/>
          <p:nvPr/>
        </p:nvSpPr>
        <p:spPr>
          <a:xfrm>
            <a:off x="1280000" y="1280000"/>
            <a:ext cx="7148179" cy="300000"/>
          </a:xfrm>
          <a:prstGeom prst="roundRect">
            <a:avLst>
              <a:gd name="adj" fmla="val 16909"/>
            </a:avLst>
          </a:prstGeom>
          <a:solidFill>
            <a:srgbClr val="76B900">
              <a:alpha val="7000"/>
            </a:srgbClr>
          </a:solidFill>
          <a:ln w="9525">
            <a:solidFill>
              <a:srgbClr val="76B900">
                <a:alpha val="13000"/>
              </a:srgbClr>
            </a:solidFill>
          </a:ln>
        </p:spPr>
        <p:txBody>
          <a:bodyPr wrap="square" lIns="114300" tIns="78740" rIns="114300" bIns="78740" rtlCol="0" anchor="ctr"/>
          <a:lstStyle/>
          <a:p>
            <a:pPr marL="0" indent="0" algn="l">
              <a:buNone/>
            </a:pPr>
            <a:r>
              <a:rPr lang="en-US" sz="900">
                <a:solidFill>
                  <a:srgbClr val="76B900"/>
                </a:solidFill>
                <a:latin typeface="Consolas" pitchFamily="34" charset="0"/>
              </a:rPr>
              <a:t>brew install ollama</a:t>
            </a:r>
          </a:p>
        </p:txBody>
      </p:sp>
      <p:sp>
        <p:nvSpPr>
          <p:cNvPr id="20" name="Num2"/>
          <p:cNvSpPr/>
          <p:nvPr/>
        </p:nvSpPr>
        <p:spPr>
          <a:xfrm>
            <a:off x="900000" y="172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2</a:t>
            </a:r>
          </a:p>
        </p:txBody>
      </p:sp>
      <p:sp>
        <p:nvSpPr>
          <p:cNvPr id="21" name="Label2"/>
          <p:cNvSpPr/>
          <p:nvPr/>
        </p:nvSpPr>
        <p:spPr>
          <a:xfrm>
            <a:off x="1280000" y="1710000"/>
            <a:ext cx="30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START OLLAMA</a:t>
            </a:r>
          </a:p>
        </p:txBody>
      </p:sp>
      <p:sp>
        <p:nvSpPr>
          <p:cNvPr id="23" name="Code2"/>
          <p:cNvSpPr/>
          <p:nvPr/>
        </p:nvSpPr>
        <p:spPr>
          <a:xfrm>
            <a:off x="1280000" y="1920000"/>
            <a:ext cx="7148179" cy="300000"/>
          </a:xfrm>
          <a:prstGeom prst="roundRect">
            <a:avLst>
              <a:gd name="adj" fmla="val 16909"/>
            </a:avLst>
          </a:prstGeom>
          <a:solidFill>
            <a:srgbClr val="76B900">
              <a:alpha val="7000"/>
            </a:srgbClr>
          </a:solidFill>
          <a:ln w="9525">
            <a:solidFill>
              <a:srgbClr val="76B900">
                <a:alpha val="13000"/>
              </a:srgbClr>
            </a:solidFill>
          </a:ln>
        </p:spPr>
        <p:txBody>
          <a:bodyPr wrap="square" lIns="114300" tIns="78740" rIns="114300" bIns="78740" rtlCol="0" anchor="ctr"/>
          <a:lstStyle/>
          <a:p>
            <a:pPr marL="0" indent="0" algn="l">
              <a:buNone/>
            </a:pPr>
            <a:r>
              <a:rPr lang="en-US" sz="900">
                <a:solidFill>
                  <a:srgbClr val="76B900"/>
                </a:solidFill>
                <a:latin typeface="Consolas" pitchFamily="34" charset="0"/>
              </a:rPr>
              <a:t>ollama serve</a:t>
            </a:r>
          </a:p>
        </p:txBody>
      </p:sp>
      <p:sp>
        <p:nvSpPr>
          <p:cNvPr id="30" name="Num3"/>
          <p:cNvSpPr/>
          <p:nvPr/>
        </p:nvSpPr>
        <p:spPr>
          <a:xfrm>
            <a:off x="900000" y="238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3</a:t>
            </a:r>
          </a:p>
        </p:txBody>
      </p:sp>
      <p:sp>
        <p:nvSpPr>
          <p:cNvPr id="31" name="Label3"/>
          <p:cNvSpPr/>
          <p:nvPr/>
        </p:nvSpPr>
        <p:spPr>
          <a:xfrm>
            <a:off x="1280000" y="2370000"/>
            <a:ext cx="30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DOWNLOAD SMALLEST MODEL</a:t>
            </a:r>
          </a:p>
        </p:txBody>
      </p:sp>
      <p:sp>
        <p:nvSpPr>
          <p:cNvPr id="32" name="Code3"/>
          <p:cNvSpPr/>
          <p:nvPr/>
        </p:nvSpPr>
        <p:spPr>
          <a:xfrm>
            <a:off x="1280000" y="2580000"/>
            <a:ext cx="7148179" cy="470000"/>
          </a:xfrm>
          <a:prstGeom prst="roundRect">
            <a:avLst>
              <a:gd name="adj" fmla="val 12000"/>
            </a:avLst>
          </a:prstGeom>
          <a:solidFill>
            <a:srgbClr val="76B900">
              <a:alpha val="7000"/>
            </a:srgbClr>
          </a:solidFill>
          <a:ln w="9525">
            <a:solidFill>
              <a:srgbClr val="76B900">
                <a:alpha val="13000"/>
              </a:srgbClr>
            </a:solidFill>
          </a:ln>
        </p:spPr>
        <p:txBody>
          <a:bodyPr wrap="square" lIns="114300" tIns="68580" rIns="114300" bIns="68580" rtlCol="0" anchor="t"/>
          <a:lstStyle/>
          <a:p>
            <a:pPr marL="0" indent="0" algn="l">
              <a:lnSpc>
                <a:spcPts val="1200"/>
              </a:lnSpc>
              <a:buNone/>
            </a:pPr>
            <a:r>
              <a:rPr lang="en-US" sz="900">
                <a:solidFill>
                  <a:srgbClr val="76B900"/>
                </a:solidFill>
                <a:latin typeface="Consolas" pitchFamily="34" charset="0"/>
              </a:rPr>
              <a:t>ollama pull tinyllama</a:t>
            </a:r>
          </a:p>
          <a:p>
            <a:pPr marL="0" indent="0" algn="l">
              <a:lnSpc>
                <a:spcPts val="1200"/>
              </a:lnSpc>
              <a:buNone/>
            </a:pPr>
            <a:r>
              <a:rPr lang="en-US" sz="900">
                <a:solidFill>
                  <a:srgbClr val="76B900"/>
                </a:solidFill>
                <a:latin typeface="Consolas" pitchFamily="34" charset="0"/>
              </a:rPr>
              <a:t>ollama run tinyllama      </a:t>
            </a:r>
            <a:r>
              <a:rPr lang="en-US" sz="750">
                <a:solidFill>
                  <a:srgbClr val="8B9CB6"/>
                </a:solidFill>
                <a:latin typeface="Consolas" pitchFamily="34" charset="0"/>
              </a:rPr>
              <a:t># starts interactive chat</a:t>
            </a:r>
          </a:p>
        </p:txBody>
      </p:sp>
      <p:sp>
        <p:nvSpPr>
          <p:cNvPr id="40" name="Num4"/>
          <p:cNvSpPr/>
          <p:nvPr/>
        </p:nvSpPr>
        <p:spPr>
          <a:xfrm>
            <a:off x="900000" y="322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4</a:t>
            </a:r>
          </a:p>
        </p:txBody>
      </p:sp>
      <p:sp>
        <p:nvSpPr>
          <p:cNvPr id="41" name="Label4"/>
          <p:cNvSpPr/>
          <p:nvPr/>
        </p:nvSpPr>
        <p:spPr>
          <a:xfrm>
            <a:off x="1280000" y="3210000"/>
            <a:ext cx="50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AUTO-START ON BOOT</a:t>
            </a:r>
          </a:p>
        </p:txBody>
      </p:sp>
      <p:sp>
        <p:nvSpPr>
          <p:cNvPr id="42" name="Code4"/>
          <p:cNvSpPr/>
          <p:nvPr/>
        </p:nvSpPr>
        <p:spPr>
          <a:xfrm>
            <a:off x="1280000" y="3420000"/>
            <a:ext cx="7148179" cy="300000"/>
          </a:xfrm>
          <a:prstGeom prst="roundRect">
            <a:avLst>
              <a:gd name="adj" fmla="val 16909"/>
            </a:avLst>
          </a:prstGeom>
          <a:solidFill>
            <a:srgbClr val="76B900">
              <a:alpha val="7000"/>
            </a:srgbClr>
          </a:solidFill>
          <a:ln w="9525">
            <a:solidFill>
              <a:srgbClr val="76B900">
                <a:alpha val="13000"/>
              </a:srgbClr>
            </a:solidFill>
          </a:ln>
        </p:spPr>
        <p:txBody>
          <a:bodyPr wrap="square" lIns="114300" tIns="78740" rIns="114300" bIns="78740" rtlCol="0" anchor="ctr"/>
          <a:lstStyle/>
          <a:p>
            <a:pPr marL="0" indent="0" algn="l">
              <a:buNone/>
            </a:pPr>
            <a:r>
              <a:rPr lang="en-US" sz="900">
                <a:solidFill>
                  <a:srgbClr val="76B900"/>
                </a:solidFill>
                <a:latin typeface="Consolas" pitchFamily="34" charset="0"/>
              </a:rPr>
              <a:t>brew services start ollama</a:t>
            </a:r>
          </a:p>
        </p:txBody>
      </p:sp>
      <p:sp>
        <p:nvSpPr>
          <p:cNvPr id="50" name="DesktopNote"/>
          <p:cNvSpPr/>
          <p:nvPr/>
        </p:nvSpPr>
        <p:spPr>
          <a:xfrm>
            <a:off x="1280000" y="3780000"/>
            <a:ext cx="7148179" cy="200000"/>
          </a:xfrm>
          <a:prstGeom prst="rect">
            <a:avLst/>
          </a:prstGeom>
          <a:noFill/>
          <a:ln/>
        </p:spPr>
        <p:txBody>
          <a:bodyPr wrap="square" lIns="0" tIns="0" rIns="0" bIns="0" rtlCol="0" anchor="t"/>
          <a:lstStyle/>
          <a:p>
            <a:pPr marL="0" indent="0" algn="l">
              <a:lnSpc>
                <a:spcPts val="1100"/>
              </a:lnSpc>
              <a:buNone/>
            </a:pPr>
            <a:r>
              <a:rPr lang="en-US" sz="750">
                <a:solidFill>
                  <a:srgbClr val="8B9CB6"/>
                </a:solidFill>
                <a:latin typeface="Calibri" pitchFamily="34" charset="0"/>
              </a:rPr>
              <a:t>Or enable in the Ollama desktop app: Settings → Start Ollama on boot</a:t>
            </a:r>
          </a:p>
        </p:txBody>
      </p:sp>
      <p:sp>
        <p:nvSpPr>
          <p:cNvPr id="55" name="StorageNote"/>
          <p:cNvSpPr/>
          <p:nvPr/>
        </p:nvSpPr>
        <p:spPr>
          <a:xfrm>
            <a:off x="900000" y="4150000"/>
            <a:ext cx="7500000" cy="400000"/>
          </a:xfrm>
          <a:prstGeom prst="rect">
            <a:avLst/>
          </a:prstGeom>
          <a:noFill/>
          <a:ln/>
        </p:spPr>
        <p:txBody>
          <a:bodyPr wrap="square" lIns="0" tIns="0" rIns="0" bIns="0" rtlCol="0" anchor="t"/>
          <a:lstStyle/>
          <a:p>
            <a:pPr marL="0" indent="0" algn="l">
              <a:lnSpc>
                <a:spcPts val="1100"/>
              </a:lnSpc>
              <a:buNone/>
            </a:pPr>
            <a:r>
              <a:rPr lang="en-US" sz="700" b="1">
                <a:solidFill>
                  <a:srgbClr val="E2E8F0"/>
                </a:solidFill>
                <a:latin typeface="Calibri" pitchFamily="34" charset="0"/>
              </a:rPr>
              <a:t>Models stored at:</a:t>
            </a:r>
            <a:r>
              <a:rPr lang="en-US" sz="700">
                <a:solidFill>
                  <a:srgbClr val="8B9CB6"/>
                </a:solidFill>
                <a:latin typeface="Calibri" pitchFamily="34" charset="0"/>
              </a:rPr>
              <a:t>  </a:t>
            </a:r>
            <a:r>
              <a:rPr lang="en-US" sz="700">
                <a:solidFill>
                  <a:srgbClr val="76B900"/>
                </a:solidFill>
                <a:latin typeface="Consolas" pitchFamily="34" charset="0"/>
              </a:rPr>
              <a:t>~/.ollama/models</a:t>
            </a:r>
          </a:p>
        </p:txBody>
      </p:sp>
      <p:sp>
        <p:nvSpPr>
          <p:cNvPr id="60" name="UninstallNote"/>
          <p:cNvSpPr/>
          <p:nvPr/>
        </p:nvSpPr>
        <p:spPr>
          <a:xfrm>
            <a:off x="900000" y="4520000"/>
            <a:ext cx="7500000" cy="500000"/>
          </a:xfrm>
          <a:prstGeom prst="rect">
            <a:avLst/>
          </a:prstGeom>
          <a:noFill/>
          <a:ln/>
        </p:spPr>
        <p:txBody>
          <a:bodyPr wrap="square" lIns="0" tIns="0" rIns="0" bIns="0" rtlCol="0" anchor="t"/>
          <a:lstStyle/>
          <a:p>
            <a:pPr marL="0" indent="0" algn="l">
              <a:lnSpc>
                <a:spcPts val="1100"/>
              </a:lnSpc>
              <a:buNone/>
            </a:pPr>
            <a:r>
              <a:rPr lang="en-US" sz="700" b="1">
                <a:solidFill>
                  <a:srgbClr val="E2E8F0"/>
                </a:solidFill>
                <a:latin typeface="Calibri" pitchFamily="34" charset="0"/>
              </a:rPr>
              <a:t>To uninstall:</a:t>
            </a:r>
            <a:r>
              <a:rPr lang="en-US" sz="700">
                <a:solidFill>
                  <a:srgbClr val="8B9CB6"/>
                </a:solidFill>
                <a:latin typeface="Calibri" pitchFamily="34" charset="0"/>
              </a:rPr>
              <a:t>  </a:t>
            </a:r>
            <a:r>
              <a:rPr lang="en-US" sz="700">
                <a:solidFill>
                  <a:srgbClr val="76B900"/>
                </a:solidFill>
                <a:latin typeface="Consolas" pitchFamily="34" charset="0"/>
              </a:rPr>
              <a:t>brew uninstall ollama</a:t>
            </a:r>
            <a:r>
              <a:rPr lang="en-US" sz="700">
                <a:solidFill>
                  <a:srgbClr val="8B9CB6"/>
                </a:solidFill>
                <a:latin typeface="Calibri" pitchFamily="34" charset="0"/>
              </a:rPr>
              <a:t>  then  </a:t>
            </a:r>
            <a:r>
              <a:rPr lang="en-US" sz="700">
                <a:solidFill>
                  <a:srgbClr val="76B900"/>
                </a:solidFill>
                <a:latin typeface="Consolas" pitchFamily="34" charset="0"/>
              </a:rPr>
              <a:t>rm -rf ~/.ollama</a:t>
            </a:r>
            <a:r>
              <a:rPr lang="en-US" sz="700">
                <a:solidFill>
                  <a:srgbClr val="8B9CB6"/>
                </a:solidFill>
                <a:latin typeface="Calibri" pitchFamily="34" charset="0"/>
              </a:rPr>
              <a:t>  (removes all downloaded models)</a:t>
            </a:r>
          </a:p>
          <a:p>
            <a:pPr marL="0" indent="0" algn="l">
              <a:lnSpc>
                <a:spcPts val="1100"/>
              </a:lnSpc>
              <a:buNone/>
            </a:pPr>
            <a:r>
              <a:rPr lang="en-US" sz="650">
                <a:solidFill>
                  <a:srgbClr val="6B7A90"/>
                </a:solidFill>
                <a:latin typeface="Calibri" pitchFamily="34" charset="0"/>
              </a:rPr>
              <a:t>If using the desktop app instead of Homebrew: drag Ollama from /Applications to Trash, then run the rm command above.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9">
    <p:bg>
      <p:bgPr>
        <a:solidFill>
          <a:srgbClr val="0A0F1A"/>
        </a:solidFill>
        <a:effectLst/>
      </p:bgPr>
    </p:bg>
    <p:spTree>
      <p:nvGrpSpPr>
        <p:cNvPr id="1" name=""/>
        <p:cNvGrpSpPr/>
        <p:nvPr/>
      </p:nvGrpSpPr>
      <p:grpSpPr>
        <a:xfrm>
          <a:off x="0" y="0"/>
          <a:ext cx="0" cy="0"/>
          <a:chOff x="0" y="0"/>
          <a:chExt cx="0" cy="0"/>
        </a:xfrm>
      </p:grpSpPr>
      <p:sp>
        <p:nvSpPr>
          <p:cNvPr id="2" name="GreenLine"/>
          <p:cNvSpPr/>
          <p:nvPr/>
        </p:nvSpPr>
        <p:spPr>
          <a:xfrm>
            <a:off x="614660" y="1057870"/>
            <a:ext cx="13841" cy="3742730"/>
          </a:xfrm>
          <a:prstGeom prst="roundRect">
            <a:avLst>
              <a:gd name="adj" fmla="val 100932"/>
            </a:avLst>
          </a:prstGeom>
          <a:gradFill rotWithShape="1">
            <a:gsLst>
              <a:gs pos="0">
                <a:srgbClr val="76B900"/>
              </a:gs>
              <a:gs pos="100000">
                <a:srgbClr val="76B900">
                  <a:alpha val="8000"/>
                </a:srgbClr>
              </a:gs>
            </a:gsLst>
            <a:lin ang="5400000" scaled="1"/>
          </a:gradFill>
          <a:ln/>
        </p:spPr>
        <p:txBody>
          <a:bodyPr wrap="square" rtlCol="0" anchor="t"/>
          <a:lstStyle/>
          <a:p>
            <a:pPr marL="0" indent="0">
              <a:buNone/>
            </a:pPr>
            <a:endParaRPr lang="en-US"/>
          </a:p>
        </p:txBody>
      </p:sp>
      <p:sp>
        <p:nvSpPr>
          <p:cNvPr id="3" name="Tag"/>
          <p:cNvSpPr/>
          <p:nvPr/>
        </p:nvSpPr>
        <p:spPr>
          <a:xfrm>
            <a:off x="8078403" y="185291"/>
            <a:ext cx="700000" cy="207913"/>
          </a:xfrm>
          <a:prstGeom prst="roundRect">
            <a:avLst>
              <a:gd name="adj" fmla="val 20768"/>
            </a:avLst>
          </a:prstGeom>
          <a:solidFill>
            <a:srgbClr val="76B900">
              <a:alpha val="8000"/>
            </a:srgbClr>
          </a:solidFill>
          <a:ln w="9525">
            <a:solidFill>
              <a:srgbClr val="76B900">
                <a:alpha val="15000"/>
              </a:srgbClr>
            </a:solidFill>
          </a:ln>
        </p:spPr>
        <p:txBody>
          <a:bodyPr wrap="none" lIns="100330" tIns="35560" rIns="100330" bIns="35560" rtlCol="0" anchor="t"/>
          <a:lstStyle/>
          <a:p>
            <a:pPr marL="0" indent="0" algn="l">
              <a:buNone/>
            </a:pPr>
            <a:r>
              <a:rPr lang="en-US" sz="620" kern="0" spc="80">
                <a:solidFill>
                  <a:srgbClr val="8B9CB6"/>
                </a:solidFill>
                <a:latin typeface="Consolas" pitchFamily="34" charset="0"/>
              </a:rPr>
              <a:t>WINDOWS</a:t>
            </a:r>
          </a:p>
        </p:txBody>
      </p:sp>
      <p:sp>
        <p:nvSpPr>
          <p:cNvPr id="5" name="Title"/>
          <p:cNvSpPr/>
          <p:nvPr/>
        </p:nvSpPr>
        <p:spPr>
          <a:xfrm>
            <a:off x="758130" y="342900"/>
            <a:ext cx="7000000" cy="296317"/>
          </a:xfrm>
          <a:prstGeom prst="rect">
            <a:avLst/>
          </a:prstGeom>
          <a:noFill/>
          <a:ln/>
        </p:spPr>
        <p:txBody>
          <a:bodyPr wrap="none" lIns="0" tIns="0" rIns="0" bIns="0" rtlCol="0" anchor="ctr"/>
          <a:lstStyle/>
          <a:p>
            <a:pPr marL="0" indent="0" algn="l">
              <a:lnSpc>
                <a:spcPts val="2335"/>
              </a:lnSpc>
              <a:buNone/>
            </a:pPr>
            <a:r>
              <a:rPr lang="en-US" sz="2030" b="1" kern="0" spc="-30">
                <a:solidFill>
                  <a:srgbClr val="E2E8F0"/>
                </a:solidFill>
                <a:latin typeface="Consolas" pitchFamily="34" charset="0"/>
                <a:ea typeface="Consolas" pitchFamily="34" charset="-122"/>
                <a:cs typeface="Consolas" pitchFamily="34" charset="-120"/>
              </a:rPr>
              <a:t>Windows + Quick Reference</a:t>
            </a:r>
          </a:p>
        </p:txBody>
      </p:sp>
      <p:sp>
        <p:nvSpPr>
          <p:cNvPr id="6" name="Subtitle"/>
          <p:cNvSpPr/>
          <p:nvPr/>
        </p:nvSpPr>
        <p:spPr>
          <a:xfrm>
            <a:off x="758130" y="682377"/>
            <a:ext cx="8200000" cy="171450"/>
          </a:xfrm>
          <a:prstGeom prst="rect">
            <a:avLst/>
          </a:prstGeom>
          <a:noFill/>
          <a:ln/>
        </p:spPr>
        <p:txBody>
          <a:bodyPr wrap="square" lIns="299720" tIns="0" rIns="0" bIns="0" rtlCol="0" anchor="t"/>
          <a:lstStyle/>
          <a:p>
            <a:pPr marL="0" indent="0" algn="l">
              <a:lnSpc>
                <a:spcPts val="1350"/>
              </a:lnSpc>
              <a:buNone/>
            </a:pPr>
            <a:r>
              <a:rPr lang="en-US" sz="900">
                <a:solidFill>
                  <a:srgbClr val="8B9CB6"/>
                </a:solidFill>
                <a:latin typeface="Calibri" pitchFamily="34" charset="0"/>
              </a:rPr>
              <a:t>Download the installer, pull a model, and verify — plus handy notes for all platforms</a:t>
            </a:r>
          </a:p>
        </p:txBody>
      </p:sp>
      <p:sp>
        <p:nvSpPr>
          <p:cNvPr id="7" name="LeftCard"/>
          <p:cNvSpPr/>
          <p:nvPr/>
        </p:nvSpPr>
        <p:spPr>
          <a:xfrm>
            <a:off x="758130" y="977281"/>
            <a:ext cx="4300000" cy="2100000"/>
          </a:xfrm>
          <a:prstGeom prst="roundRect">
            <a:avLst>
              <a:gd name="adj" fmla="val 4000"/>
            </a:avLst>
          </a:prstGeom>
          <a:solidFill>
            <a:srgbClr val="131C2A"/>
          </a:solidFill>
          <a:ln w="9525">
            <a:solidFill>
              <a:srgbClr val="76B900">
                <a:alpha val="18000"/>
              </a:srgbClr>
            </a:solidFill>
          </a:ln>
        </p:spPr>
        <p:txBody>
          <a:bodyPr wrap="square" rtlCol="0" anchor="t"/>
          <a:lstStyle/>
          <a:p>
            <a:pPr marL="0" indent="0">
              <a:buNone/>
            </a:pPr>
            <a:endParaRPr lang="en-US"/>
          </a:p>
        </p:txBody>
      </p:sp>
      <p:sp>
        <p:nvSpPr>
          <p:cNvPr id="10" name="Num1"/>
          <p:cNvSpPr/>
          <p:nvPr/>
        </p:nvSpPr>
        <p:spPr>
          <a:xfrm>
            <a:off x="900000" y="108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1</a:t>
            </a:r>
          </a:p>
        </p:txBody>
      </p:sp>
      <p:sp>
        <p:nvSpPr>
          <p:cNvPr id="11" name="Label1"/>
          <p:cNvSpPr/>
          <p:nvPr/>
        </p:nvSpPr>
        <p:spPr>
          <a:xfrm>
            <a:off x="1280000" y="1070000"/>
            <a:ext cx="35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DOWNLOAD AND INSTALL</a:t>
            </a:r>
          </a:p>
        </p:txBody>
      </p:sp>
      <p:sp>
        <p:nvSpPr>
          <p:cNvPr id="12" name="InstDesc"/>
          <p:cNvSpPr/>
          <p:nvPr/>
        </p:nvSpPr>
        <p:spPr>
          <a:xfrm>
            <a:off x="1280000" y="1280000"/>
            <a:ext cx="3500000" cy="400000"/>
          </a:xfrm>
          <a:prstGeom prst="rect">
            <a:avLst/>
          </a:prstGeom>
          <a:noFill/>
          <a:ln/>
        </p:spPr>
        <p:txBody>
          <a:bodyPr wrap="square" lIns="0" tIns="0" rIns="0" bIns="0" rtlCol="0" anchor="t"/>
          <a:lstStyle/>
          <a:p>
            <a:pPr marL="0" indent="0" algn="l">
              <a:lnSpc>
                <a:spcPts val="1100"/>
              </a:lnSpc>
              <a:buNone/>
            </a:pPr>
            <a:r>
              <a:rPr lang="en-US" sz="800">
                <a:solidFill>
                  <a:srgbClr val="8B9CB6"/>
                </a:solidFill>
                <a:latin typeface="Calibri" pitchFamily="34" charset="0"/>
              </a:rPr>
              <a:t>Go to ollama.com and download </a:t>
            </a:r>
            <a:r>
              <a:rPr lang="en-US" sz="800" b="1">
                <a:solidFill>
                  <a:srgbClr val="E2E8F0"/>
                </a:solidFill>
                <a:latin typeface="Calibri" pitchFamily="34" charset="0"/>
              </a:rPr>
              <a:t>OllamaSetup.exe</a:t>
            </a:r>
          </a:p>
          <a:p>
            <a:pPr marL="0" indent="0" algn="l">
              <a:lnSpc>
                <a:spcPts val="1100"/>
              </a:lnSpc>
              <a:spcBef>
                <a:spcPts val="200"/>
              </a:spcBef>
              <a:buNone/>
            </a:pPr>
            <a:r>
              <a:rPr lang="en-US" sz="800">
                <a:solidFill>
                  <a:srgbClr val="8B9CB6"/>
                </a:solidFill>
                <a:latin typeface="Calibri" pitchFamily="34" charset="0"/>
              </a:rPr>
              <a:t>The installer adds ollama to PATH and starts a background service automatically.</a:t>
            </a:r>
          </a:p>
        </p:txBody>
      </p:sp>
      <p:sp>
        <p:nvSpPr>
          <p:cNvPr id="20" name="Num2"/>
          <p:cNvSpPr/>
          <p:nvPr/>
        </p:nvSpPr>
        <p:spPr>
          <a:xfrm>
            <a:off x="900000" y="1800000"/>
            <a:ext cx="280000" cy="280000"/>
          </a:xfrm>
          <a:prstGeom prst="roundRect">
            <a:avLst>
              <a:gd name="adj" fmla="val 20741"/>
            </a:avLst>
          </a:prstGeom>
          <a:solidFill>
            <a:srgbClr val="76B900">
              <a:alpha val="10000"/>
            </a:srgbClr>
          </a:solidFill>
          <a:ln/>
        </p:spPr>
        <p:txBody>
          <a:bodyPr wrap="square" lIns="0" tIns="0" rIns="0" bIns="0" rtlCol="0" anchor="ctr"/>
          <a:lstStyle/>
          <a:p>
            <a:pPr marL="0" indent="0" algn="ctr">
              <a:buNone/>
            </a:pPr>
            <a:r>
              <a:rPr lang="en-US" sz="1400" b="1">
                <a:solidFill>
                  <a:srgbClr val="76B900"/>
                </a:solidFill>
                <a:latin typeface="Consolas" pitchFamily="34" charset="0"/>
              </a:rPr>
              <a:t>2</a:t>
            </a:r>
          </a:p>
        </p:txBody>
      </p:sp>
      <p:sp>
        <p:nvSpPr>
          <p:cNvPr id="21" name="Label2"/>
          <p:cNvSpPr/>
          <p:nvPr/>
        </p:nvSpPr>
        <p:spPr>
          <a:xfrm>
            <a:off x="1280000" y="1790000"/>
            <a:ext cx="3500000" cy="170000"/>
          </a:xfrm>
          <a:prstGeom prst="rect">
            <a:avLst/>
          </a:prstGeom>
          <a:noFill/>
          <a:ln/>
        </p:spPr>
        <p:txBody>
          <a:bodyPr wrap="none" lIns="0" tIns="0" rIns="0" bIns="0" rtlCol="0" anchor="t"/>
          <a:lstStyle/>
          <a:p>
            <a:pPr marL="0" indent="0" algn="l">
              <a:lnSpc>
                <a:spcPts val="1095"/>
              </a:lnSpc>
              <a:buNone/>
            </a:pPr>
            <a:r>
              <a:rPr lang="en-US" sz="730" b="1" spc="110">
                <a:solidFill>
                  <a:srgbClr val="76B900"/>
                </a:solidFill>
                <a:latin typeface="Consolas" pitchFamily="34" charset="0"/>
              </a:rPr>
              <a:t>PULL AND RUN MODEL</a:t>
            </a:r>
          </a:p>
        </p:txBody>
      </p:sp>
      <p:sp>
        <p:nvSpPr>
          <p:cNvPr id="22" name="Code2"/>
          <p:cNvSpPr/>
          <p:nvPr/>
        </p:nvSpPr>
        <p:spPr>
          <a:xfrm>
            <a:off x="1280000" y="2000000"/>
            <a:ext cx="3500000" cy="470000"/>
          </a:xfrm>
          <a:prstGeom prst="roundRect">
            <a:avLst>
              <a:gd name="adj" fmla="val 12000"/>
            </a:avLst>
          </a:prstGeom>
          <a:solidFill>
            <a:srgbClr val="76B900">
              <a:alpha val="7000"/>
            </a:srgbClr>
          </a:solidFill>
          <a:ln w="9525">
            <a:solidFill>
              <a:srgbClr val="76B900">
                <a:alpha val="13000"/>
              </a:srgbClr>
            </a:solidFill>
          </a:ln>
        </p:spPr>
        <p:txBody>
          <a:bodyPr wrap="square" lIns="114300" tIns="68580" rIns="114300" bIns="68580" rtlCol="0" anchor="t"/>
          <a:lstStyle/>
          <a:p>
            <a:pPr marL="0" indent="0" algn="l">
              <a:lnSpc>
                <a:spcPts val="1200"/>
              </a:lnSpc>
              <a:buNone/>
            </a:pPr>
            <a:r>
              <a:rPr lang="en-US" sz="900">
                <a:solidFill>
                  <a:srgbClr val="76B900"/>
                </a:solidFill>
                <a:latin typeface="Consolas" pitchFamily="34" charset="0"/>
              </a:rPr>
              <a:t>ollama pull tinyllama</a:t>
            </a:r>
          </a:p>
          <a:p>
            <a:pPr marL="0" indent="0" algn="l">
              <a:lnSpc>
                <a:spcPts val="1200"/>
              </a:lnSpc>
              <a:buNone/>
            </a:pPr>
            <a:r>
              <a:rPr lang="en-US" sz="900">
                <a:solidFill>
                  <a:srgbClr val="76B900"/>
                </a:solidFill>
                <a:latin typeface="Consolas" pitchFamily="34" charset="0"/>
              </a:rPr>
              <a:t>ollama run tinyllama</a:t>
            </a:r>
          </a:p>
        </p:txBody>
      </p:sp>
      <p:sp>
        <p:nvSpPr>
          <p:cNvPr id="25" name="AutoNote"/>
          <p:cNvSpPr/>
          <p:nvPr/>
        </p:nvSpPr>
        <p:spPr>
          <a:xfrm>
            <a:off x="900000" y="2580000"/>
            <a:ext cx="3800000" cy="300000"/>
          </a:xfrm>
          <a:prstGeom prst="rect">
            <a:avLst/>
          </a:prstGeom>
          <a:noFill/>
          <a:ln/>
        </p:spPr>
        <p:txBody>
          <a:bodyPr wrap="square" lIns="0" tIns="0" rIns="0" bIns="0" rtlCol="0" anchor="t"/>
          <a:lstStyle/>
          <a:p>
            <a:pPr marL="0" indent="0" algn="l">
              <a:lnSpc>
                <a:spcPts val="1100"/>
              </a:lnSpc>
              <a:buNone/>
            </a:pPr>
            <a:r>
              <a:rPr lang="en-US" sz="750">
                <a:solidFill>
                  <a:srgbClr val="8B9CB6"/>
                </a:solidFill>
                <a:latin typeface="Calibri" pitchFamily="34" charset="0"/>
              </a:rPr>
              <a:t>Ollama auto-starts after installation on Windows. Manage via Task Manager → Services or system tray.</a:t>
            </a:r>
          </a:p>
        </p:txBody>
      </p:sp>
      <p:sp>
        <p:nvSpPr>
          <p:cNvPr id="30" name="RightCard"/>
          <p:cNvSpPr/>
          <p:nvPr/>
        </p:nvSpPr>
        <p:spPr>
          <a:xfrm>
            <a:off x="5208130" y="977281"/>
            <a:ext cx="3500000" cy="3200000"/>
          </a:xfrm>
          <a:prstGeom prst="roundRect">
            <a:avLst>
              <a:gd name="adj" fmla="val 4000"/>
            </a:avLst>
          </a:prstGeom>
          <a:solidFill>
            <a:srgbClr val="131C2A"/>
          </a:solidFill>
          <a:ln w="9525">
            <a:solidFill>
              <a:srgbClr val="76B900">
                <a:alpha val="18000"/>
              </a:srgbClr>
            </a:solidFill>
          </a:ln>
        </p:spPr>
        <p:txBody>
          <a:bodyPr wrap="square" lIns="137160" tIns="137160" rIns="137160" bIns="91440" rtlCol="0" anchor="t"/>
          <a:lstStyle/>
          <a:p>
            <a:pPr marL="0" indent="0" algn="l">
              <a:lnSpc>
                <a:spcPts val="1400"/>
              </a:lnSpc>
              <a:buNone/>
            </a:pPr>
            <a:r>
              <a:rPr lang="en-US" sz="900" b="1" spc="110">
                <a:solidFill>
                  <a:srgbClr val="76B900"/>
                </a:solidFill>
                <a:latin typeface="Consolas" pitchFamily="34" charset="0"/>
              </a:rPr>
              <a:t>QUICK TEST (ALL PLATFORMS)</a:t>
            </a:r>
          </a:p>
          <a:p>
            <a:pPr marL="0" indent="0" algn="l">
              <a:lnSpc>
                <a:spcPts val="1200"/>
              </a:lnSpc>
              <a:spcBef>
                <a:spcPts val="400"/>
              </a:spcBef>
              <a:buNone/>
            </a:pPr>
            <a:r>
              <a:rPr lang="en-US" sz="750">
                <a:solidFill>
                  <a:srgbClr val="76B900"/>
                </a:solidFill>
                <a:latin typeface="Consolas" pitchFamily="34" charset="0"/>
              </a:rPr>
              <a:t>ollama list</a:t>
            </a:r>
          </a:p>
          <a:p>
            <a:pPr marL="0" indent="0" algn="l">
              <a:lnSpc>
                <a:spcPts val="1000"/>
              </a:lnSpc>
              <a:buNone/>
            </a:pPr>
            <a:r>
              <a:rPr lang="en-US" sz="650">
                <a:solidFill>
                  <a:srgbClr val="8B9CB6"/>
                </a:solidFill>
                <a:latin typeface="Calibri" pitchFamily="34" charset="0"/>
              </a:rPr>
              <a:t>See installed models</a:t>
            </a:r>
          </a:p>
          <a:p>
            <a:pPr marL="0" indent="0" algn="l">
              <a:lnSpc>
                <a:spcPts val="1200"/>
              </a:lnSpc>
              <a:spcBef>
                <a:spcPts val="300"/>
              </a:spcBef>
              <a:buNone/>
            </a:pPr>
            <a:r>
              <a:rPr lang="en-US" sz="750">
                <a:solidFill>
                  <a:srgbClr val="76B900"/>
                </a:solidFill>
                <a:latin typeface="Consolas" pitchFamily="34" charset="0"/>
              </a:rPr>
              <a:t>ollama run tinyllama</a:t>
            </a:r>
          </a:p>
          <a:p>
            <a:pPr marL="0" indent="0" algn="l">
              <a:lnSpc>
                <a:spcPts val="1000"/>
              </a:lnSpc>
              <a:buNone/>
            </a:pPr>
            <a:r>
              <a:rPr lang="en-US" sz="650">
                <a:solidFill>
                  <a:srgbClr val="8B9CB6"/>
                </a:solidFill>
                <a:latin typeface="Calibri" pitchFamily="34" charset="0"/>
              </a:rPr>
              <a:t>Chat with model (type /bye to exit)</a:t>
            </a:r>
          </a:p>
          <a:p>
            <a:pPr marL="0" indent="0" algn="l">
              <a:lnSpc>
                <a:spcPts val="1400"/>
              </a:lnSpc>
              <a:spcBef>
                <a:spcPts val="600"/>
              </a:spcBef>
              <a:buNone/>
            </a:pPr>
            <a:r>
              <a:rPr lang="en-US" sz="900" b="1" spc="110">
                <a:solidFill>
                  <a:srgbClr val="76B900"/>
                </a:solidFill>
                <a:latin typeface="Consolas" pitchFamily="34" charset="0"/>
              </a:rPr>
              <a:t>NOTES</a:t>
            </a:r>
          </a:p>
          <a:p>
            <a:pPr marL="0" indent="0" algn="l">
              <a:lnSpc>
                <a:spcPts val="1100"/>
              </a:lnSpc>
              <a:spcBef>
                <a:spcPts val="300"/>
              </a:spcBef>
              <a:buNone/>
            </a:pPr>
            <a:r>
              <a:rPr lang="en-US" sz="700" b="1">
                <a:solidFill>
                  <a:srgbClr val="E2E8F0"/>
                </a:solidFill>
                <a:latin typeface="Calibri" pitchFamily="34" charset="0"/>
              </a:rPr>
              <a:t>Model Storage</a:t>
            </a:r>
          </a:p>
          <a:p>
            <a:pPr marL="0" indent="0" algn="l">
              <a:lnSpc>
                <a:spcPts val="1000"/>
              </a:lnSpc>
              <a:buNone/>
            </a:pPr>
            <a:r>
              <a:rPr lang="en-US" sz="650">
                <a:solidFill>
                  <a:srgbClr val="76B900"/>
                </a:solidFill>
                <a:latin typeface="Consolas" pitchFamily="34" charset="0"/>
              </a:rPr>
              <a:t>~/.ollama/models</a:t>
            </a:r>
            <a:r>
              <a:rPr lang="en-US" sz="650">
                <a:solidFill>
                  <a:srgbClr val="8B9CB6"/>
                </a:solidFill>
                <a:latin typeface="Calibri" pitchFamily="34" charset="0"/>
              </a:rPr>
              <a:t> (Linux/macOS)</a:t>
            </a:r>
          </a:p>
          <a:p>
            <a:pPr marL="0" indent="0" algn="l">
              <a:lnSpc>
                <a:spcPts val="1000"/>
              </a:lnSpc>
              <a:buNone/>
            </a:pPr>
            <a:r>
              <a:rPr lang="en-US" sz="650">
                <a:solidFill>
                  <a:srgbClr val="76B900"/>
                </a:solidFill>
                <a:latin typeface="Consolas" pitchFamily="34" charset="0"/>
              </a:rPr>
              <a:t>%LOCALAPPDATA%\Ollama</a:t>
            </a:r>
            <a:r>
              <a:rPr lang="en-US" sz="650">
                <a:solidFill>
                  <a:srgbClr val="8B9CB6"/>
                </a:solidFill>
                <a:latin typeface="Calibri" pitchFamily="34" charset="0"/>
              </a:rPr>
              <a:t> (Win)</a:t>
            </a:r>
          </a:p>
          <a:p>
            <a:pPr marL="0" indent="0" algn="l">
              <a:lnSpc>
                <a:spcPts val="1100"/>
              </a:lnSpc>
              <a:spcBef>
                <a:spcPts val="400"/>
              </a:spcBef>
              <a:buNone/>
            </a:pPr>
            <a:r>
              <a:rPr lang="en-US" sz="700" b="1">
                <a:solidFill>
                  <a:srgbClr val="E2E8F0"/>
                </a:solidFill>
                <a:latin typeface="Calibri" pitchFamily="34" charset="0"/>
              </a:rPr>
              <a:t>Model Recommendations</a:t>
            </a:r>
          </a:p>
          <a:p>
            <a:pPr marL="0" indent="0" algn="l">
              <a:lnSpc>
                <a:spcPts val="1000"/>
              </a:lnSpc>
              <a:buNone/>
            </a:pPr>
            <a:r>
              <a:rPr lang="en-US" sz="650">
                <a:solidFill>
                  <a:srgbClr val="8B9CB6"/>
                </a:solidFill>
                <a:latin typeface="Calibri" pitchFamily="34" charset="0"/>
              </a:rPr>
              <a:t>TinyLlama is small and fast but not very smart — great for testing.</a:t>
            </a:r>
          </a:p>
          <a:p>
            <a:pPr marL="0" indent="0" algn="l">
              <a:lnSpc>
                <a:spcPts val="1000"/>
              </a:lnSpc>
              <a:buNone/>
            </a:pPr>
            <a:r>
              <a:rPr lang="en-US" sz="650">
                <a:solidFill>
                  <a:srgbClr val="8B9CB6"/>
                </a:solidFill>
                <a:latin typeface="Calibri" pitchFamily="34" charset="0"/>
              </a:rPr>
              <a:t>For better quality, try </a:t>
            </a:r>
            <a:r>
              <a:rPr lang="en-US" sz="650" b="1">
                <a:solidFill>
                  <a:srgbClr val="E2E8F0"/>
                </a:solidFill>
                <a:latin typeface="Calibri" pitchFamily="34" charset="0"/>
              </a:rPr>
              <a:t>gemma3:1b</a:t>
            </a:r>
            <a:r>
              <a:rPr lang="en-US" sz="650">
                <a:solidFill>
                  <a:srgbClr val="8B9CB6"/>
                </a:solidFill>
                <a:latin typeface="Calibri" pitchFamily="34" charset="0"/>
              </a:rPr>
              <a:t> or </a:t>
            </a:r>
            <a:r>
              <a:rPr lang="en-US" sz="650" b="1">
                <a:solidFill>
                  <a:srgbClr val="E2E8F0"/>
                </a:solidFill>
                <a:latin typeface="Calibri" pitchFamily="34" charset="0"/>
              </a:rPr>
              <a:t>qwen2.5:0.5b</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7">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4000"/>
                </a:srgbClr>
              </a:gs>
              <a:gs pos="100000">
                <a:srgbClr val="000000">
                  <a:alpha val="0"/>
                </a:srgbClr>
              </a:gs>
            </a:gsLst>
            <a:path path="circle">
              <a:fillToRect l="50000" t="50000" r="50000" b="50000"/>
            </a:path>
          </a:gradFill>
          <a:ln/>
        </p:spPr>
        <p:txBody>
          <a:bodyPr wrap="square" rtlCol="0" anchor="t"/>
          <a:lstStyle/>
          <a:p>
            <a:pPr marL="0" indent="0">
              <a:buNone/>
            </a:pPr>
            <a:endParaRPr lang="en-US"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656707" y="75791"/>
            <a:ext cx="171450" cy="171450"/>
          </a:xfrm>
          <a:prstGeom prst="rect">
            <a:avLst/>
          </a:prstGeom>
        </p:spPr>
      </p:pic>
      <p:sp>
        <p:nvSpPr>
          <p:cNvPr id="4" name="Text 1"/>
          <p:cNvSpPr/>
          <p:nvPr/>
        </p:nvSpPr>
        <p:spPr>
          <a:xfrm>
            <a:off x="3873913" y="0"/>
            <a:ext cx="1667784" cy="407640"/>
          </a:xfrm>
          <a:prstGeom prst="rect">
            <a:avLst/>
          </a:prstGeom>
          <a:noFill/>
          <a:ln/>
        </p:spPr>
        <p:txBody>
          <a:bodyPr wrap="none" lIns="0" tIns="0" rIns="0" bIns="0" rtlCol="0" anchor="ctr"/>
          <a:lstStyle/>
          <a:p>
            <a:pPr marL="0" indent="0" algn="ctr">
              <a:lnSpc>
                <a:spcPts val="3210"/>
              </a:lnSpc>
              <a:buNone/>
            </a:pPr>
            <a:r>
              <a:rPr lang="en-US" sz="2140" kern="0" spc="60" dirty="0">
                <a:solidFill>
                  <a:srgbClr val="E2E8F0"/>
                </a:solidFill>
                <a:latin typeface="Consolas" pitchFamily="34" charset="0"/>
                <a:ea typeface="Consolas" pitchFamily="34" charset="-122"/>
                <a:cs typeface="Consolas" pitchFamily="34" charset="-120"/>
              </a:rPr>
              <a:t>Bonus Tools</a:t>
            </a:r>
            <a:endParaRPr lang="en-US" sz="2140" dirty="0"/>
          </a:p>
        </p:txBody>
      </p:sp>
      <p:sp>
        <p:nvSpPr>
          <p:cNvPr id="5" name="Text 2"/>
          <p:cNvSpPr/>
          <p:nvPr/>
        </p:nvSpPr>
        <p:spPr>
          <a:xfrm>
            <a:off x="0" y="422561"/>
            <a:ext cx="9144000" cy="166254"/>
          </a:xfrm>
          <a:prstGeom prst="rect">
            <a:avLst/>
          </a:prstGeom>
          <a:noFill/>
          <a:ln/>
        </p:spPr>
        <p:txBody>
          <a:bodyPr wrap="none" lIns="0" tIns="0" rIns="0" bIns="0" rtlCol="0" anchor="t"/>
          <a:lstStyle/>
          <a:p>
            <a:pPr marL="0" indent="0" algn="ctr">
              <a:lnSpc>
                <a:spcPts val="1440"/>
              </a:lnSpc>
              <a:spcBef>
                <a:spcPts val="450"/>
              </a:spcBef>
              <a:buNone/>
            </a:pPr>
            <a:r>
              <a:rPr lang="en-US" sz="960" dirty="0">
                <a:solidFill>
                  <a:srgbClr val="8B9CB6"/>
                </a:solidFill>
                <a:latin typeface="Calibri" pitchFamily="34" charset="0"/>
                <a:ea typeface="Calibri" pitchFamily="34" charset="-122"/>
                <a:cs typeface="Calibri" pitchFamily="34" charset="-120"/>
              </a:rPr>
              <a:t>Complementary UIs for interacting with your local models</a:t>
            </a:r>
            <a:endParaRPr lang="en-US" sz="960" dirty="0"/>
          </a:p>
        </p:txBody>
      </p:sp>
      <p:sp>
        <p:nvSpPr>
          <p:cNvPr id="6" name="Text 3"/>
          <p:cNvSpPr/>
          <p:nvPr/>
        </p:nvSpPr>
        <p:spPr>
          <a:xfrm>
            <a:off x="571500" y="914734"/>
            <a:ext cx="3429000" cy="3436371"/>
          </a:xfrm>
          <a:prstGeom prst="roundRect">
            <a:avLst>
              <a:gd name="adj" fmla="val 3809"/>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7" name="Text 4"/>
          <p:cNvSpPr/>
          <p:nvPr/>
        </p:nvSpPr>
        <p:spPr>
          <a:xfrm>
            <a:off x="2000250" y="1267160"/>
            <a:ext cx="571500" cy="571500"/>
          </a:xfrm>
          <a:prstGeom prst="ellipse">
            <a:avLst/>
          </a:prstGeom>
          <a:solidFill>
            <a:srgbClr val="76B900">
              <a:alpha val="12000"/>
            </a:srgbClr>
          </a:solidFill>
          <a:ln w="9525">
            <a:solidFill>
              <a:srgbClr val="76B900">
                <a:alpha val="30000"/>
              </a:srgbClr>
            </a:solidFill>
          </a:ln>
        </p:spPr>
        <p:txBody>
          <a:bodyPr wrap="square" rtlCol="0" anchor="t"/>
          <a:lstStyle/>
          <a:p>
            <a:pPr marL="0" indent="0">
              <a:buNone/>
            </a:pPr>
            <a:endParaRPr lang="en-US" dirty="0"/>
          </a:p>
        </p:txBody>
      </p:sp>
      <p:pic>
        <p:nvPicPr>
          <p:cNvPr id="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178844" y="1445754"/>
            <a:ext cx="214313" cy="214313"/>
          </a:xfrm>
          <a:prstGeom prst="rect">
            <a:avLst/>
          </a:prstGeom>
        </p:spPr>
      </p:pic>
      <p:sp>
        <p:nvSpPr>
          <p:cNvPr id="9" name="Text 5"/>
          <p:cNvSpPr/>
          <p:nvPr/>
        </p:nvSpPr>
        <p:spPr>
          <a:xfrm>
            <a:off x="1703796" y="2010110"/>
            <a:ext cx="1164407" cy="300930"/>
          </a:xfrm>
          <a:prstGeom prst="rect">
            <a:avLst/>
          </a:prstGeom>
          <a:noFill/>
          <a:ln/>
        </p:spPr>
        <p:txBody>
          <a:bodyPr wrap="none" lIns="0" tIns="0" rIns="0" bIns="0" rtlCol="0" anchor="t"/>
          <a:lstStyle/>
          <a:p>
            <a:pPr marL="0" indent="0" algn="ctr">
              <a:lnSpc>
                <a:spcPts val="2370"/>
              </a:lnSpc>
              <a:buNone/>
            </a:pPr>
            <a:r>
              <a:rPr lang="en-US" sz="1580" b="1" dirty="0">
                <a:solidFill>
                  <a:srgbClr val="76B900"/>
                </a:solidFill>
                <a:latin typeface="Consolas" pitchFamily="34" charset="0"/>
                <a:ea typeface="Consolas" pitchFamily="34" charset="-122"/>
                <a:cs typeface="Consolas" pitchFamily="34" charset="-120"/>
              </a:rPr>
              <a:t>WebOllama</a:t>
            </a:r>
            <a:endParaRPr lang="en-US" sz="1580" dirty="0"/>
          </a:p>
        </p:txBody>
      </p:sp>
      <p:sp>
        <p:nvSpPr>
          <p:cNvPr id="10" name="Text 6"/>
          <p:cNvSpPr/>
          <p:nvPr/>
        </p:nvSpPr>
        <p:spPr>
          <a:xfrm>
            <a:off x="1840706" y="2368191"/>
            <a:ext cx="908247" cy="182166"/>
          </a:xfrm>
          <a:prstGeom prst="roundRect">
            <a:avLst>
              <a:gd name="adj" fmla="val 78780"/>
            </a:avLst>
          </a:prstGeom>
          <a:solidFill>
            <a:srgbClr val="76B900"/>
          </a:solidFill>
          <a:ln/>
        </p:spPr>
        <p:txBody>
          <a:bodyPr wrap="none" lIns="100330" tIns="21590" rIns="100330" bIns="21590" rtlCol="0" anchor="t"/>
          <a:lstStyle/>
          <a:p>
            <a:pPr marL="0" indent="0" algn="l">
              <a:buNone/>
            </a:pPr>
            <a:r>
              <a:rPr lang="en-US" sz="730" b="1" kern="0" spc="30" dirty="0">
                <a:solidFill>
                  <a:srgbClr val="0A0F1A"/>
                </a:solidFill>
                <a:latin typeface="Consolas" pitchFamily="34" charset="0"/>
                <a:ea typeface="Consolas" pitchFamily="34" charset="-122"/>
                <a:cs typeface="Consolas" pitchFamily="34" charset="-120"/>
              </a:rPr>
              <a:t>LIGHTWEIGHT</a:t>
            </a:r>
            <a:endParaRPr lang="en-US" sz="730" dirty="0"/>
          </a:p>
        </p:txBody>
      </p:sp>
      <p:sp>
        <p:nvSpPr>
          <p:cNvPr id="11" name="Text 7"/>
          <p:cNvSpPr/>
          <p:nvPr/>
        </p:nvSpPr>
        <p:spPr>
          <a:xfrm>
            <a:off x="838391" y="2693827"/>
            <a:ext cx="2895219" cy="430991"/>
          </a:xfrm>
          <a:prstGeom prst="rect">
            <a:avLst/>
          </a:prstGeom>
          <a:noFill/>
          <a:ln/>
        </p:spPr>
        <p:txBody>
          <a:bodyPr wrap="square" lIns="0" tIns="0" rIns="0" bIns="0" rtlCol="0" anchor="ctr"/>
          <a:lstStyle/>
          <a:p>
            <a:pPr marL="0" indent="0" algn="ctr">
              <a:lnSpc>
                <a:spcPts val="1616"/>
              </a:lnSpc>
              <a:spcAft>
                <a:spcPts val="1130"/>
              </a:spcAft>
              <a:buNone/>
            </a:pPr>
            <a:r>
              <a:rPr lang="en-US" sz="1010" dirty="0">
                <a:solidFill>
                  <a:srgbClr val="E2E8F0"/>
                </a:solidFill>
                <a:latin typeface="Calibri" pitchFamily="34" charset="0"/>
                <a:ea typeface="Calibri" pitchFamily="34" charset="-122"/>
                <a:cs typeface="Calibri" pitchFamily="34" charset="-120"/>
              </a:rPr>
              <a:t>Lightweight testing UI for quick model experiments and testing</a:t>
            </a:r>
            <a:endParaRPr lang="en-US" sz="1010" dirty="0"/>
          </a:p>
        </p:txBody>
      </p:sp>
      <p:sp>
        <p:nvSpPr>
          <p:cNvPr id="12" name="Text 8"/>
          <p:cNvSpPr/>
          <p:nvPr/>
        </p:nvSpPr>
        <p:spPr>
          <a:xfrm>
            <a:off x="1023491" y="3290925"/>
            <a:ext cx="1264012" cy="159990"/>
          </a:xfrm>
          <a:prstGeom prst="rect">
            <a:avLst/>
          </a:prstGeom>
          <a:noFill/>
          <a:ln/>
        </p:spPr>
        <p:txBody>
          <a:bodyPr wrap="none" lIns="0" tIns="43180" rIns="0" bIns="4318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Fast setup &amp; zero config</a:t>
            </a:r>
            <a:endParaRPr lang="en-US" sz="840" dirty="0"/>
          </a:p>
        </p:txBody>
      </p:sp>
      <p:pic>
        <p:nvPicPr>
          <p:cNvPr id="13"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3344" y="3304552"/>
            <a:ext cx="132588" cy="132588"/>
          </a:xfrm>
          <a:prstGeom prst="rect">
            <a:avLst/>
          </a:prstGeom>
        </p:spPr>
      </p:pic>
      <p:sp>
        <p:nvSpPr>
          <p:cNvPr id="14" name="Text 9"/>
          <p:cNvSpPr/>
          <p:nvPr/>
        </p:nvSpPr>
        <p:spPr>
          <a:xfrm>
            <a:off x="1023491" y="3537236"/>
            <a:ext cx="1075090" cy="159990"/>
          </a:xfrm>
          <a:prstGeom prst="rect">
            <a:avLst/>
          </a:prstGeom>
          <a:noFill/>
          <a:ln/>
        </p:spPr>
        <p:txBody>
          <a:bodyPr wrap="none" lIns="0" tIns="43180" rIns="0" bIns="4318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Quick prompt testing</a:t>
            </a:r>
            <a:endParaRPr lang="en-US" sz="840" dirty="0"/>
          </a:p>
        </p:txBody>
      </p:sp>
      <p:pic>
        <p:nvPicPr>
          <p:cNvPr id="15"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3344" y="3550862"/>
            <a:ext cx="132588" cy="132588"/>
          </a:xfrm>
          <a:prstGeom prst="rect">
            <a:avLst/>
          </a:prstGeom>
        </p:spPr>
      </p:pic>
      <p:sp>
        <p:nvSpPr>
          <p:cNvPr id="16" name="Text 10"/>
          <p:cNvSpPr/>
          <p:nvPr/>
        </p:nvSpPr>
        <p:spPr>
          <a:xfrm>
            <a:off x="1023491" y="3783546"/>
            <a:ext cx="1348651" cy="159990"/>
          </a:xfrm>
          <a:prstGeom prst="rect">
            <a:avLst/>
          </a:prstGeom>
          <a:noFill/>
          <a:ln/>
        </p:spPr>
        <p:txBody>
          <a:bodyPr wrap="none" lIns="0" tIns="43180" rIns="0" bIns="4318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Minimal resource footprint</a:t>
            </a:r>
            <a:endParaRPr lang="en-US" sz="840" dirty="0"/>
          </a:p>
        </p:txBody>
      </p:sp>
      <p:pic>
        <p:nvPicPr>
          <p:cNvPr id="1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43344" y="3797173"/>
            <a:ext cx="132588" cy="132588"/>
          </a:xfrm>
          <a:prstGeom prst="rect">
            <a:avLst/>
          </a:prstGeom>
        </p:spPr>
      </p:pic>
      <p:sp>
        <p:nvSpPr>
          <p:cNvPr id="18" name="Text 11"/>
          <p:cNvSpPr/>
          <p:nvPr/>
        </p:nvSpPr>
        <p:spPr>
          <a:xfrm>
            <a:off x="1023491" y="4029857"/>
            <a:ext cx="1068541" cy="159990"/>
          </a:xfrm>
          <a:prstGeom prst="rect">
            <a:avLst/>
          </a:prstGeom>
          <a:noFill/>
          <a:ln/>
        </p:spPr>
        <p:txBody>
          <a:bodyPr wrap="none" lIns="0" tIns="43180" rIns="0" bIns="4318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Great for developers</a:t>
            </a:r>
            <a:endParaRPr lang="en-US" sz="840" dirty="0"/>
          </a:p>
        </p:txBody>
      </p:sp>
      <p:pic>
        <p:nvPicPr>
          <p:cNvPr id="19"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3344" y="4043483"/>
            <a:ext cx="132588" cy="132588"/>
          </a:xfrm>
          <a:prstGeom prst="rect">
            <a:avLst/>
          </a:prstGeom>
        </p:spPr>
      </p:pic>
      <p:sp>
        <p:nvSpPr>
          <p:cNvPr id="20" name="Text 12"/>
          <p:cNvSpPr/>
          <p:nvPr/>
        </p:nvSpPr>
        <p:spPr>
          <a:xfrm>
            <a:off x="4143375" y="2408300"/>
            <a:ext cx="857250" cy="13841"/>
          </a:xfrm>
          <a:prstGeom prst="rect">
            <a:avLst/>
          </a:prstGeom>
          <a:gradFill rotWithShape="1">
            <a:gsLst>
              <a:gs pos="0">
                <a:srgbClr val="76B900">
                  <a:alpha val="30000"/>
                </a:srgbClr>
              </a:gs>
              <a:gs pos="50000">
                <a:srgbClr val="76B900">
                  <a:alpha val="10000"/>
                </a:srgbClr>
              </a:gs>
              <a:gs pos="100000">
                <a:srgbClr val="76B900">
                  <a:alpha val="30000"/>
                </a:srgbClr>
              </a:gs>
            </a:gsLst>
            <a:lin ang="0" scaled="1"/>
          </a:gradFill>
          <a:ln/>
        </p:spPr>
        <p:txBody>
          <a:bodyPr wrap="none" rtlCol="0" anchor="t"/>
          <a:lstStyle/>
          <a:p>
            <a:pPr marL="0" indent="0">
              <a:buNone/>
            </a:pPr>
            <a:endParaRPr lang="en-US" dirty="0"/>
          </a:p>
        </p:txBody>
      </p:sp>
      <p:sp>
        <p:nvSpPr>
          <p:cNvPr id="21" name="Text 13"/>
          <p:cNvSpPr/>
          <p:nvPr/>
        </p:nvSpPr>
        <p:spPr>
          <a:xfrm>
            <a:off x="5143500" y="914734"/>
            <a:ext cx="3429000" cy="3477467"/>
          </a:xfrm>
          <a:prstGeom prst="roundRect">
            <a:avLst>
              <a:gd name="adj" fmla="val 3809"/>
            </a:avLst>
          </a:prstGeom>
          <a:solidFill>
            <a:srgbClr val="1A2332"/>
          </a:solidFill>
          <a:ln w="9525">
            <a:solidFill>
              <a:srgbClr val="76B900">
                <a:alpha val="12000"/>
              </a:srgbClr>
            </a:solidFill>
          </a:ln>
        </p:spPr>
        <p:txBody>
          <a:bodyPr wrap="square" rtlCol="0" anchor="t"/>
          <a:lstStyle/>
          <a:p>
            <a:pPr marL="0" indent="0">
              <a:buNone/>
            </a:pPr>
            <a:endParaRPr lang="en-US" dirty="0"/>
          </a:p>
        </p:txBody>
      </p:sp>
      <p:sp>
        <p:nvSpPr>
          <p:cNvPr id="22" name="Text 14"/>
          <p:cNvSpPr/>
          <p:nvPr/>
        </p:nvSpPr>
        <p:spPr>
          <a:xfrm>
            <a:off x="6572250" y="1267160"/>
            <a:ext cx="571500" cy="571500"/>
          </a:xfrm>
          <a:prstGeom prst="ellipse">
            <a:avLst/>
          </a:prstGeom>
          <a:solidFill>
            <a:srgbClr val="76B900">
              <a:alpha val="12000"/>
            </a:srgbClr>
          </a:solidFill>
          <a:ln w="9525">
            <a:solidFill>
              <a:srgbClr val="76B900">
                <a:alpha val="30000"/>
              </a:srgbClr>
            </a:solidFill>
          </a:ln>
        </p:spPr>
        <p:txBody>
          <a:bodyPr wrap="square" rtlCol="0" anchor="t"/>
          <a:lstStyle/>
          <a:p>
            <a:pPr marL="0" indent="0">
              <a:buNone/>
            </a:pPr>
            <a:endParaRPr lang="en-US" dirty="0"/>
          </a:p>
        </p:txBody>
      </p:sp>
      <p:pic>
        <p:nvPicPr>
          <p:cNvPr id="23"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750844" y="1445754"/>
            <a:ext cx="214313" cy="214313"/>
          </a:xfrm>
          <a:prstGeom prst="rect">
            <a:avLst/>
          </a:prstGeom>
        </p:spPr>
      </p:pic>
      <p:sp>
        <p:nvSpPr>
          <p:cNvPr id="24" name="Text 15"/>
          <p:cNvSpPr/>
          <p:nvPr/>
        </p:nvSpPr>
        <p:spPr>
          <a:xfrm>
            <a:off x="6222295" y="2010110"/>
            <a:ext cx="1271262" cy="300930"/>
          </a:xfrm>
          <a:prstGeom prst="rect">
            <a:avLst/>
          </a:prstGeom>
          <a:noFill/>
          <a:ln/>
        </p:spPr>
        <p:txBody>
          <a:bodyPr wrap="none" lIns="0" tIns="0" rIns="0" bIns="0" rtlCol="0" anchor="t"/>
          <a:lstStyle/>
          <a:p>
            <a:pPr marL="0" indent="0" algn="ctr">
              <a:lnSpc>
                <a:spcPts val="2370"/>
              </a:lnSpc>
              <a:buNone/>
            </a:pPr>
            <a:r>
              <a:rPr lang="en-US" sz="1580" b="1" dirty="0">
                <a:solidFill>
                  <a:srgbClr val="76B900"/>
                </a:solidFill>
                <a:latin typeface="Consolas" pitchFamily="34" charset="0"/>
                <a:ea typeface="Consolas" pitchFamily="34" charset="-122"/>
                <a:cs typeface="Consolas" pitchFamily="34" charset="-120"/>
              </a:rPr>
              <a:t>Open WebUI</a:t>
            </a:r>
            <a:endParaRPr lang="en-US" sz="1580" dirty="0"/>
          </a:p>
        </p:txBody>
      </p:sp>
      <p:sp>
        <p:nvSpPr>
          <p:cNvPr id="25" name="Text 16"/>
          <p:cNvSpPr/>
          <p:nvPr/>
        </p:nvSpPr>
        <p:spPr>
          <a:xfrm>
            <a:off x="6350645" y="2368191"/>
            <a:ext cx="1035004" cy="182166"/>
          </a:xfrm>
          <a:prstGeom prst="roundRect">
            <a:avLst>
              <a:gd name="adj" fmla="val 78780"/>
            </a:avLst>
          </a:prstGeom>
          <a:solidFill>
            <a:srgbClr val="76B900"/>
          </a:solidFill>
          <a:ln/>
        </p:spPr>
        <p:txBody>
          <a:bodyPr wrap="none" lIns="100330" tIns="21590" rIns="100330" bIns="21590" rtlCol="0" anchor="t"/>
          <a:lstStyle/>
          <a:p>
            <a:pPr marL="0" indent="0" algn="l">
              <a:buNone/>
            </a:pPr>
            <a:r>
              <a:rPr lang="en-US" sz="730" b="1" kern="0" spc="30" dirty="0">
                <a:solidFill>
                  <a:srgbClr val="0A0F1A"/>
                </a:solidFill>
                <a:latin typeface="Consolas" pitchFamily="34" charset="0"/>
                <a:ea typeface="Consolas" pitchFamily="34" charset="-122"/>
                <a:cs typeface="Consolas" pitchFamily="34" charset="-120"/>
              </a:rPr>
              <a:t>FULL-FEATURED</a:t>
            </a:r>
            <a:endParaRPr lang="en-US" sz="730" dirty="0"/>
          </a:p>
        </p:txBody>
      </p:sp>
      <p:sp>
        <p:nvSpPr>
          <p:cNvPr id="26" name="Text 17"/>
          <p:cNvSpPr/>
          <p:nvPr/>
        </p:nvSpPr>
        <p:spPr>
          <a:xfrm>
            <a:off x="5410391" y="2693827"/>
            <a:ext cx="2895219" cy="430991"/>
          </a:xfrm>
          <a:prstGeom prst="rect">
            <a:avLst/>
          </a:prstGeom>
          <a:noFill/>
          <a:ln/>
        </p:spPr>
        <p:txBody>
          <a:bodyPr wrap="square" lIns="0" tIns="0" rIns="0" bIns="0" rtlCol="0" anchor="ctr"/>
          <a:lstStyle/>
          <a:p>
            <a:pPr marL="0" indent="0" algn="ctr">
              <a:lnSpc>
                <a:spcPts val="1616"/>
              </a:lnSpc>
              <a:spcAft>
                <a:spcPts val="1130"/>
              </a:spcAft>
              <a:buNone/>
            </a:pPr>
            <a:r>
              <a:rPr lang="en-US" sz="1010" dirty="0">
                <a:solidFill>
                  <a:srgbClr val="E2E8F0"/>
                </a:solidFill>
                <a:latin typeface="Calibri" pitchFamily="34" charset="0"/>
                <a:ea typeface="Calibri" pitchFamily="34" charset="-122"/>
                <a:cs typeface="Calibri" pitchFamily="34" charset="-120"/>
              </a:rPr>
              <a:t>Full ChatGPT-like interface with conversation history, model switching, and rich features</a:t>
            </a:r>
            <a:endParaRPr lang="en-US" sz="1010" dirty="0"/>
          </a:p>
        </p:txBody>
      </p:sp>
      <p:sp>
        <p:nvSpPr>
          <p:cNvPr id="27" name="Text 18"/>
          <p:cNvSpPr/>
          <p:nvPr/>
        </p:nvSpPr>
        <p:spPr>
          <a:xfrm>
            <a:off x="5595491" y="3290925"/>
            <a:ext cx="1596182" cy="159990"/>
          </a:xfrm>
          <a:prstGeom prst="rect">
            <a:avLst/>
          </a:prstGeom>
          <a:noFill/>
          <a:ln/>
        </p:spPr>
        <p:txBody>
          <a:bodyPr wrap="none" lIns="0" tIns="43180" rIns="0" bIns="4318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Persistent conversation history</a:t>
            </a:r>
            <a:endParaRPr lang="en-US" sz="840" dirty="0"/>
          </a:p>
        </p:txBody>
      </p:sp>
      <p:pic>
        <p:nvPicPr>
          <p:cNvPr id="28" name="Image 7" descr="preencoded.png"/>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15344" y="3304552"/>
            <a:ext cx="132588" cy="132588"/>
          </a:xfrm>
          <a:prstGeom prst="rect">
            <a:avLst/>
          </a:prstGeom>
        </p:spPr>
      </p:pic>
      <p:sp>
        <p:nvSpPr>
          <p:cNvPr id="29" name="Text 19"/>
          <p:cNvSpPr/>
          <p:nvPr/>
        </p:nvSpPr>
        <p:spPr>
          <a:xfrm>
            <a:off x="5595491" y="3537236"/>
            <a:ext cx="1120438" cy="159990"/>
          </a:xfrm>
          <a:prstGeom prst="rect">
            <a:avLst/>
          </a:prstGeom>
          <a:noFill/>
          <a:ln/>
        </p:spPr>
        <p:txBody>
          <a:bodyPr wrap="none" lIns="0" tIns="43180" rIns="0" bIns="4318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Multi-model switching</a:t>
            </a:r>
            <a:endParaRPr lang="en-US" sz="840" dirty="0"/>
          </a:p>
        </p:txBody>
      </p:sp>
      <p:pic>
        <p:nvPicPr>
          <p:cNvPr id="30"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15344" y="3550862"/>
            <a:ext cx="132588" cy="132588"/>
          </a:xfrm>
          <a:prstGeom prst="rect">
            <a:avLst/>
          </a:prstGeom>
        </p:spPr>
      </p:pic>
      <p:sp>
        <p:nvSpPr>
          <p:cNvPr id="31" name="Text 20"/>
          <p:cNvSpPr/>
          <p:nvPr/>
        </p:nvSpPr>
        <p:spPr>
          <a:xfrm>
            <a:off x="5595491" y="3783546"/>
            <a:ext cx="938227" cy="159990"/>
          </a:xfrm>
          <a:prstGeom prst="rect">
            <a:avLst/>
          </a:prstGeom>
          <a:noFill/>
          <a:ln/>
        </p:spPr>
        <p:txBody>
          <a:bodyPr wrap="none" lIns="0" tIns="43180" rIns="0" bIns="4318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Multi-user support</a:t>
            </a:r>
            <a:endParaRPr lang="en-US" sz="840" dirty="0"/>
          </a:p>
        </p:txBody>
      </p:sp>
      <p:pic>
        <p:nvPicPr>
          <p:cNvPr id="32" name="Image 9" descr="preencoded.png"/>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15344" y="3797173"/>
            <a:ext cx="132588" cy="132588"/>
          </a:xfrm>
          <a:prstGeom prst="rect">
            <a:avLst/>
          </a:prstGeom>
        </p:spPr>
      </p:pic>
      <p:sp>
        <p:nvSpPr>
          <p:cNvPr id="33" name="Text 21"/>
          <p:cNvSpPr/>
          <p:nvPr/>
        </p:nvSpPr>
        <p:spPr>
          <a:xfrm>
            <a:off x="5595491" y="4029857"/>
            <a:ext cx="1550834" cy="159990"/>
          </a:xfrm>
          <a:prstGeom prst="rect">
            <a:avLst/>
          </a:prstGeom>
          <a:noFill/>
          <a:ln/>
        </p:spPr>
        <p:txBody>
          <a:bodyPr wrap="none" lIns="0" tIns="43180" rIns="0" bIns="43180" rtlCol="0" anchor="t"/>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File upload &amp; RAG integration</a:t>
            </a:r>
            <a:endParaRPr lang="en-US" sz="840" dirty="0"/>
          </a:p>
        </p:txBody>
      </p:sp>
      <p:pic>
        <p:nvPicPr>
          <p:cNvPr id="34"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15344" y="4043483"/>
            <a:ext cx="132588" cy="132588"/>
          </a:xfrm>
          <a:prstGeom prst="rect">
            <a:avLst/>
          </a:prstGeom>
        </p:spPr>
      </p:pic>
      <p:sp>
        <p:nvSpPr>
          <p:cNvPr id="35" name="Text 22"/>
          <p:cNvSpPr/>
          <p:nvPr/>
        </p:nvSpPr>
        <p:spPr>
          <a:xfrm>
            <a:off x="0" y="4492414"/>
            <a:ext cx="9144000" cy="166254"/>
          </a:xfrm>
          <a:prstGeom prst="rect">
            <a:avLst/>
          </a:prstGeom>
          <a:noFill/>
          <a:ln/>
        </p:spPr>
        <p:txBody>
          <a:bodyPr wrap="none" lIns="0" tIns="0" rIns="0" bIns="0" rtlCol="0" anchor="t"/>
          <a:lstStyle/>
          <a:p>
            <a:pPr marL="0" indent="0" algn="ctr">
              <a:lnSpc>
                <a:spcPts val="1185"/>
              </a:lnSpc>
              <a:buNone/>
            </a:pPr>
            <a:r>
              <a:rPr lang="en-US" sz="790" kern="0" spc="30" dirty="0">
                <a:solidFill>
                  <a:srgbClr val="E2E8F0"/>
                </a:solidFill>
                <a:latin typeface="Consolas" pitchFamily="34" charset="0"/>
                <a:ea typeface="Consolas" pitchFamily="34" charset="-122"/>
                <a:cs typeface="Consolas" pitchFamily="34" charset="-120"/>
              </a:rPr>
              <a:t> </a:t>
            </a:r>
            <a:br/>
            <a:r>
              <a:rPr lang="en-US" sz="790" kern="0" spc="30" dirty="0">
                <a:solidFill>
                  <a:srgbClr val="E2E8F0"/>
                </a:solidFill>
                <a:latin typeface="Consolas" pitchFamily="34" charset="0"/>
                <a:ea typeface="Consolas" pitchFamily="34" charset="-122"/>
                <a:cs typeface="Consolas" pitchFamily="34" charset="-120"/>
              </a:rPr>
              <a:t>      </a:t>
            </a:r>
            <a:r>
              <a:rPr lang="en-US" sz="790" b="1" kern="0" spc="30" dirty="0">
                <a:solidFill>
                  <a:srgbClr val="76B900"/>
                </a:solidFill>
                <a:latin typeface="Consolas" pitchFamily="34" charset="0"/>
                <a:ea typeface="Consolas" pitchFamily="34" charset="-122"/>
                <a:cs typeface="Consolas" pitchFamily="34" charset="-120"/>
              </a:rPr>
              <a:t>TIP</a:t>
            </a:r>
            <a:r>
              <a:rPr lang="en-US" sz="790" kern="0" spc="30" dirty="0">
                <a:solidFill>
                  <a:srgbClr val="E2E8F0"/>
                </a:solidFill>
                <a:latin typeface="Consolas" pitchFamily="34" charset="0"/>
                <a:ea typeface="Consolas" pitchFamily="34" charset="-122"/>
                <a:cs typeface="Consolas" pitchFamily="34" charset="-120"/>
              </a:rPr>
              <a:t>  —  Use WebOllama for quick tests, Open WebUI for daily use</a:t>
            </a:r>
            <a:br/>
            <a:r>
              <a:rPr lang="en-US" sz="790" kern="0" spc="30" dirty="0">
                <a:solidFill>
                  <a:srgbClr val="E2E8F0"/>
                </a:solidFill>
                <a:latin typeface="Consolas" pitchFamily="34" charset="0"/>
                <a:ea typeface="Consolas" pitchFamily="34" charset="-122"/>
                <a:cs typeface="Consolas" pitchFamily="34" charset="-120"/>
              </a:rPr>
              <a:t>    </a:t>
            </a:r>
            <a:endParaRPr lang="en-US" sz="790" dirty="0"/>
          </a:p>
        </p:txBody>
      </p:sp>
      <p:sp>
        <p:nvSpPr>
          <p:cNvPr id="36" name="Text 23"/>
          <p:cNvSpPr/>
          <p:nvPr/>
        </p:nvSpPr>
        <p:spPr>
          <a:xfrm>
            <a:off x="581025" y="924260"/>
            <a:ext cx="3409950" cy="29170"/>
          </a:xfrm>
          <a:custGeom>
            <a:avLst/>
            <a:gdLst/>
            <a:ahLst/>
            <a:cxnLst/>
            <a:rect l="l" t="t" r="r" b="b"/>
            <a:pathLst>
              <a:path w="3409950" h="29170">
                <a:moveTo>
                  <a:pt x="114300" y="0"/>
                </a:moveTo>
                <a:lnTo>
                  <a:pt x="3295650" y="0"/>
                </a:lnTo>
                <a:lnTo>
                  <a:pt x="3324290" y="3646"/>
                </a:lnTo>
                <a:lnTo>
                  <a:pt x="3335823" y="7293"/>
                </a:lnTo>
                <a:lnTo>
                  <a:pt x="3344445" y="10939"/>
                </a:lnTo>
                <a:lnTo>
                  <a:pt x="3351520" y="14585"/>
                </a:lnTo>
                <a:lnTo>
                  <a:pt x="3357580" y="18231"/>
                </a:lnTo>
                <a:lnTo>
                  <a:pt x="3362900" y="21878"/>
                </a:lnTo>
                <a:lnTo>
                  <a:pt x="3367645" y="25524"/>
                </a:lnTo>
                <a:lnTo>
                  <a:pt x="3371922" y="29170"/>
                </a:lnTo>
                <a:lnTo>
                  <a:pt x="38028" y="29170"/>
                </a:lnTo>
                <a:lnTo>
                  <a:pt x="42305" y="25524"/>
                </a:lnTo>
                <a:lnTo>
                  <a:pt x="47050" y="21878"/>
                </a:lnTo>
                <a:lnTo>
                  <a:pt x="52370" y="18231"/>
                </a:lnTo>
                <a:lnTo>
                  <a:pt x="58430" y="14585"/>
                </a:lnTo>
                <a:lnTo>
                  <a:pt x="65505" y="10939"/>
                </a:lnTo>
                <a:lnTo>
                  <a:pt x="74127" y="7293"/>
                </a:lnTo>
                <a:lnTo>
                  <a:pt x="85660" y="3646"/>
                </a:lnTo>
                <a:close/>
              </a:path>
            </a:pathLst>
          </a:custGeom>
          <a:solidFill>
            <a:srgbClr val="76B900"/>
          </a:solidFill>
          <a:ln/>
        </p:spPr>
        <p:txBody>
          <a:bodyPr wrap="none" rtlCol="0" anchor="t"/>
          <a:lstStyle/>
          <a:p>
            <a:pPr marL="0" indent="0">
              <a:buNone/>
            </a:pPr>
            <a:endParaRPr lang="en-US" dirty="0"/>
          </a:p>
        </p:txBody>
      </p:sp>
      <p:sp>
        <p:nvSpPr>
          <p:cNvPr id="37" name="Text 24"/>
          <p:cNvSpPr/>
          <p:nvPr/>
        </p:nvSpPr>
        <p:spPr>
          <a:xfrm>
            <a:off x="5153025" y="924260"/>
            <a:ext cx="3409950" cy="29170"/>
          </a:xfrm>
          <a:custGeom>
            <a:avLst/>
            <a:gdLst/>
            <a:ahLst/>
            <a:cxnLst/>
            <a:rect l="l" t="t" r="r" b="b"/>
            <a:pathLst>
              <a:path w="3409950" h="29170">
                <a:moveTo>
                  <a:pt x="114300" y="0"/>
                </a:moveTo>
                <a:lnTo>
                  <a:pt x="3295650" y="0"/>
                </a:lnTo>
                <a:lnTo>
                  <a:pt x="3324290" y="3646"/>
                </a:lnTo>
                <a:lnTo>
                  <a:pt x="3335823" y="7293"/>
                </a:lnTo>
                <a:lnTo>
                  <a:pt x="3344445" y="10939"/>
                </a:lnTo>
                <a:lnTo>
                  <a:pt x="3351520" y="14585"/>
                </a:lnTo>
                <a:lnTo>
                  <a:pt x="3357580" y="18231"/>
                </a:lnTo>
                <a:lnTo>
                  <a:pt x="3362900" y="21878"/>
                </a:lnTo>
                <a:lnTo>
                  <a:pt x="3367645" y="25524"/>
                </a:lnTo>
                <a:lnTo>
                  <a:pt x="3371922" y="29170"/>
                </a:lnTo>
                <a:lnTo>
                  <a:pt x="38028" y="29170"/>
                </a:lnTo>
                <a:lnTo>
                  <a:pt x="42305" y="25524"/>
                </a:lnTo>
                <a:lnTo>
                  <a:pt x="47050" y="21878"/>
                </a:lnTo>
                <a:lnTo>
                  <a:pt x="52370" y="18231"/>
                </a:lnTo>
                <a:lnTo>
                  <a:pt x="58430" y="14585"/>
                </a:lnTo>
                <a:lnTo>
                  <a:pt x="65505" y="10939"/>
                </a:lnTo>
                <a:lnTo>
                  <a:pt x="74127" y="7293"/>
                </a:lnTo>
                <a:lnTo>
                  <a:pt x="85660" y="3646"/>
                </a:lnTo>
                <a:close/>
              </a:path>
            </a:pathLst>
          </a:custGeom>
          <a:solidFill>
            <a:srgbClr val="76B900"/>
          </a:solidFill>
          <a:ln/>
        </p:spPr>
        <p:txBody>
          <a:bodyPr wrap="none" rtlCol="0" anchor="t"/>
          <a:lstStyle/>
          <a:p>
            <a:pPr marL="0" indent="0">
              <a:buNone/>
            </a:pPr>
            <a:endParaRPr lang="en-US" dirty="0"/>
          </a:p>
        </p:txBody>
      </p:sp>
      <p:sp>
        <p:nvSpPr>
          <p:cNvPr id="38" name="Text 25"/>
          <p:cNvSpPr/>
          <p:nvPr/>
        </p:nvSpPr>
        <p:spPr>
          <a:xfrm>
            <a:off x="4371975" y="2215195"/>
            <a:ext cx="400050" cy="440055"/>
          </a:xfrm>
          <a:prstGeom prst="ellipse">
            <a:avLst/>
          </a:prstGeom>
          <a:solidFill>
            <a:srgbClr val="0A0F1A"/>
          </a:solidFill>
          <a:ln w="9525">
            <a:solidFill>
              <a:srgbClr val="76B900">
                <a:alpha val="40000"/>
              </a:srgbClr>
            </a:solidFill>
          </a:ln>
        </p:spPr>
        <p:txBody>
          <a:bodyPr wrap="none" lIns="0" tIns="0" rIns="0" bIns="0" rtlCol="0" anchor="ctr"/>
          <a:lstStyle/>
          <a:p>
            <a:pPr marL="0" indent="0" algn="ctr">
              <a:buNone/>
            </a:pPr>
            <a:r>
              <a:rPr lang="en-US" sz="900" b="1" dirty="0">
                <a:solidFill>
                  <a:srgbClr val="76B900"/>
                </a:solidFill>
                <a:latin typeface="Consolas" pitchFamily="34" charset="0"/>
                <a:ea typeface="Consolas" pitchFamily="34" charset="-122"/>
                <a:cs typeface="Consolas" pitchFamily="34" charset="-120"/>
              </a:rPr>
              <a:t>OR</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Context Window">
    <p:bg>
      <p:bgPr>
        <a:solidFill>
          <a:srgbClr val="0A0F1A"/>
        </a:solidFill>
        <a:effectLst/>
      </p:bgPr>
    </p:bg>
    <p:spTree>
      <p:nvGrpSpPr>
        <p:cNvPr id="1" name=""/>
        <p:cNvGrpSpPr/>
        <p:nvPr/>
      </p:nvGrpSpPr>
      <p:grpSpPr>
        <a:xfrm>
          <a:off x="0" y="0"/>
          <a:ext cx="0" cy="0"/>
          <a:chOff x="0" y="0"/>
          <a:chExt cx="0" cy="0"/>
        </a:xfrm>
      </p:grpSpPr>
      <p:sp>
        <p:nvSpPr>
          <p:cNvPr id="2" name="BgGrad"/>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a:p>
        </p:txBody>
      </p:sp>
      <p:sp>
        <p:nvSpPr>
          <p:cNvPr id="3" name="Title"/>
          <p:cNvSpPr/>
          <p:nvPr/>
        </p:nvSpPr>
        <p:spPr>
          <a:xfrm>
            <a:off x="169164" y="200000"/>
            <a:ext cx="8805672" cy="340000"/>
          </a:xfrm>
          <a:prstGeom prst="rect">
            <a:avLst/>
          </a:prstGeom>
          <a:noFill/>
          <a:ln/>
        </p:spPr>
        <p:txBody>
          <a:bodyPr wrap="none" lIns="0" tIns="0" rIns="0" bIns="0" rtlCol="0" anchor="t"/>
          <a:lstStyle/>
          <a:p>
            <a:pPr marL="0" indent="0" algn="ctr">
              <a:lnSpc>
                <a:spcPts val="2800"/>
              </a:lnSpc>
              <a:buNone/>
            </a:pPr>
            <a:r>
              <a:rPr lang="en-US" sz="2030" b="1" kern="0" spc="-30">
                <a:solidFill>
                  <a:srgbClr val="E2E8F0"/>
                </a:solidFill>
                <a:latin typeface="Consolas" pitchFamily="34" charset="0"/>
                <a:ea typeface="Consolas" pitchFamily="34" charset="-122"/>
                <a:cs typeface="Consolas" pitchFamily="34" charset="-120"/>
              </a:rPr>
              <a:t>Context </a:t>
            </a:r>
            <a:r>
              <a:rPr lang="en-US" sz="2030" b="1" kern="0" spc="-30">
                <a:solidFill>
                  <a:srgbClr val="76B900"/>
                </a:solidFill>
                <a:latin typeface="Consolas" pitchFamily="34" charset="0"/>
                <a:ea typeface="Consolas" pitchFamily="34" charset="-122"/>
                <a:cs typeface="Consolas" pitchFamily="34" charset="-120"/>
              </a:rPr>
              <a:t>Window</a:t>
            </a:r>
          </a:p>
        </p:txBody>
      </p:sp>
      <p:sp>
        <p:nvSpPr>
          <p:cNvPr id="4" name="Subtitle"/>
          <p:cNvSpPr/>
          <p:nvPr/>
        </p:nvSpPr>
        <p:spPr>
          <a:xfrm>
            <a:off x="169164" y="560000"/>
            <a:ext cx="8805672" cy="200000"/>
          </a:xfrm>
          <a:prstGeom prst="rect">
            <a:avLst/>
          </a:prstGeom>
          <a:noFill/>
          <a:ln/>
        </p:spPr>
        <p:txBody>
          <a:bodyPr wrap="none" lIns="0" tIns="0" rIns="0" bIns="0" rtlCol="0" anchor="t"/>
          <a:lstStyle/>
          <a:p>
            <a:pPr marL="0" indent="0" algn="ctr">
              <a:lnSpc>
                <a:spcPts val="1350"/>
              </a:lnSpc>
              <a:buNone/>
            </a:pPr>
            <a:r>
              <a:rPr lang="en-US" sz="900">
                <a:solidFill>
                  <a:srgbClr val="8B9CB6"/>
                </a:solidFill>
                <a:latin typeface="Calibri" pitchFamily="34" charset="0"/>
              </a:rPr>
              <a:t>How much text a model can see at once — and why it matters for your workflow</a:t>
            </a:r>
          </a:p>
        </p:txBody>
      </p:sp>
      <p:sp>
        <p:nvSpPr>
          <p:cNvPr id="5" name="AccentBar1"/>
          <p:cNvSpPr/>
          <p:nvPr/>
        </p:nvSpPr>
        <p:spPr>
          <a:xfrm>
            <a:off x="440000" y="830000"/>
            <a:ext cx="4150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6" name="AccentBar2"/>
          <p:cNvSpPr/>
          <p:nvPr/>
        </p:nvSpPr>
        <p:spPr>
          <a:xfrm>
            <a:off x="4710000" y="830000"/>
            <a:ext cx="3994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10" name="DefCardBg"/>
          <p:cNvSpPr/>
          <p:nvPr/>
        </p:nvSpPr>
        <p:spPr>
          <a:xfrm>
            <a:off x="440000" y="870000"/>
            <a:ext cx="4150000" cy="165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11" name="DefCardContent"/>
          <p:cNvSpPr/>
          <p:nvPr/>
        </p:nvSpPr>
        <p:spPr>
          <a:xfrm>
            <a:off x="560000" y="930000"/>
            <a:ext cx="3910000" cy="1530000"/>
          </a:xfrm>
          <a:prstGeom prst="rect">
            <a:avLst/>
          </a:prstGeom>
          <a:noFill/>
          <a:ln/>
        </p:spPr>
        <p:txBody>
          <a:bodyPr wrap="square" lIns="0" tIns="0" rIns="0" bIns="0" rtlCol="0" anchor="t"/>
          <a:lstStyle/>
          <a:p>
            <a:pPr marL="0" indent="0" algn="l">
              <a:lnSpc>
                <a:spcPts val="1200"/>
              </a:lnSpc>
              <a:buNone/>
            </a:pPr>
            <a:r>
              <a:rPr lang="en-US" sz="900" b="1" spc="100">
                <a:solidFill>
                  <a:srgbClr val="76B900"/>
                </a:solidFill>
                <a:latin typeface="Consolas" pitchFamily="34" charset="0"/>
              </a:rPr>
              <a:t>DEFINITION</a:t>
            </a:r>
          </a:p>
          <a:p>
            <a:pPr marL="0" indent="0" algn="l">
              <a:lnSpc>
                <a:spcPts val="1200"/>
              </a:lnSpc>
              <a:spcBef>
                <a:spcPts val="250"/>
              </a:spcBef>
              <a:buNone/>
            </a:pPr>
            <a:r>
              <a:rPr lang="en-US" sz="850">
                <a:solidFill>
                  <a:srgbClr val="E2E8F0"/>
                </a:solidFill>
                <a:latin typeface="Calibri" pitchFamily="34" charset="0"/>
              </a:rPr>
              <a:t>The </a:t>
            </a:r>
            <a:r>
              <a:rPr lang="en-US" sz="850" b="1">
                <a:solidFill>
                  <a:srgbClr val="76B900"/>
                </a:solidFill>
                <a:latin typeface="Calibri" pitchFamily="34" charset="0"/>
              </a:rPr>
              <a:t>context window</a:t>
            </a:r>
            <a:r>
              <a:rPr lang="en-US" sz="850">
                <a:solidFill>
                  <a:srgbClr val="E2E8F0"/>
                </a:solidFill>
                <a:latin typeface="Calibri" pitchFamily="34" charset="0"/>
              </a:rPr>
              <a:t> is the maximum number of tokens a model can process in a single conversation. It includes everything: your prompt, the system message, all prior messages, and the model's response.</a:t>
            </a:r>
          </a:p>
          <a:p>
            <a:pPr marL="0" indent="0" algn="l">
              <a:lnSpc>
                <a:spcPts val="1200"/>
              </a:lnSpc>
              <a:spcBef>
                <a:spcPts val="350"/>
              </a:spcBef>
              <a:buNone/>
            </a:pPr>
            <a:r>
              <a:rPr lang="en-US" sz="800" b="1" spc="100">
                <a:solidFill>
                  <a:srgbClr val="76B900"/>
                </a:solidFill>
                <a:latin typeface="Consolas" pitchFamily="34" charset="0"/>
              </a:rPr>
              <a:t>ANALOGY</a:t>
            </a:r>
          </a:p>
          <a:p>
            <a:pPr marL="0" indent="0" algn="l">
              <a:lnSpc>
                <a:spcPts val="1200"/>
              </a:lnSpc>
              <a:spcBef>
                <a:spcPts val="200"/>
              </a:spcBef>
              <a:buNone/>
            </a:pPr>
            <a:r>
              <a:rPr lang="en-US" sz="800">
                <a:solidFill>
                  <a:srgbClr val="8B9CB6"/>
                </a:solidFill>
                <a:latin typeface="Calibri" pitchFamily="34" charset="0"/>
              </a:rPr>
              <a:t>Think of it like a desk. A larger context window is a bigger desk — you can spread out more documents and reference them all at once. A smaller window forces you to swap papers in and out.</a:t>
            </a:r>
          </a:p>
        </p:txBody>
      </p:sp>
      <p:sp>
        <p:nvSpPr>
          <p:cNvPr id="20" name="WhyCardBg"/>
          <p:cNvSpPr/>
          <p:nvPr/>
        </p:nvSpPr>
        <p:spPr>
          <a:xfrm>
            <a:off x="4710000" y="870000"/>
            <a:ext cx="3994000" cy="165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21" name="WhyCardContent"/>
          <p:cNvSpPr/>
          <p:nvPr/>
        </p:nvSpPr>
        <p:spPr>
          <a:xfrm>
            <a:off x="4830000" y="930000"/>
            <a:ext cx="3754000" cy="1530000"/>
          </a:xfrm>
          <a:prstGeom prst="rect">
            <a:avLst/>
          </a:prstGeom>
          <a:noFill/>
          <a:ln/>
        </p:spPr>
        <p:txBody>
          <a:bodyPr wrap="square" lIns="0" tIns="0" rIns="0" bIns="0" rtlCol="0" anchor="t"/>
          <a:lstStyle/>
          <a:p>
            <a:pPr marL="0" indent="0" algn="l">
              <a:lnSpc>
                <a:spcPts val="1200"/>
              </a:lnSpc>
              <a:buNone/>
            </a:pPr>
            <a:r>
              <a:rPr lang="en-US" sz="900" b="1" spc="100">
                <a:solidFill>
                  <a:srgbClr val="76B900"/>
                </a:solidFill>
                <a:latin typeface="Consolas" pitchFamily="34" charset="0"/>
              </a:rPr>
              <a:t>KEY IMPLICATIONS</a:t>
            </a:r>
          </a:p>
          <a:p>
            <a:pPr marL="0" indent="0" algn="l">
              <a:lnSpc>
                <a:spcPts val="1100"/>
              </a:lnSpc>
              <a:spcBef>
                <a:spcPts val="250"/>
              </a:spcBef>
              <a:buNone/>
            </a:pPr>
            <a:r>
              <a:rPr lang="en-US" sz="750">
                <a:solidFill>
                  <a:srgbClr val="76B900"/>
                </a:solidFill>
                <a:latin typeface="Consolas" pitchFamily="34" charset="0"/>
              </a:rPr>
              <a:t>▸ </a:t>
            </a:r>
            <a:r>
              <a:rPr lang="en-US" sz="750" b="1">
                <a:solidFill>
                  <a:srgbClr val="E2E8F0"/>
                </a:solidFill>
                <a:latin typeface="Calibri" pitchFamily="34" charset="0"/>
              </a:rPr>
              <a:t>Long docs</a:t>
            </a:r>
            <a:r>
              <a:rPr lang="en-US" sz="750">
                <a:solidFill>
                  <a:srgbClr val="8B9CB6"/>
                </a:solidFill>
                <a:latin typeface="Calibri" pitchFamily="34" charset="0"/>
              </a:rPr>
              <a:t> — Need to paste a whole codebase or contract? You need a large context.</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Memory cost</a:t>
            </a:r>
            <a:r>
              <a:rPr lang="en-US" sz="750">
                <a:solidFill>
                  <a:srgbClr val="8B9CB6"/>
                </a:solidFill>
                <a:latin typeface="Calibri" pitchFamily="34" charset="0"/>
              </a:rPr>
              <a:t> — Longer context uses more RAM. Using 128K tokens takes ~4× the RAM of 32K.</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Quality fades</a:t>
            </a:r>
            <a:r>
              <a:rPr lang="en-US" sz="750">
                <a:solidFill>
                  <a:srgbClr val="8B9CB6"/>
                </a:solidFill>
                <a:latin typeface="Calibri" pitchFamily="34" charset="0"/>
              </a:rPr>
              <a:t> — Attention weakens at the edges. Info in the middle of a long prompt can be "lost."</a:t>
            </a:r>
          </a:p>
          <a:p>
            <a:pPr marL="0" indent="0" algn="l">
              <a:lnSpc>
                <a:spcPts val="1100"/>
              </a:lnSpc>
              <a:spcBef>
                <a:spcPts val="150"/>
              </a:spcBef>
              <a:buNone/>
            </a:pPr>
            <a:r>
              <a:rPr lang="en-US" sz="750">
                <a:solidFill>
                  <a:srgbClr val="76B900"/>
                </a:solidFill>
                <a:latin typeface="Consolas" pitchFamily="34" charset="0"/>
              </a:rPr>
              <a:t>▸ </a:t>
            </a:r>
            <a:r>
              <a:rPr lang="en-US" sz="750" b="1">
                <a:solidFill>
                  <a:srgbClr val="E2E8F0"/>
                </a:solidFill>
                <a:latin typeface="Calibri" pitchFamily="34" charset="0"/>
              </a:rPr>
              <a:t>Ollama default: 2048</a:t>
            </a:r>
            <a:r>
              <a:rPr lang="en-US" sz="750">
                <a:solidFill>
                  <a:srgbClr val="8B9CB6"/>
                </a:solidFill>
                <a:latin typeface="Calibri" pitchFamily="34" charset="0"/>
              </a:rPr>
              <a:t> — Increase with </a:t>
            </a:r>
            <a:r>
              <a:rPr lang="en-US" sz="750">
                <a:solidFill>
                  <a:srgbClr val="76B900"/>
                </a:solidFill>
                <a:latin typeface="Consolas" pitchFamily="34" charset="0"/>
              </a:rPr>
              <a:t>num_ctx</a:t>
            </a:r>
            <a:r>
              <a:rPr lang="en-US" sz="750">
                <a:solidFill>
                  <a:srgbClr val="8B9CB6"/>
                </a:solidFill>
                <a:latin typeface="Calibri" pitchFamily="34" charset="0"/>
              </a:rPr>
              <a:t> parameter if you have the RAM.</a:t>
            </a:r>
          </a:p>
        </p:txBody>
      </p:sp>
      <p:sp>
        <p:nvSpPr>
          <p:cNvPr id="30" name="AccentBar3"/>
          <p:cNvSpPr/>
          <p:nvPr/>
        </p:nvSpPr>
        <p:spPr>
          <a:xfrm>
            <a:off x="440000" y="2670000"/>
            <a:ext cx="8264000" cy="24000"/>
          </a:xfrm>
          <a:prstGeom prst="roundRect">
            <a:avLst>
              <a:gd name="adj" fmla="val 50000"/>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a:p>
        </p:txBody>
      </p:sp>
      <p:sp>
        <p:nvSpPr>
          <p:cNvPr id="40" name="Scale1Bg"/>
          <p:cNvSpPr/>
          <p:nvPr/>
        </p:nvSpPr>
        <p:spPr>
          <a:xfrm>
            <a:off x="440000" y="2710000"/>
            <a:ext cx="268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41" name="Scale1Content"/>
          <p:cNvSpPr/>
          <p:nvPr/>
        </p:nvSpPr>
        <p:spPr>
          <a:xfrm>
            <a:off x="540000" y="2770000"/>
            <a:ext cx="2480000" cy="1680000"/>
          </a:xfrm>
          <a:prstGeom prst="rect">
            <a:avLst/>
          </a:prstGeom>
          <a:noFill/>
          <a:ln/>
        </p:spPr>
        <p:txBody>
          <a:bodyPr wrap="square" lIns="0" tIns="0" rIns="0" bIns="0" rtlCol="0" anchor="t"/>
          <a:lstStyle/>
          <a:p>
            <a:pPr marL="0" indent="0" algn="ctr">
              <a:lnSpc>
                <a:spcPts val="2800"/>
              </a:lnSpc>
              <a:buNone/>
            </a:pPr>
            <a:r>
              <a:rPr lang="en-US" sz="2400" b="1">
                <a:solidFill>
                  <a:srgbClr val="76B900"/>
                </a:solidFill>
                <a:latin typeface="Consolas" pitchFamily="34" charset="0"/>
              </a:rPr>
              <a:t>2K</a:t>
            </a:r>
          </a:p>
          <a:p>
            <a:pPr marL="0" indent="0" algn="ctr">
              <a:lnSpc>
                <a:spcPts val="1200"/>
              </a:lnSpc>
              <a:spcBef>
                <a:spcPts val="100"/>
              </a:spcBef>
              <a:buNone/>
            </a:pPr>
            <a:r>
              <a:rPr lang="en-US" sz="900" b="1">
                <a:solidFill>
                  <a:srgbClr val="E2E8F0"/>
                </a:solidFill>
                <a:latin typeface="Calibri" pitchFamily="34" charset="0"/>
              </a:rPr>
              <a:t>Ollama Default</a:t>
            </a:r>
          </a:p>
          <a:p>
            <a:pPr marL="0" indent="0" algn="ctr">
              <a:lnSpc>
                <a:spcPts val="1100"/>
              </a:lnSpc>
              <a:spcBef>
                <a:spcPts val="200"/>
              </a:spcBef>
              <a:buNone/>
            </a:pPr>
            <a:r>
              <a:rPr lang="en-US" sz="750">
                <a:solidFill>
                  <a:srgbClr val="8B9CB6"/>
                </a:solidFill>
                <a:latin typeface="Calibri" pitchFamily="34" charset="0"/>
              </a:rPr>
              <a:t>≈ 1,500 words</a:t>
            </a:r>
          </a:p>
          <a:p>
            <a:pPr marL="0" indent="0" algn="ctr">
              <a:lnSpc>
                <a:spcPts val="1100"/>
              </a:lnSpc>
              <a:spcBef>
                <a:spcPts val="100"/>
              </a:spcBef>
              <a:buNone/>
            </a:pPr>
            <a:r>
              <a:rPr lang="en-US" sz="750">
                <a:solidFill>
                  <a:srgbClr val="8B9CB6"/>
                </a:solidFill>
                <a:latin typeface="Calibri" pitchFamily="34" charset="0"/>
              </a:rPr>
              <a:t>≈ 3 pages of text</a:t>
            </a:r>
          </a:p>
          <a:p>
            <a:pPr marL="0" indent="0" algn="ctr">
              <a:lnSpc>
                <a:spcPts val="1100"/>
              </a:lnSpc>
              <a:spcBef>
                <a:spcPts val="300"/>
              </a:spcBef>
              <a:buNone/>
            </a:pPr>
            <a:r>
              <a:rPr lang="en-US" sz="700">
                <a:solidFill>
                  <a:srgbClr val="8B9CB6"/>
                </a:solidFill>
                <a:latin typeface="Calibri" pitchFamily="34" charset="0"/>
              </a:rPr>
              <a:t>Good for: Quick Q&amp;A, short chats, simple prompts</a:t>
            </a:r>
          </a:p>
        </p:txBody>
      </p:sp>
      <p:sp>
        <p:nvSpPr>
          <p:cNvPr id="50" name="Scale2Bg"/>
          <p:cNvSpPr/>
          <p:nvPr/>
        </p:nvSpPr>
        <p:spPr>
          <a:xfrm>
            <a:off x="3232000" y="2710000"/>
            <a:ext cx="268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51" name="Scale2Content"/>
          <p:cNvSpPr/>
          <p:nvPr/>
        </p:nvSpPr>
        <p:spPr>
          <a:xfrm>
            <a:off x="3332000" y="2770000"/>
            <a:ext cx="2480000" cy="1680000"/>
          </a:xfrm>
          <a:prstGeom prst="rect">
            <a:avLst/>
          </a:prstGeom>
          <a:noFill/>
          <a:ln/>
        </p:spPr>
        <p:txBody>
          <a:bodyPr wrap="square" lIns="0" tIns="0" rIns="0" bIns="0" rtlCol="0" anchor="t"/>
          <a:lstStyle/>
          <a:p>
            <a:pPr marL="0" indent="0" algn="ctr">
              <a:lnSpc>
                <a:spcPts val="2800"/>
              </a:lnSpc>
              <a:buNone/>
            </a:pPr>
            <a:r>
              <a:rPr lang="en-US" sz="2400" b="1">
                <a:solidFill>
                  <a:srgbClr val="76B900"/>
                </a:solidFill>
                <a:latin typeface="Consolas" pitchFamily="34" charset="0"/>
              </a:rPr>
              <a:t>8–32K</a:t>
            </a:r>
          </a:p>
          <a:p>
            <a:pPr marL="0" indent="0" algn="ctr">
              <a:lnSpc>
                <a:spcPts val="1200"/>
              </a:lnSpc>
              <a:spcBef>
                <a:spcPts val="100"/>
              </a:spcBef>
              <a:buNone/>
            </a:pPr>
            <a:r>
              <a:rPr lang="en-US" sz="900" b="1">
                <a:solidFill>
                  <a:srgbClr val="E2E8F0"/>
                </a:solidFill>
                <a:latin typeface="Calibri" pitchFamily="34" charset="0"/>
              </a:rPr>
              <a:t>Practical Sweet Spot</a:t>
            </a:r>
          </a:p>
          <a:p>
            <a:pPr marL="0" indent="0" algn="ctr">
              <a:lnSpc>
                <a:spcPts val="1100"/>
              </a:lnSpc>
              <a:spcBef>
                <a:spcPts val="200"/>
              </a:spcBef>
              <a:buNone/>
            </a:pPr>
            <a:r>
              <a:rPr lang="en-US" sz="750">
                <a:solidFill>
                  <a:srgbClr val="8B9CB6"/>
                </a:solidFill>
                <a:latin typeface="Calibri" pitchFamily="34" charset="0"/>
              </a:rPr>
              <a:t>≈ 6K–24K words</a:t>
            </a:r>
          </a:p>
          <a:p>
            <a:pPr marL="0" indent="0" algn="ctr">
              <a:lnSpc>
                <a:spcPts val="1100"/>
              </a:lnSpc>
              <a:spcBef>
                <a:spcPts val="100"/>
              </a:spcBef>
              <a:buNone/>
            </a:pPr>
            <a:r>
              <a:rPr lang="en-US" sz="750">
                <a:solidFill>
                  <a:srgbClr val="8B9CB6"/>
                </a:solidFill>
                <a:latin typeface="Calibri" pitchFamily="34" charset="0"/>
              </a:rPr>
              <a:t>≈ 12–50 pages of text</a:t>
            </a:r>
          </a:p>
          <a:p>
            <a:pPr marL="0" indent="0" algn="ctr">
              <a:lnSpc>
                <a:spcPts val="1100"/>
              </a:lnSpc>
              <a:spcBef>
                <a:spcPts val="300"/>
              </a:spcBef>
              <a:buNone/>
            </a:pPr>
            <a:r>
              <a:rPr lang="en-US" sz="700">
                <a:solidFill>
                  <a:srgbClr val="8B9CB6"/>
                </a:solidFill>
                <a:latin typeface="Calibri" pitchFamily="34" charset="0"/>
              </a:rPr>
              <a:t>Good for: Code files, articles, multi-turn conversations</a:t>
            </a:r>
          </a:p>
        </p:txBody>
      </p:sp>
      <p:sp>
        <p:nvSpPr>
          <p:cNvPr id="60" name="Scale3Bg"/>
          <p:cNvSpPr/>
          <p:nvPr/>
        </p:nvSpPr>
        <p:spPr>
          <a:xfrm>
            <a:off x="6024000" y="2710000"/>
            <a:ext cx="2680000" cy="1800000"/>
          </a:xfrm>
          <a:prstGeom prst="roundRect">
            <a:avLst>
              <a:gd name="adj" fmla="val 3000"/>
            </a:avLst>
          </a:prstGeom>
          <a:solidFill>
            <a:srgbClr val="131C2A"/>
          </a:solidFill>
          <a:ln w="9525">
            <a:solidFill>
              <a:srgbClr val="76B900">
                <a:alpha val="15000"/>
              </a:srgbClr>
            </a:solidFill>
          </a:ln>
        </p:spPr>
        <p:txBody>
          <a:bodyPr wrap="square" rtlCol="0" anchor="t"/>
          <a:lstStyle/>
          <a:p>
            <a:pPr marL="0" indent="0">
              <a:buNone/>
            </a:pPr>
            <a:endParaRPr lang="en-US"/>
          </a:p>
        </p:txBody>
      </p:sp>
      <p:sp>
        <p:nvSpPr>
          <p:cNvPr id="61" name="Scale3Content"/>
          <p:cNvSpPr/>
          <p:nvPr/>
        </p:nvSpPr>
        <p:spPr>
          <a:xfrm>
            <a:off x="6124000" y="2770000"/>
            <a:ext cx="2480000" cy="1680000"/>
          </a:xfrm>
          <a:prstGeom prst="rect">
            <a:avLst/>
          </a:prstGeom>
          <a:noFill/>
          <a:ln/>
        </p:spPr>
        <p:txBody>
          <a:bodyPr wrap="square" lIns="0" tIns="0" rIns="0" bIns="0" rtlCol="0" anchor="t"/>
          <a:lstStyle/>
          <a:p>
            <a:pPr marL="0" indent="0" algn="ctr">
              <a:lnSpc>
                <a:spcPts val="2800"/>
              </a:lnSpc>
              <a:buNone/>
            </a:pPr>
            <a:r>
              <a:rPr lang="en-US" sz="2400" b="1">
                <a:solidFill>
                  <a:srgbClr val="76B900"/>
                </a:solidFill>
                <a:latin typeface="Consolas" pitchFamily="34" charset="0"/>
              </a:rPr>
              <a:t>128K</a:t>
            </a:r>
          </a:p>
          <a:p>
            <a:pPr marL="0" indent="0" algn="ctr">
              <a:lnSpc>
                <a:spcPts val="1200"/>
              </a:lnSpc>
              <a:spcBef>
                <a:spcPts val="100"/>
              </a:spcBef>
              <a:buNone/>
            </a:pPr>
            <a:r>
              <a:rPr lang="en-US" sz="900" b="1">
                <a:solidFill>
                  <a:srgbClr val="E2E8F0"/>
                </a:solidFill>
                <a:latin typeface="Calibri" pitchFamily="34" charset="0"/>
              </a:rPr>
              <a:t>Maximum (Llama 3.3)</a:t>
            </a:r>
          </a:p>
          <a:p>
            <a:pPr marL="0" indent="0" algn="ctr">
              <a:lnSpc>
                <a:spcPts val="1100"/>
              </a:lnSpc>
              <a:spcBef>
                <a:spcPts val="200"/>
              </a:spcBef>
              <a:buNone/>
            </a:pPr>
            <a:r>
              <a:rPr lang="en-US" sz="750">
                <a:solidFill>
                  <a:srgbClr val="8B9CB6"/>
                </a:solidFill>
                <a:latin typeface="Calibri" pitchFamily="34" charset="0"/>
              </a:rPr>
              <a:t>≈ 96K words</a:t>
            </a:r>
          </a:p>
          <a:p>
            <a:pPr marL="0" indent="0" algn="ctr">
              <a:lnSpc>
                <a:spcPts val="1100"/>
              </a:lnSpc>
              <a:spcBef>
                <a:spcPts val="100"/>
              </a:spcBef>
              <a:buNone/>
            </a:pPr>
            <a:r>
              <a:rPr lang="en-US" sz="750">
                <a:solidFill>
                  <a:srgbClr val="8B9CB6"/>
                </a:solidFill>
                <a:latin typeface="Calibri" pitchFamily="34" charset="0"/>
              </a:rPr>
              <a:t>≈ a 300-page novel</a:t>
            </a:r>
          </a:p>
          <a:p>
            <a:pPr marL="0" indent="0" algn="ctr">
              <a:lnSpc>
                <a:spcPts val="1100"/>
              </a:lnSpc>
              <a:spcBef>
                <a:spcPts val="300"/>
              </a:spcBef>
              <a:buNone/>
            </a:pPr>
            <a:r>
              <a:rPr lang="en-US" sz="700">
                <a:solidFill>
                  <a:srgbClr val="8B9CB6"/>
                </a:solidFill>
                <a:latin typeface="Calibri" pitchFamily="34" charset="0"/>
              </a:rPr>
              <a:t>Good for: Entire codebases, long docs, book analysis</a:t>
            </a:r>
          </a:p>
        </p:txBody>
      </p:sp>
      <p:sp>
        <p:nvSpPr>
          <p:cNvPr id="70" name="FooterTip"/>
          <p:cNvSpPr/>
          <p:nvPr/>
        </p:nvSpPr>
        <p:spPr>
          <a:xfrm>
            <a:off x="440000" y="4650000"/>
            <a:ext cx="8264000" cy="200000"/>
          </a:xfrm>
          <a:prstGeom prst="rect">
            <a:avLst/>
          </a:prstGeom>
          <a:noFill/>
          <a:ln/>
        </p:spPr>
        <p:txBody>
          <a:bodyPr wrap="square" lIns="0" tIns="0" rIns="0" bIns="0" rtlCol="0" anchor="t"/>
          <a:lstStyle/>
          <a:p>
            <a:pPr marL="0" indent="0" algn="ctr">
              <a:lnSpc>
                <a:spcPts val="1100"/>
              </a:lnSpc>
              <a:buNone/>
            </a:pPr>
            <a:r>
              <a:rPr lang="en-US" sz="650" b="1">
                <a:solidFill>
                  <a:srgbClr val="76B900"/>
                </a:solidFill>
                <a:latin typeface="Consolas" pitchFamily="34" charset="0"/>
              </a:rPr>
              <a:t>TIP</a:t>
            </a:r>
            <a:r>
              <a:rPr lang="en-US" sz="650">
                <a:solidFill>
                  <a:srgbClr val="8B9CB6"/>
                </a:solidFill>
                <a:latin typeface="Calibri" pitchFamily="34" charset="0"/>
              </a:rPr>
              <a:t>  —  Set context in your Modelfile:  </a:t>
            </a:r>
            <a:r>
              <a:rPr lang="en-US" sz="650">
                <a:solidFill>
                  <a:srgbClr val="76B900"/>
                </a:solidFill>
                <a:latin typeface="Consolas" pitchFamily="34" charset="0"/>
              </a:rPr>
              <a:t>PARAMETER num_ctx 8192</a:t>
            </a:r>
            <a:r>
              <a:rPr lang="en-US" sz="650">
                <a:solidFill>
                  <a:srgbClr val="8B9CB6"/>
                </a:solidFill>
                <a:latin typeface="Calibri" pitchFamily="34" charset="0"/>
              </a:rPr>
              <a:t>  —  or pass  </a:t>
            </a:r>
            <a:r>
              <a:rPr lang="en-US" sz="650">
                <a:solidFill>
                  <a:srgbClr val="76B900"/>
                </a:solidFill>
                <a:latin typeface="Consolas" pitchFamily="34" charset="0"/>
              </a:rPr>
              <a:t>--num-ctx 8192</a:t>
            </a:r>
            <a:r>
              <a:rPr lang="en-US" sz="650">
                <a:solidFill>
                  <a:srgbClr val="8B9CB6"/>
                </a:solidFill>
                <a:latin typeface="Calibri" pitchFamily="34" charset="0"/>
              </a:rPr>
              <a:t>  at runtime</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9">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000000">
                  <a:alpha val="0"/>
                </a:srgbClr>
              </a:gs>
              <a:gs pos="50000">
                <a:srgbClr val="000000">
                  <a:alpha val="0"/>
                </a:srgbClr>
              </a:gs>
              <a:gs pos="100000">
                <a:srgbClr val="76B900">
                  <a:alpha val="1000"/>
                </a:srgbClr>
              </a:gs>
            </a:gsLst>
            <a:lin ang="16200000" scaled="1"/>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000000">
                  <a:alpha val="0"/>
                </a:srgbClr>
              </a:gs>
              <a:gs pos="50000">
                <a:srgbClr val="000000">
                  <a:alpha val="0"/>
                </a:srgbClr>
              </a:gs>
              <a:gs pos="100000">
                <a:srgbClr val="76B900">
                  <a:alpha val="1000"/>
                </a:srgbClr>
              </a:gs>
            </a:gsLst>
            <a:lin ang="0" scaled="1"/>
          </a:gradFill>
          <a:ln/>
        </p:spPr>
        <p:txBody>
          <a:bodyPr wrap="square" rtlCol="0" anchor="t"/>
          <a:lstStyle/>
          <a:p>
            <a:pPr marL="0" indent="0">
              <a:buNone/>
            </a:pPr>
            <a:endParaRPr lang="en-US" dirty="0"/>
          </a:p>
        </p:txBody>
      </p:sp>
      <p:sp>
        <p:nvSpPr>
          <p:cNvPr id="4" name="Text 2"/>
          <p:cNvSpPr/>
          <p:nvPr/>
        </p:nvSpPr>
        <p:spPr>
          <a:xfrm>
            <a:off x="0" y="0"/>
            <a:ext cx="9144000" cy="21580"/>
          </a:xfrm>
          <a:prstGeom prst="rect">
            <a:avLst/>
          </a:prstGeom>
          <a:gradFill rotWithShape="1">
            <a:gsLst>
              <a:gs pos="0">
                <a:srgbClr val="000000">
                  <a:alpha val="0"/>
                </a:srgbClr>
              </a:gs>
              <a:gs pos="20000">
                <a:srgbClr val="76B900">
                  <a:alpha val="50000"/>
                </a:srgbClr>
              </a:gs>
              <a:gs pos="80000">
                <a:srgbClr val="76B900">
                  <a:alpha val="50000"/>
                </a:srgbClr>
              </a:gs>
              <a:gs pos="100000">
                <a:srgbClr val="000000">
                  <a:alpha val="0"/>
                </a:srgbClr>
              </a:gs>
            </a:gsLst>
            <a:lin ang="0" scaled="1"/>
          </a:gradFill>
          <a:ln/>
        </p:spPr>
        <p:txBody>
          <a:bodyPr wrap="none" rtlCol="0" anchor="t"/>
          <a:lstStyle/>
          <a:p>
            <a:pPr marL="0" indent="0">
              <a:buNone/>
            </a:pPr>
            <a:endParaRPr lang="en-US" dirty="0"/>
          </a:p>
        </p:txBody>
      </p:sp>
      <p:sp>
        <p:nvSpPr>
          <p:cNvPr id="5" name="Text 3"/>
          <p:cNvSpPr/>
          <p:nvPr/>
        </p:nvSpPr>
        <p:spPr>
          <a:xfrm>
            <a:off x="457200" y="5114330"/>
            <a:ext cx="8229600" cy="29170"/>
          </a:xfrm>
          <a:prstGeom prst="roundRect">
            <a:avLst>
              <a:gd name="adj" fmla="val 47892"/>
            </a:avLst>
          </a:prstGeom>
          <a:solidFill>
            <a:srgbClr val="76B900">
              <a:alpha val="10000"/>
            </a:srgbClr>
          </a:solidFill>
          <a:ln/>
        </p:spPr>
        <p:txBody>
          <a:bodyPr wrap="none" rtlCol="0" anchor="t"/>
          <a:lstStyle/>
          <a:p>
            <a:pPr marL="0" indent="0">
              <a:buNone/>
            </a:pPr>
            <a:endParaRPr lang="en-US" dirty="0"/>
          </a:p>
        </p:txBody>
      </p:sp>
      <p:sp>
        <p:nvSpPr>
          <p:cNvPr id="6" name="Text 4"/>
          <p:cNvSpPr/>
          <p:nvPr/>
        </p:nvSpPr>
        <p:spPr>
          <a:xfrm>
            <a:off x="457200" y="5114330"/>
            <a:ext cx="8229600" cy="29170"/>
          </a:xfrm>
          <a:prstGeom prst="roundRect">
            <a:avLst>
              <a:gd name="adj" fmla="val 47892"/>
            </a:avLst>
          </a:prstGeom>
          <a:gradFill rotWithShape="1">
            <a:gsLst>
              <a:gs pos="0">
                <a:srgbClr val="76B900"/>
              </a:gs>
              <a:gs pos="100000">
                <a:srgbClr val="76B900">
                  <a:alpha val="30000"/>
                </a:srgbClr>
              </a:gs>
            </a:gsLst>
            <a:lin ang="0" scaled="1"/>
          </a:gradFill>
          <a:ln/>
        </p:spPr>
        <p:txBody>
          <a:bodyPr wrap="none" rtlCol="0" anchor="t"/>
          <a:lstStyle/>
          <a:p>
            <a:pPr marL="0" indent="0">
              <a:buNone/>
            </a:pPr>
            <a:endParaRPr lang="en-US" dirty="0"/>
          </a:p>
        </p:txBody>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24573" y="347663"/>
            <a:ext cx="150465" cy="150465"/>
          </a:xfrm>
          <a:prstGeom prst="rect">
            <a:avLst/>
          </a:prstGeom>
        </p:spPr>
      </p:pic>
      <p:sp>
        <p:nvSpPr>
          <p:cNvPr id="8" name="Text 5"/>
          <p:cNvSpPr/>
          <p:nvPr/>
        </p:nvSpPr>
        <p:spPr>
          <a:xfrm>
            <a:off x="3888470" y="342900"/>
            <a:ext cx="1603549" cy="159990"/>
          </a:xfrm>
          <a:prstGeom prst="rect">
            <a:avLst/>
          </a:prstGeom>
          <a:noFill/>
          <a:ln/>
        </p:spPr>
        <p:txBody>
          <a:bodyPr wrap="none" lIns="0" tIns="0" rIns="0" bIns="0" rtlCol="0" anchor="ctr"/>
          <a:lstStyle/>
          <a:p>
            <a:pPr marL="0" indent="0" algn="ctr">
              <a:lnSpc>
                <a:spcPts val="1260"/>
              </a:lnSpc>
              <a:buNone/>
            </a:pPr>
            <a:r>
              <a:rPr lang="en-US" sz="840" b="1" dirty="0">
                <a:solidFill>
                  <a:srgbClr val="76B900"/>
                </a:solidFill>
                <a:latin typeface="Consolas" pitchFamily="34" charset="0"/>
                <a:ea typeface="Consolas" pitchFamily="34" charset="-122"/>
                <a:cs typeface="Consolas" pitchFamily="34" charset="-120"/>
              </a:rPr>
              <a:t>LIVE DEMO ROADMAP</a:t>
            </a:r>
            <a:endParaRPr lang="en-US" sz="840" dirty="0"/>
          </a:p>
        </p:txBody>
      </p:sp>
      <p:sp>
        <p:nvSpPr>
          <p:cNvPr id="9" name="Text 6"/>
          <p:cNvSpPr/>
          <p:nvPr/>
        </p:nvSpPr>
        <p:spPr>
          <a:xfrm>
            <a:off x="2710834" y="560040"/>
            <a:ext cx="3722184" cy="361801"/>
          </a:xfrm>
          <a:prstGeom prst="rect">
            <a:avLst/>
          </a:prstGeom>
          <a:noFill/>
          <a:ln/>
        </p:spPr>
        <p:txBody>
          <a:bodyPr wrap="none" lIns="0" tIns="0" rIns="0" bIns="0" rtlCol="0" anchor="t"/>
          <a:lstStyle/>
          <a:p>
            <a:pPr marL="0" indent="0" algn="ctr">
              <a:lnSpc>
                <a:spcPts val="2849"/>
              </a:lnSpc>
              <a:spcAft>
                <a:spcPts val="340"/>
              </a:spcAft>
              <a:buNone/>
            </a:pPr>
            <a:r>
              <a:rPr lang="en-US" sz="2590" b="1" kern="0" spc="-60" dirty="0">
                <a:solidFill>
                  <a:srgbClr val="E2E8F0"/>
                </a:solidFill>
                <a:latin typeface="Consolas" pitchFamily="34" charset="0"/>
                <a:ea typeface="Consolas" pitchFamily="34" charset="-122"/>
                <a:cs typeface="Consolas" pitchFamily="34" charset="-120"/>
              </a:rPr>
              <a:t>What We'll Build</a:t>
            </a:r>
            <a:endParaRPr lang="en-US" sz="2590" dirty="0"/>
          </a:p>
        </p:txBody>
      </p:sp>
      <p:sp>
        <p:nvSpPr>
          <p:cNvPr id="10" name="Text 7"/>
          <p:cNvSpPr/>
          <p:nvPr/>
        </p:nvSpPr>
        <p:spPr>
          <a:xfrm>
            <a:off x="2622210" y="965002"/>
            <a:ext cx="3899431" cy="215205"/>
          </a:xfrm>
          <a:prstGeom prst="rect">
            <a:avLst/>
          </a:prstGeom>
          <a:noFill/>
          <a:ln/>
        </p:spPr>
        <p:txBody>
          <a:bodyPr wrap="none" lIns="0" tIns="0" rIns="0" bIns="0" rtlCol="0" anchor="t"/>
          <a:lstStyle/>
          <a:p>
            <a:pPr marL="0" indent="0" algn="ctr">
              <a:lnSpc>
                <a:spcPts val="1695"/>
              </a:lnSpc>
              <a:buNone/>
            </a:pPr>
            <a:r>
              <a:rPr lang="en-US" sz="1130" b="1" dirty="0">
                <a:solidFill>
                  <a:srgbClr val="76B900"/>
                </a:solidFill>
                <a:latin typeface="Calibri" pitchFamily="34" charset="0"/>
                <a:ea typeface="Calibri" pitchFamily="34" charset="-122"/>
                <a:cs typeface="Calibri" pitchFamily="34" charset="-120"/>
              </a:rPr>
              <a:t>45 minutes</a:t>
            </a:r>
            <a:r>
              <a:rPr lang="en-US" sz="1130" dirty="0">
                <a:solidFill>
                  <a:srgbClr val="8B9CB6"/>
                </a:solidFill>
                <a:latin typeface="Calibri" pitchFamily="34" charset="0"/>
                <a:ea typeface="Calibri" pitchFamily="34" charset="-122"/>
                <a:cs typeface="Calibri" pitchFamily="34" charset="-120"/>
              </a:rPr>
              <a:t> — from zero to a working personal AI agent</a:t>
            </a:r>
            <a:r>
              <a:rPr lang="en-US" sz="1130">
                <a:solidFill>
                  <a:srgbClr val="8B9CB6"/>
                </a:solidFill>
                <a:latin typeface="Calibri" pitchFamily="34" charset="0"/>
                <a:ea typeface="Calibri" pitchFamily="34" charset="-122"/>
                <a:cs typeface="Calibri" pitchFamily="34" charset="-120"/>
              </a:rPr>
              <a:t> with Mercury</a:t>
            </a:r>
            <a:endParaRPr lang="en-US" sz="1130" dirty="0"/>
          </a:p>
        </p:txBody>
      </p:sp>
      <p:sp>
        <p:nvSpPr>
          <p:cNvPr id="11" name="Text 8"/>
          <p:cNvSpPr/>
          <p:nvPr/>
        </p:nvSpPr>
        <p:spPr>
          <a:xfrm>
            <a:off x="725984" y="1544241"/>
            <a:ext cx="1286470" cy="1184225"/>
          </a:xfrm>
          <a:prstGeom prst="roundRect">
            <a:avLst>
              <a:gd name="adj" fmla="val 9652"/>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2" name="Text 9"/>
          <p:cNvSpPr/>
          <p:nvPr/>
        </p:nvSpPr>
        <p:spPr>
          <a:xfrm>
            <a:off x="1281639" y="1697236"/>
            <a:ext cx="175011" cy="271760"/>
          </a:xfrm>
          <a:prstGeom prst="rect">
            <a:avLst/>
          </a:prstGeom>
          <a:noFill/>
          <a:ln/>
        </p:spPr>
        <p:txBody>
          <a:bodyPr wrap="none" lIns="0" tIns="0" rIns="0" bIns="0" rtlCol="0" anchor="t"/>
          <a:lstStyle/>
          <a:p>
            <a:pPr marL="0" indent="0" algn="ctr">
              <a:lnSpc>
                <a:spcPts val="2140"/>
              </a:lnSpc>
              <a:buNone/>
            </a:pPr>
            <a:r>
              <a:rPr lang="en-US" sz="2140" b="1" dirty="0">
                <a:solidFill>
                  <a:srgbClr val="76B900"/>
                </a:solidFill>
                <a:effectLst>
                  <a:glow rad="428625">
                    <a:srgbClr val="76B900">
                      <a:alpha val="9000"/>
                    </a:srgbClr>
                  </a:glow>
                </a:effectLst>
                <a:latin typeface="Consolas" pitchFamily="34" charset="0"/>
                <a:ea typeface="Consolas" pitchFamily="34" charset="-122"/>
                <a:cs typeface="Consolas" pitchFamily="34" charset="-120"/>
              </a:rPr>
              <a:t>1</a:t>
            </a:r>
            <a:endParaRPr lang="en-US" sz="2140" dirty="0"/>
          </a:p>
        </p:txBody>
      </p:sp>
      <p:pic>
        <p:nvPicPr>
          <p:cNvPr id="13" name="Image 1" descr="preencoded.png"/>
          <p:cNvPicPr>
            <a:picLocks noChangeAspect="1"/>
          </p:cNvPicPr>
          <p:nvPr/>
        </p:nvPicPr>
        <p:blipFill>
          <a:blip>
            <a:alphaModFix amt="85000"/>
            <a:extLst>
              <a:ext uri="{96DAC541-7B7A-43D3-8B79-37D633B846F1}">
                <asvg:svgBlip xmlns:asvg="http://schemas.microsoft.com/office/drawing/2016/SVG/main" r:embed="rId4"/>
              </a:ext>
            </a:extLst>
          </a:blip>
          <a:stretch>
            <a:fillRect/>
          </a:stretch>
        </p:blipFill>
        <p:spPr>
          <a:xfrm>
            <a:off x="1283494" y="2039987"/>
            <a:ext cx="171450" cy="171450"/>
          </a:xfrm>
          <a:prstGeom prst="rect">
            <a:avLst/>
          </a:prstGeom>
        </p:spPr>
      </p:pic>
      <p:sp>
        <p:nvSpPr>
          <p:cNvPr id="14" name="Text 10"/>
          <p:cNvSpPr/>
          <p:nvPr/>
        </p:nvSpPr>
        <p:spPr>
          <a:xfrm>
            <a:off x="964204" y="2282428"/>
            <a:ext cx="810030" cy="323790"/>
          </a:xfrm>
          <a:prstGeom prst="rect">
            <a:avLst/>
          </a:prstGeom>
          <a:noFill/>
          <a:ln/>
        </p:spPr>
        <p:txBody>
          <a:bodyPr wrap="square" lIns="0" tIns="0" rIns="0" bIns="0" rtlCol="0" anchor="ctr"/>
          <a:lstStyle/>
          <a:p>
            <a:pPr marL="0" indent="0" algn="ctr">
              <a:lnSpc>
                <a:spcPts val="1215"/>
              </a:lnSpc>
              <a:buNone/>
            </a:pPr>
            <a:r>
              <a:rPr lang="en-US" sz="900" dirty="0">
                <a:solidFill>
                  <a:srgbClr val="E2E8F0"/>
                </a:solidFill>
                <a:latin typeface="Calibri" pitchFamily="34" charset="0"/>
                <a:ea typeface="Calibri" pitchFamily="34" charset="-122"/>
                <a:cs typeface="Calibri" pitchFamily="34" charset="-120"/>
              </a:rPr>
              <a:t>Start Ollama on</a:t>
            </a:r>
            <a:br/>
            <a:r>
              <a:rPr lang="en-US" sz="900" b="1" dirty="0">
                <a:solidFill>
                  <a:srgbClr val="76B900"/>
                </a:solidFill>
                <a:latin typeface="Calibri" pitchFamily="34" charset="0"/>
                <a:ea typeface="Calibri" pitchFamily="34" charset="-122"/>
                <a:cs typeface="Calibri" pitchFamily="34" charset="-120"/>
              </a:rPr>
              <a:t>DGX Spark</a:t>
            </a:r>
            <a:endParaRPr lang="en-US" sz="900" dirty="0"/>
          </a:p>
        </p:txBody>
      </p:sp>
      <p:pic>
        <p:nvPicPr>
          <p:cNvPr id="1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084189" y="2082552"/>
            <a:ext cx="171450" cy="107603"/>
          </a:xfrm>
          <a:prstGeom prst="rect">
            <a:avLst/>
          </a:prstGeom>
        </p:spPr>
      </p:pic>
      <p:sp>
        <p:nvSpPr>
          <p:cNvPr id="16" name="Text 11"/>
          <p:cNvSpPr/>
          <p:nvPr/>
        </p:nvSpPr>
        <p:spPr>
          <a:xfrm>
            <a:off x="2327374" y="1467148"/>
            <a:ext cx="1286470" cy="1338411"/>
          </a:xfrm>
          <a:prstGeom prst="roundRect">
            <a:avLst>
              <a:gd name="adj" fmla="val 8885"/>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17" name="Text 12"/>
          <p:cNvSpPr/>
          <p:nvPr/>
        </p:nvSpPr>
        <p:spPr>
          <a:xfrm>
            <a:off x="2883029" y="1620143"/>
            <a:ext cx="175011" cy="271760"/>
          </a:xfrm>
          <a:prstGeom prst="rect">
            <a:avLst/>
          </a:prstGeom>
          <a:noFill/>
          <a:ln/>
        </p:spPr>
        <p:txBody>
          <a:bodyPr wrap="none" lIns="0" tIns="0" rIns="0" bIns="0" rtlCol="0" anchor="t"/>
          <a:lstStyle/>
          <a:p>
            <a:pPr marL="0" indent="0" algn="ctr">
              <a:lnSpc>
                <a:spcPts val="2140"/>
              </a:lnSpc>
              <a:buNone/>
            </a:pPr>
            <a:r>
              <a:rPr lang="en-US" sz="2140" b="1" dirty="0">
                <a:solidFill>
                  <a:srgbClr val="76B900"/>
                </a:solidFill>
                <a:effectLst>
                  <a:glow rad="428625">
                    <a:srgbClr val="76B900">
                      <a:alpha val="9000"/>
                    </a:srgbClr>
                  </a:glow>
                </a:effectLst>
                <a:latin typeface="Consolas" pitchFamily="34" charset="0"/>
                <a:ea typeface="Consolas" pitchFamily="34" charset="-122"/>
                <a:cs typeface="Consolas" pitchFamily="34" charset="-120"/>
              </a:rPr>
              <a:t>2</a:t>
            </a:r>
            <a:endParaRPr lang="en-US" sz="2140" dirty="0"/>
          </a:p>
        </p:txBody>
      </p:sp>
      <p:pic>
        <p:nvPicPr>
          <p:cNvPr id="18" name="Image 3" descr="preencoded.png"/>
          <p:cNvPicPr>
            <a:picLocks noChangeAspect="1"/>
          </p:cNvPicPr>
          <p:nvPr/>
        </p:nvPicPr>
        <p:blipFill>
          <a:blip>
            <a:alphaModFix amt="85000"/>
            <a:extLst>
              <a:ext uri="{96DAC541-7B7A-43D3-8B79-37D633B846F1}">
                <asvg:svgBlip xmlns:asvg="http://schemas.microsoft.com/office/drawing/2016/SVG/main" r:embed="rId6"/>
              </a:ext>
            </a:extLst>
          </a:blip>
          <a:stretch>
            <a:fillRect/>
          </a:stretch>
        </p:blipFill>
        <p:spPr>
          <a:xfrm>
            <a:off x="2884884" y="1962894"/>
            <a:ext cx="171450" cy="171450"/>
          </a:xfrm>
          <a:prstGeom prst="rect">
            <a:avLst/>
          </a:prstGeom>
        </p:spPr>
      </p:pic>
      <p:sp>
        <p:nvSpPr>
          <p:cNvPr id="19" name="Text 13"/>
          <p:cNvSpPr/>
          <p:nvPr/>
        </p:nvSpPr>
        <p:spPr>
          <a:xfrm>
            <a:off x="2440811" y="2205335"/>
            <a:ext cx="1059597" cy="485686"/>
          </a:xfrm>
          <a:prstGeom prst="rect">
            <a:avLst/>
          </a:prstGeom>
          <a:noFill/>
          <a:ln/>
        </p:spPr>
        <p:txBody>
          <a:bodyPr wrap="square" lIns="0" tIns="0" rIns="0" bIns="0" rtlCol="0" anchor="ctr"/>
          <a:lstStyle/>
          <a:p>
            <a:pPr marL="0" indent="0" algn="ctr">
              <a:lnSpc>
                <a:spcPts val="1215"/>
              </a:lnSpc>
              <a:buNone/>
            </a:pPr>
            <a:r>
              <a:rPr lang="en-US" sz="900" dirty="0">
                <a:solidFill>
                  <a:srgbClr val="E2E8F0"/>
                </a:solidFill>
                <a:latin typeface="Calibri" pitchFamily="34" charset="0"/>
                <a:ea typeface="Calibri" pitchFamily="34" charset="-122"/>
                <a:cs typeface="Calibri" pitchFamily="34" charset="-120"/>
              </a:rPr>
              <a:t>Install &amp;</a:t>
            </a:r>
            <a:br/>
            <a:r>
              <a:rPr lang="en-US" sz="900" dirty="0">
                <a:solidFill>
                  <a:srgbClr val="E2E8F0"/>
                </a:solidFill>
                <a:latin typeface="Calibri" pitchFamily="34" charset="0"/>
                <a:ea typeface="Calibri" pitchFamily="34" charset="-122"/>
                <a:cs typeface="Calibri" pitchFamily="34" charset="-120"/>
              </a:rPr>
              <a:t>configure </a:t>
            </a:r>
            <a:r>
              <a:rPr lang="en-US" sz="900" b="1" dirty="0">
                <a:solidFill>
                  <a:srgbClr val="76B900"/>
                </a:solidFill>
                <a:latin typeface="Calibri" pitchFamily="34" charset="0"/>
                <a:ea typeface="Calibri" pitchFamily="34" charset="-122"/>
                <a:cs typeface="Calibri" pitchFamily="34" charset="-120"/>
              </a:rPr>
              <a:t>OpenClaw</a:t>
            </a:r>
            <a:endParaRPr lang="en-US" sz="900" dirty="0"/>
          </a:p>
        </p:txBody>
      </p:sp>
      <p:pic>
        <p:nvPicPr>
          <p:cNvPr id="20"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685580" y="2082552"/>
            <a:ext cx="171450" cy="107603"/>
          </a:xfrm>
          <a:prstGeom prst="rect">
            <a:avLst/>
          </a:prstGeom>
        </p:spPr>
      </p:pic>
      <p:sp>
        <p:nvSpPr>
          <p:cNvPr id="21" name="Text 14"/>
          <p:cNvSpPr/>
          <p:nvPr/>
        </p:nvSpPr>
        <p:spPr>
          <a:xfrm>
            <a:off x="3928765" y="1544241"/>
            <a:ext cx="1286470" cy="1184225"/>
          </a:xfrm>
          <a:prstGeom prst="roundRect">
            <a:avLst>
              <a:gd name="adj" fmla="val 9652"/>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2" name="Text 15"/>
          <p:cNvSpPr/>
          <p:nvPr/>
        </p:nvSpPr>
        <p:spPr>
          <a:xfrm>
            <a:off x="4484420" y="1697236"/>
            <a:ext cx="175011" cy="271760"/>
          </a:xfrm>
          <a:prstGeom prst="rect">
            <a:avLst/>
          </a:prstGeom>
          <a:noFill/>
          <a:ln/>
        </p:spPr>
        <p:txBody>
          <a:bodyPr wrap="none" lIns="0" tIns="0" rIns="0" bIns="0" rtlCol="0" anchor="t"/>
          <a:lstStyle/>
          <a:p>
            <a:pPr marL="0" indent="0" algn="ctr">
              <a:lnSpc>
                <a:spcPts val="2140"/>
              </a:lnSpc>
              <a:buNone/>
            </a:pPr>
            <a:r>
              <a:rPr lang="en-US" sz="2140" b="1" dirty="0">
                <a:solidFill>
                  <a:srgbClr val="76B900"/>
                </a:solidFill>
                <a:effectLst>
                  <a:glow rad="428625">
                    <a:srgbClr val="76B900">
                      <a:alpha val="9000"/>
                    </a:srgbClr>
                  </a:glow>
                </a:effectLst>
                <a:latin typeface="Consolas" pitchFamily="34" charset="0"/>
                <a:ea typeface="Consolas" pitchFamily="34" charset="-122"/>
                <a:cs typeface="Consolas" pitchFamily="34" charset="-120"/>
              </a:rPr>
              <a:t>3</a:t>
            </a:r>
            <a:endParaRPr lang="en-US" sz="2140" dirty="0"/>
          </a:p>
        </p:txBody>
      </p:sp>
      <p:pic>
        <p:nvPicPr>
          <p:cNvPr id="23" name="Image 5" descr="preencoded.png"/>
          <p:cNvPicPr>
            <a:picLocks noChangeAspect="1"/>
          </p:cNvPicPr>
          <p:nvPr/>
        </p:nvPicPr>
        <p:blipFill>
          <a:blip>
            <a:alphaModFix amt="85000"/>
            <a:extLst>
              <a:ext uri="{96DAC541-7B7A-43D3-8B79-37D633B846F1}">
                <asvg:svgBlip xmlns:asvg="http://schemas.microsoft.com/office/drawing/2016/SVG/main" r:embed="rId8"/>
              </a:ext>
            </a:extLst>
          </a:blip>
          <a:stretch>
            <a:fillRect/>
          </a:stretch>
        </p:blipFill>
        <p:spPr>
          <a:xfrm>
            <a:off x="4486275" y="2039987"/>
            <a:ext cx="171450" cy="171450"/>
          </a:xfrm>
          <a:prstGeom prst="rect">
            <a:avLst/>
          </a:prstGeom>
        </p:spPr>
      </p:pic>
      <p:sp>
        <p:nvSpPr>
          <p:cNvPr id="24" name="Text 16"/>
          <p:cNvSpPr/>
          <p:nvPr/>
        </p:nvSpPr>
        <p:spPr>
          <a:xfrm>
            <a:off x="4147556" y="2282428"/>
            <a:ext cx="848740" cy="323790"/>
          </a:xfrm>
          <a:prstGeom prst="rect">
            <a:avLst/>
          </a:prstGeom>
          <a:noFill/>
          <a:ln/>
        </p:spPr>
        <p:txBody>
          <a:bodyPr wrap="square" lIns="0" tIns="0" rIns="0" bIns="0" rtlCol="0" anchor="ctr"/>
          <a:lstStyle/>
          <a:p>
            <a:pPr marL="0" indent="0" algn="ctr">
              <a:lnSpc>
                <a:spcPts val="1215"/>
              </a:lnSpc>
              <a:buNone/>
            </a:pPr>
            <a:r>
              <a:rPr lang="en-US" sz="900" dirty="0">
                <a:solidFill>
                  <a:srgbClr val="E2E8F0"/>
                </a:solidFill>
                <a:latin typeface="Calibri" pitchFamily="34" charset="0"/>
                <a:ea typeface="Calibri" pitchFamily="34" charset="-122"/>
                <a:cs typeface="Calibri" pitchFamily="34" charset="-120"/>
              </a:rPr>
              <a:t>Connect</a:t>
            </a:r>
            <a:br/>
            <a:r>
              <a:rPr lang="en-US" sz="900" b="1" dirty="0">
                <a:solidFill>
                  <a:srgbClr val="76B900"/>
                </a:solidFill>
                <a:latin typeface="Calibri" pitchFamily="34" charset="0"/>
                <a:ea typeface="Calibri" pitchFamily="34" charset="-122"/>
                <a:cs typeface="Calibri" pitchFamily="34" charset="-120"/>
              </a:rPr>
              <a:t>messaging app</a:t>
            </a:r>
            <a:endParaRPr lang="en-US" sz="900" dirty="0"/>
          </a:p>
        </p:txBody>
      </p:sp>
      <p:pic>
        <p:nvPicPr>
          <p:cNvPr id="25"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286970" y="2082552"/>
            <a:ext cx="171450" cy="107603"/>
          </a:xfrm>
          <a:prstGeom prst="rect">
            <a:avLst/>
          </a:prstGeom>
        </p:spPr>
      </p:pic>
      <p:sp>
        <p:nvSpPr>
          <p:cNvPr id="26" name="Text 17"/>
          <p:cNvSpPr/>
          <p:nvPr/>
        </p:nvSpPr>
        <p:spPr>
          <a:xfrm>
            <a:off x="5530155" y="1544241"/>
            <a:ext cx="1286470" cy="1184225"/>
          </a:xfrm>
          <a:prstGeom prst="roundRect">
            <a:avLst>
              <a:gd name="adj" fmla="val 9652"/>
            </a:avLst>
          </a:prstGeom>
          <a:solidFill>
            <a:srgbClr val="1A2332"/>
          </a:solidFill>
          <a:ln w="9525">
            <a:solidFill>
              <a:srgbClr val="76B900">
                <a:alpha val="15000"/>
              </a:srgbClr>
            </a:solidFill>
          </a:ln>
        </p:spPr>
        <p:txBody>
          <a:bodyPr wrap="square" rtlCol="0" anchor="t"/>
          <a:lstStyle/>
          <a:p>
            <a:pPr marL="0" indent="0">
              <a:buNone/>
            </a:pPr>
            <a:endParaRPr lang="en-US" dirty="0"/>
          </a:p>
        </p:txBody>
      </p:sp>
      <p:sp>
        <p:nvSpPr>
          <p:cNvPr id="27" name="Text 18"/>
          <p:cNvSpPr/>
          <p:nvPr/>
        </p:nvSpPr>
        <p:spPr>
          <a:xfrm>
            <a:off x="6085810" y="1697236"/>
            <a:ext cx="175011" cy="271760"/>
          </a:xfrm>
          <a:prstGeom prst="rect">
            <a:avLst/>
          </a:prstGeom>
          <a:noFill/>
          <a:ln/>
        </p:spPr>
        <p:txBody>
          <a:bodyPr wrap="none" lIns="0" tIns="0" rIns="0" bIns="0" rtlCol="0" anchor="t"/>
          <a:lstStyle/>
          <a:p>
            <a:pPr marL="0" indent="0" algn="ctr">
              <a:lnSpc>
                <a:spcPts val="2140"/>
              </a:lnSpc>
              <a:buNone/>
            </a:pPr>
            <a:r>
              <a:rPr lang="en-US" sz="2140" b="1" dirty="0">
                <a:solidFill>
                  <a:srgbClr val="76B900"/>
                </a:solidFill>
                <a:effectLst>
                  <a:glow rad="428625">
                    <a:srgbClr val="76B900">
                      <a:alpha val="9000"/>
                    </a:srgbClr>
                  </a:glow>
                </a:effectLst>
                <a:latin typeface="Consolas" pitchFamily="34" charset="0"/>
                <a:ea typeface="Consolas" pitchFamily="34" charset="-122"/>
                <a:cs typeface="Consolas" pitchFamily="34" charset="-120"/>
              </a:rPr>
              <a:t>4</a:t>
            </a:r>
            <a:endParaRPr lang="en-US" sz="2140" dirty="0"/>
          </a:p>
        </p:txBody>
      </p:sp>
      <p:pic>
        <p:nvPicPr>
          <p:cNvPr id="28" name="Image 7" descr="preencoded.png"/>
          <p:cNvPicPr>
            <a:picLocks noChangeAspect="1"/>
          </p:cNvPicPr>
          <p:nvPr/>
        </p:nvPicPr>
        <p:blipFill>
          <a:blip>
            <a:alphaModFix amt="85000"/>
            <a:extLst>
              <a:ext uri="{96DAC541-7B7A-43D3-8B79-37D633B846F1}">
                <asvg:svgBlip xmlns:asvg="http://schemas.microsoft.com/office/drawing/2016/SVG/main" r:embed="rId10"/>
              </a:ext>
            </a:extLst>
          </a:blip>
          <a:stretch>
            <a:fillRect/>
          </a:stretch>
        </p:blipFill>
        <p:spPr>
          <a:xfrm>
            <a:off x="6087666" y="2039987"/>
            <a:ext cx="171450" cy="171450"/>
          </a:xfrm>
          <a:prstGeom prst="rect">
            <a:avLst/>
          </a:prstGeom>
        </p:spPr>
      </p:pic>
      <p:sp>
        <p:nvSpPr>
          <p:cNvPr id="29" name="Text 19"/>
          <p:cNvSpPr/>
          <p:nvPr/>
        </p:nvSpPr>
        <p:spPr>
          <a:xfrm>
            <a:off x="5740749" y="2282428"/>
            <a:ext cx="865135" cy="323790"/>
          </a:xfrm>
          <a:prstGeom prst="rect">
            <a:avLst/>
          </a:prstGeom>
          <a:noFill/>
          <a:ln/>
        </p:spPr>
        <p:txBody>
          <a:bodyPr wrap="square" lIns="0" tIns="0" rIns="0" bIns="0" rtlCol="0" anchor="ctr"/>
          <a:lstStyle/>
          <a:p>
            <a:pPr marL="0" indent="0" algn="ctr">
              <a:lnSpc>
                <a:spcPts val="1215"/>
              </a:lnSpc>
              <a:buNone/>
            </a:pPr>
            <a:r>
              <a:rPr lang="en-US" sz="900" dirty="0">
                <a:solidFill>
                  <a:srgbClr val="E2E8F0"/>
                </a:solidFill>
                <a:latin typeface="Calibri" pitchFamily="34" charset="0"/>
                <a:ea typeface="Calibri" pitchFamily="34" charset="-122"/>
                <a:cs typeface="Calibri" pitchFamily="34" charset="-120"/>
              </a:rPr>
              <a:t>Install </a:t>
            </a:r>
            <a:r>
              <a:rPr lang="en-US" sz="900" b="1" dirty="0">
                <a:solidFill>
                  <a:srgbClr val="76B900"/>
                </a:solidFill>
                <a:latin typeface="Calibri" pitchFamily="34" charset="0"/>
                <a:ea typeface="Calibri" pitchFamily="34" charset="-122"/>
                <a:cs typeface="Calibri" pitchFamily="34" charset="-120"/>
              </a:rPr>
              <a:t>Hermes</a:t>
            </a:r>
            <a:r>
              <a:rPr lang="en-US" sz="900" b="1">
                <a:solidFill>
                  <a:srgbClr val="76B900"/>
                </a:solidFill>
                <a:latin typeface="Calibri" pitchFamily="34" charset="0"/>
                <a:ea typeface="Calibri" pitchFamily="34" charset="-122"/>
                <a:cs typeface="Calibri" pitchFamily="34" charset="-120"/>
              </a:rPr>
              <a:t> </a:t>
            </a:r>
            <a:br/>
            <a:r>
              <a:rPr lang="en-US" sz="900" dirty="0">
                <a:solidFill>
                  <a:srgbClr val="E2E8F0"/>
                </a:solidFill>
                <a:latin typeface="Calibri" pitchFamily="34" charset="0"/>
                <a:ea typeface="Calibri" pitchFamily="34" charset="-122"/>
                <a:cs typeface="Calibri" pitchFamily="34" charset="-120"/>
              </a:rPr>
              <a:t>+ </a:t>
            </a:r>
            <a:r>
              <a:rPr lang="en-US" sz="900">
                <a:solidFill>
                  <a:srgbClr val="E2E8F0"/>
                </a:solidFill>
                <a:latin typeface="Calibri" pitchFamily="34" charset="0"/>
                <a:ea typeface="Calibri" pitchFamily="34" charset="-122"/>
                <a:cs typeface="Calibri" pitchFamily="34" charset="-120"/>
              </a:rPr>
              <a:t>Mercury Agent</a:t>
            </a:r>
            <a:endParaRPr lang="en-US" sz="900" dirty="0"/>
          </a:p>
        </p:txBody>
      </p:sp>
      <p:pic>
        <p:nvPicPr>
          <p:cNvPr id="30" name="Image 8" descr="preencoded.png"/>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6888361" y="2082552"/>
            <a:ext cx="171450" cy="107603"/>
          </a:xfrm>
          <a:prstGeom prst="rect">
            <a:avLst/>
          </a:prstGeom>
        </p:spPr>
      </p:pic>
      <p:sp>
        <p:nvSpPr>
          <p:cNvPr id="31" name="Text 20"/>
          <p:cNvSpPr/>
          <p:nvPr/>
        </p:nvSpPr>
        <p:spPr>
          <a:xfrm>
            <a:off x="7131546" y="1530251"/>
            <a:ext cx="1286470" cy="1212205"/>
          </a:xfrm>
          <a:prstGeom prst="roundRect">
            <a:avLst>
              <a:gd name="adj" fmla="val 9429"/>
            </a:avLst>
          </a:prstGeom>
          <a:solidFill>
            <a:srgbClr val="1A2332"/>
          </a:solidFill>
          <a:ln w="9525">
            <a:solidFill>
              <a:srgbClr val="76B900">
                <a:alpha val="40000"/>
              </a:srgbClr>
            </a:solidFill>
          </a:ln>
          <a:effectLst>
            <a:outerShdw blurRad="214630" dist="50800" dir="16200000" algn="bl" rotWithShape="0">
              <a:srgbClr val="76B900">
                <a:alpha val="12000"/>
              </a:srgbClr>
            </a:outerShdw>
          </a:effectLst>
        </p:spPr>
        <p:txBody>
          <a:bodyPr wrap="square" rtlCol="0" anchor="t"/>
          <a:lstStyle/>
          <a:p>
            <a:pPr marL="0" indent="0">
              <a:buNone/>
            </a:pPr>
            <a:endParaRPr lang="en-US" dirty="0"/>
          </a:p>
        </p:txBody>
      </p:sp>
      <p:sp>
        <p:nvSpPr>
          <p:cNvPr id="32" name="Text 21"/>
          <p:cNvSpPr/>
          <p:nvPr/>
        </p:nvSpPr>
        <p:spPr>
          <a:xfrm>
            <a:off x="7678278" y="1683246"/>
            <a:ext cx="193006" cy="299740"/>
          </a:xfrm>
          <a:prstGeom prst="rect">
            <a:avLst/>
          </a:prstGeom>
          <a:noFill/>
          <a:ln/>
        </p:spPr>
        <p:txBody>
          <a:bodyPr wrap="none" lIns="0" tIns="0" rIns="0" bIns="0" rtlCol="0" anchor="t"/>
          <a:lstStyle/>
          <a:p>
            <a:pPr marL="0" indent="0" algn="ctr">
              <a:lnSpc>
                <a:spcPts val="2360"/>
              </a:lnSpc>
              <a:buNone/>
            </a:pPr>
            <a:r>
              <a:rPr lang="en-US" sz="2360" b="1" dirty="0">
                <a:solidFill>
                  <a:srgbClr val="76B900"/>
                </a:solidFill>
                <a:effectLst>
                  <a:glow rad="428625">
                    <a:srgbClr val="76B900">
                      <a:alpha val="9000"/>
                    </a:srgbClr>
                  </a:glow>
                </a:effectLst>
                <a:latin typeface="Consolas" pitchFamily="34" charset="0"/>
                <a:ea typeface="Consolas" pitchFamily="34" charset="-122"/>
                <a:cs typeface="Consolas" pitchFamily="34" charset="-120"/>
              </a:rPr>
              <a:t>5</a:t>
            </a:r>
            <a:endParaRPr lang="en-US" sz="2360" dirty="0"/>
          </a:p>
        </p:txBody>
      </p:sp>
      <p:pic>
        <p:nvPicPr>
          <p:cNvPr id="33" name="Image 9" descr="preencoded.png"/>
          <p:cNvPicPr>
            <a:picLocks noChangeAspect="1"/>
          </p:cNvPicPr>
          <p:nvPr/>
        </p:nvPicPr>
        <p:blipFill>
          <a:blip>
            <a:alphaModFix amt="85000"/>
            <a:extLst>
              <a:ext uri="{96DAC541-7B7A-43D3-8B79-37D633B846F1}">
                <asvg:svgBlip xmlns:asvg="http://schemas.microsoft.com/office/drawing/2016/SVG/main" r:embed="rId12"/>
              </a:ext>
            </a:extLst>
          </a:blip>
          <a:stretch>
            <a:fillRect/>
          </a:stretch>
        </p:blipFill>
        <p:spPr>
          <a:xfrm>
            <a:off x="7689056" y="2053977"/>
            <a:ext cx="171450" cy="171450"/>
          </a:xfrm>
          <a:prstGeom prst="rect">
            <a:avLst/>
          </a:prstGeom>
        </p:spPr>
      </p:pic>
      <p:sp>
        <p:nvSpPr>
          <p:cNvPr id="34" name="Text 22"/>
          <p:cNvSpPr/>
          <p:nvPr/>
        </p:nvSpPr>
        <p:spPr>
          <a:xfrm>
            <a:off x="7382518" y="2296418"/>
            <a:ext cx="784527" cy="323790"/>
          </a:xfrm>
          <a:prstGeom prst="rect">
            <a:avLst/>
          </a:prstGeom>
          <a:noFill/>
          <a:ln/>
        </p:spPr>
        <p:txBody>
          <a:bodyPr wrap="square" lIns="0" tIns="0" rIns="0" bIns="0" rtlCol="0" anchor="ctr"/>
          <a:lstStyle/>
          <a:p>
            <a:pPr marL="0" indent="0" algn="ctr">
              <a:lnSpc>
                <a:spcPts val="1215"/>
              </a:lnSpc>
              <a:buNone/>
            </a:pPr>
            <a:r>
              <a:rPr lang="en-US" sz="900" dirty="0">
                <a:solidFill>
                  <a:srgbClr val="E2E8F0"/>
                </a:solidFill>
                <a:latin typeface="Calibri" pitchFamily="34" charset="0"/>
                <a:ea typeface="Calibri" pitchFamily="34" charset="-122"/>
                <a:cs typeface="Calibri" pitchFamily="34" charset="-120"/>
              </a:rPr>
              <a:t>Run </a:t>
            </a:r>
            <a:r>
              <a:rPr lang="en-US" sz="900" b="1" dirty="0">
                <a:solidFill>
                  <a:srgbClr val="76B900"/>
                </a:solidFill>
                <a:latin typeface="Calibri" pitchFamily="34" charset="0"/>
                <a:ea typeface="Calibri" pitchFamily="34" charset="-122"/>
                <a:cs typeface="Calibri" pitchFamily="34" charset="-120"/>
              </a:rPr>
              <a:t>real tasks</a:t>
            </a:r>
            <a:br/>
            <a:r>
              <a:rPr lang="en-US" sz="900" dirty="0">
                <a:solidFill>
                  <a:srgbClr val="E2E8F0"/>
                </a:solidFill>
                <a:latin typeface="Calibri" pitchFamily="34" charset="0"/>
                <a:ea typeface="Calibri" pitchFamily="34" charset="-122"/>
                <a:cs typeface="Calibri" pitchFamily="34" charset="-120"/>
              </a:rPr>
              <a:t>live!</a:t>
            </a:r>
            <a:endParaRPr lang="en-US" sz="900" dirty="0"/>
          </a:p>
        </p:txBody>
      </p:sp>
      <p:sp>
        <p:nvSpPr>
          <p:cNvPr id="35" name="Text 23"/>
          <p:cNvSpPr/>
          <p:nvPr/>
        </p:nvSpPr>
        <p:spPr>
          <a:xfrm>
            <a:off x="1821656" y="4450407"/>
            <a:ext cx="5500539" cy="435322"/>
          </a:xfrm>
          <a:prstGeom prst="roundRect">
            <a:avLst>
              <a:gd name="adj" fmla="val 19838"/>
            </a:avLst>
          </a:prstGeom>
          <a:gradFill rotWithShape="1">
            <a:gsLst>
              <a:gs pos="0">
                <a:srgbClr val="76B900">
                  <a:alpha val="8000"/>
                </a:srgbClr>
              </a:gs>
              <a:gs pos="100000">
                <a:srgbClr val="1A2332">
                  <a:alpha val="60000"/>
                </a:srgbClr>
              </a:gs>
            </a:gsLst>
            <a:lin ang="2700000" scaled="1"/>
          </a:gradFill>
          <a:ln w="9525">
            <a:solidFill>
              <a:srgbClr val="76B900">
                <a:alpha val="15000"/>
              </a:srgbClr>
            </a:solidFill>
          </a:ln>
        </p:spPr>
        <p:txBody>
          <a:bodyPr wrap="square" rtlCol="0" anchor="t"/>
          <a:lstStyle/>
          <a:p>
            <a:pPr marL="0" indent="0">
              <a:buNone/>
            </a:pPr>
            <a:endParaRPr lang="en-US" dirty="0"/>
          </a:p>
        </p:txBody>
      </p:sp>
      <p:pic>
        <p:nvPicPr>
          <p:cNvPr id="36" name="Image 10" descr="preencoded.png"/>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2076459" y="4601775"/>
            <a:ext cx="132588" cy="132588"/>
          </a:xfrm>
          <a:prstGeom prst="rect">
            <a:avLst/>
          </a:prstGeom>
        </p:spPr>
      </p:pic>
      <p:sp>
        <p:nvSpPr>
          <p:cNvPr id="37" name="Text 24"/>
          <p:cNvSpPr/>
          <p:nvPr/>
        </p:nvSpPr>
        <p:spPr>
          <a:xfrm>
            <a:off x="2267545" y="4588073"/>
            <a:ext cx="1329169" cy="159990"/>
          </a:xfrm>
          <a:prstGeom prst="rect">
            <a:avLst/>
          </a:prstGeom>
          <a:noFill/>
          <a:ln/>
        </p:spPr>
        <p:txBody>
          <a:bodyPr wrap="none" lIns="0" tIns="0" rIns="0" bIns="0" rtlCol="0" anchor="ctr"/>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Real hardware, real tasks</a:t>
            </a:r>
            <a:endParaRPr lang="en-US" sz="840" dirty="0"/>
          </a:p>
        </p:txBody>
      </p:sp>
      <p:sp>
        <p:nvSpPr>
          <p:cNvPr id="38" name="Text 25"/>
          <p:cNvSpPr/>
          <p:nvPr/>
        </p:nvSpPr>
        <p:spPr>
          <a:xfrm>
            <a:off x="3704481" y="4596259"/>
            <a:ext cx="7590" cy="143470"/>
          </a:xfrm>
          <a:prstGeom prst="rect">
            <a:avLst/>
          </a:prstGeom>
          <a:solidFill>
            <a:srgbClr val="76B900">
              <a:alpha val="20000"/>
            </a:srgbClr>
          </a:solidFill>
          <a:ln/>
        </p:spPr>
        <p:txBody>
          <a:bodyPr wrap="none" rtlCol="0" anchor="t"/>
          <a:lstStyle/>
          <a:p>
            <a:pPr marL="0" indent="0">
              <a:buNone/>
            </a:pPr>
            <a:endParaRPr lang="en-US" dirty="0"/>
          </a:p>
        </p:txBody>
      </p:sp>
      <p:pic>
        <p:nvPicPr>
          <p:cNvPr id="39" name="Image 11" descr="preencoded.png"/>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928178" y="4601775"/>
            <a:ext cx="132588" cy="132588"/>
          </a:xfrm>
          <a:prstGeom prst="rect">
            <a:avLst/>
          </a:prstGeom>
        </p:spPr>
      </p:pic>
      <p:sp>
        <p:nvSpPr>
          <p:cNvPr id="40" name="Text 26"/>
          <p:cNvSpPr/>
          <p:nvPr/>
        </p:nvSpPr>
        <p:spPr>
          <a:xfrm>
            <a:off x="4119265" y="4588073"/>
            <a:ext cx="1172825" cy="159990"/>
          </a:xfrm>
          <a:prstGeom prst="rect">
            <a:avLst/>
          </a:prstGeom>
          <a:noFill/>
          <a:ln/>
        </p:spPr>
        <p:txBody>
          <a:bodyPr wrap="none" lIns="0" tIns="0" rIns="0" bIns="0" rtlCol="0" anchor="ctr"/>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Everything runs locally</a:t>
            </a:r>
            <a:endParaRPr lang="en-US" sz="840" dirty="0"/>
          </a:p>
        </p:txBody>
      </p:sp>
      <p:sp>
        <p:nvSpPr>
          <p:cNvPr id="41" name="Text 27"/>
          <p:cNvSpPr/>
          <p:nvPr/>
        </p:nvSpPr>
        <p:spPr>
          <a:xfrm>
            <a:off x="5414070" y="4596259"/>
            <a:ext cx="7590" cy="143470"/>
          </a:xfrm>
          <a:prstGeom prst="rect">
            <a:avLst/>
          </a:prstGeom>
          <a:solidFill>
            <a:srgbClr val="76B900">
              <a:alpha val="20000"/>
            </a:srgbClr>
          </a:solidFill>
          <a:ln/>
        </p:spPr>
        <p:txBody>
          <a:bodyPr wrap="none" rtlCol="0" anchor="t"/>
          <a:lstStyle/>
          <a:p>
            <a:pPr marL="0" indent="0">
              <a:buNone/>
            </a:pPr>
            <a:endParaRPr lang="en-US" dirty="0"/>
          </a:p>
        </p:txBody>
      </p:sp>
      <p:pic>
        <p:nvPicPr>
          <p:cNvPr id="42" name="Image 12" descr="preencoded.png"/>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637767" y="4601775"/>
            <a:ext cx="132588" cy="132588"/>
          </a:xfrm>
          <a:prstGeom prst="rect">
            <a:avLst/>
          </a:prstGeom>
        </p:spPr>
      </p:pic>
      <p:sp>
        <p:nvSpPr>
          <p:cNvPr id="43" name="Text 28"/>
          <p:cNvSpPr/>
          <p:nvPr/>
        </p:nvSpPr>
        <p:spPr>
          <a:xfrm>
            <a:off x="5828854" y="4588073"/>
            <a:ext cx="1348651" cy="159990"/>
          </a:xfrm>
          <a:prstGeom prst="rect">
            <a:avLst/>
          </a:prstGeom>
          <a:noFill/>
          <a:ln/>
        </p:spPr>
        <p:txBody>
          <a:bodyPr wrap="none" lIns="0" tIns="0" rIns="0" bIns="0" rtlCol="0" anchor="ctr"/>
          <a:lstStyle/>
          <a:p>
            <a:pPr marL="0" indent="0" algn="l">
              <a:lnSpc>
                <a:spcPts val="1260"/>
              </a:lnSpc>
              <a:buNone/>
            </a:pPr>
            <a:r>
              <a:rPr lang="en-US" sz="840" dirty="0">
                <a:solidFill>
                  <a:srgbClr val="8B9CB6"/>
                </a:solidFill>
                <a:latin typeface="Calibri" pitchFamily="34" charset="0"/>
                <a:ea typeface="Calibri" pitchFamily="34" charset="-122"/>
                <a:cs typeface="Calibri" pitchFamily="34" charset="-120"/>
              </a:rPr>
              <a:t>Follow along or just watch</a:t>
            </a:r>
            <a:endParaRPr lang="en-US" sz="84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8">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1000"/>
                </a:srgbClr>
              </a:gs>
              <a:gs pos="100000">
                <a:srgbClr val="000000">
                  <a:alpha val="0"/>
                </a:srgbClr>
              </a:gs>
            </a:gsLst>
            <a:lin ang="5400000" scaled="1"/>
          </a:gradFill>
          <a:ln/>
        </p:spPr>
        <p:txBody>
          <a:bodyPr wrap="square" rtlCol="0" anchor="t"/>
          <a:lstStyle/>
          <a:p>
            <a:pPr marL="0" indent="0">
              <a:buNone/>
            </a:pPr>
            <a:endParaRPr lang="en-US" dirty="0"/>
          </a:p>
        </p:txBody>
      </p:sp>
      <p:sp>
        <p:nvSpPr>
          <p:cNvPr id="3" name="Text 1"/>
          <p:cNvSpPr/>
          <p:nvPr/>
        </p:nvSpPr>
        <p:spPr>
          <a:xfrm>
            <a:off x="0" y="0"/>
            <a:ext cx="9144000" cy="5143500"/>
          </a:xfrm>
          <a:prstGeom prst="rect">
            <a:avLst/>
          </a:prstGeom>
          <a:gradFill rotWithShape="1">
            <a:gsLst>
              <a:gs pos="0">
                <a:srgbClr val="76B900">
                  <a:alpha val="1000"/>
                </a:srgbClr>
              </a:gs>
              <a:gs pos="100000">
                <a:srgbClr val="000000">
                  <a:alpha val="0"/>
                </a:srgbClr>
              </a:gs>
            </a:gsLst>
            <a:lin ang="0" scaled="1"/>
          </a:gradFill>
          <a:ln/>
        </p:spPr>
        <p:txBody>
          <a:bodyPr wrap="square" rtlCol="0" anchor="t"/>
          <a:lstStyle/>
          <a:p>
            <a:pPr marL="0" indent="0">
              <a:buNone/>
            </a:pPr>
            <a:endParaRPr lang="en-US" dirty="0"/>
          </a:p>
        </p:txBody>
      </p:sp>
      <p:sp>
        <p:nvSpPr>
          <p:cNvPr id="4" name="Text 2"/>
          <p:cNvSpPr/>
          <p:nvPr/>
        </p:nvSpPr>
        <p:spPr>
          <a:xfrm>
            <a:off x="429220" y="342900"/>
            <a:ext cx="711101" cy="214952"/>
          </a:xfrm>
          <a:prstGeom prst="roundRect">
            <a:avLst>
              <a:gd name="adj" fmla="val 13589"/>
            </a:avLst>
          </a:prstGeom>
          <a:solidFill>
            <a:srgbClr val="76B900">
              <a:alpha val="15000"/>
            </a:srgbClr>
          </a:solidFill>
          <a:ln w="9525">
            <a:solidFill>
              <a:srgbClr val="76B900">
                <a:alpha val="30000"/>
              </a:srgbClr>
            </a:solidFill>
          </a:ln>
        </p:spPr>
        <p:txBody>
          <a:bodyPr wrap="none" lIns="0" tIns="0" rIns="0" bIns="0" rtlCol="0" anchor="ctr"/>
          <a:lstStyle/>
          <a:p>
            <a:pPr marL="0" indent="0" algn="ctr">
              <a:buNone/>
            </a:pPr>
            <a:r>
              <a:rPr lang="en-US" sz="620" dirty="0">
                <a:solidFill>
                  <a:srgbClr val="76B900"/>
                </a:solidFill>
                <a:latin typeface="Consolas" pitchFamily="34" charset="0"/>
                <a:ea typeface="Consolas" pitchFamily="34" charset="-122"/>
                <a:cs typeface="Consolas" pitchFamily="34" charset="-120"/>
              </a:rPr>
              <a:t>LIVE DEMO</a:t>
            </a:r>
            <a:endParaRPr lang="en-US" sz="620" dirty="0"/>
          </a:p>
        </p:txBody>
      </p:sp>
      <p:sp>
        <p:nvSpPr>
          <p:cNvPr id="5" name="Text 3"/>
          <p:cNvSpPr/>
          <p:nvPr/>
        </p:nvSpPr>
        <p:spPr>
          <a:xfrm>
            <a:off x="278451" y="624632"/>
            <a:ext cx="8865549" cy="449610"/>
          </a:xfrm>
          <a:prstGeom prst="rect">
            <a:avLst/>
          </a:prstGeom>
          <a:noFill/>
          <a:ln/>
        </p:spPr>
        <p:txBody>
          <a:bodyPr wrap="none" lIns="0" tIns="0" rIns="0" bIns="0" rtlCol="0" anchor="t"/>
          <a:lstStyle/>
          <a:p>
            <a:pPr marL="0" indent="0" algn="l">
              <a:lnSpc>
                <a:spcPts val="3540"/>
              </a:lnSpc>
              <a:spcBef>
                <a:spcPts val="680"/>
              </a:spcBef>
              <a:buNone/>
            </a:pPr>
            <a:r>
              <a:rPr lang="en-US" sz="2360" b="1" kern="0" spc="-30" dirty="0">
                <a:solidFill>
                  <a:srgbClr val="E2E8F0"/>
                </a:solidFill>
                <a:latin typeface="Consolas" pitchFamily="34" charset="0"/>
                <a:ea typeface="Consolas" pitchFamily="34" charset="-122"/>
                <a:cs typeface="Consolas" pitchFamily="34" charset="-120"/>
              </a:rPr>
              <a:t>Demo Hardware Setup</a:t>
            </a:r>
            <a:endParaRPr lang="en-US" sz="2360" dirty="0"/>
          </a:p>
        </p:txBody>
      </p:sp>
      <p:sp>
        <p:nvSpPr>
          <p:cNvPr id="6" name="Text 4"/>
          <p:cNvSpPr/>
          <p:nvPr/>
        </p:nvSpPr>
        <p:spPr>
          <a:xfrm>
            <a:off x="29885" y="1117402"/>
            <a:ext cx="9114115" cy="182880"/>
          </a:xfrm>
          <a:prstGeom prst="rect">
            <a:avLst/>
          </a:prstGeom>
          <a:noFill/>
          <a:ln/>
        </p:spPr>
        <p:txBody>
          <a:bodyPr wrap="none" lIns="0" tIns="0" rIns="0" bIns="0" rtlCol="0" anchor="t"/>
          <a:lstStyle/>
          <a:p>
            <a:pPr marL="0" indent="0" algn="l">
              <a:lnSpc>
                <a:spcPts val="1440"/>
              </a:lnSpc>
              <a:spcBef>
                <a:spcPts val="340"/>
              </a:spcBef>
              <a:buNone/>
            </a:pPr>
            <a:r>
              <a:rPr lang="en-US" sz="960" dirty="0">
                <a:solidFill>
                  <a:srgbClr val="8B9CB6"/>
                </a:solidFill>
                <a:latin typeface="Calibri" pitchFamily="34" charset="0"/>
                <a:ea typeface="Calibri" pitchFamily="34" charset="-122"/>
                <a:cs typeface="Calibri" pitchFamily="34" charset="-120"/>
              </a:rPr>
              <a:t>Physical components powering today's live demonstration</a:t>
            </a:r>
            <a:endParaRPr lang="en-US" sz="960" dirty="0"/>
          </a:p>
        </p:txBody>
      </p:sp>
      <p:sp>
        <p:nvSpPr>
          <p:cNvPr id="7" name="Text 5"/>
          <p:cNvSpPr/>
          <p:nvPr/>
        </p:nvSpPr>
        <p:spPr>
          <a:xfrm>
            <a:off x="429220" y="1630859"/>
            <a:ext cx="3110508" cy="2786360"/>
          </a:xfrm>
          <a:prstGeom prst="roundRect">
            <a:avLst>
              <a:gd name="adj" fmla="val 4102"/>
            </a:avLst>
          </a:prstGeom>
          <a:gradFill rotWithShape="1">
            <a:gsLst>
              <a:gs pos="0">
                <a:srgbClr val="1A2332"/>
              </a:gs>
              <a:gs pos="100000">
                <a:srgbClr val="0F1820"/>
              </a:gs>
            </a:gsLst>
            <a:lin ang="3300000" scaled="1"/>
          </a:gradFill>
          <a:ln w="9525">
            <a:solidFill>
              <a:srgbClr val="76B900"/>
            </a:solidFill>
          </a:ln>
          <a:effectLst>
            <a:outerShdw blurRad="285750" dist="50800" dir="16200000" algn="bl" rotWithShape="0">
              <a:srgbClr val="76B900">
                <a:alpha val="15000"/>
              </a:srgbClr>
            </a:outerShdw>
          </a:effectLst>
        </p:spPr>
        <p:txBody>
          <a:bodyPr wrap="square" rtlCol="0" anchor="t"/>
          <a:lstStyle/>
          <a:p>
            <a:pPr marL="0" indent="0">
              <a:buNone/>
            </a:pPr>
            <a:endParaRPr lang="en-US" dirty="0"/>
          </a:p>
        </p:txBody>
      </p:sp>
      <p:sp>
        <p:nvSpPr>
          <p:cNvPr id="8" name="Text 6"/>
          <p:cNvSpPr/>
          <p:nvPr/>
        </p:nvSpPr>
        <p:spPr>
          <a:xfrm>
            <a:off x="438745" y="1640384"/>
            <a:ext cx="571500" cy="571500"/>
          </a:xfrm>
          <a:prstGeom prst="roundRect">
            <a:avLst>
              <a:gd name="adj" fmla="val 20000"/>
            </a:avLst>
          </a:prstGeom>
          <a:gradFill rotWithShape="1">
            <a:gsLst>
              <a:gs pos="0">
                <a:srgbClr val="76B900">
                  <a:alpha val="12000"/>
                </a:srgbClr>
              </a:gs>
              <a:gs pos="70000">
                <a:srgbClr val="000000">
                  <a:alpha val="0"/>
                </a:srgbClr>
              </a:gs>
            </a:gsLst>
            <a:path path="circle">
              <a:fillToRect l="100000" t="100000"/>
            </a:path>
          </a:gradFill>
          <a:ln/>
        </p:spPr>
        <p:txBody>
          <a:bodyPr wrap="square" rtlCol="0" anchor="t"/>
          <a:lstStyle/>
          <a:p>
            <a:pPr marL="0" indent="0">
              <a:buNone/>
            </a:pPr>
            <a:endParaRPr lang="en-US" dirty="0"/>
          </a:p>
        </p:txBody>
      </p:sp>
      <p:sp>
        <p:nvSpPr>
          <p:cNvPr id="9" name="Text 7"/>
          <p:cNvSpPr/>
          <p:nvPr/>
        </p:nvSpPr>
        <p:spPr>
          <a:xfrm>
            <a:off x="2958703" y="3836194"/>
            <a:ext cx="571500" cy="571500"/>
          </a:xfrm>
          <a:prstGeom prst="rect">
            <a:avLst/>
          </a:prstGeom>
          <a:gradFill rotWithShape="1">
            <a:gsLst>
              <a:gs pos="0">
                <a:srgbClr val="76B900">
                  <a:alpha val="12000"/>
                </a:srgbClr>
              </a:gs>
              <a:gs pos="70000">
                <a:srgbClr val="000000">
                  <a:alpha val="0"/>
                </a:srgbClr>
              </a:gs>
            </a:gsLst>
            <a:path path="circle">
              <a:fillToRect r="100000" b="100000"/>
            </a:path>
          </a:gradFill>
          <a:ln/>
        </p:spPr>
        <p:txBody>
          <a:bodyPr wrap="square" rtlCol="0" anchor="t"/>
          <a:lstStyle/>
          <a:p>
            <a:pPr marL="0" indent="0">
              <a:buNone/>
            </a:pPr>
            <a:endParaRPr lang="en-US" dirty="0"/>
          </a:p>
        </p:txBody>
      </p:sp>
      <p:sp>
        <p:nvSpPr>
          <p:cNvPr id="10" name="Text 8"/>
          <p:cNvSpPr/>
          <p:nvPr/>
        </p:nvSpPr>
        <p:spPr>
          <a:xfrm>
            <a:off x="1698724" y="1898154"/>
            <a:ext cx="571500" cy="358378"/>
          </a:xfrm>
          <a:prstGeom prst="roundRect">
            <a:avLst>
              <a:gd name="adj" fmla="val 31894"/>
            </a:avLst>
          </a:prstGeom>
          <a:solidFill>
            <a:srgbClr val="76B900">
              <a:alpha val="12000"/>
            </a:srgbClr>
          </a:solidFill>
          <a:ln w="9525">
            <a:solidFill>
              <a:srgbClr val="76B900">
                <a:alpha val="25000"/>
              </a:srgbClr>
            </a:solidFill>
          </a:ln>
        </p:spPr>
        <p:txBody>
          <a:bodyPr wrap="square" rtlCol="0" anchor="t"/>
          <a:lstStyle/>
          <a:p>
            <a:pPr marL="0" indent="0">
              <a:buNone/>
            </a:pPr>
            <a:endParaRPr lang="en-US" dirty="0"/>
          </a:p>
        </p:txBody>
      </p:sp>
      <p:pic>
        <p:nvPicPr>
          <p:cNvPr id="11"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866305" y="1959173"/>
            <a:ext cx="236190" cy="236190"/>
          </a:xfrm>
          <a:prstGeom prst="rect">
            <a:avLst/>
          </a:prstGeom>
        </p:spPr>
      </p:pic>
      <p:sp>
        <p:nvSpPr>
          <p:cNvPr id="12" name="Text 9"/>
          <p:cNvSpPr/>
          <p:nvPr/>
        </p:nvSpPr>
        <p:spPr>
          <a:xfrm>
            <a:off x="1410593" y="2474119"/>
            <a:ext cx="70991" cy="70991"/>
          </a:xfrm>
          <a:prstGeom prst="ellipse">
            <a:avLst/>
          </a:prstGeom>
          <a:solidFill>
            <a:srgbClr val="76B900"/>
          </a:solidFill>
          <a:ln/>
        </p:spPr>
        <p:txBody>
          <a:bodyPr wrap="none" rtlCol="0" anchor="t"/>
          <a:lstStyle/>
          <a:p>
            <a:pPr marL="0" indent="0">
              <a:buNone/>
            </a:pPr>
            <a:endParaRPr lang="en-US" dirty="0"/>
          </a:p>
        </p:txBody>
      </p:sp>
      <p:sp>
        <p:nvSpPr>
          <p:cNvPr id="13" name="Text 10"/>
          <p:cNvSpPr/>
          <p:nvPr/>
        </p:nvSpPr>
        <p:spPr>
          <a:xfrm>
            <a:off x="1538734" y="2400002"/>
            <a:ext cx="1019473" cy="241310"/>
          </a:xfrm>
          <a:prstGeom prst="roundRect">
            <a:avLst>
              <a:gd name="adj" fmla="val 59471"/>
            </a:avLst>
          </a:prstGeom>
          <a:solidFill>
            <a:srgbClr val="76B900">
              <a:alpha val="20000"/>
            </a:srgbClr>
          </a:solidFill>
          <a:ln w="9525">
            <a:solidFill>
              <a:srgbClr val="76B900">
                <a:alpha val="40000"/>
              </a:srgbClr>
            </a:solidFill>
          </a:ln>
        </p:spPr>
        <p:txBody>
          <a:bodyPr wrap="none" lIns="0" tIns="0" rIns="0" bIns="0" rtlCol="0" anchor="ctr"/>
          <a:lstStyle/>
          <a:p>
            <a:pPr marL="0" indent="0" algn="ctr">
              <a:buNone/>
            </a:pPr>
            <a:r>
              <a:rPr lang="en-US" sz="680" b="1" dirty="0">
                <a:solidFill>
                  <a:srgbClr val="76B900"/>
                </a:solidFill>
                <a:latin typeface="Consolas" pitchFamily="34" charset="0"/>
                <a:ea typeface="Consolas" pitchFamily="34" charset="-122"/>
                <a:cs typeface="Consolas" pitchFamily="34" charset="-120"/>
              </a:rPr>
              <a:t>POWERHOUSE</a:t>
            </a:r>
            <a:endParaRPr lang="en-US" sz="680" dirty="0"/>
          </a:p>
        </p:txBody>
      </p:sp>
      <p:sp>
        <p:nvSpPr>
          <p:cNvPr id="14" name="Text 11"/>
          <p:cNvSpPr/>
          <p:nvPr/>
        </p:nvSpPr>
        <p:spPr>
          <a:xfrm>
            <a:off x="1128372" y="2733526"/>
            <a:ext cx="1712055" cy="278160"/>
          </a:xfrm>
          <a:prstGeom prst="rect">
            <a:avLst/>
          </a:prstGeom>
          <a:noFill/>
          <a:ln/>
        </p:spPr>
        <p:txBody>
          <a:bodyPr wrap="none" lIns="0" tIns="0" rIns="0" bIns="0" rtlCol="0" anchor="ctr"/>
          <a:lstStyle/>
          <a:p>
            <a:pPr marL="0" indent="0" algn="ctr">
              <a:lnSpc>
                <a:spcPts val="2190"/>
              </a:lnSpc>
              <a:spcBef>
                <a:spcPts val="560"/>
              </a:spcBef>
              <a:spcAft>
                <a:spcPts val="110"/>
              </a:spcAft>
              <a:buNone/>
            </a:pPr>
            <a:r>
              <a:rPr lang="en-US" sz="1460" b="1" kern="0" spc="-20" dirty="0">
                <a:solidFill>
                  <a:srgbClr val="E2E8F0"/>
                </a:solidFill>
                <a:latin typeface="Consolas" pitchFamily="34" charset="0"/>
                <a:ea typeface="Consolas" pitchFamily="34" charset="-122"/>
                <a:cs typeface="Consolas" pitchFamily="34" charset="-120"/>
              </a:rPr>
              <a:t>NVIDIA DGX Spark</a:t>
            </a:r>
            <a:endParaRPr lang="en-US" sz="1460" dirty="0"/>
          </a:p>
        </p:txBody>
      </p:sp>
      <p:sp>
        <p:nvSpPr>
          <p:cNvPr id="15" name="Text 12"/>
          <p:cNvSpPr/>
          <p:nvPr/>
        </p:nvSpPr>
        <p:spPr>
          <a:xfrm>
            <a:off x="1525722" y="3139827"/>
            <a:ext cx="917356" cy="400050"/>
          </a:xfrm>
          <a:prstGeom prst="rect">
            <a:avLst/>
          </a:prstGeom>
          <a:noFill/>
          <a:ln/>
        </p:spPr>
        <p:txBody>
          <a:bodyPr wrap="square" lIns="0" tIns="0" rIns="0" bIns="0" rtlCol="0" anchor="ctr"/>
          <a:lstStyle/>
          <a:p>
            <a:pPr marL="0" indent="0" algn="ctr">
              <a:lnSpc>
                <a:spcPts val="1800"/>
              </a:lnSpc>
              <a:buNone/>
            </a:pPr>
            <a:r>
              <a:rPr lang="en-US" sz="2930" b="1" dirty="0">
                <a:solidFill>
                  <a:srgbClr val="76B900"/>
                </a:solidFill>
                <a:latin typeface="Consolas" pitchFamily="34" charset="0"/>
                <a:ea typeface="Consolas" pitchFamily="34" charset="-122"/>
                <a:cs typeface="Consolas" pitchFamily="34" charset="-120"/>
              </a:rPr>
              <a:t>128</a:t>
            </a:r>
            <a:r>
              <a:rPr lang="en-US" sz="1200" dirty="0">
                <a:solidFill>
                  <a:srgbClr val="E2E8F0"/>
                </a:solidFill>
                <a:latin typeface="Calibri" pitchFamily="34" charset="0"/>
                <a:ea typeface="Calibri" pitchFamily="34" charset="-122"/>
                <a:cs typeface="Calibri" pitchFamily="34" charset="-120"/>
              </a:rPr>
              <a:t> </a:t>
            </a:r>
            <a:r>
              <a:rPr lang="en-US" sz="1130" dirty="0">
                <a:solidFill>
                  <a:srgbClr val="76B900"/>
                </a:solidFill>
                <a:latin typeface="Consolas" pitchFamily="34" charset="0"/>
                <a:ea typeface="Consolas" pitchFamily="34" charset="-122"/>
                <a:cs typeface="Consolas" pitchFamily="34" charset="-120"/>
              </a:rPr>
              <a:t>GB</a:t>
            </a:r>
            <a:endParaRPr lang="en-US" sz="1200" dirty="0"/>
          </a:p>
        </p:txBody>
      </p:sp>
      <p:sp>
        <p:nvSpPr>
          <p:cNvPr id="16" name="Text 13"/>
          <p:cNvSpPr/>
          <p:nvPr/>
        </p:nvSpPr>
        <p:spPr>
          <a:xfrm>
            <a:off x="1514951" y="3577977"/>
            <a:ext cx="939046" cy="171450"/>
          </a:xfrm>
          <a:prstGeom prst="rect">
            <a:avLst/>
          </a:prstGeom>
          <a:noFill/>
          <a:ln/>
        </p:spPr>
        <p:txBody>
          <a:bodyPr wrap="none" lIns="0" tIns="0" rIns="0" bIns="0" rtlCol="0" anchor="ctr"/>
          <a:lstStyle/>
          <a:p>
            <a:pPr marL="0" indent="0" algn="ctr">
              <a:lnSpc>
                <a:spcPts val="1350"/>
              </a:lnSpc>
              <a:buNone/>
            </a:pPr>
            <a:r>
              <a:rPr lang="en-US" sz="900" kern="0" spc="30" dirty="0">
                <a:solidFill>
                  <a:srgbClr val="8B9CB6"/>
                </a:solidFill>
                <a:latin typeface="Calibri" pitchFamily="34" charset="0"/>
                <a:ea typeface="Calibri" pitchFamily="34" charset="-122"/>
                <a:cs typeface="Calibri" pitchFamily="34" charset="-120"/>
              </a:rPr>
              <a:t>Unified Memory</a:t>
            </a:r>
            <a:endParaRPr lang="en-US" sz="900" dirty="0"/>
          </a:p>
        </p:txBody>
      </p:sp>
      <p:sp>
        <p:nvSpPr>
          <p:cNvPr id="17" name="Text 14"/>
          <p:cNvSpPr/>
          <p:nvPr/>
        </p:nvSpPr>
        <p:spPr>
          <a:xfrm>
            <a:off x="976493" y="3877568"/>
            <a:ext cx="2015814" cy="272355"/>
          </a:xfrm>
          <a:prstGeom prst="roundRect">
            <a:avLst>
              <a:gd name="adj" fmla="val 20984"/>
            </a:avLst>
          </a:prstGeom>
          <a:solidFill>
            <a:srgbClr val="76B900">
              <a:alpha val="8000"/>
            </a:srgbClr>
          </a:solidFill>
          <a:ln w="9525">
            <a:solidFill>
              <a:srgbClr val="76B900">
                <a:alpha val="15000"/>
              </a:srgbClr>
            </a:solidFill>
          </a:ln>
        </p:spPr>
        <p:txBody>
          <a:bodyPr wrap="none" lIns="128270" tIns="57150" rIns="128270" bIns="57150" rtlCol="0" anchor="t"/>
          <a:lstStyle/>
          <a:p>
            <a:pPr marL="0" indent="0" algn="ctr">
              <a:buNone/>
            </a:pPr>
            <a:r>
              <a:rPr lang="en-US" sz="730" dirty="0">
                <a:solidFill>
                  <a:srgbClr val="8B9CB6"/>
                </a:solidFill>
                <a:latin typeface="Consolas" pitchFamily="34" charset="0"/>
                <a:ea typeface="Consolas" pitchFamily="34" charset="-122"/>
                <a:cs typeface="Consolas" pitchFamily="34" charset="-120"/>
              </a:rPr>
              <a:t>LLM Server • Agent Host • GPU Compute</a:t>
            </a:r>
            <a:endParaRPr lang="en-US" sz="730" dirty="0"/>
          </a:p>
        </p:txBody>
      </p:sp>
      <p:pic>
        <p:nvPicPr>
          <p:cNvPr id="18"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54028" y="2980879"/>
            <a:ext cx="171450" cy="64740"/>
          </a:xfrm>
          <a:prstGeom prst="rect">
            <a:avLst/>
          </a:prstGeom>
        </p:spPr>
      </p:pic>
      <p:sp>
        <p:nvSpPr>
          <p:cNvPr id="19" name="Text 15"/>
          <p:cNvSpPr/>
          <p:nvPr/>
        </p:nvSpPr>
        <p:spPr>
          <a:xfrm>
            <a:off x="3996928" y="1630859"/>
            <a:ext cx="2130326" cy="2786360"/>
          </a:xfrm>
          <a:prstGeom prst="roundRect">
            <a:avLst>
              <a:gd name="adj" fmla="val 5365"/>
            </a:avLst>
          </a:prstGeom>
          <a:gradFill rotWithShape="1">
            <a:gsLst>
              <a:gs pos="0">
                <a:srgbClr val="1A2332"/>
              </a:gs>
              <a:gs pos="100000">
                <a:srgbClr val="141C28"/>
              </a:gs>
            </a:gsLst>
            <a:lin ang="3300000" scaled="1"/>
          </a:gradFill>
          <a:ln w="9525">
            <a:solidFill>
              <a:srgbClr val="8B9CB6">
                <a:alpha val="20000"/>
              </a:srgbClr>
            </a:solidFill>
          </a:ln>
        </p:spPr>
        <p:txBody>
          <a:bodyPr wrap="square" rtlCol="0" anchor="t"/>
          <a:lstStyle/>
          <a:p>
            <a:pPr marL="0" indent="0">
              <a:buNone/>
            </a:pPr>
            <a:endParaRPr lang="en-US" dirty="0"/>
          </a:p>
        </p:txBody>
      </p:sp>
      <p:sp>
        <p:nvSpPr>
          <p:cNvPr id="20" name="Text 16"/>
          <p:cNvSpPr/>
          <p:nvPr/>
        </p:nvSpPr>
        <p:spPr>
          <a:xfrm>
            <a:off x="4804916" y="2009626"/>
            <a:ext cx="514350" cy="514350"/>
          </a:xfrm>
          <a:prstGeom prst="roundRect">
            <a:avLst>
              <a:gd name="adj" fmla="val 19506"/>
            </a:avLst>
          </a:prstGeom>
          <a:solidFill>
            <a:srgbClr val="8B9CB6">
              <a:alpha val="8000"/>
            </a:srgbClr>
          </a:solidFill>
          <a:ln w="9525">
            <a:solidFill>
              <a:srgbClr val="8B9CB6">
                <a:alpha val="15000"/>
              </a:srgbClr>
            </a:solidFill>
          </a:ln>
        </p:spPr>
        <p:txBody>
          <a:bodyPr wrap="square" rtlCol="0" anchor="t"/>
          <a:lstStyle/>
          <a:p>
            <a:pPr marL="0" indent="0">
              <a:buNone/>
            </a:pPr>
            <a:endParaRPr lang="en-US" dirty="0"/>
          </a:p>
        </p:txBody>
      </p:sp>
      <p:pic>
        <p:nvPicPr>
          <p:cNvPr id="21"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54935" y="2159645"/>
            <a:ext cx="214313" cy="214313"/>
          </a:xfrm>
          <a:prstGeom prst="rect">
            <a:avLst/>
          </a:prstGeom>
        </p:spPr>
      </p:pic>
      <p:sp>
        <p:nvSpPr>
          <p:cNvPr id="22" name="Text 17"/>
          <p:cNvSpPr/>
          <p:nvPr/>
        </p:nvSpPr>
        <p:spPr>
          <a:xfrm>
            <a:off x="4230283" y="2667446"/>
            <a:ext cx="1663467" cy="236190"/>
          </a:xfrm>
          <a:prstGeom prst="rect">
            <a:avLst/>
          </a:prstGeom>
          <a:noFill/>
          <a:ln/>
        </p:spPr>
        <p:txBody>
          <a:bodyPr wrap="none" lIns="0" tIns="0" rIns="0" bIns="0" rtlCol="0" anchor="ctr"/>
          <a:lstStyle/>
          <a:p>
            <a:pPr marL="0" indent="0" algn="ctr">
              <a:lnSpc>
                <a:spcPts val="1860"/>
              </a:lnSpc>
              <a:spcAft>
                <a:spcPts val="560"/>
              </a:spcAft>
              <a:buNone/>
            </a:pPr>
            <a:r>
              <a:rPr lang="en-US" sz="1240" b="1" dirty="0">
                <a:solidFill>
                  <a:srgbClr val="E2E8F0"/>
                </a:solidFill>
                <a:latin typeface="Consolas" pitchFamily="34" charset="0"/>
                <a:ea typeface="Consolas" pitchFamily="34" charset="-122"/>
                <a:cs typeface="Consolas" pitchFamily="34" charset="-120"/>
              </a:rPr>
              <a:t>IBG Ethernet Switch</a:t>
            </a:r>
            <a:endParaRPr lang="en-US" sz="1240" dirty="0"/>
          </a:p>
        </p:txBody>
      </p:sp>
      <p:sp>
        <p:nvSpPr>
          <p:cNvPr id="23" name="Text 18"/>
          <p:cNvSpPr/>
          <p:nvPr/>
        </p:nvSpPr>
        <p:spPr>
          <a:xfrm>
            <a:off x="4832896" y="3060948"/>
            <a:ext cx="57150" cy="57150"/>
          </a:xfrm>
          <a:prstGeom prst="roundRect">
            <a:avLst>
              <a:gd name="adj" fmla="val 24445"/>
            </a:avLst>
          </a:prstGeom>
          <a:solidFill>
            <a:srgbClr val="76B900">
              <a:alpha val="90000"/>
            </a:srgbClr>
          </a:solidFill>
          <a:ln/>
        </p:spPr>
        <p:txBody>
          <a:bodyPr wrap="none" rtlCol="0" anchor="t"/>
          <a:lstStyle/>
          <a:p>
            <a:pPr marL="0" indent="0">
              <a:buNone/>
            </a:pPr>
            <a:endParaRPr lang="en-US" dirty="0"/>
          </a:p>
        </p:txBody>
      </p:sp>
      <p:sp>
        <p:nvSpPr>
          <p:cNvPr id="24" name="Text 19"/>
          <p:cNvSpPr/>
          <p:nvPr/>
        </p:nvSpPr>
        <p:spPr>
          <a:xfrm>
            <a:off x="4933206" y="3060948"/>
            <a:ext cx="57150" cy="57150"/>
          </a:xfrm>
          <a:prstGeom prst="roundRect">
            <a:avLst>
              <a:gd name="adj" fmla="val 24445"/>
            </a:avLst>
          </a:prstGeom>
          <a:solidFill>
            <a:srgbClr val="76B900">
              <a:alpha val="90000"/>
            </a:srgbClr>
          </a:solidFill>
          <a:ln/>
        </p:spPr>
        <p:txBody>
          <a:bodyPr wrap="none" rtlCol="0" anchor="t"/>
          <a:lstStyle/>
          <a:p>
            <a:pPr marL="0" indent="0">
              <a:buNone/>
            </a:pPr>
            <a:endParaRPr lang="en-US" dirty="0"/>
          </a:p>
        </p:txBody>
      </p:sp>
      <p:sp>
        <p:nvSpPr>
          <p:cNvPr id="25" name="Text 20"/>
          <p:cNvSpPr/>
          <p:nvPr/>
        </p:nvSpPr>
        <p:spPr>
          <a:xfrm>
            <a:off x="5033516" y="3060948"/>
            <a:ext cx="57150" cy="57150"/>
          </a:xfrm>
          <a:prstGeom prst="roundRect">
            <a:avLst>
              <a:gd name="adj" fmla="val 24445"/>
            </a:avLst>
          </a:prstGeom>
          <a:solidFill>
            <a:srgbClr val="8B9CB6">
              <a:alpha val="30000"/>
            </a:srgbClr>
          </a:solidFill>
          <a:ln/>
        </p:spPr>
        <p:txBody>
          <a:bodyPr wrap="none" rtlCol="0" anchor="t"/>
          <a:lstStyle/>
          <a:p>
            <a:pPr marL="0" indent="0">
              <a:buNone/>
            </a:pPr>
            <a:endParaRPr lang="en-US" dirty="0"/>
          </a:p>
        </p:txBody>
      </p:sp>
      <p:sp>
        <p:nvSpPr>
          <p:cNvPr id="26" name="Text 21"/>
          <p:cNvSpPr/>
          <p:nvPr/>
        </p:nvSpPr>
        <p:spPr>
          <a:xfrm>
            <a:off x="5133826" y="3060948"/>
            <a:ext cx="57150" cy="57150"/>
          </a:xfrm>
          <a:prstGeom prst="roundRect">
            <a:avLst>
              <a:gd name="adj" fmla="val 24445"/>
            </a:avLst>
          </a:prstGeom>
          <a:solidFill>
            <a:srgbClr val="8B9CB6">
              <a:alpha val="30000"/>
            </a:srgbClr>
          </a:solidFill>
          <a:ln/>
        </p:spPr>
        <p:txBody>
          <a:bodyPr wrap="none" rtlCol="0" anchor="t"/>
          <a:lstStyle/>
          <a:p>
            <a:pPr marL="0" indent="0">
              <a:buNone/>
            </a:pPr>
            <a:endParaRPr lang="en-US" dirty="0"/>
          </a:p>
        </p:txBody>
      </p:sp>
      <p:sp>
        <p:nvSpPr>
          <p:cNvPr id="27" name="Text 22"/>
          <p:cNvSpPr/>
          <p:nvPr/>
        </p:nvSpPr>
        <p:spPr>
          <a:xfrm>
            <a:off x="5234136" y="3060948"/>
            <a:ext cx="57150" cy="57150"/>
          </a:xfrm>
          <a:prstGeom prst="roundRect">
            <a:avLst>
              <a:gd name="adj" fmla="val 24445"/>
            </a:avLst>
          </a:prstGeom>
          <a:solidFill>
            <a:srgbClr val="8B9CB6">
              <a:alpha val="30000"/>
            </a:srgbClr>
          </a:solidFill>
          <a:ln/>
        </p:spPr>
        <p:txBody>
          <a:bodyPr wrap="none" rtlCol="0" anchor="t"/>
          <a:lstStyle/>
          <a:p>
            <a:pPr marL="0" indent="0">
              <a:buNone/>
            </a:pPr>
            <a:endParaRPr lang="en-US" dirty="0"/>
          </a:p>
        </p:txBody>
      </p:sp>
      <p:sp>
        <p:nvSpPr>
          <p:cNvPr id="28" name="Text 23"/>
          <p:cNvSpPr/>
          <p:nvPr/>
        </p:nvSpPr>
        <p:spPr>
          <a:xfrm>
            <a:off x="4530319" y="3290739"/>
            <a:ext cx="1063544" cy="358482"/>
          </a:xfrm>
          <a:prstGeom prst="rect">
            <a:avLst/>
          </a:prstGeom>
          <a:noFill/>
          <a:ln/>
        </p:spPr>
        <p:txBody>
          <a:bodyPr wrap="square" lIns="0" tIns="0" rIns="0" bIns="0" rtlCol="0" anchor="ctr"/>
          <a:lstStyle/>
          <a:p>
            <a:pPr marL="0" indent="0" algn="ctr">
              <a:lnSpc>
                <a:spcPts val="1344"/>
              </a:lnSpc>
              <a:spcBef>
                <a:spcPts val="680"/>
              </a:spcBef>
              <a:buNone/>
            </a:pPr>
            <a:r>
              <a:rPr lang="en-US" sz="840" dirty="0">
                <a:solidFill>
                  <a:srgbClr val="8B9CB6"/>
                </a:solidFill>
                <a:latin typeface="Calibri" pitchFamily="34" charset="0"/>
                <a:ea typeface="Calibri" pitchFamily="34" charset="-122"/>
                <a:cs typeface="Calibri" pitchFamily="34" charset="-120"/>
              </a:rPr>
              <a:t>Local network bridge</a:t>
            </a:r>
            <a:br/>
            <a:r>
              <a:rPr lang="en-US" sz="840" dirty="0">
                <a:solidFill>
                  <a:srgbClr val="8B9CB6"/>
                </a:solidFill>
                <a:latin typeface="Calibri" pitchFamily="34" charset="0"/>
                <a:ea typeface="Calibri" pitchFamily="34" charset="-122"/>
                <a:cs typeface="Calibri" pitchFamily="34" charset="-120"/>
              </a:rPr>
              <a:t>connecting all devices</a:t>
            </a:r>
            <a:endParaRPr lang="en-US" sz="840" dirty="0"/>
          </a:p>
        </p:txBody>
      </p:sp>
      <p:sp>
        <p:nvSpPr>
          <p:cNvPr id="29" name="Text 24"/>
          <p:cNvSpPr/>
          <p:nvPr/>
        </p:nvSpPr>
        <p:spPr>
          <a:xfrm>
            <a:off x="4534418" y="3775621"/>
            <a:ext cx="1055346" cy="262830"/>
          </a:xfrm>
          <a:prstGeom prst="roundRect">
            <a:avLst>
              <a:gd name="adj" fmla="val 21744"/>
            </a:avLst>
          </a:prstGeom>
          <a:solidFill>
            <a:srgbClr val="8B9CB6">
              <a:alpha val="6000"/>
            </a:srgbClr>
          </a:solidFill>
          <a:ln w="9525">
            <a:solidFill>
              <a:srgbClr val="8B9CB6">
                <a:alpha val="12000"/>
              </a:srgbClr>
            </a:solidFill>
          </a:ln>
        </p:spPr>
        <p:txBody>
          <a:bodyPr wrap="none" lIns="114300" tIns="57150" rIns="114300" bIns="57150" rtlCol="0" anchor="t"/>
          <a:lstStyle/>
          <a:p>
            <a:pPr marL="0" indent="0" algn="ctr">
              <a:buNone/>
            </a:pPr>
            <a:r>
              <a:rPr lang="en-US" sz="680" dirty="0">
                <a:solidFill>
                  <a:srgbClr val="8B9CB6"/>
                </a:solidFill>
                <a:latin typeface="Consolas" pitchFamily="34" charset="0"/>
                <a:ea typeface="Consolas" pitchFamily="34" charset="-122"/>
                <a:cs typeface="Consolas" pitchFamily="34" charset="-120"/>
              </a:rPr>
              <a:t>Wired • Low Latency</a:t>
            </a:r>
            <a:endParaRPr lang="en-US" sz="680" dirty="0"/>
          </a:p>
        </p:txBody>
      </p:sp>
      <p:pic>
        <p:nvPicPr>
          <p:cNvPr id="30"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41554" y="2980879"/>
            <a:ext cx="171450" cy="64740"/>
          </a:xfrm>
          <a:prstGeom prst="rect">
            <a:avLst/>
          </a:prstGeom>
        </p:spPr>
      </p:pic>
      <p:sp>
        <p:nvSpPr>
          <p:cNvPr id="31" name="Text 25"/>
          <p:cNvSpPr/>
          <p:nvPr/>
        </p:nvSpPr>
        <p:spPr>
          <a:xfrm>
            <a:off x="6584454" y="1630859"/>
            <a:ext cx="2130326" cy="2786360"/>
          </a:xfrm>
          <a:prstGeom prst="roundRect">
            <a:avLst>
              <a:gd name="adj" fmla="val 5365"/>
            </a:avLst>
          </a:prstGeom>
          <a:gradFill rotWithShape="1">
            <a:gsLst>
              <a:gs pos="0">
                <a:srgbClr val="1A2332"/>
              </a:gs>
              <a:gs pos="100000">
                <a:srgbClr val="141C28"/>
              </a:gs>
            </a:gsLst>
            <a:lin ang="3300000" scaled="1"/>
          </a:gradFill>
          <a:ln w="9525">
            <a:solidFill>
              <a:srgbClr val="8B9CB6">
                <a:alpha val="20000"/>
              </a:srgbClr>
            </a:solidFill>
          </a:ln>
        </p:spPr>
        <p:txBody>
          <a:bodyPr wrap="square" rtlCol="0" anchor="t"/>
          <a:lstStyle/>
          <a:p>
            <a:pPr marL="0" indent="0">
              <a:buNone/>
            </a:pPr>
            <a:endParaRPr lang="en-US" dirty="0"/>
          </a:p>
        </p:txBody>
      </p:sp>
      <p:sp>
        <p:nvSpPr>
          <p:cNvPr id="32" name="Text 26"/>
          <p:cNvSpPr/>
          <p:nvPr/>
        </p:nvSpPr>
        <p:spPr>
          <a:xfrm>
            <a:off x="7392442" y="1930003"/>
            <a:ext cx="514350" cy="514350"/>
          </a:xfrm>
          <a:prstGeom prst="roundRect">
            <a:avLst>
              <a:gd name="adj" fmla="val 19506"/>
            </a:avLst>
          </a:prstGeom>
          <a:solidFill>
            <a:srgbClr val="8B9CB6">
              <a:alpha val="8000"/>
            </a:srgbClr>
          </a:solidFill>
          <a:ln w="9525">
            <a:solidFill>
              <a:srgbClr val="8B9CB6">
                <a:alpha val="15000"/>
              </a:srgbClr>
            </a:solidFill>
          </a:ln>
        </p:spPr>
        <p:txBody>
          <a:bodyPr wrap="square" rtlCol="0" anchor="t"/>
          <a:lstStyle/>
          <a:p>
            <a:pPr marL="0" indent="0">
              <a:buNone/>
            </a:pPr>
            <a:endParaRPr lang="en-US" dirty="0"/>
          </a:p>
        </p:txBody>
      </p:sp>
      <p:pic>
        <p:nvPicPr>
          <p:cNvPr id="3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542461" y="2080022"/>
            <a:ext cx="214313" cy="214313"/>
          </a:xfrm>
          <a:prstGeom prst="rect">
            <a:avLst/>
          </a:prstGeom>
        </p:spPr>
      </p:pic>
      <p:sp>
        <p:nvSpPr>
          <p:cNvPr id="34" name="Text 27"/>
          <p:cNvSpPr/>
          <p:nvPr/>
        </p:nvSpPr>
        <p:spPr>
          <a:xfrm>
            <a:off x="6880175" y="2587823"/>
            <a:ext cx="1538883" cy="236190"/>
          </a:xfrm>
          <a:prstGeom prst="rect">
            <a:avLst/>
          </a:prstGeom>
          <a:noFill/>
          <a:ln/>
        </p:spPr>
        <p:txBody>
          <a:bodyPr wrap="none" lIns="0" tIns="0" rIns="0" bIns="0" rtlCol="0" anchor="ctr"/>
          <a:lstStyle/>
          <a:p>
            <a:pPr marL="0" indent="0" algn="ctr">
              <a:lnSpc>
                <a:spcPts val="1860"/>
              </a:lnSpc>
              <a:spcAft>
                <a:spcPts val="560"/>
              </a:spcAft>
              <a:buNone/>
            </a:pPr>
            <a:r>
              <a:rPr lang="en-US" sz="1240" b="1" dirty="0">
                <a:solidFill>
                  <a:srgbClr val="E2E8F0"/>
                </a:solidFill>
                <a:latin typeface="Consolas" pitchFamily="34" charset="0"/>
                <a:ea typeface="Consolas" pitchFamily="34" charset="-122"/>
                <a:cs typeface="Consolas" pitchFamily="34" charset="-120"/>
              </a:rPr>
              <a:t>2015 MacBook Pro</a:t>
            </a:r>
            <a:endParaRPr lang="en-US" sz="1240" dirty="0"/>
          </a:p>
        </p:txBody>
      </p:sp>
      <p:sp>
        <p:nvSpPr>
          <p:cNvPr id="35" name="Text 28"/>
          <p:cNvSpPr/>
          <p:nvPr/>
        </p:nvSpPr>
        <p:spPr>
          <a:xfrm>
            <a:off x="7280970" y="2981325"/>
            <a:ext cx="737146" cy="238036"/>
          </a:xfrm>
          <a:prstGeom prst="roundRect">
            <a:avLst>
              <a:gd name="adj" fmla="val 18140"/>
            </a:avLst>
          </a:prstGeom>
          <a:solidFill>
            <a:srgbClr val="8B9CB6">
              <a:alpha val="10000"/>
            </a:srgbClr>
          </a:solidFill>
          <a:ln w="9525">
            <a:solidFill>
              <a:srgbClr val="8B9CB6">
                <a:alpha val="15000"/>
              </a:srgbClr>
            </a:solidFill>
          </a:ln>
        </p:spPr>
        <p:txBody>
          <a:bodyPr wrap="none" lIns="0" tIns="0" rIns="0" bIns="0" rtlCol="0" anchor="ctr"/>
          <a:lstStyle/>
          <a:p>
            <a:pPr marL="0" indent="0" algn="ctr">
              <a:buNone/>
            </a:pPr>
            <a:r>
              <a:rPr lang="en-US" sz="730" dirty="0">
                <a:solidFill>
                  <a:srgbClr val="8B9CB6"/>
                </a:solidFill>
                <a:latin typeface="Consolas" pitchFamily="34" charset="0"/>
                <a:ea typeface="Consolas" pitchFamily="34" charset="-122"/>
                <a:cs typeface="Consolas" pitchFamily="34" charset="-120"/>
              </a:rPr>
              <a:t>Client Device</a:t>
            </a:r>
            <a:endParaRPr lang="en-US" sz="730" dirty="0"/>
          </a:p>
        </p:txBody>
      </p:sp>
      <p:sp>
        <p:nvSpPr>
          <p:cNvPr id="36" name="Text 29"/>
          <p:cNvSpPr/>
          <p:nvPr/>
        </p:nvSpPr>
        <p:spPr>
          <a:xfrm>
            <a:off x="7090673" y="3370362"/>
            <a:ext cx="1117738" cy="358482"/>
          </a:xfrm>
          <a:prstGeom prst="rect">
            <a:avLst/>
          </a:prstGeom>
          <a:noFill/>
          <a:ln/>
        </p:spPr>
        <p:txBody>
          <a:bodyPr wrap="square" lIns="0" tIns="0" rIns="0" bIns="0" rtlCol="0" anchor="ctr"/>
          <a:lstStyle/>
          <a:p>
            <a:pPr marL="0" indent="0" algn="ctr">
              <a:lnSpc>
                <a:spcPts val="1344"/>
              </a:lnSpc>
              <a:spcBef>
                <a:spcPts val="680"/>
              </a:spcBef>
              <a:buNone/>
            </a:pPr>
            <a:r>
              <a:rPr lang="en-US" sz="840" dirty="0">
                <a:solidFill>
                  <a:srgbClr val="8B9CB6"/>
                </a:solidFill>
                <a:latin typeface="Calibri" pitchFamily="34" charset="0"/>
                <a:ea typeface="Calibri" pitchFamily="34" charset="-122"/>
                <a:cs typeface="Calibri" pitchFamily="34" charset="-120"/>
              </a:rPr>
              <a:t>Browser-based UI</a:t>
            </a:r>
            <a:br/>
            <a:r>
              <a:rPr lang="en-US" sz="840" dirty="0">
                <a:solidFill>
                  <a:srgbClr val="8B9CB6"/>
                </a:solidFill>
                <a:latin typeface="Calibri" pitchFamily="34" charset="0"/>
                <a:ea typeface="Calibri" pitchFamily="34" charset="-122"/>
                <a:cs typeface="Calibri" pitchFamily="34" charset="-120"/>
              </a:rPr>
              <a:t>for interaction &amp; control</a:t>
            </a:r>
            <a:endParaRPr lang="en-US" sz="840" dirty="0"/>
          </a:p>
        </p:txBody>
      </p:sp>
      <p:sp>
        <p:nvSpPr>
          <p:cNvPr id="37" name="Text 30"/>
          <p:cNvSpPr/>
          <p:nvPr/>
        </p:nvSpPr>
        <p:spPr>
          <a:xfrm>
            <a:off x="7064867" y="3855244"/>
            <a:ext cx="1169352" cy="262830"/>
          </a:xfrm>
          <a:prstGeom prst="roundRect">
            <a:avLst>
              <a:gd name="adj" fmla="val 21744"/>
            </a:avLst>
          </a:prstGeom>
          <a:solidFill>
            <a:srgbClr val="8B9CB6">
              <a:alpha val="6000"/>
            </a:srgbClr>
          </a:solidFill>
          <a:ln w="9525">
            <a:solidFill>
              <a:srgbClr val="8B9CB6">
                <a:alpha val="12000"/>
              </a:srgbClr>
            </a:solidFill>
          </a:ln>
        </p:spPr>
        <p:txBody>
          <a:bodyPr wrap="none" lIns="114300" tIns="57150" rIns="114300" bIns="57150" rtlCol="0" anchor="t"/>
          <a:lstStyle/>
          <a:p>
            <a:pPr marL="0" indent="0" algn="ctr">
              <a:buNone/>
            </a:pPr>
            <a:r>
              <a:rPr lang="en-US" sz="680" dirty="0">
                <a:solidFill>
                  <a:srgbClr val="8B9CB6"/>
                </a:solidFill>
                <a:latin typeface="Consolas" pitchFamily="34" charset="0"/>
                <a:ea typeface="Consolas" pitchFamily="34" charset="-122"/>
                <a:cs typeface="Consolas" pitchFamily="34" charset="-120"/>
              </a:rPr>
              <a:t>Open WebUI • Terminal</a:t>
            </a:r>
            <a:endParaRPr lang="en-US" sz="680" dirty="0"/>
          </a:p>
        </p:txBody>
      </p:sp>
      <p:sp>
        <p:nvSpPr>
          <p:cNvPr id="38" name="Text 31"/>
          <p:cNvSpPr/>
          <p:nvPr/>
        </p:nvSpPr>
        <p:spPr>
          <a:xfrm>
            <a:off x="429220" y="4784378"/>
            <a:ext cx="2846636" cy="7590"/>
          </a:xfrm>
          <a:prstGeom prst="rect">
            <a:avLst/>
          </a:prstGeom>
          <a:gradFill rotWithShape="1">
            <a:gsLst>
              <a:gs pos="0">
                <a:srgbClr val="000000">
                  <a:alpha val="0"/>
                </a:srgbClr>
              </a:gs>
              <a:gs pos="50000">
                <a:srgbClr val="76B900">
                  <a:alpha val="20000"/>
                </a:srgbClr>
              </a:gs>
              <a:gs pos="100000">
                <a:srgbClr val="76B900">
                  <a:alpha val="40000"/>
                </a:srgbClr>
              </a:gs>
            </a:gsLst>
            <a:lin ang="0" scaled="1"/>
          </a:gradFill>
          <a:ln/>
        </p:spPr>
        <p:txBody>
          <a:bodyPr wrap="none" rtlCol="0" anchor="t"/>
          <a:lstStyle/>
          <a:p>
            <a:pPr marL="0" indent="0">
              <a:buNone/>
            </a:pPr>
            <a:endParaRPr lang="en-US" dirty="0"/>
          </a:p>
        </p:txBody>
      </p:sp>
      <p:sp>
        <p:nvSpPr>
          <p:cNvPr id="39" name="Text 32"/>
          <p:cNvSpPr/>
          <p:nvPr/>
        </p:nvSpPr>
        <p:spPr>
          <a:xfrm>
            <a:off x="3390156" y="4718745"/>
            <a:ext cx="2599893" cy="139005"/>
          </a:xfrm>
          <a:prstGeom prst="rect">
            <a:avLst/>
          </a:prstGeom>
          <a:noFill/>
          <a:ln/>
        </p:spPr>
        <p:txBody>
          <a:bodyPr wrap="none" lIns="0" tIns="0" rIns="0" bIns="0" rtlCol="0" anchor="ctr"/>
          <a:lstStyle/>
          <a:p>
            <a:pPr marL="0" indent="0" algn="l">
              <a:lnSpc>
                <a:spcPts val="1095"/>
              </a:lnSpc>
              <a:buNone/>
            </a:pPr>
            <a:r>
              <a:rPr lang="en-US" sz="730" dirty="0">
                <a:solidFill>
                  <a:srgbClr val="76B900"/>
                </a:solidFill>
                <a:latin typeface="Consolas" pitchFamily="34" charset="0"/>
                <a:ea typeface="Consolas" pitchFamily="34" charset="-122"/>
                <a:cs typeface="Consolas" pitchFamily="34" charset="-120"/>
              </a:rPr>
              <a:t>DGX SPARK → ETHERNET → MACBOOK PRO</a:t>
            </a:r>
            <a:endParaRPr lang="en-US" sz="730" dirty="0"/>
          </a:p>
        </p:txBody>
      </p:sp>
      <p:sp>
        <p:nvSpPr>
          <p:cNvPr id="40" name="Text 33"/>
          <p:cNvSpPr/>
          <p:nvPr/>
        </p:nvSpPr>
        <p:spPr>
          <a:xfrm>
            <a:off x="5867995" y="4784378"/>
            <a:ext cx="2846784" cy="7590"/>
          </a:xfrm>
          <a:prstGeom prst="rect">
            <a:avLst/>
          </a:prstGeom>
          <a:gradFill rotWithShape="1">
            <a:gsLst>
              <a:gs pos="0">
                <a:srgbClr val="76B900">
                  <a:alpha val="40000"/>
                </a:srgbClr>
              </a:gs>
              <a:gs pos="50000">
                <a:srgbClr val="76B900">
                  <a:alpha val="20000"/>
                </a:srgbClr>
              </a:gs>
              <a:gs pos="100000">
                <a:srgbClr val="000000">
                  <a:alpha val="0"/>
                </a:srgbClr>
              </a:gs>
            </a:gsLst>
            <a:lin ang="0" scaled="1"/>
          </a:gradFill>
          <a:ln/>
        </p:spPr>
        <p:txBody>
          <a:bodyPr wrap="none" rtlCol="0" anchor="t"/>
          <a:lstStyle/>
          <a:p>
            <a:pPr marL="0" indent="0">
              <a:buNone/>
            </a:pP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2">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429220" y="342900"/>
            <a:ext cx="1533531" cy="244376"/>
          </a:xfrm>
          <a:prstGeom prst="roundRect">
            <a:avLst>
              <a:gd name="adj" fmla="val 23386"/>
            </a:avLst>
          </a:prstGeom>
          <a:solidFill>
            <a:srgbClr val="76B900">
              <a:alpha val="8000"/>
            </a:srgbClr>
          </a:solidFill>
          <a:ln w="9525">
            <a:solidFill>
              <a:srgbClr val="76B900">
                <a:alpha val="20000"/>
              </a:srgbClr>
            </a:solidFill>
          </a:ln>
        </p:spPr>
        <p:txBody>
          <a:bodyPr wrap="none" lIns="271145" tIns="43180" rIns="114300" bIns="43180" rtlCol="0" anchor="ctr"/>
          <a:lstStyle/>
          <a:p>
            <a:pPr marL="0" indent="0" algn="l">
              <a:buNone/>
            </a:pPr>
            <a:r>
              <a:rPr lang="en-US" sz="730" kern="0" spc="30" dirty="0">
                <a:solidFill>
                  <a:srgbClr val="76B900"/>
                </a:solidFill>
                <a:latin typeface="Consolas" pitchFamily="34" charset="0"/>
                <a:ea typeface="Consolas" pitchFamily="34" charset="-122"/>
                <a:cs typeface="Consolas" pitchFamily="34" charset="-120"/>
              </a:rPr>
              <a:t>PRACTICAL GUIDANCE</a:t>
            </a:r>
            <a:endParaRPr lang="en-US" sz="730" dirty="0"/>
          </a:p>
        </p:txBody>
      </p:sp>
      <p:pic>
        <p:nvPicPr>
          <p:cNvPr id="3"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29614" y="398794"/>
            <a:ext cx="132588" cy="132588"/>
          </a:xfrm>
          <a:prstGeom prst="rect">
            <a:avLst/>
          </a:prstGeom>
        </p:spPr>
      </p:pic>
      <p:sp>
        <p:nvSpPr>
          <p:cNvPr id="4" name="Text 1"/>
          <p:cNvSpPr/>
          <p:nvPr/>
        </p:nvSpPr>
        <p:spPr>
          <a:xfrm>
            <a:off x="278451" y="520285"/>
            <a:ext cx="8865549" cy="386655"/>
          </a:xfrm>
          <a:prstGeom prst="rect">
            <a:avLst/>
          </a:prstGeom>
          <a:noFill/>
          <a:ln/>
        </p:spPr>
        <p:txBody>
          <a:bodyPr wrap="none" lIns="0" tIns="0" rIns="0" bIns="0" rtlCol="0" anchor="t"/>
          <a:lstStyle/>
          <a:p>
            <a:pPr marL="0" indent="0" algn="l">
              <a:lnSpc>
                <a:spcPts val="3045"/>
              </a:lnSpc>
              <a:spcAft>
                <a:spcPts val="340"/>
              </a:spcAft>
              <a:buNone/>
            </a:pPr>
            <a:r>
              <a:rPr lang="en-US" sz="2030" kern="0" spc="-30" dirty="0">
                <a:solidFill>
                  <a:srgbClr val="E2E8F0"/>
                </a:solidFill>
                <a:latin typeface="Consolas" pitchFamily="34" charset="0"/>
                <a:ea typeface="Consolas" pitchFamily="34" charset="-122"/>
                <a:cs typeface="Consolas" pitchFamily="34" charset="-120"/>
              </a:rPr>
              <a:t>       Best Practices </a:t>
            </a:r>
            <a:r>
              <a:rPr lang="en-US" sz="2030" b="1" kern="0" spc="-30" dirty="0">
                <a:solidFill>
                  <a:srgbClr val="76B900"/>
                </a:solidFill>
                <a:latin typeface="Consolas" pitchFamily="34" charset="0"/>
                <a:ea typeface="Consolas" pitchFamily="34" charset="-122"/>
                <a:cs typeface="Consolas" pitchFamily="34" charset="-120"/>
              </a:rPr>
              <a:t>&amp;</a:t>
            </a:r>
            <a:r>
              <a:rPr lang="en-US" sz="2030" kern="0" spc="-30" dirty="0">
                <a:solidFill>
                  <a:srgbClr val="E2E8F0"/>
                </a:solidFill>
                <a:latin typeface="Consolas" pitchFamily="34" charset="0"/>
                <a:ea typeface="Consolas" pitchFamily="34" charset="-122"/>
                <a:cs typeface="Consolas" pitchFamily="34" charset="-120"/>
              </a:rPr>
              <a:t> Troubleshooting</a:t>
            </a:r>
            <a:br>
              <a:rPr dirty="0"/>
            </a:br>
            <a:r>
              <a:rPr lang="en-US" sz="2030" kern="0" spc="-30" dirty="0">
                <a:solidFill>
                  <a:srgbClr val="E2E8F0"/>
                </a:solidFill>
                <a:latin typeface="Consolas" pitchFamily="34" charset="0"/>
                <a:ea typeface="Consolas" pitchFamily="34" charset="-122"/>
                <a:cs typeface="Consolas" pitchFamily="34" charset="-120"/>
              </a:rPr>
              <a:t>    </a:t>
            </a:r>
            <a:endParaRPr lang="en-US" sz="2030" dirty="0"/>
          </a:p>
        </p:txBody>
      </p:sp>
      <p:sp>
        <p:nvSpPr>
          <p:cNvPr id="5" name="Text 2"/>
          <p:cNvSpPr/>
          <p:nvPr/>
        </p:nvSpPr>
        <p:spPr>
          <a:xfrm>
            <a:off x="486370" y="1074241"/>
            <a:ext cx="8657630" cy="224730"/>
          </a:xfrm>
          <a:prstGeom prst="rect">
            <a:avLst/>
          </a:prstGeom>
          <a:noFill/>
          <a:ln/>
        </p:spPr>
        <p:txBody>
          <a:bodyPr wrap="none" lIns="0" tIns="0" rIns="0" bIns="0" rtlCol="0" anchor="t"/>
          <a:lstStyle/>
          <a:p>
            <a:pPr marL="0" indent="0" algn="l">
              <a:lnSpc>
                <a:spcPts val="1260"/>
              </a:lnSpc>
              <a:spcAft>
                <a:spcPts val="1580"/>
              </a:spcAft>
              <a:buNone/>
            </a:pPr>
            <a:r>
              <a:rPr lang="en-US" sz="840" dirty="0">
                <a:solidFill>
                  <a:srgbClr val="8B9CB6"/>
                </a:solidFill>
                <a:latin typeface="Calibri" pitchFamily="34" charset="0"/>
                <a:ea typeface="Calibri" pitchFamily="34" charset="-122"/>
                <a:cs typeface="Calibri" pitchFamily="34" charset="-120"/>
              </a:rPr>
              <a:t>Five tips to get started safely and keep your local AI agent running smoothly.</a:t>
            </a:r>
            <a:endParaRPr lang="en-US" sz="840" dirty="0"/>
          </a:p>
        </p:txBody>
      </p:sp>
      <p:sp>
        <p:nvSpPr>
          <p:cNvPr id="6" name="Text 3"/>
          <p:cNvSpPr/>
          <p:nvPr/>
        </p:nvSpPr>
        <p:spPr>
          <a:xfrm>
            <a:off x="429220" y="1434852"/>
            <a:ext cx="2685604" cy="1024979"/>
          </a:xfrm>
          <a:prstGeom prst="roundRect">
            <a:avLst>
              <a:gd name="adj" fmla="val 9788"/>
            </a:avLst>
          </a:prstGeom>
          <a:solidFill>
            <a:srgbClr val="1A2332"/>
          </a:solidFill>
          <a:ln/>
        </p:spPr>
        <p:txBody>
          <a:bodyPr wrap="square" rtlCol="0" anchor="t"/>
          <a:lstStyle/>
          <a:p>
            <a:pPr marL="0" indent="0">
              <a:buNone/>
            </a:pPr>
            <a:endParaRPr lang="en-US" dirty="0"/>
          </a:p>
        </p:txBody>
      </p:sp>
      <p:sp>
        <p:nvSpPr>
          <p:cNvPr id="7" name="Text 4"/>
          <p:cNvSpPr/>
          <p:nvPr/>
        </p:nvSpPr>
        <p:spPr>
          <a:xfrm>
            <a:off x="429220" y="1434852"/>
            <a:ext cx="28575" cy="1024979"/>
          </a:xfrm>
          <a:custGeom>
            <a:avLst/>
            <a:gdLst/>
            <a:ahLst/>
            <a:cxnLst/>
            <a:rect l="l" t="t" r="r" b="b"/>
            <a:pathLst>
              <a:path w="28575" h="1024979">
                <a:moveTo>
                  <a:pt x="0" y="100330"/>
                </a:moveTo>
                <a:lnTo>
                  <a:pt x="3572" y="73797"/>
                </a:lnTo>
                <a:lnTo>
                  <a:pt x="7144" y="63149"/>
                </a:lnTo>
                <a:lnTo>
                  <a:pt x="10716" y="55215"/>
                </a:lnTo>
                <a:lnTo>
                  <a:pt x="14288" y="48727"/>
                </a:lnTo>
                <a:lnTo>
                  <a:pt x="17859" y="43192"/>
                </a:lnTo>
                <a:lnTo>
                  <a:pt x="21431" y="38353"/>
                </a:lnTo>
                <a:lnTo>
                  <a:pt x="25003" y="34058"/>
                </a:lnTo>
                <a:lnTo>
                  <a:pt x="28575" y="30206"/>
                </a:lnTo>
                <a:lnTo>
                  <a:pt x="28575" y="994773"/>
                </a:lnTo>
                <a:lnTo>
                  <a:pt x="25003" y="990921"/>
                </a:lnTo>
                <a:lnTo>
                  <a:pt x="21431" y="986626"/>
                </a:lnTo>
                <a:lnTo>
                  <a:pt x="17859" y="981787"/>
                </a:lnTo>
                <a:lnTo>
                  <a:pt x="14288" y="976252"/>
                </a:lnTo>
                <a:lnTo>
                  <a:pt x="10716" y="969765"/>
                </a:lnTo>
                <a:lnTo>
                  <a:pt x="7144" y="961831"/>
                </a:lnTo>
                <a:lnTo>
                  <a:pt x="3572" y="951182"/>
                </a:lnTo>
                <a:lnTo>
                  <a:pt x="0" y="924650"/>
                </a:lnTo>
                <a:close/>
              </a:path>
            </a:pathLst>
          </a:custGeom>
          <a:solidFill>
            <a:srgbClr val="76B900"/>
          </a:solidFill>
          <a:ln/>
        </p:spPr>
        <p:txBody>
          <a:bodyPr wrap="square" rtlCol="0" anchor="t"/>
          <a:lstStyle/>
          <a:p>
            <a:pPr marL="0" indent="0">
              <a:buNone/>
            </a:pPr>
            <a:endParaRPr lang="en-US" dirty="0"/>
          </a:p>
        </p:txBody>
      </p:sp>
      <p:sp>
        <p:nvSpPr>
          <p:cNvPr id="8" name="Text 5"/>
          <p:cNvSpPr/>
          <p:nvPr/>
        </p:nvSpPr>
        <p:spPr>
          <a:xfrm>
            <a:off x="2896195" y="1505843"/>
            <a:ext cx="130150" cy="139005"/>
          </a:xfrm>
          <a:prstGeom prst="rect">
            <a:avLst/>
          </a:prstGeom>
          <a:noFill/>
          <a:ln/>
        </p:spPr>
        <p:txBody>
          <a:bodyPr wrap="none" lIns="0" tIns="0" rIns="0" bIns="0" rtlCol="0" anchor="ctr"/>
          <a:lstStyle/>
          <a:p>
            <a:pPr marL="0" indent="0" algn="l">
              <a:lnSpc>
                <a:spcPts val="1095"/>
              </a:lnSpc>
              <a:buNone/>
            </a:pPr>
            <a:r>
              <a:rPr lang="en-US" sz="730" dirty="0">
                <a:solidFill>
                  <a:srgbClr val="76B900"/>
                </a:solidFill>
                <a:latin typeface="Consolas" pitchFamily="34" charset="0"/>
                <a:ea typeface="Consolas" pitchFamily="34" charset="-122"/>
                <a:cs typeface="Consolas" pitchFamily="34" charset="-120"/>
              </a:rPr>
              <a:t>01</a:t>
            </a:r>
            <a:endParaRPr lang="en-US" sz="730" dirty="0"/>
          </a:p>
        </p:txBody>
      </p:sp>
      <p:sp>
        <p:nvSpPr>
          <p:cNvPr id="9" name="Text 6"/>
          <p:cNvSpPr/>
          <p:nvPr/>
        </p:nvSpPr>
        <p:spPr>
          <a:xfrm>
            <a:off x="672405" y="1635472"/>
            <a:ext cx="342900" cy="342900"/>
          </a:xfrm>
          <a:prstGeom prst="roundRect">
            <a:avLst>
              <a:gd name="adj" fmla="val 25185"/>
            </a:avLst>
          </a:prstGeom>
          <a:solidFill>
            <a:srgbClr val="76B900">
              <a:alpha val="12000"/>
            </a:srgbClr>
          </a:solidFill>
          <a:ln/>
        </p:spPr>
        <p:txBody>
          <a:bodyPr wrap="square" rtlCol="0" anchor="t"/>
          <a:lstStyle/>
          <a:p>
            <a:pPr marL="0" indent="0">
              <a:buNone/>
            </a:pPr>
            <a:endParaRPr lang="en-US" dirty="0"/>
          </a:p>
        </p:txBody>
      </p:sp>
      <p:pic>
        <p:nvPicPr>
          <p:cNvPr id="10"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74353" y="1737420"/>
            <a:ext cx="139005" cy="139005"/>
          </a:xfrm>
          <a:prstGeom prst="rect">
            <a:avLst/>
          </a:prstGeom>
        </p:spPr>
      </p:pic>
      <p:sp>
        <p:nvSpPr>
          <p:cNvPr id="11" name="Text 7"/>
          <p:cNvSpPr/>
          <p:nvPr/>
        </p:nvSpPr>
        <p:spPr>
          <a:xfrm>
            <a:off x="1172766" y="1635472"/>
            <a:ext cx="1900193" cy="158353"/>
          </a:xfrm>
          <a:prstGeom prst="rect">
            <a:avLst/>
          </a:prstGeom>
          <a:noFill/>
          <a:ln/>
        </p:spPr>
        <p:txBody>
          <a:bodyPr wrap="none" lIns="0" tIns="0" rIns="0" bIns="0" rtlCol="0" anchor="t"/>
          <a:lstStyle/>
          <a:p>
            <a:pPr marL="0" indent="0" algn="l">
              <a:lnSpc>
                <a:spcPts val="1248"/>
              </a:lnSpc>
              <a:buNone/>
            </a:pPr>
            <a:r>
              <a:rPr lang="en-US" sz="960" b="1" dirty="0">
                <a:solidFill>
                  <a:srgbClr val="E2E8F0"/>
                </a:solidFill>
                <a:latin typeface="Consolas" pitchFamily="34" charset="0"/>
                <a:ea typeface="Consolas" pitchFamily="34" charset="-122"/>
                <a:cs typeface="Consolas" pitchFamily="34" charset="-120"/>
              </a:rPr>
              <a:t>Start small, then scale up</a:t>
            </a:r>
            <a:endParaRPr lang="en-US" sz="960" dirty="0"/>
          </a:p>
        </p:txBody>
      </p:sp>
      <p:sp>
        <p:nvSpPr>
          <p:cNvPr id="12" name="Text 8"/>
          <p:cNvSpPr/>
          <p:nvPr/>
        </p:nvSpPr>
        <p:spPr>
          <a:xfrm>
            <a:off x="1172766" y="1822996"/>
            <a:ext cx="1761997" cy="458026"/>
          </a:xfrm>
          <a:prstGeom prst="rect">
            <a:avLst/>
          </a:prstGeom>
          <a:noFill/>
          <a:ln/>
        </p:spPr>
        <p:txBody>
          <a:bodyPr wrap="square" lIns="0" tIns="0" rIns="0" bIns="0" rtlCol="0" anchor="t"/>
          <a:lstStyle/>
          <a:p>
            <a:pPr marL="0" indent="0" algn="l">
              <a:lnSpc>
                <a:spcPts val="1145"/>
              </a:lnSpc>
              <a:buNone/>
            </a:pPr>
            <a:r>
              <a:rPr lang="en-US" sz="790" dirty="0">
                <a:solidFill>
                  <a:srgbClr val="8B9CB6"/>
                </a:solidFill>
                <a:latin typeface="Calibri" pitchFamily="34" charset="0"/>
                <a:ea typeface="Calibri" pitchFamily="34" charset="-122"/>
                <a:cs typeface="Calibri" pitchFamily="34" charset="-120"/>
              </a:rPr>
              <a:t>Begin with 7B–13B models to learn the workflow, then move to 32B+ once you're comfortable.</a:t>
            </a:r>
            <a:endParaRPr lang="en-US" sz="790" dirty="0"/>
          </a:p>
        </p:txBody>
      </p:sp>
      <p:sp>
        <p:nvSpPr>
          <p:cNvPr id="13" name="Text 9"/>
          <p:cNvSpPr/>
          <p:nvPr/>
        </p:nvSpPr>
        <p:spPr>
          <a:xfrm>
            <a:off x="3229124" y="1434852"/>
            <a:ext cx="2685604" cy="1024979"/>
          </a:xfrm>
          <a:prstGeom prst="roundRect">
            <a:avLst>
              <a:gd name="adj" fmla="val 9788"/>
            </a:avLst>
          </a:prstGeom>
          <a:solidFill>
            <a:srgbClr val="1A2332"/>
          </a:solidFill>
          <a:ln/>
        </p:spPr>
        <p:txBody>
          <a:bodyPr wrap="square" rtlCol="0" anchor="t"/>
          <a:lstStyle/>
          <a:p>
            <a:pPr marL="0" indent="0">
              <a:buNone/>
            </a:pPr>
            <a:endParaRPr lang="en-US" dirty="0"/>
          </a:p>
        </p:txBody>
      </p:sp>
      <p:sp>
        <p:nvSpPr>
          <p:cNvPr id="14" name="Text 10"/>
          <p:cNvSpPr/>
          <p:nvPr/>
        </p:nvSpPr>
        <p:spPr>
          <a:xfrm>
            <a:off x="3229124" y="1434852"/>
            <a:ext cx="28575" cy="1024979"/>
          </a:xfrm>
          <a:custGeom>
            <a:avLst/>
            <a:gdLst/>
            <a:ahLst/>
            <a:cxnLst/>
            <a:rect l="l" t="t" r="r" b="b"/>
            <a:pathLst>
              <a:path w="28575" h="1024979">
                <a:moveTo>
                  <a:pt x="0" y="100330"/>
                </a:moveTo>
                <a:lnTo>
                  <a:pt x="3572" y="73797"/>
                </a:lnTo>
                <a:lnTo>
                  <a:pt x="7144" y="63149"/>
                </a:lnTo>
                <a:lnTo>
                  <a:pt x="10716" y="55215"/>
                </a:lnTo>
                <a:lnTo>
                  <a:pt x="14288" y="48727"/>
                </a:lnTo>
                <a:lnTo>
                  <a:pt x="17859" y="43192"/>
                </a:lnTo>
                <a:lnTo>
                  <a:pt x="21431" y="38353"/>
                </a:lnTo>
                <a:lnTo>
                  <a:pt x="25003" y="34058"/>
                </a:lnTo>
                <a:lnTo>
                  <a:pt x="28575" y="30206"/>
                </a:lnTo>
                <a:lnTo>
                  <a:pt x="28575" y="994773"/>
                </a:lnTo>
                <a:lnTo>
                  <a:pt x="25003" y="990921"/>
                </a:lnTo>
                <a:lnTo>
                  <a:pt x="21431" y="986626"/>
                </a:lnTo>
                <a:lnTo>
                  <a:pt x="17859" y="981787"/>
                </a:lnTo>
                <a:lnTo>
                  <a:pt x="14288" y="976252"/>
                </a:lnTo>
                <a:lnTo>
                  <a:pt x="10716" y="969765"/>
                </a:lnTo>
                <a:lnTo>
                  <a:pt x="7144" y="961831"/>
                </a:lnTo>
                <a:lnTo>
                  <a:pt x="3572" y="951182"/>
                </a:lnTo>
                <a:lnTo>
                  <a:pt x="0" y="924650"/>
                </a:lnTo>
                <a:close/>
              </a:path>
            </a:pathLst>
          </a:custGeom>
          <a:solidFill>
            <a:srgbClr val="76B900"/>
          </a:solidFill>
          <a:ln/>
        </p:spPr>
        <p:txBody>
          <a:bodyPr wrap="square" rtlCol="0" anchor="t"/>
          <a:lstStyle/>
          <a:p>
            <a:pPr marL="0" indent="0">
              <a:buNone/>
            </a:pPr>
            <a:endParaRPr lang="en-US" dirty="0"/>
          </a:p>
        </p:txBody>
      </p:sp>
      <p:sp>
        <p:nvSpPr>
          <p:cNvPr id="15" name="Text 11"/>
          <p:cNvSpPr/>
          <p:nvPr/>
        </p:nvSpPr>
        <p:spPr>
          <a:xfrm>
            <a:off x="5696099" y="1505843"/>
            <a:ext cx="130150" cy="139005"/>
          </a:xfrm>
          <a:prstGeom prst="rect">
            <a:avLst/>
          </a:prstGeom>
          <a:noFill/>
          <a:ln/>
        </p:spPr>
        <p:txBody>
          <a:bodyPr wrap="none" lIns="0" tIns="0" rIns="0" bIns="0" rtlCol="0" anchor="ctr"/>
          <a:lstStyle/>
          <a:p>
            <a:pPr marL="0" indent="0" algn="l">
              <a:lnSpc>
                <a:spcPts val="1095"/>
              </a:lnSpc>
              <a:buNone/>
            </a:pPr>
            <a:r>
              <a:rPr lang="en-US" sz="730" dirty="0">
                <a:solidFill>
                  <a:srgbClr val="76B900"/>
                </a:solidFill>
                <a:latin typeface="Consolas" pitchFamily="34" charset="0"/>
                <a:ea typeface="Consolas" pitchFamily="34" charset="-122"/>
                <a:cs typeface="Consolas" pitchFamily="34" charset="-120"/>
              </a:rPr>
              <a:t>02</a:t>
            </a:r>
            <a:endParaRPr lang="en-US" sz="730" dirty="0"/>
          </a:p>
        </p:txBody>
      </p:sp>
      <p:sp>
        <p:nvSpPr>
          <p:cNvPr id="16" name="Text 12"/>
          <p:cNvSpPr/>
          <p:nvPr/>
        </p:nvSpPr>
        <p:spPr>
          <a:xfrm>
            <a:off x="3472309" y="1635472"/>
            <a:ext cx="342900" cy="342900"/>
          </a:xfrm>
          <a:prstGeom prst="roundRect">
            <a:avLst>
              <a:gd name="adj" fmla="val 25185"/>
            </a:avLst>
          </a:prstGeom>
          <a:solidFill>
            <a:srgbClr val="76B900">
              <a:alpha val="12000"/>
            </a:srgbClr>
          </a:solidFill>
          <a:ln/>
        </p:spPr>
        <p:txBody>
          <a:bodyPr wrap="square" rtlCol="0" anchor="t"/>
          <a:lstStyle/>
          <a:p>
            <a:pPr marL="0" indent="0">
              <a:buNone/>
            </a:pPr>
            <a:endParaRPr lang="en-US" dirty="0"/>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74256" y="1737420"/>
            <a:ext cx="139005" cy="139005"/>
          </a:xfrm>
          <a:prstGeom prst="rect">
            <a:avLst/>
          </a:prstGeom>
        </p:spPr>
      </p:pic>
      <p:sp>
        <p:nvSpPr>
          <p:cNvPr id="18" name="Text 13"/>
          <p:cNvSpPr/>
          <p:nvPr/>
        </p:nvSpPr>
        <p:spPr>
          <a:xfrm>
            <a:off x="3972669" y="1635472"/>
            <a:ext cx="1900193" cy="158353"/>
          </a:xfrm>
          <a:prstGeom prst="rect">
            <a:avLst/>
          </a:prstGeom>
          <a:noFill/>
          <a:ln/>
        </p:spPr>
        <p:txBody>
          <a:bodyPr wrap="none" lIns="0" tIns="0" rIns="0" bIns="0" rtlCol="0" anchor="t"/>
          <a:lstStyle/>
          <a:p>
            <a:pPr marL="0" indent="0" algn="l">
              <a:lnSpc>
                <a:spcPts val="1248"/>
              </a:lnSpc>
              <a:buNone/>
            </a:pPr>
            <a:r>
              <a:rPr lang="en-US" sz="960" b="1" dirty="0">
                <a:solidFill>
                  <a:srgbClr val="E2E8F0"/>
                </a:solidFill>
                <a:latin typeface="Consolas" pitchFamily="34" charset="0"/>
                <a:ea typeface="Consolas" pitchFamily="34" charset="-122"/>
                <a:cs typeface="Consolas" pitchFamily="34" charset="-120"/>
              </a:rPr>
              <a:t>Monitor GPU memory</a:t>
            </a:r>
            <a:endParaRPr lang="en-US" sz="960" dirty="0"/>
          </a:p>
        </p:txBody>
      </p:sp>
      <p:sp>
        <p:nvSpPr>
          <p:cNvPr id="19" name="Text 14"/>
          <p:cNvSpPr/>
          <p:nvPr/>
        </p:nvSpPr>
        <p:spPr>
          <a:xfrm>
            <a:off x="3972669" y="1822996"/>
            <a:ext cx="1761997" cy="458026"/>
          </a:xfrm>
          <a:prstGeom prst="rect">
            <a:avLst/>
          </a:prstGeom>
          <a:noFill/>
          <a:ln/>
        </p:spPr>
        <p:txBody>
          <a:bodyPr wrap="square" lIns="0" tIns="0" rIns="0" bIns="0" rtlCol="0" anchor="ctr"/>
          <a:lstStyle/>
          <a:p>
            <a:pPr marL="0" indent="0" algn="l">
              <a:lnSpc>
                <a:spcPts val="1145"/>
              </a:lnSpc>
              <a:buNone/>
            </a:pPr>
            <a:r>
              <a:rPr lang="en-US" sz="790" dirty="0">
                <a:solidFill>
                  <a:srgbClr val="8B9CB6"/>
                </a:solidFill>
                <a:latin typeface="Calibri" pitchFamily="34" charset="0"/>
                <a:ea typeface="Calibri" pitchFamily="34" charset="-122"/>
                <a:cs typeface="Calibri" pitchFamily="34" charset="-120"/>
              </a:rPr>
              <a:t>Use </a:t>
            </a:r>
            <a:r>
              <a:rPr lang="en-US" sz="730" dirty="0">
                <a:solidFill>
                  <a:srgbClr val="76B900"/>
                </a:solidFill>
                <a:latin typeface="Consolas" pitchFamily="34" charset="0"/>
                <a:ea typeface="Consolas" pitchFamily="34" charset="-122"/>
                <a:cs typeface="Consolas" pitchFamily="34" charset="-120"/>
              </a:rPr>
              <a:t>nvidia-smi</a:t>
            </a:r>
            <a:r>
              <a:rPr lang="en-US" sz="790" dirty="0">
                <a:solidFill>
                  <a:srgbClr val="8B9CB6"/>
                </a:solidFill>
                <a:latin typeface="Calibri" pitchFamily="34" charset="0"/>
                <a:ea typeface="Calibri" pitchFamily="34" charset="-122"/>
                <a:cs typeface="Calibri" pitchFamily="34" charset="-120"/>
              </a:rPr>
              <a:t> to watch VRAM usage. Running out silently degrades performance.</a:t>
            </a:r>
            <a:endParaRPr lang="en-US" sz="790" dirty="0"/>
          </a:p>
        </p:txBody>
      </p:sp>
      <p:sp>
        <p:nvSpPr>
          <p:cNvPr id="20" name="Text 15"/>
          <p:cNvSpPr/>
          <p:nvPr/>
        </p:nvSpPr>
        <p:spPr>
          <a:xfrm>
            <a:off x="6029027" y="1434852"/>
            <a:ext cx="2685752" cy="1024979"/>
          </a:xfrm>
          <a:prstGeom prst="roundRect">
            <a:avLst>
              <a:gd name="adj" fmla="val 9788"/>
            </a:avLst>
          </a:prstGeom>
          <a:solidFill>
            <a:srgbClr val="1A2332"/>
          </a:solidFill>
          <a:ln/>
        </p:spPr>
        <p:txBody>
          <a:bodyPr wrap="square" rtlCol="0" anchor="t"/>
          <a:lstStyle/>
          <a:p>
            <a:pPr marL="0" indent="0">
              <a:buNone/>
            </a:pPr>
            <a:endParaRPr lang="en-US" dirty="0"/>
          </a:p>
        </p:txBody>
      </p:sp>
      <p:sp>
        <p:nvSpPr>
          <p:cNvPr id="21" name="Text 16"/>
          <p:cNvSpPr/>
          <p:nvPr/>
        </p:nvSpPr>
        <p:spPr>
          <a:xfrm>
            <a:off x="6029027" y="1434852"/>
            <a:ext cx="28575" cy="1024979"/>
          </a:xfrm>
          <a:custGeom>
            <a:avLst/>
            <a:gdLst/>
            <a:ahLst/>
            <a:cxnLst/>
            <a:rect l="l" t="t" r="r" b="b"/>
            <a:pathLst>
              <a:path w="28575" h="1024979">
                <a:moveTo>
                  <a:pt x="0" y="100330"/>
                </a:moveTo>
                <a:lnTo>
                  <a:pt x="3572" y="73797"/>
                </a:lnTo>
                <a:lnTo>
                  <a:pt x="7144" y="63149"/>
                </a:lnTo>
                <a:lnTo>
                  <a:pt x="10716" y="55215"/>
                </a:lnTo>
                <a:lnTo>
                  <a:pt x="14288" y="48727"/>
                </a:lnTo>
                <a:lnTo>
                  <a:pt x="17859" y="43192"/>
                </a:lnTo>
                <a:lnTo>
                  <a:pt x="21431" y="38353"/>
                </a:lnTo>
                <a:lnTo>
                  <a:pt x="25003" y="34058"/>
                </a:lnTo>
                <a:lnTo>
                  <a:pt x="28575" y="30206"/>
                </a:lnTo>
                <a:lnTo>
                  <a:pt x="28575" y="994773"/>
                </a:lnTo>
                <a:lnTo>
                  <a:pt x="25003" y="990921"/>
                </a:lnTo>
                <a:lnTo>
                  <a:pt x="21431" y="986626"/>
                </a:lnTo>
                <a:lnTo>
                  <a:pt x="17859" y="981787"/>
                </a:lnTo>
                <a:lnTo>
                  <a:pt x="14288" y="976252"/>
                </a:lnTo>
                <a:lnTo>
                  <a:pt x="10716" y="969765"/>
                </a:lnTo>
                <a:lnTo>
                  <a:pt x="7144" y="961831"/>
                </a:lnTo>
                <a:lnTo>
                  <a:pt x="3572" y="951182"/>
                </a:lnTo>
                <a:lnTo>
                  <a:pt x="0" y="924650"/>
                </a:lnTo>
                <a:close/>
              </a:path>
            </a:pathLst>
          </a:custGeom>
          <a:solidFill>
            <a:srgbClr val="76B900"/>
          </a:solidFill>
          <a:ln/>
        </p:spPr>
        <p:txBody>
          <a:bodyPr wrap="square" rtlCol="0" anchor="t"/>
          <a:lstStyle/>
          <a:p>
            <a:pPr marL="0" indent="0">
              <a:buNone/>
            </a:pPr>
            <a:endParaRPr lang="en-US" dirty="0"/>
          </a:p>
        </p:txBody>
      </p:sp>
      <p:sp>
        <p:nvSpPr>
          <p:cNvPr id="22" name="Text 17"/>
          <p:cNvSpPr/>
          <p:nvPr/>
        </p:nvSpPr>
        <p:spPr>
          <a:xfrm>
            <a:off x="8496151" y="1505843"/>
            <a:ext cx="130150" cy="139005"/>
          </a:xfrm>
          <a:prstGeom prst="rect">
            <a:avLst/>
          </a:prstGeom>
          <a:noFill/>
          <a:ln/>
        </p:spPr>
        <p:txBody>
          <a:bodyPr wrap="none" lIns="0" tIns="0" rIns="0" bIns="0" rtlCol="0" anchor="ctr"/>
          <a:lstStyle/>
          <a:p>
            <a:pPr marL="0" indent="0" algn="l">
              <a:lnSpc>
                <a:spcPts val="1095"/>
              </a:lnSpc>
              <a:buNone/>
            </a:pPr>
            <a:r>
              <a:rPr lang="en-US" sz="730" dirty="0">
                <a:solidFill>
                  <a:srgbClr val="76B900"/>
                </a:solidFill>
                <a:latin typeface="Consolas" pitchFamily="34" charset="0"/>
                <a:ea typeface="Consolas" pitchFamily="34" charset="-122"/>
                <a:cs typeface="Consolas" pitchFamily="34" charset="-120"/>
              </a:rPr>
              <a:t>03</a:t>
            </a:r>
            <a:endParaRPr lang="en-US" sz="730" dirty="0"/>
          </a:p>
        </p:txBody>
      </p:sp>
      <p:sp>
        <p:nvSpPr>
          <p:cNvPr id="23" name="Text 18"/>
          <p:cNvSpPr/>
          <p:nvPr/>
        </p:nvSpPr>
        <p:spPr>
          <a:xfrm>
            <a:off x="6272213" y="1635472"/>
            <a:ext cx="342900" cy="342900"/>
          </a:xfrm>
          <a:prstGeom prst="roundRect">
            <a:avLst>
              <a:gd name="adj" fmla="val 25185"/>
            </a:avLst>
          </a:prstGeom>
          <a:solidFill>
            <a:srgbClr val="76B900">
              <a:alpha val="12000"/>
            </a:srgbClr>
          </a:solidFill>
          <a:ln/>
        </p:spPr>
        <p:txBody>
          <a:bodyPr wrap="square" rtlCol="0" anchor="t"/>
          <a:lstStyle/>
          <a:p>
            <a:pPr marL="0" indent="0">
              <a:buNone/>
            </a:pPr>
            <a:endParaRPr lang="en-US" dirty="0"/>
          </a:p>
        </p:txBody>
      </p:sp>
      <p:pic>
        <p:nvPicPr>
          <p:cNvPr id="24"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374160" y="1737420"/>
            <a:ext cx="139005" cy="139005"/>
          </a:xfrm>
          <a:prstGeom prst="rect">
            <a:avLst/>
          </a:prstGeom>
        </p:spPr>
      </p:pic>
      <p:sp>
        <p:nvSpPr>
          <p:cNvPr id="25" name="Text 19"/>
          <p:cNvSpPr/>
          <p:nvPr/>
        </p:nvSpPr>
        <p:spPr>
          <a:xfrm>
            <a:off x="6772573" y="1635472"/>
            <a:ext cx="1900357" cy="158353"/>
          </a:xfrm>
          <a:prstGeom prst="rect">
            <a:avLst/>
          </a:prstGeom>
          <a:noFill/>
          <a:ln/>
        </p:spPr>
        <p:txBody>
          <a:bodyPr wrap="none" lIns="0" tIns="0" rIns="0" bIns="0" rtlCol="0" anchor="t"/>
          <a:lstStyle/>
          <a:p>
            <a:pPr marL="0" indent="0" algn="l">
              <a:lnSpc>
                <a:spcPts val="1248"/>
              </a:lnSpc>
              <a:buNone/>
            </a:pPr>
            <a:r>
              <a:rPr lang="en-US" sz="960" b="1" dirty="0">
                <a:solidFill>
                  <a:srgbClr val="E2E8F0"/>
                </a:solidFill>
                <a:latin typeface="Consolas" pitchFamily="34" charset="0"/>
                <a:ea typeface="Consolas" pitchFamily="34" charset="-122"/>
                <a:cs typeface="Consolas" pitchFamily="34" charset="-120"/>
              </a:rPr>
              <a:t>Confirm before risky actions</a:t>
            </a:r>
            <a:endParaRPr lang="en-US" sz="960" dirty="0"/>
          </a:p>
        </p:txBody>
      </p:sp>
      <p:sp>
        <p:nvSpPr>
          <p:cNvPr id="26" name="Text 20"/>
          <p:cNvSpPr/>
          <p:nvPr/>
        </p:nvSpPr>
        <p:spPr>
          <a:xfrm>
            <a:off x="6772573" y="1822996"/>
            <a:ext cx="1762149" cy="458026"/>
          </a:xfrm>
          <a:prstGeom prst="rect">
            <a:avLst/>
          </a:prstGeom>
          <a:noFill/>
          <a:ln/>
        </p:spPr>
        <p:txBody>
          <a:bodyPr wrap="square" lIns="0" tIns="0" rIns="0" bIns="0" rtlCol="0" anchor="t"/>
          <a:lstStyle/>
          <a:p>
            <a:pPr marL="0" indent="0" algn="l">
              <a:lnSpc>
                <a:spcPts val="1145"/>
              </a:lnSpc>
              <a:buNone/>
            </a:pPr>
            <a:r>
              <a:rPr lang="en-US" sz="790" dirty="0">
                <a:solidFill>
                  <a:srgbClr val="8B9CB6"/>
                </a:solidFill>
                <a:latin typeface="Calibri" pitchFamily="34" charset="0"/>
                <a:ea typeface="Calibri" pitchFamily="34" charset="-122"/>
                <a:cs typeface="Calibri" pitchFamily="34" charset="-120"/>
              </a:rPr>
              <a:t>Enable confirmation prompts for shell commands, file deletions, and email sends. Trust, but verify.</a:t>
            </a:r>
            <a:endParaRPr lang="en-US" sz="790" dirty="0"/>
          </a:p>
        </p:txBody>
      </p:sp>
      <p:sp>
        <p:nvSpPr>
          <p:cNvPr id="27" name="Text 21"/>
          <p:cNvSpPr/>
          <p:nvPr/>
        </p:nvSpPr>
        <p:spPr>
          <a:xfrm>
            <a:off x="1821805" y="2574131"/>
            <a:ext cx="2692896" cy="1183332"/>
          </a:xfrm>
          <a:prstGeom prst="roundRect">
            <a:avLst>
              <a:gd name="adj" fmla="val 8479"/>
            </a:avLst>
          </a:prstGeom>
          <a:solidFill>
            <a:srgbClr val="1A2332"/>
          </a:solidFill>
          <a:ln/>
        </p:spPr>
        <p:txBody>
          <a:bodyPr wrap="square" rtlCol="0" anchor="t"/>
          <a:lstStyle/>
          <a:p>
            <a:pPr marL="0" indent="0">
              <a:buNone/>
            </a:pPr>
            <a:endParaRPr lang="en-US" dirty="0"/>
          </a:p>
        </p:txBody>
      </p:sp>
      <p:sp>
        <p:nvSpPr>
          <p:cNvPr id="28" name="Text 22"/>
          <p:cNvSpPr/>
          <p:nvPr/>
        </p:nvSpPr>
        <p:spPr>
          <a:xfrm>
            <a:off x="1821805" y="2574131"/>
            <a:ext cx="28575" cy="1183332"/>
          </a:xfrm>
          <a:custGeom>
            <a:avLst/>
            <a:gdLst/>
            <a:ahLst/>
            <a:cxnLst/>
            <a:rect l="l" t="t" r="r" b="b"/>
            <a:pathLst>
              <a:path w="28575" h="1183332">
                <a:moveTo>
                  <a:pt x="0" y="100330"/>
                </a:moveTo>
                <a:lnTo>
                  <a:pt x="3572" y="73797"/>
                </a:lnTo>
                <a:lnTo>
                  <a:pt x="7144" y="63149"/>
                </a:lnTo>
                <a:lnTo>
                  <a:pt x="10716" y="55215"/>
                </a:lnTo>
                <a:lnTo>
                  <a:pt x="14288" y="48727"/>
                </a:lnTo>
                <a:lnTo>
                  <a:pt x="17859" y="43192"/>
                </a:lnTo>
                <a:lnTo>
                  <a:pt x="21431" y="38353"/>
                </a:lnTo>
                <a:lnTo>
                  <a:pt x="25003" y="34058"/>
                </a:lnTo>
                <a:lnTo>
                  <a:pt x="28575" y="30206"/>
                </a:lnTo>
                <a:lnTo>
                  <a:pt x="28575" y="1153126"/>
                </a:lnTo>
                <a:lnTo>
                  <a:pt x="25003" y="1149275"/>
                </a:lnTo>
                <a:lnTo>
                  <a:pt x="21431" y="1144979"/>
                </a:lnTo>
                <a:lnTo>
                  <a:pt x="17859" y="1140140"/>
                </a:lnTo>
                <a:lnTo>
                  <a:pt x="14288" y="1134605"/>
                </a:lnTo>
                <a:lnTo>
                  <a:pt x="10716" y="1128118"/>
                </a:lnTo>
                <a:lnTo>
                  <a:pt x="7144" y="1120184"/>
                </a:lnTo>
                <a:lnTo>
                  <a:pt x="3572" y="1109535"/>
                </a:lnTo>
                <a:lnTo>
                  <a:pt x="0" y="1083003"/>
                </a:lnTo>
                <a:close/>
              </a:path>
            </a:pathLst>
          </a:custGeom>
          <a:solidFill>
            <a:srgbClr val="76B900"/>
          </a:solidFill>
          <a:ln/>
        </p:spPr>
        <p:txBody>
          <a:bodyPr wrap="square" rtlCol="0" anchor="t"/>
          <a:lstStyle/>
          <a:p>
            <a:pPr marL="0" indent="0">
              <a:buNone/>
            </a:pPr>
            <a:endParaRPr lang="en-US" dirty="0"/>
          </a:p>
        </p:txBody>
      </p:sp>
      <p:sp>
        <p:nvSpPr>
          <p:cNvPr id="29" name="Text 23"/>
          <p:cNvSpPr/>
          <p:nvPr/>
        </p:nvSpPr>
        <p:spPr>
          <a:xfrm>
            <a:off x="4296073" y="2645122"/>
            <a:ext cx="130150" cy="139005"/>
          </a:xfrm>
          <a:prstGeom prst="rect">
            <a:avLst/>
          </a:prstGeom>
          <a:noFill/>
          <a:ln/>
        </p:spPr>
        <p:txBody>
          <a:bodyPr wrap="none" lIns="0" tIns="0" rIns="0" bIns="0" rtlCol="0" anchor="ctr"/>
          <a:lstStyle/>
          <a:p>
            <a:pPr marL="0" indent="0" algn="l">
              <a:lnSpc>
                <a:spcPts val="1095"/>
              </a:lnSpc>
              <a:buNone/>
            </a:pPr>
            <a:r>
              <a:rPr lang="en-US" sz="730" dirty="0">
                <a:solidFill>
                  <a:srgbClr val="76B900"/>
                </a:solidFill>
                <a:latin typeface="Consolas" pitchFamily="34" charset="0"/>
                <a:ea typeface="Consolas" pitchFamily="34" charset="-122"/>
                <a:cs typeface="Consolas" pitchFamily="34" charset="-120"/>
              </a:rPr>
              <a:t>04</a:t>
            </a:r>
            <a:endParaRPr lang="en-US" sz="730" dirty="0"/>
          </a:p>
        </p:txBody>
      </p:sp>
      <p:sp>
        <p:nvSpPr>
          <p:cNvPr id="30" name="Text 24"/>
          <p:cNvSpPr/>
          <p:nvPr/>
        </p:nvSpPr>
        <p:spPr>
          <a:xfrm>
            <a:off x="2064990" y="2774752"/>
            <a:ext cx="342900" cy="342900"/>
          </a:xfrm>
          <a:prstGeom prst="roundRect">
            <a:avLst>
              <a:gd name="adj" fmla="val 25185"/>
            </a:avLst>
          </a:prstGeom>
          <a:solidFill>
            <a:srgbClr val="76B900">
              <a:alpha val="12000"/>
            </a:srgbClr>
          </a:solidFill>
          <a:ln/>
        </p:spPr>
        <p:txBody>
          <a:bodyPr wrap="square" rtlCol="0" anchor="t"/>
          <a:lstStyle/>
          <a:p>
            <a:pPr marL="0" indent="0">
              <a:buNone/>
            </a:pPr>
            <a:endParaRPr lang="en-US" dirty="0"/>
          </a:p>
        </p:txBody>
      </p:sp>
      <p:pic>
        <p:nvPicPr>
          <p:cNvPr id="31"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66938" y="2876699"/>
            <a:ext cx="139005" cy="139005"/>
          </a:xfrm>
          <a:prstGeom prst="rect">
            <a:avLst/>
          </a:prstGeom>
        </p:spPr>
      </p:pic>
      <p:sp>
        <p:nvSpPr>
          <p:cNvPr id="32" name="Text 25"/>
          <p:cNvSpPr/>
          <p:nvPr/>
        </p:nvSpPr>
        <p:spPr>
          <a:xfrm>
            <a:off x="2565350" y="2774752"/>
            <a:ext cx="1769435" cy="332542"/>
          </a:xfrm>
          <a:prstGeom prst="rect">
            <a:avLst/>
          </a:prstGeom>
          <a:noFill/>
          <a:ln/>
        </p:spPr>
        <p:txBody>
          <a:bodyPr wrap="square" lIns="0" tIns="0" rIns="0" bIns="0" rtlCol="0" anchor="t"/>
          <a:lstStyle/>
          <a:p>
            <a:pPr marL="0" indent="0" algn="l">
              <a:lnSpc>
                <a:spcPts val="1248"/>
              </a:lnSpc>
              <a:buNone/>
            </a:pPr>
            <a:r>
              <a:rPr lang="en-US" sz="960" b="1" dirty="0">
                <a:solidFill>
                  <a:srgbClr val="E2E8F0"/>
                </a:solidFill>
                <a:latin typeface="Consolas" pitchFamily="34" charset="0"/>
                <a:ea typeface="Consolas" pitchFamily="34" charset="-122"/>
                <a:cs typeface="Consolas" pitchFamily="34" charset="-120"/>
              </a:rPr>
              <a:t>Version-control workspace files</a:t>
            </a:r>
            <a:endParaRPr lang="en-US" sz="960" dirty="0"/>
          </a:p>
        </p:txBody>
      </p:sp>
      <p:sp>
        <p:nvSpPr>
          <p:cNvPr id="33" name="Text 26"/>
          <p:cNvSpPr/>
          <p:nvPr/>
        </p:nvSpPr>
        <p:spPr>
          <a:xfrm>
            <a:off x="2565350" y="3120628"/>
            <a:ext cx="1769435" cy="458026"/>
          </a:xfrm>
          <a:prstGeom prst="rect">
            <a:avLst/>
          </a:prstGeom>
          <a:noFill/>
          <a:ln/>
        </p:spPr>
        <p:txBody>
          <a:bodyPr wrap="square" lIns="0" tIns="0" rIns="0" bIns="0" rtlCol="0" anchor="ctr"/>
          <a:lstStyle/>
          <a:p>
            <a:pPr marL="0" indent="0" algn="l">
              <a:lnSpc>
                <a:spcPts val="1145"/>
              </a:lnSpc>
              <a:buNone/>
            </a:pPr>
            <a:r>
              <a:rPr lang="en-US" sz="790" dirty="0">
                <a:solidFill>
                  <a:srgbClr val="8B9CB6"/>
                </a:solidFill>
                <a:latin typeface="Calibri" pitchFamily="34" charset="0"/>
                <a:ea typeface="Calibri" pitchFamily="34" charset="-122"/>
                <a:cs typeface="Calibri" pitchFamily="34" charset="-120"/>
              </a:rPr>
              <a:t>Keep </a:t>
            </a:r>
            <a:r>
              <a:rPr lang="en-US" sz="730" dirty="0">
                <a:solidFill>
                  <a:srgbClr val="76B900"/>
                </a:solidFill>
                <a:latin typeface="Consolas" pitchFamily="34" charset="0"/>
                <a:ea typeface="Consolas" pitchFamily="34" charset="-122"/>
                <a:cs typeface="Consolas" pitchFamily="34" charset="-120"/>
              </a:rPr>
              <a:t>SOUL.md</a:t>
            </a:r>
            <a:r>
              <a:rPr lang="en-US" sz="790" dirty="0">
                <a:solidFill>
                  <a:srgbClr val="8B9CB6"/>
                </a:solidFill>
                <a:latin typeface="Calibri" pitchFamily="34" charset="0"/>
                <a:ea typeface="Calibri" pitchFamily="34" charset="-122"/>
                <a:cs typeface="Calibri" pitchFamily="34" charset="-120"/>
              </a:rPr>
              <a:t>, </a:t>
            </a:r>
            <a:r>
              <a:rPr lang="en-US" sz="730" dirty="0">
                <a:solidFill>
                  <a:srgbClr val="76B900"/>
                </a:solidFill>
                <a:latin typeface="Consolas" pitchFamily="34" charset="0"/>
                <a:ea typeface="Consolas" pitchFamily="34" charset="-122"/>
                <a:cs typeface="Consolas" pitchFamily="34" charset="-120"/>
              </a:rPr>
              <a:t>USER.md</a:t>
            </a:r>
            <a:r>
              <a:rPr lang="en-US" sz="790" dirty="0">
                <a:solidFill>
                  <a:srgbClr val="8B9CB6"/>
                </a:solidFill>
                <a:latin typeface="Calibri" pitchFamily="34" charset="0"/>
                <a:ea typeface="Calibri" pitchFamily="34" charset="-122"/>
                <a:cs typeface="Calibri" pitchFamily="34" charset="-120"/>
              </a:rPr>
              <a:t>, and config files in Git. Track personality changes and roll back mistakes.</a:t>
            </a:r>
            <a:endParaRPr lang="en-US" sz="790" dirty="0"/>
          </a:p>
        </p:txBody>
      </p:sp>
      <p:sp>
        <p:nvSpPr>
          <p:cNvPr id="34" name="Text 27"/>
          <p:cNvSpPr/>
          <p:nvPr/>
        </p:nvSpPr>
        <p:spPr>
          <a:xfrm>
            <a:off x="4629001" y="2574131"/>
            <a:ext cx="2693045" cy="1183332"/>
          </a:xfrm>
          <a:prstGeom prst="roundRect">
            <a:avLst>
              <a:gd name="adj" fmla="val 8479"/>
            </a:avLst>
          </a:prstGeom>
          <a:solidFill>
            <a:srgbClr val="1A2332"/>
          </a:solidFill>
          <a:ln/>
        </p:spPr>
        <p:txBody>
          <a:bodyPr wrap="square" rtlCol="0" anchor="t"/>
          <a:lstStyle/>
          <a:p>
            <a:pPr marL="0" indent="0">
              <a:buNone/>
            </a:pPr>
            <a:endParaRPr lang="en-US" dirty="0"/>
          </a:p>
        </p:txBody>
      </p:sp>
      <p:sp>
        <p:nvSpPr>
          <p:cNvPr id="35" name="Text 28"/>
          <p:cNvSpPr/>
          <p:nvPr/>
        </p:nvSpPr>
        <p:spPr>
          <a:xfrm>
            <a:off x="4629001" y="2574131"/>
            <a:ext cx="28575" cy="1183332"/>
          </a:xfrm>
          <a:custGeom>
            <a:avLst/>
            <a:gdLst/>
            <a:ahLst/>
            <a:cxnLst/>
            <a:rect l="l" t="t" r="r" b="b"/>
            <a:pathLst>
              <a:path w="28575" h="1183332">
                <a:moveTo>
                  <a:pt x="0" y="100330"/>
                </a:moveTo>
                <a:lnTo>
                  <a:pt x="3572" y="73797"/>
                </a:lnTo>
                <a:lnTo>
                  <a:pt x="7144" y="63149"/>
                </a:lnTo>
                <a:lnTo>
                  <a:pt x="10716" y="55215"/>
                </a:lnTo>
                <a:lnTo>
                  <a:pt x="14288" y="48727"/>
                </a:lnTo>
                <a:lnTo>
                  <a:pt x="17859" y="43192"/>
                </a:lnTo>
                <a:lnTo>
                  <a:pt x="21431" y="38353"/>
                </a:lnTo>
                <a:lnTo>
                  <a:pt x="25003" y="34058"/>
                </a:lnTo>
                <a:lnTo>
                  <a:pt x="28575" y="30206"/>
                </a:lnTo>
                <a:lnTo>
                  <a:pt x="28575" y="1153126"/>
                </a:lnTo>
                <a:lnTo>
                  <a:pt x="25003" y="1149275"/>
                </a:lnTo>
                <a:lnTo>
                  <a:pt x="21431" y="1144979"/>
                </a:lnTo>
                <a:lnTo>
                  <a:pt x="17859" y="1140140"/>
                </a:lnTo>
                <a:lnTo>
                  <a:pt x="14288" y="1134605"/>
                </a:lnTo>
                <a:lnTo>
                  <a:pt x="10716" y="1128118"/>
                </a:lnTo>
                <a:lnTo>
                  <a:pt x="7144" y="1120184"/>
                </a:lnTo>
                <a:lnTo>
                  <a:pt x="3572" y="1109535"/>
                </a:lnTo>
                <a:lnTo>
                  <a:pt x="0" y="1083003"/>
                </a:lnTo>
                <a:close/>
              </a:path>
            </a:pathLst>
          </a:custGeom>
          <a:solidFill>
            <a:srgbClr val="76B900"/>
          </a:solidFill>
          <a:ln/>
        </p:spPr>
        <p:txBody>
          <a:bodyPr wrap="square" rtlCol="0" anchor="t"/>
          <a:lstStyle/>
          <a:p>
            <a:pPr marL="0" indent="0">
              <a:buNone/>
            </a:pPr>
            <a:endParaRPr lang="en-US" dirty="0"/>
          </a:p>
        </p:txBody>
      </p:sp>
      <p:sp>
        <p:nvSpPr>
          <p:cNvPr id="36" name="Text 29"/>
          <p:cNvSpPr/>
          <p:nvPr/>
        </p:nvSpPr>
        <p:spPr>
          <a:xfrm>
            <a:off x="7103418" y="2645122"/>
            <a:ext cx="130150" cy="139005"/>
          </a:xfrm>
          <a:prstGeom prst="rect">
            <a:avLst/>
          </a:prstGeom>
          <a:noFill/>
          <a:ln/>
        </p:spPr>
        <p:txBody>
          <a:bodyPr wrap="none" lIns="0" tIns="0" rIns="0" bIns="0" rtlCol="0" anchor="ctr"/>
          <a:lstStyle/>
          <a:p>
            <a:pPr marL="0" indent="0" algn="l">
              <a:lnSpc>
                <a:spcPts val="1095"/>
              </a:lnSpc>
              <a:buNone/>
            </a:pPr>
            <a:r>
              <a:rPr lang="en-US" sz="730" dirty="0">
                <a:solidFill>
                  <a:srgbClr val="76B900"/>
                </a:solidFill>
                <a:latin typeface="Consolas" pitchFamily="34" charset="0"/>
                <a:ea typeface="Consolas" pitchFamily="34" charset="-122"/>
                <a:cs typeface="Consolas" pitchFamily="34" charset="-120"/>
              </a:rPr>
              <a:t>05</a:t>
            </a:r>
            <a:endParaRPr lang="en-US" sz="730" dirty="0"/>
          </a:p>
        </p:txBody>
      </p:sp>
      <p:sp>
        <p:nvSpPr>
          <p:cNvPr id="37" name="Text 30"/>
          <p:cNvSpPr/>
          <p:nvPr/>
        </p:nvSpPr>
        <p:spPr>
          <a:xfrm>
            <a:off x="4872186" y="2774752"/>
            <a:ext cx="342900" cy="342900"/>
          </a:xfrm>
          <a:prstGeom prst="roundRect">
            <a:avLst>
              <a:gd name="adj" fmla="val 25185"/>
            </a:avLst>
          </a:prstGeom>
          <a:solidFill>
            <a:srgbClr val="76B900">
              <a:alpha val="12000"/>
            </a:srgbClr>
          </a:solidFill>
          <a:ln/>
        </p:spPr>
        <p:txBody>
          <a:bodyPr wrap="square" rtlCol="0" anchor="t"/>
          <a:lstStyle/>
          <a:p>
            <a:pPr marL="0" indent="0">
              <a:buNone/>
            </a:pPr>
            <a:endParaRPr lang="en-US" dirty="0"/>
          </a:p>
        </p:txBody>
      </p:sp>
      <p:pic>
        <p:nvPicPr>
          <p:cNvPr id="38"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74134" y="2876699"/>
            <a:ext cx="139005" cy="139005"/>
          </a:xfrm>
          <a:prstGeom prst="rect">
            <a:avLst/>
          </a:prstGeom>
        </p:spPr>
      </p:pic>
      <p:sp>
        <p:nvSpPr>
          <p:cNvPr id="39" name="Text 31"/>
          <p:cNvSpPr/>
          <p:nvPr/>
        </p:nvSpPr>
        <p:spPr>
          <a:xfrm>
            <a:off x="5372546" y="2774752"/>
            <a:ext cx="1908378" cy="158353"/>
          </a:xfrm>
          <a:prstGeom prst="rect">
            <a:avLst/>
          </a:prstGeom>
          <a:noFill/>
          <a:ln/>
        </p:spPr>
        <p:txBody>
          <a:bodyPr wrap="none" lIns="0" tIns="0" rIns="0" bIns="0" rtlCol="0" anchor="t"/>
          <a:lstStyle/>
          <a:p>
            <a:pPr marL="0" indent="0" algn="l">
              <a:lnSpc>
                <a:spcPts val="1248"/>
              </a:lnSpc>
              <a:buNone/>
            </a:pPr>
            <a:r>
              <a:rPr lang="en-US" sz="960" b="1" dirty="0">
                <a:solidFill>
                  <a:srgbClr val="E2E8F0"/>
                </a:solidFill>
                <a:latin typeface="Consolas" pitchFamily="34" charset="0"/>
                <a:ea typeface="Consolas" pitchFamily="34" charset="-122"/>
                <a:cs typeface="Consolas" pitchFamily="34" charset="-120"/>
              </a:rPr>
              <a:t>Regular memory backups</a:t>
            </a:r>
            <a:endParaRPr lang="en-US" sz="960" dirty="0"/>
          </a:p>
        </p:txBody>
      </p:sp>
      <p:sp>
        <p:nvSpPr>
          <p:cNvPr id="40" name="Text 32"/>
          <p:cNvSpPr/>
          <p:nvPr/>
        </p:nvSpPr>
        <p:spPr>
          <a:xfrm>
            <a:off x="5372546" y="2962275"/>
            <a:ext cx="1769587" cy="610701"/>
          </a:xfrm>
          <a:prstGeom prst="rect">
            <a:avLst/>
          </a:prstGeom>
          <a:noFill/>
          <a:ln/>
        </p:spPr>
        <p:txBody>
          <a:bodyPr wrap="square" lIns="0" tIns="0" rIns="0" bIns="0" rtlCol="0" anchor="ctr"/>
          <a:lstStyle/>
          <a:p>
            <a:pPr marL="0" indent="0" algn="l">
              <a:lnSpc>
                <a:spcPts val="1145"/>
              </a:lnSpc>
              <a:buNone/>
            </a:pPr>
            <a:r>
              <a:rPr lang="en-US" sz="790" dirty="0">
                <a:solidFill>
                  <a:srgbClr val="8B9CB6"/>
                </a:solidFill>
                <a:latin typeface="Calibri" pitchFamily="34" charset="0"/>
                <a:ea typeface="Calibri" pitchFamily="34" charset="-122"/>
                <a:cs typeface="Calibri" pitchFamily="34" charset="-120"/>
              </a:rPr>
              <a:t>Schedule periodic exports of </a:t>
            </a:r>
            <a:r>
              <a:rPr lang="en-US" sz="730" dirty="0">
                <a:solidFill>
                  <a:srgbClr val="76B900"/>
                </a:solidFill>
                <a:latin typeface="Consolas" pitchFamily="34" charset="0"/>
                <a:ea typeface="Consolas" pitchFamily="34" charset="-122"/>
                <a:cs typeface="Consolas" pitchFamily="34" charset="-120"/>
              </a:rPr>
              <a:t>MEMORY.md</a:t>
            </a:r>
            <a:r>
              <a:rPr lang="en-US" sz="790" dirty="0">
                <a:solidFill>
                  <a:srgbClr val="8B9CB6"/>
                </a:solidFill>
                <a:latin typeface="Calibri" pitchFamily="34" charset="0"/>
                <a:ea typeface="Calibri" pitchFamily="34" charset="-122"/>
                <a:cs typeface="Calibri" pitchFamily="34" charset="-120"/>
              </a:rPr>
              <a:t> and agent state. Memory loss means losing your agent's learned context.</a:t>
            </a:r>
            <a:endParaRPr lang="en-US" sz="790" dirty="0"/>
          </a:p>
        </p:txBody>
      </p:sp>
      <p:sp>
        <p:nvSpPr>
          <p:cNvPr id="41" name="Text 33"/>
          <p:cNvSpPr/>
          <p:nvPr/>
        </p:nvSpPr>
        <p:spPr>
          <a:xfrm>
            <a:off x="429220" y="4786015"/>
            <a:ext cx="3439864" cy="13841"/>
          </a:xfrm>
          <a:prstGeom prst="roundRect">
            <a:avLst>
              <a:gd name="adj" fmla="val 100932"/>
            </a:avLst>
          </a:prstGeom>
          <a:gradFill rotWithShape="1">
            <a:gsLst>
              <a:gs pos="0">
                <a:srgbClr val="76B900">
                  <a:alpha val="40000"/>
                </a:srgbClr>
              </a:gs>
              <a:gs pos="100000">
                <a:srgbClr val="000000">
                  <a:alpha val="0"/>
                </a:srgbClr>
              </a:gs>
            </a:gsLst>
            <a:lin ang="0" scaled="1"/>
          </a:gradFill>
          <a:ln/>
        </p:spPr>
        <p:txBody>
          <a:bodyPr wrap="none" rtlCol="0" anchor="t"/>
          <a:lstStyle/>
          <a:p>
            <a:pPr marL="0" indent="0">
              <a:buNone/>
            </a:pPr>
            <a:endParaRPr lang="en-US" dirty="0"/>
          </a:p>
        </p:txBody>
      </p:sp>
      <p:sp>
        <p:nvSpPr>
          <p:cNvPr id="42" name="Text 34"/>
          <p:cNvSpPr/>
          <p:nvPr/>
        </p:nvSpPr>
        <p:spPr>
          <a:xfrm>
            <a:off x="3955405" y="4728270"/>
            <a:ext cx="1356509" cy="129480"/>
          </a:xfrm>
          <a:prstGeom prst="rect">
            <a:avLst/>
          </a:prstGeom>
          <a:noFill/>
          <a:ln/>
        </p:spPr>
        <p:txBody>
          <a:bodyPr wrap="none" lIns="0" tIns="0" rIns="0" bIns="0" rtlCol="0" anchor="ctr"/>
          <a:lstStyle/>
          <a:p>
            <a:pPr marL="0" indent="0" algn="l">
              <a:lnSpc>
                <a:spcPts val="1020"/>
              </a:lnSpc>
              <a:buNone/>
            </a:pPr>
            <a:r>
              <a:rPr lang="en-US" sz="680" dirty="0">
                <a:solidFill>
                  <a:srgbClr val="8B9CB6"/>
                </a:solidFill>
                <a:latin typeface="Consolas" pitchFamily="34" charset="0"/>
                <a:ea typeface="Consolas" pitchFamily="34" charset="-122"/>
                <a:cs typeface="Consolas" pitchFamily="34" charset="-120"/>
              </a:rPr>
              <a:t>SAFE · RELIABLE · LOCAL</a:t>
            </a:r>
            <a:endParaRPr lang="en-US" sz="680" dirty="0"/>
          </a:p>
        </p:txBody>
      </p:sp>
      <p:sp>
        <p:nvSpPr>
          <p:cNvPr id="43" name="Text 35"/>
          <p:cNvSpPr/>
          <p:nvPr/>
        </p:nvSpPr>
        <p:spPr>
          <a:xfrm>
            <a:off x="5274915" y="4786015"/>
            <a:ext cx="3439864" cy="13841"/>
          </a:xfrm>
          <a:prstGeom prst="roundRect">
            <a:avLst>
              <a:gd name="adj" fmla="val 100932"/>
            </a:avLst>
          </a:prstGeom>
          <a:gradFill rotWithShape="1">
            <a:gsLst>
              <a:gs pos="0">
                <a:srgbClr val="76B900">
                  <a:alpha val="40000"/>
                </a:srgbClr>
              </a:gs>
              <a:gs pos="100000">
                <a:srgbClr val="000000">
                  <a:alpha val="0"/>
                </a:srgbClr>
              </a:gs>
            </a:gsLst>
            <a:lin ang="10800000" scaled="1"/>
          </a:gradFill>
          <a:ln/>
        </p:spPr>
        <p:txBody>
          <a:bodyPr wrap="none" rtlCol="0" anchor="t"/>
          <a:lstStyle/>
          <a:p>
            <a:pPr marL="0" indent="0">
              <a:buNone/>
            </a:pPr>
            <a:endParaRPr lang="en-US" dirty="0"/>
          </a:p>
        </p:txBody>
      </p:sp>
      <p:sp>
        <p:nvSpPr>
          <p:cNvPr id="44" name="Text 36"/>
          <p:cNvSpPr/>
          <p:nvPr/>
        </p:nvSpPr>
        <p:spPr>
          <a:xfrm>
            <a:off x="457795" y="1434852"/>
            <a:ext cx="2657027" cy="1024976"/>
          </a:xfrm>
          <a:prstGeom prst="roundRect">
            <a:avLst>
              <a:gd name="adj" fmla="val 9788"/>
            </a:avLst>
          </a:prstGeom>
          <a:gradFill rotWithShape="1">
            <a:gsLst>
              <a:gs pos="0">
                <a:srgbClr val="76B900">
                  <a:alpha val="4000"/>
                </a:srgbClr>
              </a:gs>
              <a:gs pos="60000">
                <a:srgbClr val="000000">
                  <a:alpha val="0"/>
                </a:srgbClr>
              </a:gs>
            </a:gsLst>
            <a:lin ang="2700000" scaled="1"/>
          </a:gradFill>
          <a:ln/>
        </p:spPr>
        <p:txBody>
          <a:bodyPr wrap="square" rtlCol="0" anchor="t"/>
          <a:lstStyle/>
          <a:p>
            <a:pPr marL="0" indent="0">
              <a:buNone/>
            </a:pPr>
            <a:endParaRPr lang="en-US" dirty="0"/>
          </a:p>
        </p:txBody>
      </p:sp>
      <p:sp>
        <p:nvSpPr>
          <p:cNvPr id="45" name="Text 37"/>
          <p:cNvSpPr/>
          <p:nvPr/>
        </p:nvSpPr>
        <p:spPr>
          <a:xfrm>
            <a:off x="3257699" y="1434852"/>
            <a:ext cx="2657027" cy="1024976"/>
          </a:xfrm>
          <a:prstGeom prst="roundRect">
            <a:avLst>
              <a:gd name="adj" fmla="val 9788"/>
            </a:avLst>
          </a:prstGeom>
          <a:gradFill rotWithShape="1">
            <a:gsLst>
              <a:gs pos="0">
                <a:srgbClr val="76B900">
                  <a:alpha val="4000"/>
                </a:srgbClr>
              </a:gs>
              <a:gs pos="60000">
                <a:srgbClr val="000000">
                  <a:alpha val="0"/>
                </a:srgbClr>
              </a:gs>
            </a:gsLst>
            <a:lin ang="2700000" scaled="1"/>
          </a:gradFill>
          <a:ln/>
        </p:spPr>
        <p:txBody>
          <a:bodyPr wrap="square" rtlCol="0" anchor="t"/>
          <a:lstStyle/>
          <a:p>
            <a:pPr marL="0" indent="0">
              <a:buNone/>
            </a:pPr>
            <a:endParaRPr lang="en-US" dirty="0"/>
          </a:p>
        </p:txBody>
      </p:sp>
      <p:sp>
        <p:nvSpPr>
          <p:cNvPr id="46" name="Text 38"/>
          <p:cNvSpPr/>
          <p:nvPr/>
        </p:nvSpPr>
        <p:spPr>
          <a:xfrm>
            <a:off x="6057602" y="1434852"/>
            <a:ext cx="2657180" cy="1024976"/>
          </a:xfrm>
          <a:prstGeom prst="roundRect">
            <a:avLst>
              <a:gd name="adj" fmla="val 9788"/>
            </a:avLst>
          </a:prstGeom>
          <a:gradFill rotWithShape="1">
            <a:gsLst>
              <a:gs pos="0">
                <a:srgbClr val="76B900">
                  <a:alpha val="4000"/>
                </a:srgbClr>
              </a:gs>
              <a:gs pos="60000">
                <a:srgbClr val="000000">
                  <a:alpha val="0"/>
                </a:srgbClr>
              </a:gs>
            </a:gsLst>
            <a:lin ang="2700000" scaled="1"/>
          </a:gradFill>
          <a:ln/>
        </p:spPr>
        <p:txBody>
          <a:bodyPr wrap="square" rtlCol="0" anchor="t"/>
          <a:lstStyle/>
          <a:p>
            <a:pPr marL="0" indent="0">
              <a:buNone/>
            </a:pPr>
            <a:endParaRPr lang="en-US" dirty="0"/>
          </a:p>
        </p:txBody>
      </p:sp>
      <p:sp>
        <p:nvSpPr>
          <p:cNvPr id="47" name="Text 39"/>
          <p:cNvSpPr/>
          <p:nvPr/>
        </p:nvSpPr>
        <p:spPr>
          <a:xfrm>
            <a:off x="1850380" y="2574131"/>
            <a:ext cx="2664323" cy="1183329"/>
          </a:xfrm>
          <a:prstGeom prst="roundRect">
            <a:avLst>
              <a:gd name="adj" fmla="val 8479"/>
            </a:avLst>
          </a:prstGeom>
          <a:gradFill rotWithShape="1">
            <a:gsLst>
              <a:gs pos="0">
                <a:srgbClr val="76B900">
                  <a:alpha val="4000"/>
                </a:srgbClr>
              </a:gs>
              <a:gs pos="60000">
                <a:srgbClr val="000000">
                  <a:alpha val="0"/>
                </a:srgbClr>
              </a:gs>
            </a:gsLst>
            <a:lin ang="2700000" scaled="1"/>
          </a:gradFill>
          <a:ln/>
        </p:spPr>
        <p:txBody>
          <a:bodyPr wrap="square" rtlCol="0" anchor="t"/>
          <a:lstStyle/>
          <a:p>
            <a:pPr marL="0" indent="0">
              <a:buNone/>
            </a:pPr>
            <a:endParaRPr lang="en-US" dirty="0"/>
          </a:p>
        </p:txBody>
      </p:sp>
      <p:sp>
        <p:nvSpPr>
          <p:cNvPr id="48" name="Text 40"/>
          <p:cNvSpPr/>
          <p:nvPr/>
        </p:nvSpPr>
        <p:spPr>
          <a:xfrm>
            <a:off x="4657576" y="2574131"/>
            <a:ext cx="2664466" cy="1183329"/>
          </a:xfrm>
          <a:prstGeom prst="roundRect">
            <a:avLst>
              <a:gd name="adj" fmla="val 8479"/>
            </a:avLst>
          </a:prstGeom>
          <a:gradFill rotWithShape="1">
            <a:gsLst>
              <a:gs pos="0">
                <a:srgbClr val="76B900">
                  <a:alpha val="4000"/>
                </a:srgbClr>
              </a:gs>
              <a:gs pos="60000">
                <a:srgbClr val="000000">
                  <a:alpha val="0"/>
                </a:srgbClr>
              </a:gs>
            </a:gsLst>
            <a:lin ang="2700000" scaled="1"/>
          </a:gradFill>
          <a:ln/>
        </p:spPr>
        <p:txBody>
          <a:bodyPr wrap="square" rtlCol="0" anchor="t"/>
          <a:lstStyle/>
          <a:p>
            <a:pPr marL="0" indent="0">
              <a:buNone/>
            </a:pP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0A0F1A"/>
        </a:solidFill>
        <a:effectLst/>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gradFill rotWithShape="1">
            <a:gsLst>
              <a:gs pos="0">
                <a:srgbClr val="76B900">
                  <a:alpha val="3000"/>
                </a:srgbClr>
              </a:gs>
              <a:gs pos="100000">
                <a:srgbClr val="000000">
                  <a:alpha val="0"/>
                </a:srgbClr>
              </a:gs>
            </a:gsLst>
            <a:lin ang="5400000" scaled="1"/>
          </a:gradFill>
          <a:ln/>
        </p:spPr>
        <p:txBody>
          <a:bodyPr wrap="square" rtlCol="0" anchor="t"/>
          <a:lstStyle/>
          <a:p>
            <a:pPr marL="0" indent="0">
              <a:buNone/>
            </a:pPr>
            <a:endParaRPr lang="en-US" dirty="0"/>
          </a:p>
        </p:txBody>
      </p:sp>
      <p:sp>
        <p:nvSpPr>
          <p:cNvPr id="3" name="Text 1"/>
          <p:cNvSpPr/>
          <p:nvPr/>
        </p:nvSpPr>
        <p:spPr>
          <a:xfrm>
            <a:off x="-311468" y="-155377"/>
            <a:ext cx="9144000" cy="5143500"/>
          </a:xfrm>
          <a:prstGeom prst="rect">
            <a:avLst/>
          </a:prstGeom>
          <a:gradFill rotWithShape="1">
            <a:gsLst>
              <a:gs pos="0">
                <a:srgbClr val="76B900">
                  <a:alpha val="3000"/>
                </a:srgbClr>
              </a:gs>
              <a:gs pos="100000">
                <a:srgbClr val="000000">
                  <a:alpha val="0"/>
                </a:srgbClr>
              </a:gs>
            </a:gsLst>
            <a:lin ang="0" scaled="1"/>
          </a:gradFill>
          <a:ln/>
        </p:spPr>
        <p:txBody>
          <a:bodyPr wrap="square" rtlCol="0" anchor="t"/>
          <a:lstStyle/>
          <a:p>
            <a:pPr marL="0" indent="0">
              <a:buNone/>
            </a:pPr>
            <a:endParaRPr lang="en-US" dirty="0"/>
          </a:p>
        </p:txBody>
      </p:sp>
      <p:sp>
        <p:nvSpPr>
          <p:cNvPr id="4" name="Text 2"/>
          <p:cNvSpPr/>
          <p:nvPr/>
        </p:nvSpPr>
        <p:spPr>
          <a:xfrm>
            <a:off x="7001470" y="0"/>
            <a:ext cx="2142530" cy="1785640"/>
          </a:xfrm>
          <a:prstGeom prst="ellipse">
            <a:avLst/>
          </a:prstGeom>
          <a:gradFill rotWithShape="1">
            <a:gsLst>
              <a:gs pos="0">
                <a:srgbClr val="76B900">
                  <a:alpha val="8000"/>
                </a:srgbClr>
              </a:gs>
              <a:gs pos="7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5" name="Text 3"/>
          <p:cNvSpPr/>
          <p:nvPr/>
        </p:nvSpPr>
        <p:spPr>
          <a:xfrm>
            <a:off x="0" y="3714750"/>
            <a:ext cx="1785640" cy="1428750"/>
          </a:xfrm>
          <a:prstGeom prst="ellipse">
            <a:avLst/>
          </a:prstGeom>
          <a:gradFill rotWithShape="1">
            <a:gsLst>
              <a:gs pos="0">
                <a:srgbClr val="76B900">
                  <a:alpha val="4000"/>
                </a:srgbClr>
              </a:gs>
              <a:gs pos="70000">
                <a:srgbClr val="000000">
                  <a:alpha val="0"/>
                </a:srgbClr>
              </a:gs>
            </a:gsLst>
            <a:path path="circle">
              <a:fillToRect l="50000" t="50000" r="50000" b="50000"/>
            </a:path>
          </a:gradFill>
          <a:ln/>
        </p:spPr>
        <p:txBody>
          <a:bodyPr wrap="square" rtlCol="0" anchor="t"/>
          <a:lstStyle/>
          <a:p>
            <a:pPr marL="0" indent="0">
              <a:buNone/>
            </a:pPr>
            <a:endParaRPr lang="en-US" dirty="0"/>
          </a:p>
        </p:txBody>
      </p:sp>
      <p:sp>
        <p:nvSpPr>
          <p:cNvPr id="6" name="Text 4"/>
          <p:cNvSpPr/>
          <p:nvPr/>
        </p:nvSpPr>
        <p:spPr>
          <a:xfrm>
            <a:off x="230314" y="342900"/>
            <a:ext cx="8683371" cy="449610"/>
          </a:xfrm>
          <a:prstGeom prst="rect">
            <a:avLst/>
          </a:prstGeom>
          <a:noFill/>
          <a:ln/>
        </p:spPr>
        <p:txBody>
          <a:bodyPr wrap="none" lIns="0" tIns="0" rIns="0" bIns="0" rtlCol="0" anchor="t"/>
          <a:lstStyle/>
          <a:p>
            <a:pPr marL="0" indent="0" algn="ctr">
              <a:lnSpc>
                <a:spcPts val="3540"/>
              </a:lnSpc>
              <a:buNone/>
            </a:pPr>
            <a:r>
              <a:rPr lang="en-US" sz="2360" kern="0" spc="60" dirty="0">
                <a:solidFill>
                  <a:srgbClr val="E2E8F0"/>
                </a:solidFill>
                <a:latin typeface="Consolas" pitchFamily="34" charset="0"/>
                <a:ea typeface="Consolas" pitchFamily="34" charset="-122"/>
                <a:cs typeface="Consolas" pitchFamily="34" charset="-120"/>
              </a:rPr>
              <a:t>Thank You </a:t>
            </a:r>
            <a:r>
              <a:rPr lang="en-US" sz="2360" b="1" kern="0" spc="60" dirty="0">
                <a:solidFill>
                  <a:srgbClr val="76B900"/>
                </a:solidFill>
                <a:latin typeface="Consolas" pitchFamily="34" charset="0"/>
                <a:ea typeface="Consolas" pitchFamily="34" charset="-122"/>
                <a:cs typeface="Consolas" pitchFamily="34" charset="-120"/>
              </a:rPr>
              <a:t>&amp;</a:t>
            </a:r>
            <a:r>
              <a:rPr lang="en-US" sz="2360" kern="0" spc="60" dirty="0">
                <a:solidFill>
                  <a:srgbClr val="E2E8F0"/>
                </a:solidFill>
                <a:latin typeface="Consolas" pitchFamily="34" charset="0"/>
                <a:ea typeface="Consolas" pitchFamily="34" charset="-122"/>
                <a:cs typeface="Consolas" pitchFamily="34" charset="-120"/>
              </a:rPr>
              <a:t> Q&amp;A</a:t>
            </a:r>
            <a:br>
              <a:rPr dirty="0"/>
            </a:br>
            <a:r>
              <a:rPr lang="en-US" sz="2360" kern="0" spc="60" dirty="0">
                <a:solidFill>
                  <a:srgbClr val="E2E8F0"/>
                </a:solidFill>
                <a:latin typeface="Consolas" pitchFamily="34" charset="0"/>
                <a:ea typeface="Consolas" pitchFamily="34" charset="-122"/>
                <a:cs typeface="Consolas" pitchFamily="34" charset="-120"/>
              </a:rPr>
              <a:t>      </a:t>
            </a:r>
            <a:endParaRPr lang="en-US" sz="2360" dirty="0"/>
          </a:p>
        </p:txBody>
      </p:sp>
      <p:sp>
        <p:nvSpPr>
          <p:cNvPr id="7" name="Text 5"/>
          <p:cNvSpPr/>
          <p:nvPr/>
        </p:nvSpPr>
        <p:spPr>
          <a:xfrm>
            <a:off x="2785765" y="935980"/>
            <a:ext cx="3572470" cy="13841"/>
          </a:xfrm>
          <a:prstGeom prst="rect">
            <a:avLst/>
          </a:prstGeom>
          <a:gradFill rotWithShape="1">
            <a:gsLst>
              <a:gs pos="0">
                <a:srgbClr val="000000">
                  <a:alpha val="0"/>
                </a:srgbClr>
              </a:gs>
              <a:gs pos="5000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8" name="Text 6"/>
          <p:cNvSpPr/>
          <p:nvPr/>
        </p:nvSpPr>
        <p:spPr>
          <a:xfrm>
            <a:off x="514350" y="1150441"/>
            <a:ext cx="4243388" cy="139005"/>
          </a:xfrm>
          <a:prstGeom prst="rect">
            <a:avLst/>
          </a:prstGeom>
          <a:noFill/>
          <a:ln/>
        </p:spPr>
        <p:txBody>
          <a:bodyPr wrap="none" lIns="0" tIns="0" rIns="0" bIns="0" rtlCol="0" anchor="t"/>
          <a:lstStyle/>
          <a:p>
            <a:pPr marL="0" indent="0" algn="l">
              <a:lnSpc>
                <a:spcPts val="1095"/>
              </a:lnSpc>
              <a:buNone/>
            </a:pPr>
            <a:r>
              <a:rPr lang="en-US" sz="730" kern="0" spc="170" dirty="0">
                <a:solidFill>
                  <a:srgbClr val="8B9CB6"/>
                </a:solidFill>
                <a:latin typeface="Consolas" pitchFamily="34" charset="0"/>
                <a:ea typeface="Consolas" pitchFamily="34" charset="-122"/>
                <a:cs typeface="Consolas" pitchFamily="34" charset="-120"/>
              </a:rPr>
              <a:t>WHAT YOU TAKE HOME</a:t>
            </a:r>
            <a:endParaRPr lang="en-US" sz="730" dirty="0"/>
          </a:p>
        </p:txBody>
      </p:sp>
      <p:sp>
        <p:nvSpPr>
          <p:cNvPr id="9" name="Text 7"/>
          <p:cNvSpPr/>
          <p:nvPr/>
        </p:nvSpPr>
        <p:spPr>
          <a:xfrm>
            <a:off x="514350" y="1375767"/>
            <a:ext cx="3857625" cy="1250752"/>
          </a:xfrm>
          <a:prstGeom prst="roundRect">
            <a:avLst>
              <a:gd name="adj" fmla="val 6905"/>
            </a:avLst>
          </a:prstGeom>
          <a:solidFill>
            <a:srgbClr val="1A2332"/>
          </a:solidFill>
          <a:ln w="9525">
            <a:solidFill>
              <a:srgbClr val="76B900">
                <a:alpha val="10000"/>
              </a:srgbClr>
            </a:solidFill>
          </a:ln>
        </p:spPr>
        <p:txBody>
          <a:bodyPr wrap="square" rtlCol="0" anchor="t"/>
          <a:lstStyle/>
          <a:p>
            <a:pPr marL="0" indent="0">
              <a:buNone/>
            </a:pPr>
            <a:endParaRPr lang="en-US" dirty="0"/>
          </a:p>
        </p:txBody>
      </p:sp>
      <p:sp>
        <p:nvSpPr>
          <p:cNvPr id="10" name="Text 8"/>
          <p:cNvSpPr/>
          <p:nvPr/>
        </p:nvSpPr>
        <p:spPr>
          <a:xfrm>
            <a:off x="695325" y="1585913"/>
            <a:ext cx="200620" cy="200620"/>
          </a:xfrm>
          <a:prstGeom prst="ellipse">
            <a:avLst/>
          </a:prstGeom>
          <a:solidFill>
            <a:srgbClr val="76B900">
              <a:alpha val="15000"/>
            </a:srgbClr>
          </a:solidFill>
          <a:ln/>
        </p:spPr>
        <p:txBody>
          <a:bodyPr wrap="none" rtlCol="0" anchor="t"/>
          <a:lstStyle/>
          <a:p>
            <a:pPr marL="0" indent="0">
              <a:buNone/>
            </a:pPr>
            <a:endParaRPr lang="en-US" dirty="0"/>
          </a:p>
        </p:txBody>
      </p:sp>
      <p:pic>
        <p:nvPicPr>
          <p:cNvPr id="11"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9267" y="1619854"/>
            <a:ext cx="132588" cy="132588"/>
          </a:xfrm>
          <a:prstGeom prst="rect">
            <a:avLst/>
          </a:prstGeom>
        </p:spPr>
      </p:pic>
      <p:sp>
        <p:nvSpPr>
          <p:cNvPr id="12" name="Text 9"/>
          <p:cNvSpPr/>
          <p:nvPr/>
        </p:nvSpPr>
        <p:spPr>
          <a:xfrm>
            <a:off x="982266" y="1600498"/>
            <a:ext cx="1738119" cy="171450"/>
          </a:xfrm>
          <a:prstGeom prst="rect">
            <a:avLst/>
          </a:prstGeom>
          <a:noFill/>
          <a:ln/>
        </p:spPr>
        <p:txBody>
          <a:bodyPr wrap="none" lIns="0" tIns="0" rIns="0" bIns="0" rtlCol="0" anchor="ctr"/>
          <a:lstStyle/>
          <a:p>
            <a:pPr marL="0" indent="0" algn="l">
              <a:lnSpc>
                <a:spcPts val="1350"/>
              </a:lnSpc>
              <a:buNone/>
            </a:pPr>
            <a:r>
              <a:rPr lang="en-US" sz="900" dirty="0">
                <a:solidFill>
                  <a:srgbClr val="E2E8F0"/>
                </a:solidFill>
                <a:latin typeface="Calibri" pitchFamily="34" charset="0"/>
                <a:ea typeface="Calibri" pitchFamily="34" charset="-122"/>
                <a:cs typeface="Calibri" pitchFamily="34" charset="-120"/>
              </a:rPr>
              <a:t>Working local agent knowledge</a:t>
            </a:r>
            <a:endParaRPr lang="en-US" sz="900" dirty="0"/>
          </a:p>
        </p:txBody>
      </p:sp>
      <p:sp>
        <p:nvSpPr>
          <p:cNvPr id="13" name="Text 10"/>
          <p:cNvSpPr/>
          <p:nvPr/>
        </p:nvSpPr>
        <p:spPr>
          <a:xfrm>
            <a:off x="695325" y="1900833"/>
            <a:ext cx="200620" cy="200620"/>
          </a:xfrm>
          <a:prstGeom prst="ellipse">
            <a:avLst/>
          </a:prstGeom>
          <a:solidFill>
            <a:srgbClr val="76B900">
              <a:alpha val="15000"/>
            </a:srgbClr>
          </a:solidFill>
          <a:ln/>
        </p:spPr>
        <p:txBody>
          <a:bodyPr wrap="none" rtlCol="0" anchor="t"/>
          <a:lstStyle/>
          <a:p>
            <a:pPr marL="0" indent="0">
              <a:buNone/>
            </a:pPr>
            <a:endParaRPr lang="en-US" dirty="0"/>
          </a:p>
        </p:txBody>
      </p:sp>
      <p:pic>
        <p:nvPicPr>
          <p:cNvPr id="14"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9267" y="1934775"/>
            <a:ext cx="132588" cy="132588"/>
          </a:xfrm>
          <a:prstGeom prst="rect">
            <a:avLst/>
          </a:prstGeom>
        </p:spPr>
      </p:pic>
      <p:sp>
        <p:nvSpPr>
          <p:cNvPr id="15" name="Text 11"/>
          <p:cNvSpPr/>
          <p:nvPr/>
        </p:nvSpPr>
        <p:spPr>
          <a:xfrm>
            <a:off x="982266" y="1915418"/>
            <a:ext cx="1949797" cy="171450"/>
          </a:xfrm>
          <a:prstGeom prst="rect">
            <a:avLst/>
          </a:prstGeom>
          <a:noFill/>
          <a:ln/>
        </p:spPr>
        <p:txBody>
          <a:bodyPr wrap="none" lIns="0" tIns="0" rIns="0" bIns="0" rtlCol="0" anchor="ctr"/>
          <a:lstStyle/>
          <a:p>
            <a:pPr marL="0" indent="0" algn="l">
              <a:lnSpc>
                <a:spcPts val="1350"/>
              </a:lnSpc>
              <a:buNone/>
            </a:pPr>
            <a:r>
              <a:rPr lang="en-US" sz="900" dirty="0">
                <a:solidFill>
                  <a:srgbClr val="E2E8F0"/>
                </a:solidFill>
                <a:latin typeface="Calibri" pitchFamily="34" charset="0"/>
                <a:ea typeface="Calibri" pitchFamily="34" charset="-122"/>
                <a:cs typeface="Calibri" pitchFamily="34" charset="-120"/>
              </a:rPr>
              <a:t>Practical commands and examples</a:t>
            </a:r>
            <a:endParaRPr lang="en-US" sz="900" dirty="0"/>
          </a:p>
        </p:txBody>
      </p:sp>
      <p:sp>
        <p:nvSpPr>
          <p:cNvPr id="16" name="Text 12"/>
          <p:cNvSpPr/>
          <p:nvPr/>
        </p:nvSpPr>
        <p:spPr>
          <a:xfrm>
            <a:off x="695325" y="2215753"/>
            <a:ext cx="200620" cy="200620"/>
          </a:xfrm>
          <a:prstGeom prst="ellipse">
            <a:avLst/>
          </a:prstGeom>
          <a:solidFill>
            <a:srgbClr val="76B900">
              <a:alpha val="15000"/>
            </a:srgbClr>
          </a:solidFill>
          <a:ln/>
        </p:spPr>
        <p:txBody>
          <a:bodyPr wrap="none" rtlCol="0" anchor="t"/>
          <a:lstStyle/>
          <a:p>
            <a:pPr marL="0" indent="0">
              <a:buNone/>
            </a:pPr>
            <a:endParaRPr lang="en-US" dirty="0"/>
          </a:p>
        </p:txBody>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29267" y="2249695"/>
            <a:ext cx="132588" cy="132588"/>
          </a:xfrm>
          <a:prstGeom prst="rect">
            <a:avLst/>
          </a:prstGeom>
        </p:spPr>
      </p:pic>
      <p:sp>
        <p:nvSpPr>
          <p:cNvPr id="18" name="Text 13"/>
          <p:cNvSpPr/>
          <p:nvPr/>
        </p:nvSpPr>
        <p:spPr>
          <a:xfrm>
            <a:off x="982266" y="2230338"/>
            <a:ext cx="1901011" cy="171450"/>
          </a:xfrm>
          <a:prstGeom prst="rect">
            <a:avLst/>
          </a:prstGeom>
          <a:noFill/>
          <a:ln/>
        </p:spPr>
        <p:txBody>
          <a:bodyPr wrap="none" lIns="0" tIns="0" rIns="0" bIns="0" rtlCol="0" anchor="ctr"/>
          <a:lstStyle/>
          <a:p>
            <a:pPr marL="0" indent="0" algn="l">
              <a:lnSpc>
                <a:spcPts val="1350"/>
              </a:lnSpc>
              <a:buNone/>
            </a:pPr>
            <a:r>
              <a:rPr lang="en-US" sz="900" dirty="0">
                <a:solidFill>
                  <a:srgbClr val="E2E8F0"/>
                </a:solidFill>
                <a:latin typeface="Calibri" pitchFamily="34" charset="0"/>
                <a:ea typeface="Calibri" pitchFamily="34" charset="-122"/>
                <a:cs typeface="Calibri" pitchFamily="34" charset="-120"/>
              </a:rPr>
              <a:t>Clear hardware &amp; model guidance</a:t>
            </a:r>
            <a:endParaRPr lang="en-US" sz="900" dirty="0"/>
          </a:p>
        </p:txBody>
      </p:sp>
      <p:sp>
        <p:nvSpPr>
          <p:cNvPr id="19" name="Text 14"/>
          <p:cNvSpPr/>
          <p:nvPr/>
        </p:nvSpPr>
        <p:spPr>
          <a:xfrm>
            <a:off x="528637" y="2647038"/>
            <a:ext cx="4243388" cy="139005"/>
          </a:xfrm>
          <a:prstGeom prst="rect">
            <a:avLst/>
          </a:prstGeom>
          <a:noFill/>
          <a:ln/>
        </p:spPr>
        <p:txBody>
          <a:bodyPr wrap="none" lIns="0" tIns="0" rIns="0" bIns="0" rtlCol="0" anchor="t"/>
          <a:lstStyle/>
          <a:p>
            <a:pPr marL="0" indent="0" algn="l">
              <a:lnSpc>
                <a:spcPts val="1095"/>
              </a:lnSpc>
              <a:buNone/>
            </a:pPr>
            <a:r>
              <a:rPr lang="en-US" sz="730" kern="0" spc="170" dirty="0">
                <a:solidFill>
                  <a:srgbClr val="8B9CB6"/>
                </a:solidFill>
                <a:latin typeface="Consolas" pitchFamily="34" charset="0"/>
                <a:ea typeface="Consolas" pitchFamily="34" charset="-122"/>
                <a:cs typeface="Consolas" pitchFamily="34" charset="-120"/>
              </a:rPr>
              <a:t>KEY RESOURCES</a:t>
            </a:r>
            <a:endParaRPr lang="en-US" sz="730" dirty="0"/>
          </a:p>
        </p:txBody>
      </p:sp>
      <p:sp>
        <p:nvSpPr>
          <p:cNvPr id="20" name="Text 15"/>
          <p:cNvSpPr/>
          <p:nvPr/>
        </p:nvSpPr>
        <p:spPr>
          <a:xfrm>
            <a:off x="528637" y="2872364"/>
            <a:ext cx="3934777" cy="293340"/>
          </a:xfrm>
          <a:prstGeom prst="roundRect">
            <a:avLst>
              <a:gd name="adj" fmla="val 19483"/>
            </a:avLst>
          </a:prstGeom>
          <a:solidFill>
            <a:srgbClr val="76B900">
              <a:alpha val="12000"/>
            </a:srgbClr>
          </a:solidFill>
          <a:ln w="9525">
            <a:solidFill>
              <a:srgbClr val="76B900">
                <a:alpha val="35000"/>
              </a:srgbClr>
            </a:solidFill>
          </a:ln>
        </p:spPr>
        <p:txBody>
          <a:bodyPr wrap="none" lIns="296803" tIns="57150" rIns="143510" bIns="57150" rtlCol="0" anchor="ctr"/>
          <a:lstStyle/>
          <a:p>
            <a:pPr marL="0" indent="0" algn="l">
              <a:buNone/>
            </a:pPr>
            <a:r>
              <a:rPr lang="en-US" sz="840" b="1" kern="0" spc="30" dirty="0">
                <a:solidFill>
                  <a:srgbClr val="76B900"/>
                </a:solidFill>
                <a:latin typeface="Consolas" pitchFamily="34" charset="0"/>
                <a:ea typeface="Consolas" pitchFamily="34" charset="-122"/>
                <a:cs typeface="Consolas" pitchFamily="34" charset="-120"/>
              </a:rPr>
              <a:t>Ollama</a:t>
            </a:r>
            <a:endParaRPr lang="en-US" sz="840" dirty="0"/>
          </a:p>
        </p:txBody>
      </p:sp>
      <p:pic>
        <p:nvPicPr>
          <p:cNvPr id="21"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29031" y="2963866"/>
            <a:ext cx="132588" cy="132588"/>
          </a:xfrm>
          <a:prstGeom prst="rect">
            <a:avLst/>
          </a:prstGeom>
        </p:spPr>
      </p:pic>
      <p:sp>
        <p:nvSpPr>
          <p:cNvPr id="22" name="Text 16"/>
          <p:cNvSpPr/>
          <p:nvPr/>
        </p:nvSpPr>
        <p:spPr>
          <a:xfrm>
            <a:off x="528637" y="3266015"/>
            <a:ext cx="3934777" cy="293340"/>
          </a:xfrm>
          <a:prstGeom prst="roundRect">
            <a:avLst>
              <a:gd name="adj" fmla="val 19483"/>
            </a:avLst>
          </a:prstGeom>
          <a:solidFill>
            <a:srgbClr val="76B900">
              <a:alpha val="12000"/>
            </a:srgbClr>
          </a:solidFill>
          <a:ln w="9525">
            <a:solidFill>
              <a:srgbClr val="76B900">
                <a:alpha val="35000"/>
              </a:srgbClr>
            </a:solidFill>
          </a:ln>
        </p:spPr>
        <p:txBody>
          <a:bodyPr wrap="none" lIns="296803" tIns="57150" rIns="143510" bIns="57150" rtlCol="0" anchor="ctr"/>
          <a:lstStyle/>
          <a:p>
            <a:pPr marL="0" indent="0" algn="l">
              <a:buNone/>
            </a:pPr>
            <a:r>
              <a:rPr lang="en-US" sz="840" b="1" kern="0" spc="30" dirty="0">
                <a:solidFill>
                  <a:srgbClr val="76B900"/>
                </a:solidFill>
                <a:latin typeface="Consolas" pitchFamily="34" charset="0"/>
                <a:ea typeface="Consolas" pitchFamily="34" charset="-122"/>
                <a:cs typeface="Consolas" pitchFamily="34" charset="-120"/>
              </a:rPr>
              <a:t>OpenClaw</a:t>
            </a:r>
            <a:endParaRPr lang="en-US" sz="840" dirty="0"/>
          </a:p>
        </p:txBody>
      </p:sp>
      <p:pic>
        <p:nvPicPr>
          <p:cNvPr id="23"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29031" y="3354702"/>
            <a:ext cx="132588" cy="132588"/>
          </a:xfrm>
          <a:prstGeom prst="rect">
            <a:avLst/>
          </a:prstGeom>
        </p:spPr>
      </p:pic>
      <p:sp>
        <p:nvSpPr>
          <p:cNvPr id="24" name="Text 17"/>
          <p:cNvSpPr/>
          <p:nvPr/>
        </p:nvSpPr>
        <p:spPr>
          <a:xfrm>
            <a:off x="528637" y="3659665"/>
            <a:ext cx="3934777" cy="293340"/>
          </a:xfrm>
          <a:prstGeom prst="roundRect">
            <a:avLst>
              <a:gd name="adj" fmla="val 19483"/>
            </a:avLst>
          </a:prstGeom>
          <a:solidFill>
            <a:srgbClr val="76B900">
              <a:alpha val="12000"/>
            </a:srgbClr>
          </a:solidFill>
          <a:ln w="9525">
            <a:solidFill>
              <a:srgbClr val="76B900">
                <a:alpha val="35000"/>
              </a:srgbClr>
            </a:solidFill>
          </a:ln>
        </p:spPr>
        <p:txBody>
          <a:bodyPr wrap="none" lIns="296803" tIns="57150" rIns="143510" bIns="57150" rtlCol="0" anchor="ctr"/>
          <a:lstStyle/>
          <a:p>
            <a:pPr marL="0" indent="0" algn="l">
              <a:buNone/>
            </a:pPr>
            <a:r>
              <a:rPr lang="en-US" sz="840" b="1" kern="0" spc="30" dirty="0">
                <a:solidFill>
                  <a:srgbClr val="76B900"/>
                </a:solidFill>
                <a:latin typeface="Consolas" pitchFamily="34" charset="0"/>
                <a:ea typeface="Consolas" pitchFamily="34" charset="-122"/>
                <a:cs typeface="Consolas" pitchFamily="34" charset="-120"/>
              </a:rPr>
              <a:t>Hermes Agent</a:t>
            </a:r>
            <a:endParaRPr lang="en-US" sz="840" dirty="0"/>
          </a:p>
        </p:txBody>
      </p:sp>
      <p:pic>
        <p:nvPicPr>
          <p:cNvPr id="25"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629031" y="3740041"/>
            <a:ext cx="132588" cy="132588"/>
          </a:xfrm>
          <a:prstGeom prst="rect">
            <a:avLst/>
          </a:prstGeom>
        </p:spPr>
      </p:pic>
      <p:sp>
        <p:nvSpPr>
          <p:cNvPr id="26" name="Text 18"/>
          <p:cNvSpPr/>
          <p:nvPr/>
        </p:nvSpPr>
        <p:spPr>
          <a:xfrm>
            <a:off x="2071213" y="4078942"/>
            <a:ext cx="5001220" cy="13841"/>
          </a:xfrm>
          <a:prstGeom prst="rect">
            <a:avLst/>
          </a:prstGeom>
          <a:gradFill rotWithShape="1">
            <a:gsLst>
              <a:gs pos="0">
                <a:srgbClr val="000000">
                  <a:alpha val="0"/>
                </a:srgbClr>
              </a:gs>
              <a:gs pos="50000">
                <a:srgbClr val="76B900">
                  <a:alpha val="60000"/>
                </a:srgbClr>
              </a:gs>
              <a:gs pos="100000">
                <a:srgbClr val="000000">
                  <a:alpha val="0"/>
                </a:srgbClr>
              </a:gs>
            </a:gsLst>
            <a:lin ang="0" scaled="1"/>
          </a:gradFill>
          <a:ln/>
        </p:spPr>
        <p:txBody>
          <a:bodyPr wrap="none" rtlCol="0" anchor="t"/>
          <a:lstStyle/>
          <a:p>
            <a:pPr marL="0" indent="0">
              <a:buNone/>
            </a:pPr>
            <a:endParaRPr lang="en-US" dirty="0"/>
          </a:p>
        </p:txBody>
      </p:sp>
      <p:sp>
        <p:nvSpPr>
          <p:cNvPr id="27" name="Text 19"/>
          <p:cNvSpPr/>
          <p:nvPr/>
        </p:nvSpPr>
        <p:spPr>
          <a:xfrm>
            <a:off x="311467" y="3964335"/>
            <a:ext cx="8521065" cy="685800"/>
          </a:xfrm>
          <a:prstGeom prst="rect">
            <a:avLst/>
          </a:prstGeom>
          <a:noFill/>
          <a:ln/>
        </p:spPr>
        <p:txBody>
          <a:bodyPr wrap="none" lIns="0" tIns="0" rIns="0" bIns="0" rtlCol="0" anchor="t"/>
          <a:lstStyle/>
          <a:p>
            <a:pPr marL="0" indent="0" algn="ctr">
              <a:lnSpc>
                <a:spcPts val="5400"/>
              </a:lnSpc>
              <a:buNone/>
            </a:pPr>
            <a:r>
              <a:rPr lang="en-US" sz="3600" b="1" kern="0" spc="110" dirty="0">
                <a:solidFill>
                  <a:srgbClr val="76B900"/>
                </a:solidFill>
                <a:effectLst>
                  <a:glow rad="1428750">
                    <a:srgbClr val="76B900">
                      <a:alpha val="3000"/>
                    </a:srgbClr>
                  </a:glow>
                </a:effectLst>
                <a:latin typeface="Consolas" pitchFamily="34" charset="0"/>
                <a:ea typeface="Consolas" pitchFamily="34" charset="-122"/>
                <a:cs typeface="Consolas" pitchFamily="34" charset="-120"/>
              </a:rPr>
              <a:t>Questions?</a:t>
            </a:r>
            <a:endParaRPr lang="en-US" sz="3600" dirty="0"/>
          </a:p>
        </p:txBody>
      </p:sp>
      <p:sp>
        <p:nvSpPr>
          <p:cNvPr id="28" name="Text 20"/>
          <p:cNvSpPr/>
          <p:nvPr/>
        </p:nvSpPr>
        <p:spPr>
          <a:xfrm>
            <a:off x="3594259" y="4707285"/>
            <a:ext cx="2084368" cy="150465"/>
          </a:xfrm>
          <a:prstGeom prst="rect">
            <a:avLst/>
          </a:prstGeom>
          <a:noFill/>
          <a:ln/>
        </p:spPr>
        <p:txBody>
          <a:bodyPr wrap="none" lIns="0" tIns="0" rIns="0" bIns="0" rtlCol="0" anchor="ctr"/>
          <a:lstStyle/>
          <a:p>
            <a:pPr marL="0" indent="0" algn="ctr">
              <a:lnSpc>
                <a:spcPts val="1185"/>
              </a:lnSpc>
              <a:buNone/>
            </a:pPr>
            <a:r>
              <a:rPr lang="en-US" sz="790" kern="0" spc="60" dirty="0">
                <a:solidFill>
                  <a:srgbClr val="8B9CB6"/>
                </a:solidFill>
                <a:latin typeface="Calibri" pitchFamily="34" charset="0"/>
                <a:ea typeface="Calibri" pitchFamily="34" charset="-122"/>
                <a:cs typeface="Calibri" pitchFamily="34" charset="-120"/>
              </a:rPr>
              <a:t>Let's discuss — microphone is open</a:t>
            </a:r>
            <a:endParaRPr lang="en-US" sz="790" dirty="0"/>
          </a:p>
        </p:txBody>
      </p:sp>
      <p:pic>
        <p:nvPicPr>
          <p:cNvPr id="29"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536686" y="4716223"/>
            <a:ext cx="132588" cy="132588"/>
          </a:xfrm>
          <a:prstGeom prst="rect">
            <a:avLst/>
          </a:prstGeom>
        </p:spPr>
      </p:pic>
      <p:pic>
        <p:nvPicPr>
          <p:cNvPr id="30" name="Image 7" descr="preencoded.png"/>
          <p:cNvPicPr>
            <a:picLocks noChangeAspect="1"/>
          </p:cNvPicPr>
          <p:nvPr/>
        </p:nvPicPr>
        <p:blipFill>
          <a:blip r:embed="rId10">
            <a:alphaModFix amt="85000"/>
          </a:blip>
          <a:stretch>
            <a:fillRect/>
          </a:stretch>
        </p:blipFill>
        <p:spPr>
          <a:xfrm>
            <a:off x="8232874" y="200620"/>
            <a:ext cx="653355" cy="42922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4">
    <p:bg>
      <p:bgPr>
        <a:solidFill>
          <a:srgbClr val="0A0F1A"/>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l="44" r="44"/>
          <a:stretch/>
        </p:blipFill>
        <p:spPr>
          <a:xfrm>
            <a:off x="0" y="0"/>
            <a:ext cx="9144000" cy="5143500"/>
          </a:xfrm>
          <a:prstGeom prst="rect">
            <a:avLst/>
          </a:prstGeom>
        </p:spPr>
      </p:pic>
      <p:sp>
        <p:nvSpPr>
          <p:cNvPr id="4" name="Rectangle 3">
            <a:extLst>
              <a:ext uri="{FF2B5EF4-FFF2-40B4-BE49-F238E27FC236}">
                <a16:creationId xmlns:a16="http://schemas.microsoft.com/office/drawing/2014/main" id="{7DE1754C-EF7E-7BAE-FA64-8F12880CF033}"/>
              </a:ext>
            </a:extLst>
          </p:cNvPr>
          <p:cNvSpPr/>
          <p:nvPr/>
        </p:nvSpPr>
        <p:spPr>
          <a:xfrm>
            <a:off x="2853230" y="4348142"/>
            <a:ext cx="3862487" cy="79535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Chuck Anderson</a:t>
            </a:r>
          </a:p>
          <a:p>
            <a:pPr algn="ctr"/>
            <a:r>
              <a:rPr lang="en-US" dirty="0"/>
              <a:t>208 631 1855 / </a:t>
            </a:r>
            <a:r>
              <a:rPr lang="en-US" dirty="0">
                <a:hlinkClick r:id="rId4"/>
              </a:rPr>
              <a:t>cra451@gmail.com</a:t>
            </a:r>
            <a:r>
              <a:rPr lang="en-US" dirty="0"/>
              <a:t> / Reliant Managed Services LLC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599</TotalTime>
  <Words>4598</Words>
  <Application>Microsoft Office PowerPoint</Application>
  <PresentationFormat>On-screen Show (16:9)</PresentationFormat>
  <Paragraphs>764</Paragraphs>
  <Slides>43</Slides>
  <Notes>34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Aptos</vt:lpstr>
      <vt:lpstr>Arial</vt:lpstr>
      <vt:lpstr>Calibri</vt:lpstr>
      <vt:lpstr>Consolas</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subject>PptxGenJS Presentation</dc:subject>
  <dc:creator>docgen</dc:creator>
  <cp:lastModifiedBy>Charles Anderson</cp:lastModifiedBy>
  <cp:revision>17</cp:revision>
  <dcterms:created xsi:type="dcterms:W3CDTF">2026-04-25T23:06:16Z</dcterms:created>
  <dcterms:modified xsi:type="dcterms:W3CDTF">2026-04-28T20:19:04Z</dcterms:modified>
</cp:coreProperties>
</file>