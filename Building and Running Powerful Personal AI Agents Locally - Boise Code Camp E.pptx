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igs" ContentType="application/vnd.openxmlformats-package.digital-signature-origin"/>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Masters/slideMaster1.xml" ContentType="application/vnd.openxmlformats-officedocument.presentationml.slideMaster+xml"/>
  <Override PartName="/ppt/notesSlides/notesSlide21.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15.xml" ContentType="application/vnd.openxmlformats-officedocument.presentationml.notesSlide+xml"/>
  <Override PartName="/ppt/notesSlides/notesSlide32.xml" ContentType="application/vnd.openxmlformats-officedocument.presentationml.notesSlide+xml"/>
  <Override PartName="/ppt/slideLayouts/slideLayout1.xml" ContentType="application/vnd.openxmlformats-officedocument.presentationml.slideLayout+xml"/>
  <Override PartName="/ppt/notesSlides/notesSlide23.xml" ContentType="application/vnd.openxmlformats-officedocument.presentationml.notesSlide+xml"/>
  <Override PartName="/ppt/notesSlides/notesSlide1.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24.xml" ContentType="application/vnd.openxmlformats-officedocument.presentationml.notesSlide+xml"/>
  <Override PartName="/ppt/notesSlides/notesSlide5.xml" ContentType="application/vnd.openxmlformats-officedocument.presentationml.notesSlide+xml"/>
  <Override PartName="/ppt/notesSlides/notesSlide2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26.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1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_xmlsignatures/sig1.xml" ContentType="application/vnd.openxmlformats-package.digital-signature-xmlsignatur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digital-signature/origin" Target="_xmlsignatures/origin.sigs"/><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48"/>
  </p:notesMasterIdLst>
  <p:sldIdLst>
    <p:sldId id="256" r:id="rId2"/>
    <p:sldId id="257" r:id="rId3"/>
    <p:sldId id="258" r:id="rId4"/>
    <p:sldId id="299" r:id="rId5"/>
    <p:sldId id="259" r:id="rId6"/>
    <p:sldId id="260" r:id="rId7"/>
    <p:sldId id="261" r:id="rId8"/>
    <p:sldId id="304" r:id="rId9"/>
    <p:sldId id="301" r:id="rId10"/>
    <p:sldId id="262" r:id="rId11"/>
    <p:sldId id="263" r:id="rId12"/>
    <p:sldId id="264" r:id="rId13"/>
    <p:sldId id="296" r:id="rId14"/>
    <p:sldId id="297" r:id="rId15"/>
    <p:sldId id="279" r:id="rId16"/>
    <p:sldId id="303" r:id="rId17"/>
    <p:sldId id="267" r:id="rId18"/>
    <p:sldId id="302" r:id="rId19"/>
    <p:sldId id="305" r:id="rId20"/>
    <p:sldId id="265" r:id="rId21"/>
    <p:sldId id="290" r:id="rId22"/>
    <p:sldId id="295" r:id="rId23"/>
    <p:sldId id="266" r:id="rId24"/>
    <p:sldId id="294" r:id="rId25"/>
    <p:sldId id="275" r:id="rId26"/>
    <p:sldId id="268" r:id="rId27"/>
    <p:sldId id="269" r:id="rId28"/>
    <p:sldId id="270" r:id="rId29"/>
    <p:sldId id="271" r:id="rId30"/>
    <p:sldId id="272" r:id="rId31"/>
    <p:sldId id="273" r:id="rId32"/>
    <p:sldId id="274" r:id="rId33"/>
    <p:sldId id="276" r:id="rId34"/>
    <p:sldId id="278" r:id="rId35"/>
    <p:sldId id="300" r:id="rId36"/>
    <p:sldId id="291" r:id="rId37"/>
    <p:sldId id="292" r:id="rId38"/>
    <p:sldId id="293" r:id="rId39"/>
    <p:sldId id="282" r:id="rId40"/>
    <p:sldId id="298" r:id="rId41"/>
    <p:sldId id="284" r:id="rId42"/>
    <p:sldId id="283" r:id="rId43"/>
    <p:sldId id="287" r:id="rId44"/>
    <p:sldId id="306" r:id="rId45"/>
    <p:sldId id="288" r:id="rId46"/>
    <p:sldId id="289" r:id="rId4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00" autoAdjust="0"/>
    <p:restoredTop sz="94610"/>
  </p:normalViewPr>
  <p:slideViewPr>
    <p:cSldViewPr snapToGrid="0" snapToObjects="1">
      <p:cViewPr varScale="1">
        <p:scale>
          <a:sx n="118" d="100"/>
          <a:sy n="118" d="100"/>
        </p:scale>
        <p:origin x="1063" y="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6435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DCAD-80BD-C296-885C-48159C7CB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8AAA43-AB57-F47A-30B5-75A61B780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E5A817-51D0-0855-5A1A-2C421528BC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A708BD-D184-6113-3DA5-316D51A9E58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02651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3F15C-2E60-39FB-F713-CAD71002E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24FFB-560D-D5FB-0BD4-B2444DBCF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92CCD-6E2C-CBE0-43A8-A644EF9A38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C3D32C-DFEC-BF88-DB6B-006B51E097E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38501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6D1F-E7FF-3DF5-B210-2609288A3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882ED-EA20-87C1-FBFE-0D4DC479A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863D5E-EBCB-97D7-7747-D11C10E1C3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E69765-66DE-897A-9341-827293E07EA7}"/>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619867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B8F8E-9F94-CAA8-4949-AF00BEDDA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4DFE9-70AF-2F65-73F0-048FE13E0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90906A-E8B2-1FD0-B96F-C404B7DCEB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5B8724-962E-98AC-118F-8907EB9EDFD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3852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F83B-8424-C007-904A-5179E17D6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76A8B-E4D4-EB27-C710-20D32F6C2F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F5062-8909-D867-F19B-DBC372C594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E9AD4A-8D6E-86AC-69D9-16DABB5660BC}"/>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3366905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27E6C-C3BB-6291-0587-E5E049FF0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301F5-2BCD-ADC3-9DD2-F9613A247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97F7A-4C5F-881A-9DFE-93C64468B5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9B4D4E-0112-1228-ECE7-2698EDC97E9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01972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B8F8E-9F94-CAA8-4949-AF00BEDDA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4DFE9-70AF-2F65-73F0-048FE13E0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90906A-E8B2-1FD0-B96F-C404B7DCEB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5B8724-962E-98AC-118F-8907EB9EDFD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38520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0.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svg"/><Relationship Id="rId5" Type="http://schemas.openxmlformats.org/officeDocument/2006/relationships/image" Target="../media/image22.sv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svg"/></Relationships>
</file>

<file path=ppt/slides/_rels/slide11.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sv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svg"/></Relationships>
</file>

<file path=ppt/slides/_rels/slide12.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 Id="rId9" Type="http://schemas.openxmlformats.org/officeDocument/2006/relationships/image" Target="../media/image4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image" Target="../media/image44.svg"/><Relationship Id="rId1" Type="http://schemas.openxmlformats.org/officeDocument/2006/relationships/slideLayout" Target="../slideLayouts/slideLayout1.xml"/><Relationship Id="rId6" Type="http://schemas.openxmlformats.org/officeDocument/2006/relationships/image" Target="../media/image48.svg"/><Relationship Id="rId5" Type="http://schemas.openxmlformats.org/officeDocument/2006/relationships/image" Target="../media/image47.svg"/><Relationship Id="rId4" Type="http://schemas.openxmlformats.org/officeDocument/2006/relationships/image" Target="../media/image46.svg"/></Relationships>
</file>

<file path=ppt/slides/_rels/slide17.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52.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hemeOverride" Target="../theme/themeOverride4.xml"/><Relationship Id="rId5" Type="http://schemas.openxmlformats.org/officeDocument/2006/relationships/image" Target="../media/image58.svg"/><Relationship Id="rId4" Type="http://schemas.openxmlformats.org/officeDocument/2006/relationships/image" Target="../media/image57.svg"/></Relationships>
</file>

<file path=ppt/slides/_rels/slide20.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8.svg"/></Relationships>
</file>

<file path=ppt/slides/_rels/slide21.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s>
</file>

<file path=ppt/slides/_rels/slide22.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8.svg"/></Relationships>
</file>

<file path=ppt/slides/_rels/slide23.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s://arxiv.org/abs/2512.01797"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8.svg"/></Relationships>
</file>

<file path=ppt/slides/_rels/slide25.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svg"/><Relationship Id="rId7" Type="http://schemas.openxmlformats.org/officeDocument/2006/relationships/image" Target="../media/image66.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5.svg"/><Relationship Id="rId5" Type="http://schemas.openxmlformats.org/officeDocument/2006/relationships/image" Target="../media/image64.svg"/><Relationship Id="rId4" Type="http://schemas.openxmlformats.org/officeDocument/2006/relationships/image" Target="../media/image63.svg"/></Relationships>
</file>

<file path=ppt/slides/_rels/slide26.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70.svg"/><Relationship Id="rId4" Type="http://schemas.openxmlformats.org/officeDocument/2006/relationships/image" Target="../media/image69.svg"/></Relationships>
</file>

<file path=ppt/slides/_rels/slide27.xml.rels><?xml version="1.0" encoding="UTF-8" standalone="yes"?>
<Relationships xmlns="http://schemas.openxmlformats.org/package/2006/relationships"><Relationship Id="rId8" Type="http://schemas.openxmlformats.org/officeDocument/2006/relationships/image" Target="../media/image76.svg"/><Relationship Id="rId13" Type="http://schemas.openxmlformats.org/officeDocument/2006/relationships/image" Target="../media/image81.svg"/><Relationship Id="rId3" Type="http://schemas.openxmlformats.org/officeDocument/2006/relationships/image" Target="../media/image71.svg"/><Relationship Id="rId7" Type="http://schemas.openxmlformats.org/officeDocument/2006/relationships/image" Target="../media/image75.svg"/><Relationship Id="rId12" Type="http://schemas.openxmlformats.org/officeDocument/2006/relationships/image" Target="../media/image80.sv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4.svg"/><Relationship Id="rId11" Type="http://schemas.openxmlformats.org/officeDocument/2006/relationships/image" Target="../media/image79.svg"/><Relationship Id="rId5" Type="http://schemas.openxmlformats.org/officeDocument/2006/relationships/image" Target="../media/image73.sv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77.svg"/><Relationship Id="rId14" Type="http://schemas.openxmlformats.org/officeDocument/2006/relationships/image" Target="../media/image82.svg"/></Relationships>
</file>

<file path=ppt/slides/_rels/slide28.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6.svg"/><Relationship Id="rId5" Type="http://schemas.openxmlformats.org/officeDocument/2006/relationships/image" Target="../media/image85.svg"/><Relationship Id="rId4" Type="http://schemas.openxmlformats.org/officeDocument/2006/relationships/image" Target="../media/image84.svg"/></Relationships>
</file>

<file path=ppt/slides/_rels/slide29.xml.rels><?xml version="1.0" encoding="UTF-8" standalone="yes"?>
<Relationships xmlns="http://schemas.openxmlformats.org/package/2006/relationships"><Relationship Id="rId8" Type="http://schemas.openxmlformats.org/officeDocument/2006/relationships/image" Target="../media/image92.svg"/><Relationship Id="rId13" Type="http://schemas.openxmlformats.org/officeDocument/2006/relationships/image" Target="../media/image97.svg"/><Relationship Id="rId3" Type="http://schemas.openxmlformats.org/officeDocument/2006/relationships/image" Target="../media/image87.svg"/><Relationship Id="rId7" Type="http://schemas.openxmlformats.org/officeDocument/2006/relationships/image" Target="../media/image91.svg"/><Relationship Id="rId12" Type="http://schemas.openxmlformats.org/officeDocument/2006/relationships/image" Target="../media/image96.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0.svg"/><Relationship Id="rId11" Type="http://schemas.openxmlformats.org/officeDocument/2006/relationships/image" Target="../media/image95.svg"/><Relationship Id="rId5" Type="http://schemas.openxmlformats.org/officeDocument/2006/relationships/image" Target="../media/image89.sv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svg"/></Relationships>
</file>

<file path=ppt/slides/_rels/slide30.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image" Target="../media/image98.svg"/><Relationship Id="rId7" Type="http://schemas.openxmlformats.org/officeDocument/2006/relationships/image" Target="../media/image102.sv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01.svg"/><Relationship Id="rId5" Type="http://schemas.openxmlformats.org/officeDocument/2006/relationships/image" Target="../media/image100.svg"/><Relationship Id="rId4" Type="http://schemas.openxmlformats.org/officeDocument/2006/relationships/image" Target="../media/image99.svg"/><Relationship Id="rId9" Type="http://schemas.openxmlformats.org/officeDocument/2006/relationships/image" Target="../media/image104.svg"/></Relationships>
</file>

<file path=ppt/slides/_rels/slide31.xml.rels><?xml version="1.0" encoding="UTF-8" standalone="yes"?>
<Relationships xmlns="http://schemas.openxmlformats.org/package/2006/relationships"><Relationship Id="rId8" Type="http://schemas.openxmlformats.org/officeDocument/2006/relationships/image" Target="../media/image110.svg"/><Relationship Id="rId13" Type="http://schemas.openxmlformats.org/officeDocument/2006/relationships/image" Target="../media/image115.svg"/><Relationship Id="rId3" Type="http://schemas.openxmlformats.org/officeDocument/2006/relationships/image" Target="../media/image105.svg"/><Relationship Id="rId7" Type="http://schemas.openxmlformats.org/officeDocument/2006/relationships/image" Target="../media/image109.svg"/><Relationship Id="rId12" Type="http://schemas.openxmlformats.org/officeDocument/2006/relationships/image" Target="../media/image114.sv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08.svg"/><Relationship Id="rId11" Type="http://schemas.openxmlformats.org/officeDocument/2006/relationships/image" Target="../media/image113.svg"/><Relationship Id="rId5" Type="http://schemas.openxmlformats.org/officeDocument/2006/relationships/image" Target="../media/image107.svg"/><Relationship Id="rId15" Type="http://schemas.openxmlformats.org/officeDocument/2006/relationships/image" Target="../media/image117.svg"/><Relationship Id="rId10" Type="http://schemas.openxmlformats.org/officeDocument/2006/relationships/image" Target="../media/image112.svg"/><Relationship Id="rId4" Type="http://schemas.openxmlformats.org/officeDocument/2006/relationships/image" Target="../media/image106.svg"/><Relationship Id="rId9" Type="http://schemas.openxmlformats.org/officeDocument/2006/relationships/image" Target="../media/image111.svg"/><Relationship Id="rId14" Type="http://schemas.openxmlformats.org/officeDocument/2006/relationships/image" Target="../media/image116.svg"/></Relationships>
</file>

<file path=ppt/slides/_rels/slide32.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s>
</file>

<file path=ppt/slides/_rels/slide33.xml.rels><?xml version="1.0" encoding="UTF-8" standalone="yes"?>
<Relationships xmlns="http://schemas.openxmlformats.org/package/2006/relationships"><Relationship Id="rId8" Type="http://schemas.openxmlformats.org/officeDocument/2006/relationships/image" Target="../media/image132.svg"/><Relationship Id="rId13" Type="http://schemas.openxmlformats.org/officeDocument/2006/relationships/image" Target="../media/image137.svg"/><Relationship Id="rId3" Type="http://schemas.openxmlformats.org/officeDocument/2006/relationships/image" Target="../media/image127.svg"/><Relationship Id="rId7" Type="http://schemas.openxmlformats.org/officeDocument/2006/relationships/image" Target="../media/image131.svg"/><Relationship Id="rId12" Type="http://schemas.openxmlformats.org/officeDocument/2006/relationships/image" Target="../media/image136.sv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30.svg"/><Relationship Id="rId11" Type="http://schemas.openxmlformats.org/officeDocument/2006/relationships/image" Target="../media/image135.svg"/><Relationship Id="rId5" Type="http://schemas.openxmlformats.org/officeDocument/2006/relationships/image" Target="../media/image129.svg"/><Relationship Id="rId10" Type="http://schemas.openxmlformats.org/officeDocument/2006/relationships/image" Target="../media/image134.svg"/><Relationship Id="rId4" Type="http://schemas.openxmlformats.org/officeDocument/2006/relationships/image" Target="../media/image128.svg"/><Relationship Id="rId9" Type="http://schemas.openxmlformats.org/officeDocument/2006/relationships/image" Target="../media/image133.svg"/></Relationships>
</file>

<file path=ppt/slides/_rels/slide34.xml.rels><?xml version="1.0" encoding="UTF-8" standalone="yes"?>
<Relationships xmlns="http://schemas.openxmlformats.org/package/2006/relationships"><Relationship Id="rId8" Type="http://schemas.openxmlformats.org/officeDocument/2006/relationships/image" Target="../media/image143.svg"/><Relationship Id="rId3" Type="http://schemas.openxmlformats.org/officeDocument/2006/relationships/image" Target="../media/image138.svg"/><Relationship Id="rId7" Type="http://schemas.openxmlformats.org/officeDocument/2006/relationships/image" Target="../media/image142.sv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41.svg"/><Relationship Id="rId5" Type="http://schemas.openxmlformats.org/officeDocument/2006/relationships/image" Target="../media/image140.svg"/><Relationship Id="rId4" Type="http://schemas.openxmlformats.org/officeDocument/2006/relationships/image" Target="../media/image139.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149.svg"/><Relationship Id="rId13" Type="http://schemas.openxmlformats.org/officeDocument/2006/relationships/image" Target="../media/image154.svg"/><Relationship Id="rId3" Type="http://schemas.openxmlformats.org/officeDocument/2006/relationships/image" Target="../media/image144.svg"/><Relationship Id="rId7" Type="http://schemas.openxmlformats.org/officeDocument/2006/relationships/image" Target="../media/image148.svg"/><Relationship Id="rId12" Type="http://schemas.openxmlformats.org/officeDocument/2006/relationships/image" Target="../media/image153.sv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47.svg"/><Relationship Id="rId11" Type="http://schemas.openxmlformats.org/officeDocument/2006/relationships/image" Target="../media/image152.svg"/><Relationship Id="rId5" Type="http://schemas.openxmlformats.org/officeDocument/2006/relationships/image" Target="../media/image146.svg"/><Relationship Id="rId10" Type="http://schemas.openxmlformats.org/officeDocument/2006/relationships/image" Target="../media/image151.svg"/><Relationship Id="rId4" Type="http://schemas.openxmlformats.org/officeDocument/2006/relationships/image" Target="../media/image145.svg"/><Relationship Id="rId9" Type="http://schemas.openxmlformats.org/officeDocument/2006/relationships/image" Target="../media/image150.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image" Target="../media/image160.svg"/><Relationship Id="rId13" Type="http://schemas.openxmlformats.org/officeDocument/2006/relationships/image" Target="../media/image165.svg"/><Relationship Id="rId3" Type="http://schemas.openxmlformats.org/officeDocument/2006/relationships/image" Target="../media/image155.svg"/><Relationship Id="rId7" Type="http://schemas.openxmlformats.org/officeDocument/2006/relationships/image" Target="../media/image159.svg"/><Relationship Id="rId12" Type="http://schemas.openxmlformats.org/officeDocument/2006/relationships/image" Target="../media/image164.sv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58.svg"/><Relationship Id="rId11" Type="http://schemas.openxmlformats.org/officeDocument/2006/relationships/image" Target="../media/image163.svg"/><Relationship Id="rId5" Type="http://schemas.openxmlformats.org/officeDocument/2006/relationships/image" Target="../media/image157.svg"/><Relationship Id="rId15" Type="http://schemas.openxmlformats.org/officeDocument/2006/relationships/image" Target="../media/image167.svg"/><Relationship Id="rId10" Type="http://schemas.openxmlformats.org/officeDocument/2006/relationships/image" Target="../media/image162.svg"/><Relationship Id="rId4" Type="http://schemas.openxmlformats.org/officeDocument/2006/relationships/image" Target="../media/image156.svg"/><Relationship Id="rId9" Type="http://schemas.openxmlformats.org/officeDocument/2006/relationships/image" Target="../media/image161.svg"/><Relationship Id="rId14" Type="http://schemas.openxmlformats.org/officeDocument/2006/relationships/image" Target="../media/image166.svg"/></Relationships>
</file>

<file path=ppt/slides/_rels/slide42.xml.rels><?xml version="1.0" encoding="UTF-8" standalone="yes"?>
<Relationships xmlns="http://schemas.openxmlformats.org/package/2006/relationships"><Relationship Id="rId3" Type="http://schemas.openxmlformats.org/officeDocument/2006/relationships/image" Target="../media/image168.svg"/><Relationship Id="rId7" Type="http://schemas.openxmlformats.org/officeDocument/2006/relationships/image" Target="../media/image172.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71.svg"/><Relationship Id="rId5" Type="http://schemas.openxmlformats.org/officeDocument/2006/relationships/image" Target="../media/image170.svg"/><Relationship Id="rId4" Type="http://schemas.openxmlformats.org/officeDocument/2006/relationships/image" Target="../media/image169.svg"/></Relationships>
</file>

<file path=ppt/slides/_rels/slide43.xml.rels><?xml version="1.0" encoding="UTF-8" standalone="yes"?>
<Relationships xmlns="http://schemas.openxmlformats.org/package/2006/relationships"><Relationship Id="rId8" Type="http://schemas.openxmlformats.org/officeDocument/2006/relationships/image" Target="../media/image177.svg"/><Relationship Id="rId3" Type="http://schemas.openxmlformats.org/officeDocument/2006/relationships/notesSlide" Target="../notesSlides/notesSlide34.xml"/><Relationship Id="rId7" Type="http://schemas.openxmlformats.org/officeDocument/2006/relationships/image" Target="../media/image176.svg"/><Relationship Id="rId2" Type="http://schemas.openxmlformats.org/officeDocument/2006/relationships/slideLayout" Target="../slideLayouts/slideLayout1.xml"/><Relationship Id="rId1" Type="http://schemas.openxmlformats.org/officeDocument/2006/relationships/themeOverride" Target="../theme/themeOverride5.xml"/><Relationship Id="rId6" Type="http://schemas.openxmlformats.org/officeDocument/2006/relationships/image" Target="../media/image175.svg"/><Relationship Id="rId5" Type="http://schemas.openxmlformats.org/officeDocument/2006/relationships/image" Target="../media/image174.svg"/><Relationship Id="rId4" Type="http://schemas.openxmlformats.org/officeDocument/2006/relationships/image" Target="../media/image173.svg"/><Relationship Id="rId9" Type="http://schemas.openxmlformats.org/officeDocument/2006/relationships/image" Target="../media/image178.svg"/></Relationships>
</file>

<file path=ppt/slides/_rels/slide44.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slideLayout" Target="../slideLayouts/slideLayout1.xml"/><Relationship Id="rId1" Type="http://schemas.openxmlformats.org/officeDocument/2006/relationships/themeOverride" Target="../theme/themeOverride6.xml"/></Relationships>
</file>

<file path=ppt/slides/_rels/slide45.xml.rels><?xml version="1.0" encoding="UTF-8" standalone="yes"?>
<Relationships xmlns="http://schemas.openxmlformats.org/package/2006/relationships"><Relationship Id="rId8" Type="http://schemas.openxmlformats.org/officeDocument/2006/relationships/image" Target="../media/image185.svg"/><Relationship Id="rId3" Type="http://schemas.openxmlformats.org/officeDocument/2006/relationships/image" Target="../media/image180.svg"/><Relationship Id="rId7" Type="http://schemas.openxmlformats.org/officeDocument/2006/relationships/image" Target="../media/image184.sv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83.svg"/><Relationship Id="rId11" Type="http://schemas.openxmlformats.org/officeDocument/2006/relationships/image" Target="../media/image187.png"/><Relationship Id="rId5" Type="http://schemas.openxmlformats.org/officeDocument/2006/relationships/image" Target="../media/image182.svg"/><Relationship Id="rId10" Type="http://schemas.openxmlformats.org/officeDocument/2006/relationships/image" Target="../media/image9.png"/><Relationship Id="rId4" Type="http://schemas.openxmlformats.org/officeDocument/2006/relationships/image" Target="../media/image181.svg"/><Relationship Id="rId9" Type="http://schemas.openxmlformats.org/officeDocument/2006/relationships/image" Target="../media/image186.svg"/></Relationships>
</file>

<file path=ppt/slides/_rels/slide46.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89.png"/><Relationship Id="rId5" Type="http://schemas.openxmlformats.org/officeDocument/2006/relationships/hyperlink" Target="mailto:chuck@idalog.com" TargetMode="External"/><Relationship Id="rId4" Type="http://schemas.openxmlformats.org/officeDocument/2006/relationships/hyperlink" Target="mailto:cra451@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44" r="44"/>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
        <p:nvSpPr>
          <p:cNvPr id="3" name="Text 0"/>
          <p:cNvSpPr/>
          <p:nvPr/>
        </p:nvSpPr>
        <p:spPr>
          <a:xfrm>
            <a:off x="0" y="0"/>
            <a:ext cx="9144000" cy="5143500"/>
          </a:xfrm>
          <a:prstGeom prst="rect">
            <a:avLst/>
          </a:prstGeom>
          <a:gradFill rotWithShape="1">
            <a:gsLst>
              <a:gs pos="0">
                <a:srgbClr val="76B900">
                  <a:alpha val="7000"/>
                </a:srgbClr>
              </a:gs>
              <a:gs pos="70000">
                <a:srgbClr val="000000">
                  <a:alpha val="0"/>
                </a:srgbClr>
              </a:gs>
            </a:gsLst>
            <a:path path="circle">
              <a:fillToRect l="50000" t="55000" r="50000" b="45000"/>
            </a:path>
          </a:gradFill>
          <a:ln/>
        </p:spPr>
        <p:txBody>
          <a:bodyPr wrap="square" rtlCol="0" anchor="t"/>
          <a:lstStyle/>
          <a:p>
            <a:pPr marL="0" indent="0">
              <a:buNone/>
            </a:pPr>
            <a:endParaRPr lang="en-US" dirty="0"/>
          </a:p>
        </p:txBody>
      </p:sp>
      <p:sp>
        <p:nvSpPr>
          <p:cNvPr id="4" name="Text 1"/>
          <p:cNvSpPr/>
          <p:nvPr/>
        </p:nvSpPr>
        <p:spPr>
          <a:xfrm>
            <a:off x="0" y="0"/>
            <a:ext cx="9144000" cy="5143500"/>
          </a:xfrm>
          <a:prstGeom prst="rect">
            <a:avLst/>
          </a:prstGeom>
          <a:gradFill rotWithShape="1">
            <a:gsLst>
              <a:gs pos="90000">
                <a:srgbClr val="FFFFFF"/>
              </a:gs>
              <a:gs pos="50000">
                <a:srgbClr val="000000">
                  <a:alpha val="0"/>
                </a:srgbClr>
              </a:gs>
              <a:gs pos="100000">
                <a:srgbClr val="05070C">
                  <a:alpha val="60000"/>
                </a:srgbClr>
              </a:gs>
            </a:gsLst>
            <a:path path="circle">
              <a:fillToRect l="50000" t="50000" r="50000" b="50000"/>
            </a:path>
          </a:gradFill>
          <a:ln/>
        </p:spPr>
        <p:txBody>
          <a:bodyPr wrap="square" rtlCol="0" anchor="t"/>
          <a:lstStyle/>
          <a:p>
            <a:pPr marL="0" indent="0">
              <a:buNone/>
            </a:pPr>
            <a:endParaRPr lang="en-US" dirty="0"/>
          </a:p>
        </p:txBody>
      </p:sp>
      <p:sp>
        <p:nvSpPr>
          <p:cNvPr id="5" name="Text 2"/>
          <p:cNvSpPr/>
          <p:nvPr/>
        </p:nvSpPr>
        <p:spPr>
          <a:xfrm>
            <a:off x="2830562" y="1538139"/>
            <a:ext cx="3831000" cy="139005"/>
          </a:xfrm>
          <a:prstGeom prst="rect">
            <a:avLst/>
          </a:prstGeom>
          <a:noFill/>
          <a:ln/>
        </p:spPr>
        <p:txBody>
          <a:bodyPr wrap="none" lIns="0" tIns="0" rIns="0" bIns="0" rtlCol="0" anchor="t"/>
          <a:lstStyle/>
          <a:p>
            <a:pPr marL="0" indent="0" algn="l">
              <a:lnSpc>
                <a:spcPts val="1095"/>
              </a:lnSpc>
              <a:buNone/>
            </a:pPr>
            <a:r>
              <a:rPr lang="en-US" sz="730" kern="0" spc="230" dirty="0">
                <a:solidFill>
                  <a:srgbClr val="76B900">
                    <a:alpha val="90000"/>
                  </a:srgbClr>
                </a:solidFill>
                <a:latin typeface="Consolas" pitchFamily="34" charset="0"/>
                <a:ea typeface="Consolas" pitchFamily="34" charset="-122"/>
                <a:cs typeface="Consolas" pitchFamily="34" charset="-120"/>
              </a:rPr>
              <a:t>BOISE CODE CAMP 2026 · TECHNICAL WORKSHOP</a:t>
            </a:r>
            <a:endParaRPr lang="en-US" sz="730" dirty="0"/>
          </a:p>
        </p:txBody>
      </p:sp>
      <p:sp>
        <p:nvSpPr>
          <p:cNvPr id="6" name="Text 3"/>
          <p:cNvSpPr/>
          <p:nvPr/>
        </p:nvSpPr>
        <p:spPr>
          <a:xfrm>
            <a:off x="2273122" y="1189854"/>
            <a:ext cx="4714750" cy="875109"/>
          </a:xfrm>
          <a:prstGeom prst="rect">
            <a:avLst/>
          </a:prstGeom>
          <a:noFill/>
          <a:ln/>
        </p:spPr>
        <p:txBody>
          <a:bodyPr wrap="square" lIns="0" tIns="0" rIns="0" bIns="0" rtlCol="0" anchor="t"/>
          <a:lstStyle/>
          <a:p>
            <a:pPr marL="0" indent="0" algn="ctr">
              <a:lnSpc>
                <a:spcPts val="3282"/>
              </a:lnSpc>
              <a:spcAft>
                <a:spcPts val="1580"/>
              </a:spcAft>
              <a:buNone/>
            </a:pPr>
            <a:r>
              <a:rPr lang="en-US" sz="2930" kern="0" spc="-30" dirty="0">
                <a:solidFill>
                  <a:srgbClr val="E2E8F0"/>
                </a:solidFill>
                <a:latin typeface="Consolas" pitchFamily="34" charset="0"/>
                <a:ea typeface="Consolas" pitchFamily="34" charset="-122"/>
                <a:cs typeface="Consolas" pitchFamily="34" charset="-120"/>
              </a:rPr>
              <a:t> </a:t>
            </a:r>
            <a:br>
              <a:rPr dirty="0"/>
            </a:br>
            <a:r>
              <a:rPr lang="en-US" sz="2930" kern="0" spc="-30" dirty="0">
                <a:solidFill>
                  <a:srgbClr val="E2E8F0"/>
                </a:solidFill>
                <a:latin typeface="Consolas" pitchFamily="34" charset="0"/>
                <a:ea typeface="Consolas" pitchFamily="34" charset="-122"/>
                <a:cs typeface="Consolas" pitchFamily="34" charset="-120"/>
              </a:rPr>
              <a:t> Want </a:t>
            </a:r>
            <a:r>
              <a:rPr lang="en-US" sz="2930" b="1" kern="0" spc="-30" dirty="0">
                <a:solidFill>
                  <a:srgbClr val="76B900"/>
                </a:solidFill>
                <a:latin typeface="Consolas" pitchFamily="34" charset="0"/>
                <a:ea typeface="Consolas" pitchFamily="34" charset="-122"/>
                <a:cs typeface="Consolas" pitchFamily="34" charset="-120"/>
              </a:rPr>
              <a:t>AI</a:t>
            </a:r>
            <a:r>
              <a:rPr lang="en-US" sz="2930" kern="0" spc="-30" dirty="0">
                <a:solidFill>
                  <a:srgbClr val="E2E8F0"/>
                </a:solidFill>
                <a:latin typeface="Consolas" pitchFamily="34" charset="0"/>
                <a:ea typeface="Consolas" pitchFamily="34" charset="-122"/>
                <a:cs typeface="Consolas" pitchFamily="34" charset="-120"/>
              </a:rPr>
              <a:t> That Actually</a:t>
            </a:r>
            <a:br>
              <a:rPr dirty="0"/>
            </a:br>
            <a:r>
              <a:rPr lang="en-US" sz="2930" b="1" kern="0" spc="-30" dirty="0">
                <a:solidFill>
                  <a:srgbClr val="76B900"/>
                </a:solidFill>
                <a:latin typeface="Consolas" pitchFamily="34" charset="0"/>
                <a:ea typeface="Consolas" pitchFamily="34" charset="-122"/>
                <a:cs typeface="Consolas" pitchFamily="34" charset="-120"/>
              </a:rPr>
              <a:t>Does Things</a:t>
            </a:r>
            <a:r>
              <a:rPr lang="en-US" sz="2930" kern="0" spc="-30" dirty="0">
                <a:solidFill>
                  <a:srgbClr val="E2E8F0"/>
                </a:solidFill>
                <a:latin typeface="Consolas" pitchFamily="34" charset="0"/>
                <a:ea typeface="Consolas" pitchFamily="34" charset="-122"/>
                <a:cs typeface="Consolas" pitchFamily="34" charset="-120"/>
              </a:rPr>
              <a:t> For You?</a:t>
            </a:r>
            <a:br>
              <a:rPr dirty="0"/>
            </a:br>
            <a:r>
              <a:rPr lang="en-US" sz="2930" kern="0" spc="-30" dirty="0">
                <a:solidFill>
                  <a:srgbClr val="E2E8F0"/>
                </a:solidFill>
                <a:latin typeface="Consolas" pitchFamily="34" charset="0"/>
                <a:ea typeface="Consolas" pitchFamily="34" charset="-122"/>
                <a:cs typeface="Consolas" pitchFamily="34" charset="-120"/>
              </a:rPr>
              <a:t>      </a:t>
            </a:r>
            <a:endParaRPr lang="en-US" sz="2930" dirty="0"/>
          </a:p>
        </p:txBody>
      </p:sp>
      <p:sp>
        <p:nvSpPr>
          <p:cNvPr id="7" name="Text 4"/>
          <p:cNvSpPr/>
          <p:nvPr/>
        </p:nvSpPr>
        <p:spPr>
          <a:xfrm>
            <a:off x="4286250" y="2882652"/>
            <a:ext cx="571500" cy="21580"/>
          </a:xfrm>
          <a:prstGeom prst="roundRect">
            <a:avLst>
              <a:gd name="adj" fmla="val 64736"/>
            </a:avLst>
          </a:prstGeom>
          <a:solidFill>
            <a:srgbClr val="76B900"/>
          </a:solidFill>
          <a:ln/>
        </p:spPr>
        <p:txBody>
          <a:bodyPr wrap="none" rtlCol="0" anchor="t"/>
          <a:lstStyle/>
          <a:p>
            <a:pPr marL="0" indent="0">
              <a:buNone/>
            </a:pPr>
            <a:endParaRPr lang="en-US" dirty="0"/>
          </a:p>
        </p:txBody>
      </p:sp>
      <p:sp>
        <p:nvSpPr>
          <p:cNvPr id="8" name="Text 5"/>
          <p:cNvSpPr/>
          <p:nvPr/>
        </p:nvSpPr>
        <p:spPr>
          <a:xfrm>
            <a:off x="2537210" y="3142366"/>
            <a:ext cx="4069580" cy="495999"/>
          </a:xfrm>
          <a:prstGeom prst="rect">
            <a:avLst/>
          </a:prstGeom>
          <a:noFill/>
          <a:ln/>
        </p:spPr>
        <p:txBody>
          <a:bodyPr wrap="square" lIns="0" tIns="0" rIns="0" bIns="0" rtlCol="0" anchor="t"/>
          <a:lstStyle/>
          <a:p>
            <a:pPr marL="0" indent="0" algn="ctr">
              <a:lnSpc>
                <a:spcPts val="1860"/>
              </a:lnSpc>
              <a:buNone/>
            </a:pPr>
            <a:r>
              <a:rPr lang="en-US" sz="1240" dirty="0">
                <a:solidFill>
                  <a:srgbClr val="8B9CB6"/>
                </a:solidFill>
                <a:latin typeface="Calibri" pitchFamily="34" charset="0"/>
                <a:ea typeface="Calibri" pitchFamily="34" charset="-122"/>
                <a:cs typeface="Calibri" pitchFamily="34" charset="-120"/>
              </a:rPr>
              <a:t>Building &amp; Running Powerful Personal </a:t>
            </a:r>
            <a:r>
              <a:rPr lang="en-US" sz="1240" b="1" dirty="0">
                <a:solidFill>
                  <a:srgbClr val="76B900"/>
                </a:solidFill>
                <a:latin typeface="Calibri" pitchFamily="34" charset="0"/>
                <a:ea typeface="Calibri" pitchFamily="34" charset="-122"/>
                <a:cs typeface="Calibri" pitchFamily="34" charset="-120"/>
              </a:rPr>
              <a:t>AI Agents</a:t>
            </a:r>
            <a:r>
              <a:rPr lang="en-US" sz="1240" dirty="0">
                <a:solidFill>
                  <a:srgbClr val="8B9CB6"/>
                </a:solidFill>
                <a:latin typeface="Calibri" pitchFamily="34" charset="0"/>
                <a:ea typeface="Calibri" pitchFamily="34" charset="-122"/>
                <a:cs typeface="Calibri" pitchFamily="34" charset="-120"/>
              </a:rPr>
              <a:t> Locally</a:t>
            </a:r>
            <a:br>
              <a:rPr dirty="0"/>
            </a:br>
            <a:r>
              <a:rPr lang="en-US" sz="1240" dirty="0">
                <a:solidFill>
                  <a:srgbClr val="8B9CB6"/>
                </a:solidFill>
                <a:latin typeface="Calibri" pitchFamily="34" charset="0"/>
                <a:ea typeface="Calibri" pitchFamily="34" charset="-122"/>
                <a:cs typeface="Calibri" pitchFamily="34" charset="-120"/>
              </a:rPr>
              <a:t> with </a:t>
            </a:r>
            <a:r>
              <a:rPr lang="en-US" sz="1240" b="1" dirty="0">
                <a:solidFill>
                  <a:srgbClr val="76B900"/>
                </a:solidFill>
                <a:latin typeface="Calibri" pitchFamily="34" charset="0"/>
                <a:ea typeface="Calibri" pitchFamily="34" charset="-122"/>
                <a:cs typeface="Calibri" pitchFamily="34" charset="-120"/>
              </a:rPr>
              <a:t>OpenClaw</a:t>
            </a:r>
            <a:r>
              <a:rPr lang="en-US" sz="1240" dirty="0">
                <a:solidFill>
                  <a:srgbClr val="8B9CB6"/>
                </a:solidFill>
                <a:latin typeface="Calibri" pitchFamily="34" charset="0"/>
                <a:ea typeface="Calibri" pitchFamily="34" charset="-122"/>
                <a:cs typeface="Calibri" pitchFamily="34" charset="-120"/>
              </a:rPr>
              <a:t> and </a:t>
            </a:r>
            <a:r>
              <a:rPr lang="en-US" sz="1240" b="1" dirty="0">
                <a:solidFill>
                  <a:srgbClr val="76B900"/>
                </a:solidFill>
                <a:latin typeface="Calibri" pitchFamily="34" charset="0"/>
                <a:ea typeface="Calibri" pitchFamily="34" charset="-122"/>
                <a:cs typeface="Calibri" pitchFamily="34" charset="-120"/>
              </a:rPr>
              <a:t>Hermes Agent</a:t>
            </a:r>
            <a:r>
              <a:rPr lang="en-US" sz="1240" dirty="0">
                <a:solidFill>
                  <a:srgbClr val="8B9CB6"/>
                </a:solidFill>
                <a:latin typeface="Calibri" pitchFamily="34" charset="0"/>
                <a:ea typeface="Calibri" pitchFamily="34" charset="-122"/>
                <a:cs typeface="Calibri" pitchFamily="34" charset="-120"/>
              </a:rPr>
              <a:t> from Nous Research</a:t>
            </a:r>
            <a:endParaRPr lang="en-US" sz="1240" dirty="0"/>
          </a:p>
        </p:txBody>
      </p:sp>
      <p:pic>
        <p:nvPicPr>
          <p:cNvPr id="9" name="Image 1" descr="preencoded.png"/>
          <p:cNvPicPr>
            <a:picLocks noChangeAspect="1"/>
          </p:cNvPicPr>
          <p:nvPr/>
        </p:nvPicPr>
        <p:blipFill>
          <a:blip r:embed="rId4"/>
          <a:stretch>
            <a:fillRect/>
          </a:stretch>
        </p:blipFill>
        <p:spPr>
          <a:xfrm>
            <a:off x="8103245" y="200620"/>
            <a:ext cx="782985" cy="514350"/>
          </a:xfrm>
          <a:prstGeom prst="rect">
            <a:avLst/>
          </a:prstGeom>
        </p:spPr>
      </p:pic>
      <p:sp>
        <p:nvSpPr>
          <p:cNvPr id="10" name="Text 6"/>
          <p:cNvSpPr/>
          <p:nvPr/>
        </p:nvSpPr>
        <p:spPr>
          <a:xfrm>
            <a:off x="0" y="4715768"/>
            <a:ext cx="9144000" cy="427732"/>
          </a:xfrm>
          <a:prstGeom prst="rect">
            <a:avLst/>
          </a:prstGeom>
          <a:gradFill rotWithShape="1">
            <a:gsLst>
              <a:gs pos="0">
                <a:srgbClr val="05070C">
                  <a:alpha val="95000"/>
                </a:srgbClr>
              </a:gs>
              <a:gs pos="100000">
                <a:srgbClr val="000000">
                  <a:alpha val="0"/>
                </a:srgbClr>
              </a:gs>
            </a:gsLst>
            <a:lin ang="16200000" scaled="1"/>
          </a:gradFill>
          <a:ln/>
        </p:spPr>
        <p:txBody>
          <a:bodyPr wrap="square" rtlCol="0" anchor="t"/>
          <a:lstStyle/>
          <a:p>
            <a:pPr marL="0" indent="0">
              <a:buNone/>
            </a:pPr>
            <a:endParaRPr lang="en-US" dirty="0"/>
          </a:p>
        </p:txBody>
      </p:sp>
      <p:sp>
        <p:nvSpPr>
          <p:cNvPr id="11" name="Text 7"/>
          <p:cNvSpPr/>
          <p:nvPr/>
        </p:nvSpPr>
        <p:spPr>
          <a:xfrm>
            <a:off x="571500" y="4843909"/>
            <a:ext cx="1370915" cy="171450"/>
          </a:xfrm>
          <a:prstGeom prst="rect">
            <a:avLst/>
          </a:prstGeom>
          <a:noFill/>
          <a:ln/>
        </p:spPr>
        <p:txBody>
          <a:bodyPr wrap="none" lIns="0" tIns="0" rIns="0" bIns="0" rtlCol="0" anchor="ctr"/>
          <a:lstStyle/>
          <a:p>
            <a:pPr marL="0" indent="0" algn="l">
              <a:lnSpc>
                <a:spcPts val="1350"/>
              </a:lnSpc>
              <a:buNone/>
            </a:pPr>
            <a:r>
              <a:rPr lang="en-US" sz="900" kern="0" spc="20" dirty="0">
                <a:solidFill>
                  <a:srgbClr val="8B9CB6"/>
                </a:solidFill>
                <a:latin typeface="Calibri" pitchFamily="34" charset="0"/>
                <a:ea typeface="Calibri" pitchFamily="34" charset="-122"/>
                <a:cs typeface="Calibri" pitchFamily="34" charset="-120"/>
              </a:rPr>
              <a:t>Presenter: </a:t>
            </a:r>
            <a:r>
              <a:rPr lang="en-US" sz="900" kern="0" spc="20" dirty="0">
                <a:solidFill>
                  <a:srgbClr val="E2E8F0"/>
                </a:solidFill>
                <a:latin typeface="Calibri" pitchFamily="34" charset="0"/>
                <a:ea typeface="Calibri" pitchFamily="34" charset="-122"/>
                <a:cs typeface="Calibri" pitchFamily="34" charset="-120"/>
              </a:rPr>
              <a:t>Chuck Anderson</a:t>
            </a:r>
            <a:endParaRPr lang="en-US" sz="9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48370" y="4863191"/>
            <a:ext cx="132588" cy="132588"/>
          </a:xfrm>
          <a:prstGeom prst="rect">
            <a:avLst/>
          </a:prstGeom>
        </p:spPr>
      </p:pic>
      <p:sp>
        <p:nvSpPr>
          <p:cNvPr id="13" name="Text 8"/>
          <p:cNvSpPr/>
          <p:nvPr/>
        </p:nvSpPr>
        <p:spPr>
          <a:xfrm>
            <a:off x="4314676" y="4854327"/>
            <a:ext cx="1020738" cy="150465"/>
          </a:xfrm>
          <a:prstGeom prst="rect">
            <a:avLst/>
          </a:prstGeom>
          <a:noFill/>
          <a:ln/>
        </p:spPr>
        <p:txBody>
          <a:bodyPr wrap="none" lIns="0" tIns="0" rIns="0" bIns="0" rtlCol="0" anchor="ctr"/>
          <a:lstStyle/>
          <a:p>
            <a:pPr marL="0" indent="0" algn="l">
              <a:lnSpc>
                <a:spcPts val="1185"/>
              </a:lnSpc>
              <a:buNone/>
            </a:pPr>
            <a:r>
              <a:rPr lang="en-US" sz="790" dirty="0">
                <a:solidFill>
                  <a:srgbClr val="76B900">
                    <a:alpha val="50000"/>
                  </a:srgbClr>
                </a:solidFill>
                <a:latin typeface="Calibri" pitchFamily="34" charset="0"/>
                <a:ea typeface="Calibri" pitchFamily="34" charset="-122"/>
                <a:cs typeface="Calibri" pitchFamily="34" charset="-120"/>
              </a:rPr>
              <a:t>Partially Powered by Nvidia</a:t>
            </a:r>
            <a:endParaRPr lang="en-US" sz="790" dirty="0"/>
          </a:p>
        </p:txBody>
      </p:sp>
      <p:sp>
        <p:nvSpPr>
          <p:cNvPr id="14" name="Text 9"/>
          <p:cNvSpPr/>
          <p:nvPr/>
        </p:nvSpPr>
        <p:spPr>
          <a:xfrm>
            <a:off x="7596634" y="4843909"/>
            <a:ext cx="1073453" cy="171450"/>
          </a:xfrm>
          <a:prstGeom prst="rect">
            <a:avLst/>
          </a:prstGeom>
          <a:noFill/>
          <a:ln/>
        </p:spPr>
        <p:txBody>
          <a:bodyPr wrap="none" lIns="0" tIns="0" rIns="0" bIns="0" rtlCol="0" anchor="ctr"/>
          <a:lstStyle/>
          <a:p>
            <a:pPr marL="0" indent="0" algn="l">
              <a:lnSpc>
                <a:spcPts val="1350"/>
              </a:lnSpc>
              <a:buNone/>
            </a:pPr>
            <a:r>
              <a:rPr lang="en-US" sz="900" kern="0" spc="20" dirty="0">
                <a:solidFill>
                  <a:srgbClr val="8B9CB6"/>
                </a:solidFill>
                <a:latin typeface="Calibri" pitchFamily="34" charset="0"/>
                <a:ea typeface="Calibri" pitchFamily="34" charset="-122"/>
                <a:cs typeface="Calibri" pitchFamily="34" charset="-120"/>
              </a:rPr>
              <a:t>Date: 5/2/2026</a:t>
            </a:r>
            <a:r>
              <a:rPr lang="en-US" sz="900" kern="0" spc="20" dirty="0">
                <a:solidFill>
                  <a:srgbClr val="E2E8F0"/>
                </a:solidFill>
                <a:latin typeface="Calibri" pitchFamily="34" charset="0"/>
                <a:ea typeface="Calibri" pitchFamily="34" charset="-122"/>
                <a:cs typeface="Calibri" pitchFamily="34" charset="-120"/>
              </a:rPr>
              <a: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Legal Disclaimer">
    <p:bg>
      <p:bgPr>
        <a:solidFill>
          <a:srgbClr val="0A0F1A"/>
        </a:solidFill>
        <a:effectLst/>
      </p:bgPr>
    </p:bg>
    <p:spTree>
      <p:nvGrpSpPr>
        <p:cNvPr id="1" name=""/>
        <p:cNvGrpSpPr/>
        <p:nvPr/>
      </p:nvGrpSpPr>
      <p:grpSpPr>
        <a:xfrm>
          <a:off x="0" y="0"/>
          <a:ext cx="0" cy="0"/>
          <a:chOff x="0" y="0"/>
          <a:chExt cx="0" cy="0"/>
        </a:xfrm>
      </p:grpSpPr>
      <p:sp>
        <p:nvSpPr>
          <p:cNvPr id="2" name="IconBadge"/>
          <p:cNvSpPr/>
          <p:nvPr/>
        </p:nvSpPr>
        <p:spPr>
          <a:xfrm>
            <a:off x="429220" y="364778"/>
            <a:ext cx="342900" cy="342900"/>
          </a:xfrm>
          <a:prstGeom prst="roundRect">
            <a:avLst>
              <a:gd name="adj" fmla="val 25185"/>
            </a:avLst>
          </a:prstGeom>
          <a:solidFill>
            <a:srgbClr val="76B900">
              <a:alpha val="12000"/>
            </a:srgbClr>
          </a:solidFill>
          <a:ln/>
        </p:spPr>
        <p:txBody>
          <a:bodyPr wrap="square" rtlCol="0" anchor="ctr" anchorCtr="1"/>
          <a:lstStyle/>
          <a:p>
            <a:pPr marL="0" indent="0" algn="ctr">
              <a:buNone/>
            </a:pPr>
            <a:r>
              <a:rPr lang="en-US" sz="1400">
                <a:solidFill>
                  <a:srgbClr val="76B900"/>
                </a:solidFill>
                <a:latin typeface="Consolas" pitchFamily="34" charset="0"/>
              </a:rPr>
              <a:t>⚠</a:t>
            </a:r>
            <a:endParaRPr lang="en-US"/>
          </a:p>
        </p:txBody>
      </p:sp>
      <p:sp>
        <p:nvSpPr>
          <p:cNvPr id="3" name="Title"/>
          <p:cNvSpPr/>
          <p:nvPr/>
        </p:nvSpPr>
        <p:spPr>
          <a:xfrm>
            <a:off x="886420" y="342900"/>
            <a:ext cx="3000000" cy="386655"/>
          </a:xfrm>
          <a:prstGeom prst="rect">
            <a:avLst/>
          </a:prstGeom>
          <a:noFill/>
          <a:ln/>
        </p:spPr>
        <p:txBody>
          <a:bodyPr wrap="none" lIns="0" tIns="0" rIns="0" bIns="0" rtlCol="0" anchor="ctr"/>
          <a:lstStyle/>
          <a:p>
            <a:pPr marL="0" indent="0" algn="l">
              <a:lnSpc>
                <a:spcPts val="3045"/>
              </a:lnSpc>
              <a:buNone/>
            </a:pPr>
            <a:r>
              <a:rPr lang="en-US" sz="2030" kern="0" spc="-30">
                <a:solidFill>
                  <a:srgbClr val="E2E8F0"/>
                </a:solidFill>
                <a:latin typeface="Consolas" pitchFamily="34" charset="0"/>
                <a:ea typeface="Consolas" pitchFamily="34" charset="-122"/>
                <a:cs typeface="Consolas" pitchFamily="34" charset="-120"/>
              </a:rPr>
              <a:t>Legal Disclaimer</a:t>
            </a:r>
            <a:endParaRPr lang="en-US" sz="2030"/>
          </a:p>
        </p:txBody>
      </p:sp>
      <p:sp>
        <p:nvSpPr>
          <p:cNvPr id="4" name="CardBg"/>
          <p:cNvSpPr/>
          <p:nvPr/>
        </p:nvSpPr>
        <p:spPr>
          <a:xfrm>
            <a:off x="429220" y="900000"/>
            <a:ext cx="8285560" cy="3900000"/>
          </a:xfrm>
          <a:prstGeom prst="roundRect">
            <a:avLst>
              <a:gd name="adj" fmla="val 2800"/>
            </a:avLst>
          </a:prstGeom>
          <a:solidFill>
            <a:srgbClr val="1A2332"/>
          </a:solidFill>
          <a:ln w="9525">
            <a:solidFill>
              <a:srgbClr val="76B900">
                <a:alpha val="12000"/>
              </a:srgbClr>
            </a:solidFill>
          </a:ln>
        </p:spPr>
        <p:txBody>
          <a:bodyPr wrap="square" rtlCol="0" anchor="t"/>
          <a:lstStyle/>
          <a:p>
            <a:pPr marL="0" indent="0">
              <a:buNone/>
            </a:pPr>
            <a:endParaRPr lang="en-US"/>
          </a:p>
        </p:txBody>
      </p:sp>
      <p:sp>
        <p:nvSpPr>
          <p:cNvPr id="5" name="AccentLine"/>
          <p:cNvSpPr/>
          <p:nvPr/>
        </p:nvSpPr>
        <p:spPr>
          <a:xfrm>
            <a:off x="438745" y="909525"/>
            <a:ext cx="8266510" cy="21580"/>
          </a:xfrm>
          <a:prstGeom prst="rect">
            <a:avLst/>
          </a:pr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a:p>
        </p:txBody>
      </p:sp>
      <p:sp>
        <p:nvSpPr>
          <p:cNvPr id="10" name="Sect1Title"/>
          <p:cNvSpPr/>
          <p:nvPr/>
        </p:nvSpPr>
        <p:spPr>
          <a:xfrm>
            <a:off x="700000" y="1050000"/>
            <a:ext cx="3800000" cy="240000"/>
          </a:xfrm>
          <a:prstGeom prst="rect">
            <a:avLst/>
          </a:prstGeom>
          <a:noFill/>
          <a:ln/>
        </p:spPr>
        <p:txBody>
          <a:bodyPr wrap="square" lIns="0" tIns="0" rIns="0" bIns="0" rtlCol="0" anchor="t"/>
          <a:lstStyle/>
          <a:p>
            <a:pPr marL="0" indent="0" algn="l">
              <a:lnSpc>
                <a:spcPts val="1860"/>
              </a:lnSpc>
              <a:buNone/>
            </a:pPr>
            <a:r>
              <a:rPr lang="en-US" sz="1240" b="1" kern="0" spc="25">
                <a:solidFill>
                  <a:srgbClr val="76B900"/>
                </a:solidFill>
                <a:latin typeface="Consolas" pitchFamily="34" charset="0"/>
                <a:ea typeface="Consolas" pitchFamily="34" charset="-122"/>
                <a:cs typeface="Consolas" pitchFamily="34" charset="-120"/>
              </a:rPr>
              <a:t>No Warranty or Guarantee</a:t>
            </a:r>
            <a:endParaRPr lang="en-US" sz="1240"/>
          </a:p>
        </p:txBody>
      </p:sp>
      <p:sp>
        <p:nvSpPr>
          <p:cNvPr id="11" name="Sect1Body"/>
          <p:cNvSpPr/>
          <p:nvPr/>
        </p:nvSpPr>
        <p:spPr>
          <a:xfrm>
            <a:off x="700000" y="1320000"/>
            <a:ext cx="7800000" cy="55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This presentation is provided “as is” without warranty of any kind, express or implied, including but not limited to the warranties of merchantability, fitness for a particular purpose, and non-infringement. The author makes no guarantee that the information contained herein is accurate, complete, or current. Use of any information in this presentation is at your own risk.</a:t>
            </a:r>
            <a:endParaRPr lang="en-US" sz="900"/>
          </a:p>
        </p:txBody>
      </p:sp>
      <p:sp>
        <p:nvSpPr>
          <p:cNvPr id="12" name="Div1"/>
          <p:cNvSpPr/>
          <p:nvPr/>
        </p:nvSpPr>
        <p:spPr>
          <a:xfrm>
            <a:off x="700000" y="1920000"/>
            <a:ext cx="7800000" cy="9525"/>
          </a:xfrm>
          <a:prstGeom prst="rect">
            <a:avLst/>
          </a:prstGeom>
          <a:solidFill>
            <a:srgbClr val="76B900">
              <a:alpha val="15000"/>
            </a:srgbClr>
          </a:solidFill>
          <a:ln/>
        </p:spPr>
        <p:txBody>
          <a:bodyPr wrap="none" rtlCol="0" anchor="t"/>
          <a:lstStyle/>
          <a:p>
            <a:pPr marL="0" indent="0">
              <a:buNone/>
            </a:pPr>
            <a:endParaRPr lang="en-US"/>
          </a:p>
        </p:txBody>
      </p:sp>
      <p:sp>
        <p:nvSpPr>
          <p:cNvPr id="20" name="Sect2Title"/>
          <p:cNvSpPr/>
          <p:nvPr/>
        </p:nvSpPr>
        <p:spPr>
          <a:xfrm>
            <a:off x="700000" y="1990000"/>
            <a:ext cx="3800000" cy="240000"/>
          </a:xfrm>
          <a:prstGeom prst="rect">
            <a:avLst/>
          </a:prstGeom>
          <a:noFill/>
          <a:ln/>
        </p:spPr>
        <p:txBody>
          <a:bodyPr wrap="square" lIns="0" tIns="0" rIns="0" bIns="0" rtlCol="0" anchor="t"/>
          <a:lstStyle/>
          <a:p>
            <a:pPr marL="0" indent="0" algn="l">
              <a:lnSpc>
                <a:spcPts val="1860"/>
              </a:lnSpc>
              <a:buNone/>
            </a:pPr>
            <a:r>
              <a:rPr lang="en-US" sz="1240" b="1" kern="0" spc="25">
                <a:solidFill>
                  <a:srgbClr val="76B900"/>
                </a:solidFill>
                <a:latin typeface="Consolas" pitchFamily="34" charset="0"/>
                <a:ea typeface="Consolas" pitchFamily="34" charset="-122"/>
                <a:cs typeface="Consolas" pitchFamily="34" charset="-120"/>
              </a:rPr>
              <a:t>Limitation of Liability</a:t>
            </a:r>
            <a:endParaRPr lang="en-US" sz="1240"/>
          </a:p>
        </p:txBody>
      </p:sp>
      <p:sp>
        <p:nvSpPr>
          <p:cNvPr id="21" name="Sect2Body"/>
          <p:cNvSpPr/>
          <p:nvPr/>
        </p:nvSpPr>
        <p:spPr>
          <a:xfrm>
            <a:off x="700000" y="2260000"/>
            <a:ext cx="7800000" cy="55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In no event shall the author or presenter be held liable for any direct, indirect, incidental, special, or consequential damages arising out of or in connection with the use of this presentation or any information contained within it. This includes, without limitation, damages for loss of profits, data, or other intangible losses.</a:t>
            </a:r>
            <a:endParaRPr lang="en-US" sz="900"/>
          </a:p>
        </p:txBody>
      </p:sp>
      <p:sp>
        <p:nvSpPr>
          <p:cNvPr id="50" name="Div2New"/>
          <p:cNvSpPr/>
          <p:nvPr/>
        </p:nvSpPr>
        <p:spPr>
          <a:xfrm>
            <a:off x="700000" y="2860000"/>
            <a:ext cx="7800000" cy="9525"/>
          </a:xfrm>
          <a:prstGeom prst="rect">
            <a:avLst/>
          </a:prstGeom>
          <a:solidFill>
            <a:srgbClr val="76B900">
              <a:alpha val="15000"/>
            </a:srgbClr>
          </a:solidFill>
          <a:ln/>
        </p:spPr>
        <p:txBody>
          <a:bodyPr wrap="none" rtlCol="0" anchor="t"/>
          <a:lstStyle/>
          <a:p>
            <a:pPr marL="0" indent="0">
              <a:buNone/>
            </a:pPr>
            <a:endParaRPr lang="en-US"/>
          </a:p>
        </p:txBody>
      </p:sp>
      <p:sp>
        <p:nvSpPr>
          <p:cNvPr id="51" name="CCTitle"/>
          <p:cNvSpPr/>
          <p:nvPr/>
        </p:nvSpPr>
        <p:spPr>
          <a:xfrm>
            <a:off x="700000" y="2930000"/>
            <a:ext cx="7800000" cy="240000"/>
          </a:xfrm>
          <a:prstGeom prst="rect">
            <a:avLst/>
          </a:prstGeom>
          <a:noFill/>
          <a:ln/>
        </p:spPr>
        <p:txBody>
          <a:bodyPr wrap="square" lIns="0" tIns="0" rIns="0" bIns="0" rtlCol="0" anchor="t"/>
          <a:lstStyle/>
          <a:p>
            <a:pPr marL="0" indent="0" algn="l">
              <a:lnSpc>
                <a:spcPts val="1860"/>
              </a:lnSpc>
              <a:buNone/>
            </a:pPr>
            <a:r>
              <a:rPr lang="en-US" sz="1240" b="1" kern="0" spc="25">
                <a:solidFill>
                  <a:srgbClr val="76B900"/>
                </a:solidFill>
                <a:latin typeface="Consolas" pitchFamily="34" charset="0"/>
                <a:ea typeface="Consolas" pitchFamily="34" charset="-122"/>
                <a:cs typeface="Consolas" pitchFamily="34" charset="-120"/>
              </a:rPr>
              <a:t>License — CC BY-NC-ND 4.0</a:t>
            </a:r>
            <a:endParaRPr lang="en-US"/>
          </a:p>
        </p:txBody>
      </p:sp>
      <p:sp>
        <p:nvSpPr>
          <p:cNvPr id="52" name="CCBody1"/>
          <p:cNvSpPr/>
          <p:nvPr/>
        </p:nvSpPr>
        <p:spPr>
          <a:xfrm>
            <a:off x="700000" y="3200000"/>
            <a:ext cx="7800000" cy="40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This work is licensed under the Creative Commons Attribution-NonCommercial-NoDerivatives 4.0 International License (CC BY-NC-ND 4.0). You are free to share — copy and redistribute this material in any medium or format — under the following terms:</a:t>
            </a:r>
            <a:endParaRPr lang="en-US"/>
          </a:p>
        </p:txBody>
      </p:sp>
      <p:sp>
        <p:nvSpPr>
          <p:cNvPr id="53" name="CCTerms"/>
          <p:cNvSpPr/>
          <p:nvPr/>
        </p:nvSpPr>
        <p:spPr>
          <a:xfrm>
            <a:off x="700000" y="3620000"/>
            <a:ext cx="7800000" cy="700000"/>
          </a:xfrm>
          <a:prstGeom prst="rect">
            <a:avLst/>
          </a:prstGeom>
          <a:noFill/>
          <a:ln/>
        </p:spPr>
        <p:txBody>
          <a:bodyPr wrap="none" rtlCol="0" anchor="t"/>
          <a:lstStyle/>
          <a:p>
            <a:pPr marL="0" indent="0" algn="l">
              <a:lnSpc>
                <a:spcPts val="1500"/>
              </a:lnSpc>
              <a:spcAft>
                <a:spcPts val="400"/>
              </a:spcAft>
              <a:buNone/>
            </a:pPr>
            <a:r>
              <a:rPr lang="en-US" sz="900" b="1">
                <a:solidFill>
                  <a:srgbClr val="76B900"/>
                </a:solidFill>
                <a:latin typeface="Calibri" pitchFamily="34" charset="0"/>
                <a:ea typeface="Calibri" pitchFamily="34" charset="-122"/>
                <a:cs typeface="Calibri" pitchFamily="34" charset="-120"/>
              </a:rPr>
              <a:t>•  Attribution — </a:t>
            </a:r>
            <a:r>
              <a:rPr lang="en-US" sz="900">
                <a:solidFill>
                  <a:srgbClr val="8B9CB6"/>
                </a:solidFill>
                <a:latin typeface="Calibri" pitchFamily="34" charset="0"/>
                <a:ea typeface="Calibri" pitchFamily="34" charset="-122"/>
                <a:cs typeface="Calibri" pitchFamily="34" charset="-120"/>
              </a:rPr>
              <a:t>You must give appropriate credit and indicate if changes were made.</a:t>
            </a:r>
          </a:p>
          <a:p>
            <a:pPr marL="0" indent="0" algn="l">
              <a:lnSpc>
                <a:spcPts val="1500"/>
              </a:lnSpc>
              <a:spcAft>
                <a:spcPts val="400"/>
              </a:spcAft>
              <a:buNone/>
            </a:pPr>
            <a:r>
              <a:rPr lang="en-US" sz="900" b="1">
                <a:solidFill>
                  <a:srgbClr val="76B900"/>
                </a:solidFill>
                <a:latin typeface="Calibri" pitchFamily="34" charset="0"/>
                <a:ea typeface="Calibri" pitchFamily="34" charset="-122"/>
                <a:cs typeface="Calibri" pitchFamily="34" charset="-120"/>
              </a:rPr>
              <a:t>•  NonCommercial — </a:t>
            </a:r>
            <a:r>
              <a:rPr lang="en-US" sz="900">
                <a:solidFill>
                  <a:srgbClr val="8B9CB6"/>
                </a:solidFill>
                <a:latin typeface="Calibri" pitchFamily="34" charset="0"/>
                <a:ea typeface="Calibri" pitchFamily="34" charset="-122"/>
                <a:cs typeface="Calibri" pitchFamily="34" charset="-120"/>
              </a:rPr>
              <a:t>You may not use this material for commercial purposes. Republishing or reselling for profit is prohibited.</a:t>
            </a:r>
          </a:p>
          <a:p>
            <a:pPr marL="0" indent="0" algn="l">
              <a:lnSpc>
                <a:spcPts val="1500"/>
              </a:lnSpc>
              <a:spcAft>
                <a:spcPts val="400"/>
              </a:spcAft>
              <a:buNone/>
            </a:pPr>
            <a:r>
              <a:rPr lang="en-US" sz="900" b="1">
                <a:solidFill>
                  <a:srgbClr val="76B900"/>
                </a:solidFill>
                <a:latin typeface="Calibri" pitchFamily="34" charset="0"/>
                <a:ea typeface="Calibri" pitchFamily="34" charset="-122"/>
                <a:cs typeface="Calibri" pitchFamily="34" charset="-120"/>
              </a:rPr>
              <a:t>•  NoDerivatives — </a:t>
            </a:r>
            <a:r>
              <a:rPr lang="en-US" sz="900">
                <a:solidFill>
                  <a:srgbClr val="8B9CB6"/>
                </a:solidFill>
                <a:latin typeface="Calibri" pitchFamily="34" charset="0"/>
                <a:ea typeface="Calibri" pitchFamily="34" charset="-122"/>
                <a:cs typeface="Calibri" pitchFamily="34" charset="-120"/>
              </a:rPr>
              <a:t>You may not remix, transform, or build upon this material and distribute the modified version.</a:t>
            </a:r>
          </a:p>
        </p:txBody>
      </p:sp>
      <p:sp>
        <p:nvSpPr>
          <p:cNvPr id="54" name="CCLink"/>
          <p:cNvSpPr/>
          <p:nvPr/>
        </p:nvSpPr>
        <p:spPr>
          <a:xfrm>
            <a:off x="700000" y="4400000"/>
            <a:ext cx="7800000" cy="200000"/>
          </a:xfrm>
          <a:prstGeom prst="rect">
            <a:avLst/>
          </a:prstGeom>
          <a:noFill/>
          <a:ln/>
        </p:spPr>
        <p:txBody>
          <a:bodyPr wrap="square" lIns="0" tIns="0" rIns="0" bIns="0" rtlCol="0" anchor="t"/>
          <a:lstStyle/>
          <a:p>
            <a:pPr marL="0" indent="0" algn="l">
              <a:lnSpc>
                <a:spcPts val="1100"/>
              </a:lnSpc>
              <a:buNone/>
            </a:pPr>
            <a:r>
              <a:rPr lang="en-US" sz="750">
                <a:solidFill>
                  <a:srgbClr val="76B900"/>
                </a:solidFill>
                <a:latin typeface="Consolas" pitchFamily="34" charset="0"/>
                <a:ea typeface="Consolas" pitchFamily="34" charset="-122"/>
                <a:cs typeface="Consolas" pitchFamily="34" charset="-120"/>
              </a:rPr>
              <a:t>Full license text: creativecommons.org/licenses/by-nc-nd/4.0/</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7429500" y="0"/>
            <a:ext cx="1714500" cy="1572220"/>
          </a:xfrm>
          <a:prstGeom prst="ellipse">
            <a:avLst/>
          </a:prstGeom>
          <a:gradFill rotWithShape="1">
            <a:gsLst>
              <a:gs pos="0">
                <a:srgbClr val="76B900">
                  <a:alpha val="6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0" y="3714750"/>
            <a:ext cx="1572220" cy="1428750"/>
          </a:xfrm>
          <a:prstGeom prst="ellipse">
            <a:avLst/>
          </a:prstGeom>
          <a:gradFill rotWithShape="1">
            <a:gsLst>
              <a:gs pos="0">
                <a:srgbClr val="76B900">
                  <a:alpha val="6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4" name="Text 2"/>
          <p:cNvSpPr/>
          <p:nvPr/>
        </p:nvSpPr>
        <p:spPr>
          <a:xfrm>
            <a:off x="571500" y="400050"/>
            <a:ext cx="571500" cy="29170"/>
          </a:xfrm>
          <a:prstGeom prst="roundRect">
            <a:avLst>
              <a:gd name="adj" fmla="val 47892"/>
            </a:avLst>
          </a:prstGeom>
          <a:solidFill>
            <a:srgbClr val="76B900"/>
          </a:solidFill>
          <a:ln/>
        </p:spPr>
        <p:txBody>
          <a:bodyPr wrap="none" rtlCol="0" anchor="t"/>
          <a:lstStyle/>
          <a:p>
            <a:pPr marL="0" indent="0">
              <a:buNone/>
            </a:pPr>
            <a:endParaRPr lang="en-US" dirty="0"/>
          </a:p>
        </p:txBody>
      </p:sp>
      <p:sp>
        <p:nvSpPr>
          <p:cNvPr id="5" name="Text 3"/>
          <p:cNvSpPr/>
          <p:nvPr/>
        </p:nvSpPr>
        <p:spPr>
          <a:xfrm>
            <a:off x="571500" y="472380"/>
            <a:ext cx="8561070" cy="428625"/>
          </a:xfrm>
          <a:prstGeom prst="rect">
            <a:avLst/>
          </a:prstGeom>
          <a:noFill/>
          <a:ln/>
        </p:spPr>
        <p:txBody>
          <a:bodyPr wrap="none" lIns="0" tIns="0" rIns="0" bIns="0" rtlCol="0" anchor="t"/>
          <a:lstStyle/>
          <a:p>
            <a:pPr marL="0" indent="0" algn="l">
              <a:lnSpc>
                <a:spcPts val="3375"/>
              </a:lnSpc>
              <a:buNone/>
            </a:pPr>
            <a:r>
              <a:rPr lang="en-US" sz="2250" b="1" kern="0" spc="-30" dirty="0">
                <a:solidFill>
                  <a:srgbClr val="E2E8F0"/>
                </a:solidFill>
                <a:latin typeface="Consolas" pitchFamily="34" charset="0"/>
                <a:ea typeface="Consolas" pitchFamily="34" charset="-122"/>
                <a:cs typeface="Consolas" pitchFamily="34" charset="-120"/>
              </a:rPr>
              <a:t>About Today's Session</a:t>
            </a:r>
            <a:endParaRPr lang="en-US" sz="2250" dirty="0"/>
          </a:p>
        </p:txBody>
      </p:sp>
      <p:sp>
        <p:nvSpPr>
          <p:cNvPr id="6" name="Text 4"/>
          <p:cNvSpPr/>
          <p:nvPr/>
        </p:nvSpPr>
        <p:spPr>
          <a:xfrm>
            <a:off x="342900" y="958155"/>
            <a:ext cx="8801100" cy="192435"/>
          </a:xfrm>
          <a:prstGeom prst="rect">
            <a:avLst/>
          </a:prstGeom>
          <a:noFill/>
          <a:ln/>
        </p:spPr>
        <p:txBody>
          <a:bodyPr wrap="none" lIns="0" tIns="0" rIns="0" bIns="0" rtlCol="0" anchor="t"/>
          <a:lstStyle/>
          <a:p>
            <a:pPr marL="0" indent="0" algn="l">
              <a:lnSpc>
                <a:spcPts val="1515"/>
              </a:lnSpc>
              <a:spcBef>
                <a:spcPts val="450"/>
              </a:spcBef>
              <a:buNone/>
            </a:pPr>
            <a:r>
              <a:rPr lang="en-US" sz="1010" dirty="0">
                <a:solidFill>
                  <a:srgbClr val="8B9CB6"/>
                </a:solidFill>
                <a:latin typeface="Calibri" pitchFamily="34" charset="0"/>
                <a:ea typeface="Calibri" pitchFamily="34" charset="-122"/>
                <a:cs typeface="Calibri" pitchFamily="34" charset="-120"/>
              </a:rPr>
              <a:t>What to expect from the next 120 minutes</a:t>
            </a:r>
            <a:endParaRPr lang="en-US" sz="1010" dirty="0"/>
          </a:p>
        </p:txBody>
      </p:sp>
      <p:sp>
        <p:nvSpPr>
          <p:cNvPr id="7" name="Text 5"/>
          <p:cNvSpPr/>
          <p:nvPr/>
        </p:nvSpPr>
        <p:spPr>
          <a:xfrm>
            <a:off x="571500" y="1493490"/>
            <a:ext cx="8001000" cy="949970"/>
          </a:xfrm>
          <a:prstGeom prst="roundRect">
            <a:avLst>
              <a:gd name="adj" fmla="val 9091"/>
            </a:avLst>
          </a:prstGeom>
          <a:solidFill>
            <a:srgbClr val="1A2332"/>
          </a:solidFill>
          <a:ln/>
        </p:spPr>
        <p:txBody>
          <a:bodyPr wrap="square" rtlCol="0" anchor="t"/>
          <a:lstStyle/>
          <a:p>
            <a:pPr marL="0" indent="0">
              <a:buNone/>
            </a:pPr>
            <a:endParaRPr lang="en-US" dirty="0"/>
          </a:p>
        </p:txBody>
      </p:sp>
      <p:sp>
        <p:nvSpPr>
          <p:cNvPr id="8" name="Text 6"/>
          <p:cNvSpPr/>
          <p:nvPr/>
        </p:nvSpPr>
        <p:spPr>
          <a:xfrm>
            <a:off x="571500" y="1493490"/>
            <a:ext cx="28575" cy="949970"/>
          </a:xfrm>
          <a:custGeom>
            <a:avLst/>
            <a:gdLst/>
            <a:ahLst/>
            <a:cxnLst/>
            <a:rect l="l" t="t" r="r" b="b"/>
            <a:pathLst>
              <a:path w="28575" h="949970">
                <a:moveTo>
                  <a:pt x="0" y="86360"/>
                </a:moveTo>
                <a:lnTo>
                  <a:pt x="3572" y="61780"/>
                </a:lnTo>
                <a:lnTo>
                  <a:pt x="7144" y="51968"/>
                </a:lnTo>
                <a:lnTo>
                  <a:pt x="10716" y="44695"/>
                </a:lnTo>
                <a:lnTo>
                  <a:pt x="14288" y="38783"/>
                </a:lnTo>
                <a:lnTo>
                  <a:pt x="17859" y="33770"/>
                </a:lnTo>
                <a:lnTo>
                  <a:pt x="21431" y="29419"/>
                </a:lnTo>
                <a:lnTo>
                  <a:pt x="25003" y="25587"/>
                </a:lnTo>
                <a:lnTo>
                  <a:pt x="28575" y="22181"/>
                </a:lnTo>
                <a:lnTo>
                  <a:pt x="28575" y="927789"/>
                </a:lnTo>
                <a:lnTo>
                  <a:pt x="25003" y="924383"/>
                </a:lnTo>
                <a:lnTo>
                  <a:pt x="21431" y="920551"/>
                </a:lnTo>
                <a:lnTo>
                  <a:pt x="17859" y="916200"/>
                </a:lnTo>
                <a:lnTo>
                  <a:pt x="14288" y="911187"/>
                </a:lnTo>
                <a:lnTo>
                  <a:pt x="10716" y="905275"/>
                </a:lnTo>
                <a:lnTo>
                  <a:pt x="7144" y="898002"/>
                </a:lnTo>
                <a:lnTo>
                  <a:pt x="3572" y="888190"/>
                </a:lnTo>
                <a:lnTo>
                  <a:pt x="0" y="863610"/>
                </a:lnTo>
                <a:close/>
              </a:path>
            </a:pathLst>
          </a:custGeom>
          <a:solidFill>
            <a:srgbClr val="76B900"/>
          </a:solidFill>
          <a:ln/>
        </p:spPr>
        <p:txBody>
          <a:bodyPr wrap="square" rtlCol="0" anchor="t"/>
          <a:lstStyle/>
          <a:p>
            <a:pPr marL="0" indent="0">
              <a:buNone/>
            </a:pPr>
            <a:endParaRPr lang="en-US" dirty="0"/>
          </a:p>
        </p:txBody>
      </p:sp>
      <p:sp>
        <p:nvSpPr>
          <p:cNvPr id="9" name="Text 7"/>
          <p:cNvSpPr/>
          <p:nvPr/>
        </p:nvSpPr>
        <p:spPr>
          <a:xfrm>
            <a:off x="857845" y="1722090"/>
            <a:ext cx="457200" cy="4572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720" y="1864965"/>
            <a:ext cx="171450" cy="171450"/>
          </a:xfrm>
          <a:prstGeom prst="rect">
            <a:avLst/>
          </a:prstGeom>
        </p:spPr>
      </p:pic>
      <p:sp>
        <p:nvSpPr>
          <p:cNvPr id="11" name="Text 8"/>
          <p:cNvSpPr/>
          <p:nvPr/>
        </p:nvSpPr>
        <p:spPr>
          <a:xfrm>
            <a:off x="1515666" y="1722090"/>
            <a:ext cx="3592473" cy="257175"/>
          </a:xfrm>
          <a:prstGeom prst="rect">
            <a:avLst/>
          </a:prstGeom>
          <a:noFill/>
          <a:ln/>
        </p:spPr>
        <p:txBody>
          <a:bodyPr wrap="none" lIns="0" tIns="0" rIns="0" bIns="0" rtlCol="0" anchor="t"/>
          <a:lstStyle/>
          <a:p>
            <a:pPr marL="0" indent="0" algn="l">
              <a:lnSpc>
                <a:spcPts val="2025"/>
              </a:lnSpc>
              <a:spcAft>
                <a:spcPts val="340"/>
              </a:spcAft>
              <a:buNone/>
            </a:pPr>
            <a:r>
              <a:rPr lang="en-US" sz="1350" b="1" dirty="0">
                <a:solidFill>
                  <a:srgbClr val="E2E8F0"/>
                </a:solidFill>
                <a:latin typeface="Consolas" pitchFamily="34" charset="0"/>
                <a:ea typeface="Consolas" pitchFamily="34" charset="-122"/>
                <a:cs typeface="Consolas" pitchFamily="34" charset="-120"/>
              </a:rPr>
              <a:t>Hands-on focus</a:t>
            </a:r>
            <a:endParaRPr lang="en-US" sz="1350" dirty="0"/>
          </a:p>
        </p:txBody>
      </p:sp>
      <p:sp>
        <p:nvSpPr>
          <p:cNvPr id="12" name="Text 9"/>
          <p:cNvSpPr/>
          <p:nvPr/>
        </p:nvSpPr>
        <p:spPr>
          <a:xfrm>
            <a:off x="1515666" y="2022425"/>
            <a:ext cx="3592473" cy="192435"/>
          </a:xfrm>
          <a:prstGeom prst="rect">
            <a:avLst/>
          </a:prstGeom>
          <a:noFill/>
          <a:ln/>
        </p:spPr>
        <p:txBody>
          <a:bodyPr wrap="none" lIns="0" tIns="0" rIns="0" bIns="0" rtlCol="0" anchor="t"/>
          <a:lstStyle/>
          <a:p>
            <a:pPr marL="0" indent="0" algn="l">
              <a:lnSpc>
                <a:spcPts val="1515"/>
              </a:lnSpc>
              <a:buNone/>
            </a:pPr>
            <a:r>
              <a:rPr lang="en-US" sz="1010" dirty="0">
                <a:solidFill>
                  <a:srgbClr val="8B9CB6"/>
                </a:solidFill>
                <a:latin typeface="Calibri" pitchFamily="34" charset="0"/>
                <a:ea typeface="Calibri" pitchFamily="34" charset="-122"/>
                <a:cs typeface="Calibri" pitchFamily="34" charset="-120"/>
              </a:rPr>
              <a:t>Theory </a:t>
            </a:r>
            <a:r>
              <a:rPr lang="en-US" sz="1010" b="1" dirty="0">
                <a:solidFill>
                  <a:srgbClr val="76B900"/>
                </a:solidFill>
                <a:latin typeface="Calibri" pitchFamily="34" charset="0"/>
                <a:ea typeface="Calibri" pitchFamily="34" charset="-122"/>
                <a:cs typeface="Calibri" pitchFamily="34" charset="-120"/>
              </a:rPr>
              <a:t>+</a:t>
            </a:r>
            <a:r>
              <a:rPr lang="en-US" sz="1010" dirty="0">
                <a:solidFill>
                  <a:srgbClr val="8B9CB6"/>
                </a:solidFill>
                <a:latin typeface="Calibri" pitchFamily="34" charset="0"/>
                <a:ea typeface="Calibri" pitchFamily="34" charset="-122"/>
                <a:cs typeface="Calibri" pitchFamily="34" charset="-120"/>
              </a:rPr>
              <a:t> Real demo on actual hardware — not just slides</a:t>
            </a:r>
            <a:endParaRPr lang="en-US" sz="1010" dirty="0"/>
          </a:p>
        </p:txBody>
      </p:sp>
      <p:sp>
        <p:nvSpPr>
          <p:cNvPr id="13" name="Text 10"/>
          <p:cNvSpPr/>
          <p:nvPr/>
        </p:nvSpPr>
        <p:spPr>
          <a:xfrm>
            <a:off x="571500" y="2614910"/>
            <a:ext cx="8001000" cy="949970"/>
          </a:xfrm>
          <a:prstGeom prst="roundRect">
            <a:avLst>
              <a:gd name="adj" fmla="val 9091"/>
            </a:avLst>
          </a:prstGeom>
          <a:solidFill>
            <a:srgbClr val="1A2332"/>
          </a:solidFill>
          <a:ln/>
        </p:spPr>
        <p:txBody>
          <a:bodyPr wrap="square" rtlCol="0" anchor="t"/>
          <a:lstStyle/>
          <a:p>
            <a:pPr marL="0" indent="0">
              <a:buNone/>
            </a:pPr>
            <a:endParaRPr lang="en-US" dirty="0"/>
          </a:p>
        </p:txBody>
      </p:sp>
      <p:sp>
        <p:nvSpPr>
          <p:cNvPr id="14" name="Text 11"/>
          <p:cNvSpPr/>
          <p:nvPr/>
        </p:nvSpPr>
        <p:spPr>
          <a:xfrm>
            <a:off x="571500" y="2614910"/>
            <a:ext cx="28575" cy="949970"/>
          </a:xfrm>
          <a:custGeom>
            <a:avLst/>
            <a:gdLst/>
            <a:ahLst/>
            <a:cxnLst/>
            <a:rect l="l" t="t" r="r" b="b"/>
            <a:pathLst>
              <a:path w="28575" h="949970">
                <a:moveTo>
                  <a:pt x="0" y="86360"/>
                </a:moveTo>
                <a:lnTo>
                  <a:pt x="3572" y="61780"/>
                </a:lnTo>
                <a:lnTo>
                  <a:pt x="7144" y="51968"/>
                </a:lnTo>
                <a:lnTo>
                  <a:pt x="10716" y="44695"/>
                </a:lnTo>
                <a:lnTo>
                  <a:pt x="14288" y="38783"/>
                </a:lnTo>
                <a:lnTo>
                  <a:pt x="17859" y="33770"/>
                </a:lnTo>
                <a:lnTo>
                  <a:pt x="21431" y="29419"/>
                </a:lnTo>
                <a:lnTo>
                  <a:pt x="25003" y="25587"/>
                </a:lnTo>
                <a:lnTo>
                  <a:pt x="28575" y="22181"/>
                </a:lnTo>
                <a:lnTo>
                  <a:pt x="28575" y="927789"/>
                </a:lnTo>
                <a:lnTo>
                  <a:pt x="25003" y="924383"/>
                </a:lnTo>
                <a:lnTo>
                  <a:pt x="21431" y="920551"/>
                </a:lnTo>
                <a:lnTo>
                  <a:pt x="17859" y="916200"/>
                </a:lnTo>
                <a:lnTo>
                  <a:pt x="14288" y="911187"/>
                </a:lnTo>
                <a:lnTo>
                  <a:pt x="10716" y="905275"/>
                </a:lnTo>
                <a:lnTo>
                  <a:pt x="7144" y="898002"/>
                </a:lnTo>
                <a:lnTo>
                  <a:pt x="3572" y="888190"/>
                </a:lnTo>
                <a:lnTo>
                  <a:pt x="0" y="863610"/>
                </a:lnTo>
                <a:close/>
              </a:path>
            </a:pathLst>
          </a:custGeom>
          <a:solidFill>
            <a:srgbClr val="76B900"/>
          </a:solidFill>
          <a:ln/>
        </p:spPr>
        <p:txBody>
          <a:bodyPr wrap="square" rtlCol="0" anchor="t"/>
          <a:lstStyle/>
          <a:p>
            <a:pPr marL="0" indent="0">
              <a:buNone/>
            </a:pPr>
            <a:endParaRPr lang="en-US" dirty="0"/>
          </a:p>
        </p:txBody>
      </p:sp>
      <p:sp>
        <p:nvSpPr>
          <p:cNvPr id="15" name="Text 12"/>
          <p:cNvSpPr/>
          <p:nvPr/>
        </p:nvSpPr>
        <p:spPr>
          <a:xfrm>
            <a:off x="857845" y="2843510"/>
            <a:ext cx="457200" cy="4572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0720" y="2986385"/>
            <a:ext cx="171450" cy="171450"/>
          </a:xfrm>
          <a:prstGeom prst="rect">
            <a:avLst/>
          </a:prstGeom>
        </p:spPr>
      </p:pic>
      <p:sp>
        <p:nvSpPr>
          <p:cNvPr id="17" name="Text 13"/>
          <p:cNvSpPr/>
          <p:nvPr/>
        </p:nvSpPr>
        <p:spPr>
          <a:xfrm>
            <a:off x="1515666" y="2843510"/>
            <a:ext cx="3638803" cy="257175"/>
          </a:xfrm>
          <a:prstGeom prst="rect">
            <a:avLst/>
          </a:prstGeom>
          <a:noFill/>
          <a:ln/>
        </p:spPr>
        <p:txBody>
          <a:bodyPr wrap="none" lIns="0" tIns="0" rIns="0" bIns="0" rtlCol="0" anchor="t"/>
          <a:lstStyle/>
          <a:p>
            <a:pPr marL="0" indent="0" algn="l">
              <a:lnSpc>
                <a:spcPts val="2025"/>
              </a:lnSpc>
              <a:spcAft>
                <a:spcPts val="340"/>
              </a:spcAft>
              <a:buNone/>
            </a:pPr>
            <a:r>
              <a:rPr lang="en-US" sz="1350" b="1" dirty="0">
                <a:solidFill>
                  <a:srgbClr val="E2E8F0"/>
                </a:solidFill>
                <a:latin typeface="Consolas" pitchFamily="34" charset="0"/>
                <a:ea typeface="Consolas" pitchFamily="34" charset="-122"/>
                <a:cs typeface="Consolas" pitchFamily="34" charset="-120"/>
              </a:rPr>
              <a:t>No prior agent experience required</a:t>
            </a:r>
            <a:endParaRPr lang="en-US" sz="1350" dirty="0"/>
          </a:p>
        </p:txBody>
      </p:sp>
      <p:sp>
        <p:nvSpPr>
          <p:cNvPr id="18" name="Text 14"/>
          <p:cNvSpPr/>
          <p:nvPr/>
        </p:nvSpPr>
        <p:spPr>
          <a:xfrm>
            <a:off x="1515666" y="3143845"/>
            <a:ext cx="3638803" cy="192435"/>
          </a:xfrm>
          <a:prstGeom prst="rect">
            <a:avLst/>
          </a:prstGeom>
          <a:noFill/>
          <a:ln/>
        </p:spPr>
        <p:txBody>
          <a:bodyPr wrap="none" lIns="0" tIns="0" rIns="0" bIns="0" rtlCol="0" anchor="t"/>
          <a:lstStyle/>
          <a:p>
            <a:pPr marL="0" indent="0" algn="l">
              <a:lnSpc>
                <a:spcPts val="1515"/>
              </a:lnSpc>
              <a:buNone/>
            </a:pPr>
            <a:r>
              <a:rPr lang="en-US" sz="1010" dirty="0">
                <a:solidFill>
                  <a:srgbClr val="8B9CB6"/>
                </a:solidFill>
                <a:latin typeface="Calibri" pitchFamily="34" charset="0"/>
                <a:ea typeface="Calibri" pitchFamily="34" charset="-122"/>
                <a:cs typeface="Calibri" pitchFamily="34" charset="-120"/>
              </a:rPr>
              <a:t>Beginner-friendly — we'll build up from the basics together</a:t>
            </a:r>
            <a:endParaRPr lang="en-US" sz="1010" dirty="0"/>
          </a:p>
        </p:txBody>
      </p:sp>
      <p:sp>
        <p:nvSpPr>
          <p:cNvPr id="19" name="Text 15"/>
          <p:cNvSpPr/>
          <p:nvPr/>
        </p:nvSpPr>
        <p:spPr>
          <a:xfrm>
            <a:off x="571500" y="3736330"/>
            <a:ext cx="8001000" cy="949970"/>
          </a:xfrm>
          <a:prstGeom prst="roundRect">
            <a:avLst>
              <a:gd name="adj" fmla="val 9091"/>
            </a:avLst>
          </a:prstGeom>
          <a:solidFill>
            <a:srgbClr val="1A2332"/>
          </a:solidFill>
          <a:ln/>
        </p:spPr>
        <p:txBody>
          <a:bodyPr wrap="square" rtlCol="0" anchor="t"/>
          <a:lstStyle/>
          <a:p>
            <a:pPr marL="0" indent="0">
              <a:buNone/>
            </a:pPr>
            <a:endParaRPr lang="en-US" dirty="0"/>
          </a:p>
        </p:txBody>
      </p:sp>
      <p:sp>
        <p:nvSpPr>
          <p:cNvPr id="20" name="Text 16"/>
          <p:cNvSpPr/>
          <p:nvPr/>
        </p:nvSpPr>
        <p:spPr>
          <a:xfrm>
            <a:off x="571500" y="3736330"/>
            <a:ext cx="28575" cy="949970"/>
          </a:xfrm>
          <a:custGeom>
            <a:avLst/>
            <a:gdLst/>
            <a:ahLst/>
            <a:cxnLst/>
            <a:rect l="l" t="t" r="r" b="b"/>
            <a:pathLst>
              <a:path w="28575" h="949970">
                <a:moveTo>
                  <a:pt x="0" y="86360"/>
                </a:moveTo>
                <a:lnTo>
                  <a:pt x="3572" y="61780"/>
                </a:lnTo>
                <a:lnTo>
                  <a:pt x="7144" y="51968"/>
                </a:lnTo>
                <a:lnTo>
                  <a:pt x="10716" y="44695"/>
                </a:lnTo>
                <a:lnTo>
                  <a:pt x="14288" y="38783"/>
                </a:lnTo>
                <a:lnTo>
                  <a:pt x="17859" y="33770"/>
                </a:lnTo>
                <a:lnTo>
                  <a:pt x="21431" y="29419"/>
                </a:lnTo>
                <a:lnTo>
                  <a:pt x="25003" y="25587"/>
                </a:lnTo>
                <a:lnTo>
                  <a:pt x="28575" y="22181"/>
                </a:lnTo>
                <a:lnTo>
                  <a:pt x="28575" y="927789"/>
                </a:lnTo>
                <a:lnTo>
                  <a:pt x="25003" y="924383"/>
                </a:lnTo>
                <a:lnTo>
                  <a:pt x="21431" y="920551"/>
                </a:lnTo>
                <a:lnTo>
                  <a:pt x="17859" y="916200"/>
                </a:lnTo>
                <a:lnTo>
                  <a:pt x="14288" y="911187"/>
                </a:lnTo>
                <a:lnTo>
                  <a:pt x="10716" y="905275"/>
                </a:lnTo>
                <a:lnTo>
                  <a:pt x="7144" y="898002"/>
                </a:lnTo>
                <a:lnTo>
                  <a:pt x="3572" y="888190"/>
                </a:lnTo>
                <a:lnTo>
                  <a:pt x="0" y="863610"/>
                </a:lnTo>
                <a:close/>
              </a:path>
            </a:pathLst>
          </a:custGeom>
          <a:solidFill>
            <a:srgbClr val="76B900"/>
          </a:solidFill>
          <a:ln/>
        </p:spPr>
        <p:txBody>
          <a:bodyPr wrap="square" rtlCol="0" anchor="t"/>
          <a:lstStyle/>
          <a:p>
            <a:pPr marL="0" indent="0">
              <a:buNone/>
            </a:pPr>
            <a:endParaRPr lang="en-US" dirty="0"/>
          </a:p>
        </p:txBody>
      </p:sp>
      <p:sp>
        <p:nvSpPr>
          <p:cNvPr id="21" name="Text 17"/>
          <p:cNvSpPr/>
          <p:nvPr/>
        </p:nvSpPr>
        <p:spPr>
          <a:xfrm>
            <a:off x="857845" y="3964930"/>
            <a:ext cx="457200" cy="4572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720" y="4107805"/>
            <a:ext cx="171450" cy="171450"/>
          </a:xfrm>
          <a:prstGeom prst="rect">
            <a:avLst/>
          </a:prstGeom>
        </p:spPr>
      </p:pic>
      <p:sp>
        <p:nvSpPr>
          <p:cNvPr id="23" name="Text 18"/>
          <p:cNvSpPr/>
          <p:nvPr/>
        </p:nvSpPr>
        <p:spPr>
          <a:xfrm>
            <a:off x="1515666" y="3964930"/>
            <a:ext cx="4768736" cy="257175"/>
          </a:xfrm>
          <a:prstGeom prst="rect">
            <a:avLst/>
          </a:prstGeom>
          <a:noFill/>
          <a:ln/>
        </p:spPr>
        <p:txBody>
          <a:bodyPr wrap="none" lIns="0" tIns="0" rIns="0" bIns="0" rtlCol="0" anchor="t"/>
          <a:lstStyle/>
          <a:p>
            <a:pPr marL="0" indent="0" algn="l">
              <a:lnSpc>
                <a:spcPts val="2025"/>
              </a:lnSpc>
              <a:spcAft>
                <a:spcPts val="340"/>
              </a:spcAft>
              <a:buNone/>
            </a:pPr>
            <a:r>
              <a:rPr lang="en-US" sz="1350" b="1" dirty="0">
                <a:solidFill>
                  <a:srgbClr val="E2E8F0"/>
                </a:solidFill>
                <a:latin typeface="Consolas" pitchFamily="34" charset="0"/>
                <a:ea typeface="Consolas" pitchFamily="34" charset="-122"/>
                <a:cs typeface="Consolas" pitchFamily="34" charset="-120"/>
              </a:rPr>
              <a:t>You'll leave with real takeaways</a:t>
            </a:r>
            <a:endParaRPr lang="en-US" sz="1350" dirty="0"/>
          </a:p>
        </p:txBody>
      </p:sp>
      <p:sp>
        <p:nvSpPr>
          <p:cNvPr id="24" name="Text 19"/>
          <p:cNvSpPr/>
          <p:nvPr/>
        </p:nvSpPr>
        <p:spPr>
          <a:xfrm>
            <a:off x="1515666" y="4265265"/>
            <a:ext cx="4768736" cy="192435"/>
          </a:xfrm>
          <a:prstGeom prst="rect">
            <a:avLst/>
          </a:prstGeom>
          <a:noFill/>
          <a:ln/>
        </p:spPr>
        <p:txBody>
          <a:bodyPr wrap="none" lIns="0" tIns="0" rIns="0" bIns="0" rtlCol="0" anchor="t"/>
          <a:lstStyle/>
          <a:p>
            <a:pPr marL="0" indent="0" algn="l">
              <a:lnSpc>
                <a:spcPts val="1515"/>
              </a:lnSpc>
              <a:buNone/>
            </a:pPr>
            <a:r>
              <a:rPr lang="en-US" sz="1010" dirty="0">
                <a:solidFill>
                  <a:srgbClr val="8B9CB6"/>
                </a:solidFill>
                <a:latin typeface="Calibri" pitchFamily="34" charset="0"/>
                <a:ea typeface="Calibri" pitchFamily="34" charset="-122"/>
                <a:cs typeface="Calibri" pitchFamily="34" charset="-120"/>
              </a:rPr>
              <a:t>Working examples, practical commands, and </a:t>
            </a:r>
            <a:r>
              <a:rPr lang="en-US" sz="1010" b="1" dirty="0">
                <a:solidFill>
                  <a:srgbClr val="76B900"/>
                </a:solidFill>
                <a:latin typeface="Calibri" pitchFamily="34" charset="0"/>
                <a:ea typeface="Calibri" pitchFamily="34" charset="-122"/>
                <a:cs typeface="Calibri" pitchFamily="34" charset="-120"/>
              </a:rPr>
              <a:t>clear next steps</a:t>
            </a:r>
            <a:r>
              <a:rPr lang="en-US" sz="1010" dirty="0">
                <a:solidFill>
                  <a:srgbClr val="8B9CB6"/>
                </a:solidFill>
                <a:latin typeface="Calibri" pitchFamily="34" charset="0"/>
                <a:ea typeface="Calibri" pitchFamily="34" charset="-122"/>
                <a:cs typeface="Calibri" pitchFamily="34" charset="-120"/>
              </a:rPr>
              <a:t> to get started</a:t>
            </a:r>
            <a:endParaRPr lang="en-US" sz="1010" dirty="0"/>
          </a:p>
        </p:txBody>
      </p:sp>
      <p:pic>
        <p:nvPicPr>
          <p:cNvPr id="25" name="Image 3" descr="preencoded.png"/>
          <p:cNvPicPr>
            <a:picLocks noChangeAspect="1"/>
          </p:cNvPicPr>
          <p:nvPr/>
        </p:nvPicPr>
        <p:blipFill>
          <a:blip r:embed="rId6">
            <a:alphaModFix amt="70000"/>
          </a:blip>
          <a:stretch>
            <a:fillRect/>
          </a:stretch>
        </p:blipFill>
        <p:spPr>
          <a:xfrm>
            <a:off x="8336310" y="4629150"/>
            <a:ext cx="521940" cy="3429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46863" y="342900"/>
            <a:ext cx="9050274" cy="428625"/>
          </a:xfrm>
          <a:prstGeom prst="rect">
            <a:avLst/>
          </a:prstGeom>
          <a:noFill/>
          <a:ln/>
        </p:spPr>
        <p:txBody>
          <a:bodyPr wrap="none" lIns="0" tIns="0" rIns="0" bIns="0" rtlCol="0" anchor="t"/>
          <a:lstStyle/>
          <a:p>
            <a:pPr marL="0" indent="0" algn="ctr">
              <a:lnSpc>
                <a:spcPts val="3375"/>
              </a:lnSpc>
              <a:buNone/>
            </a:pPr>
            <a:r>
              <a:rPr lang="en-US" sz="2250" kern="0" spc="-30" dirty="0">
                <a:solidFill>
                  <a:srgbClr val="E2E8F0"/>
                </a:solidFill>
                <a:latin typeface="Consolas" pitchFamily="34" charset="0"/>
                <a:ea typeface="Consolas" pitchFamily="34" charset="-122"/>
                <a:cs typeface="Consolas" pitchFamily="34" charset="-120"/>
              </a:rPr>
              <a:t> Agenda &amp; Timeline </a:t>
            </a:r>
            <a:r>
              <a:rPr lang="en-US" sz="2250" b="1" kern="0" spc="-30" dirty="0">
                <a:solidFill>
                  <a:srgbClr val="76B900"/>
                </a:solidFill>
                <a:latin typeface="Consolas" pitchFamily="34" charset="0"/>
                <a:ea typeface="Consolas" pitchFamily="34" charset="-122"/>
                <a:cs typeface="Consolas" pitchFamily="34" charset="-120"/>
              </a:rPr>
              <a:t>(120 Minutes)</a:t>
            </a:r>
            <a:r>
              <a:rPr lang="en-US" sz="2250" kern="0" spc="-30" dirty="0">
                <a:solidFill>
                  <a:srgbClr val="E2E8F0"/>
                </a:solidFill>
                <a:latin typeface="Consolas" pitchFamily="34" charset="0"/>
                <a:ea typeface="Consolas" pitchFamily="34" charset="-122"/>
                <a:cs typeface="Consolas" pitchFamily="34" charset="-120"/>
              </a:rPr>
              <a:t> </a:t>
            </a:r>
            <a:br>
              <a:rPr dirty="0"/>
            </a:br>
            <a:r>
              <a:rPr lang="en-US" sz="2250" kern="0" spc="-30" dirty="0">
                <a:solidFill>
                  <a:srgbClr val="E2E8F0"/>
                </a:solidFill>
                <a:latin typeface="Consolas" pitchFamily="34" charset="0"/>
                <a:ea typeface="Consolas" pitchFamily="34" charset="-122"/>
                <a:cs typeface="Consolas" pitchFamily="34" charset="-120"/>
              </a:rPr>
              <a:t>      </a:t>
            </a:r>
            <a:endParaRPr lang="en-US" sz="22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3881" y="861054"/>
            <a:ext cx="132588" cy="132588"/>
          </a:xfrm>
          <a:prstGeom prst="rect">
            <a:avLst/>
          </a:prstGeom>
        </p:spPr>
      </p:pic>
      <p:sp>
        <p:nvSpPr>
          <p:cNvPr id="4" name="Text 1"/>
          <p:cNvSpPr/>
          <p:nvPr/>
        </p:nvSpPr>
        <p:spPr>
          <a:xfrm>
            <a:off x="3539862" y="857845"/>
            <a:ext cx="2207151" cy="139005"/>
          </a:xfrm>
          <a:prstGeom prst="rect">
            <a:avLst/>
          </a:prstGeom>
          <a:noFill/>
          <a:ln/>
        </p:spPr>
        <p:txBody>
          <a:bodyPr wrap="none" lIns="0" tIns="0" rIns="0" bIns="0" rtlCol="0" anchor="ctr"/>
          <a:lstStyle/>
          <a:p>
            <a:pPr marL="0" indent="0" algn="ctr">
              <a:lnSpc>
                <a:spcPts val="1095"/>
              </a:lnSpc>
              <a:buNone/>
            </a:pPr>
            <a:r>
              <a:rPr lang="en-US" sz="730" dirty="0">
                <a:solidFill>
                  <a:srgbClr val="8B9CB6"/>
                </a:solidFill>
                <a:latin typeface="Consolas" pitchFamily="34" charset="0"/>
                <a:ea typeface="Consolas" pitchFamily="34" charset="-122"/>
                <a:cs typeface="Consolas" pitchFamily="34" charset="-120"/>
              </a:rPr>
              <a:t>CONCEPTS → BREAK → DEMO → TIPS → Q&amp;A</a:t>
            </a:r>
            <a:endParaRPr lang="en-US" sz="730" dirty="0"/>
          </a:p>
        </p:txBody>
      </p:sp>
      <p:sp>
        <p:nvSpPr>
          <p:cNvPr id="5" name="Text 2"/>
          <p:cNvSpPr/>
          <p:nvPr/>
        </p:nvSpPr>
        <p:spPr>
          <a:xfrm>
            <a:off x="3857625" y="1040011"/>
            <a:ext cx="1428750" cy="35421"/>
          </a:xfrm>
          <a:prstGeom prst="roundRect">
            <a:avLst>
              <a:gd name="adj" fmla="val 60953"/>
            </a:avLst>
          </a:prstGeom>
          <a:solidFill>
            <a:srgbClr val="FFFFFF">
              <a:alpha val="6000"/>
            </a:srgbClr>
          </a:solidFill>
          <a:ln/>
        </p:spPr>
        <p:txBody>
          <a:bodyPr wrap="none" rtlCol="0" anchor="t"/>
          <a:lstStyle/>
          <a:p>
            <a:pPr marL="0" indent="0">
              <a:buNone/>
            </a:pPr>
            <a:endParaRPr lang="en-US" dirty="0"/>
          </a:p>
        </p:txBody>
      </p:sp>
      <p:sp>
        <p:nvSpPr>
          <p:cNvPr id="6" name="Text 3"/>
          <p:cNvSpPr/>
          <p:nvPr/>
        </p:nvSpPr>
        <p:spPr>
          <a:xfrm>
            <a:off x="3857625" y="1040011"/>
            <a:ext cx="600075" cy="35421"/>
          </a:xfrm>
          <a:prstGeom prst="rect">
            <a:avLst/>
          </a:prstGeom>
          <a:solidFill>
            <a:srgbClr val="76B900"/>
          </a:solidFill>
          <a:ln/>
        </p:spPr>
        <p:txBody>
          <a:bodyPr wrap="none" rtlCol="0" anchor="t"/>
          <a:lstStyle/>
          <a:p>
            <a:pPr marL="0" indent="0">
              <a:buNone/>
            </a:pPr>
            <a:endParaRPr lang="en-US" dirty="0"/>
          </a:p>
        </p:txBody>
      </p:sp>
      <p:sp>
        <p:nvSpPr>
          <p:cNvPr id="7" name="Text 4"/>
          <p:cNvSpPr/>
          <p:nvPr/>
        </p:nvSpPr>
        <p:spPr>
          <a:xfrm>
            <a:off x="4457700" y="1040011"/>
            <a:ext cx="57150" cy="35421"/>
          </a:xfrm>
          <a:prstGeom prst="rect">
            <a:avLst/>
          </a:prstGeom>
          <a:solidFill>
            <a:srgbClr val="76B900">
              <a:alpha val="30000"/>
            </a:srgbClr>
          </a:solidFill>
          <a:ln/>
        </p:spPr>
        <p:txBody>
          <a:bodyPr wrap="none" rtlCol="0" anchor="t"/>
          <a:lstStyle/>
          <a:p>
            <a:pPr marL="0" indent="0">
              <a:buNone/>
            </a:pPr>
            <a:endParaRPr lang="en-US" dirty="0"/>
          </a:p>
        </p:txBody>
      </p:sp>
      <p:sp>
        <p:nvSpPr>
          <p:cNvPr id="8" name="Text 5"/>
          <p:cNvSpPr/>
          <p:nvPr/>
        </p:nvSpPr>
        <p:spPr>
          <a:xfrm>
            <a:off x="4514850" y="1040011"/>
            <a:ext cx="542925" cy="35421"/>
          </a:xfrm>
          <a:prstGeom prst="rect">
            <a:avLst/>
          </a:prstGeom>
          <a:solidFill>
            <a:srgbClr val="76B900">
              <a:alpha val="70000"/>
            </a:srgbClr>
          </a:solidFill>
          <a:ln/>
        </p:spPr>
        <p:txBody>
          <a:bodyPr wrap="none" rtlCol="0" anchor="t"/>
          <a:lstStyle/>
          <a:p>
            <a:pPr marL="0" indent="0">
              <a:buNone/>
            </a:pPr>
            <a:endParaRPr lang="en-US" dirty="0"/>
          </a:p>
        </p:txBody>
      </p:sp>
      <p:sp>
        <p:nvSpPr>
          <p:cNvPr id="9" name="Text 6"/>
          <p:cNvSpPr/>
          <p:nvPr/>
        </p:nvSpPr>
        <p:spPr>
          <a:xfrm>
            <a:off x="5057775" y="1040011"/>
            <a:ext cx="171450" cy="35421"/>
          </a:xfrm>
          <a:prstGeom prst="rect">
            <a:avLst/>
          </a:prstGeom>
          <a:solidFill>
            <a:srgbClr val="76B900">
              <a:alpha val="40000"/>
            </a:srgbClr>
          </a:solidFill>
          <a:ln/>
        </p:spPr>
        <p:txBody>
          <a:bodyPr wrap="none" rtlCol="0" anchor="t"/>
          <a:lstStyle/>
          <a:p>
            <a:pPr marL="0" indent="0">
              <a:buNone/>
            </a:pPr>
            <a:endParaRPr lang="en-US" dirty="0"/>
          </a:p>
        </p:txBody>
      </p:sp>
      <p:sp>
        <p:nvSpPr>
          <p:cNvPr id="10" name="Text 7"/>
          <p:cNvSpPr/>
          <p:nvPr/>
        </p:nvSpPr>
        <p:spPr>
          <a:xfrm>
            <a:off x="5229225" y="1040011"/>
            <a:ext cx="57150" cy="35421"/>
          </a:xfrm>
          <a:prstGeom prst="rect">
            <a:avLst/>
          </a:prstGeom>
          <a:solidFill>
            <a:srgbClr val="76B900">
              <a:alpha val="25000"/>
            </a:srgbClr>
          </a:solidFill>
          <a:ln/>
        </p:spPr>
        <p:txBody>
          <a:bodyPr wrap="none" rtlCol="0" anchor="t"/>
          <a:lstStyle/>
          <a:p>
            <a:pPr marL="0" indent="0">
              <a:buNone/>
            </a:pPr>
            <a:endParaRPr lang="en-US" dirty="0"/>
          </a:p>
        </p:txBody>
      </p:sp>
      <p:sp>
        <p:nvSpPr>
          <p:cNvPr id="11" name="Text 8"/>
          <p:cNvSpPr/>
          <p:nvPr/>
        </p:nvSpPr>
        <p:spPr>
          <a:xfrm>
            <a:off x="914400" y="2684413"/>
            <a:ext cx="7315200" cy="29170"/>
          </a:xfrm>
          <a:prstGeom prst="roundRect">
            <a:avLst>
              <a:gd name="adj" fmla="val 47892"/>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12" name="Text 9"/>
          <p:cNvSpPr/>
          <p:nvPr/>
        </p:nvSpPr>
        <p:spPr>
          <a:xfrm>
            <a:off x="914400" y="2670443"/>
            <a:ext cx="57150" cy="57150"/>
          </a:xfrm>
          <a:prstGeom prst="ellipse">
            <a:avLst/>
          </a:prstGeom>
          <a:solidFill>
            <a:srgbClr val="76B900"/>
          </a:solidFill>
          <a:ln/>
        </p:spPr>
        <p:txBody>
          <a:bodyPr wrap="none" rtlCol="0" anchor="t"/>
          <a:lstStyle/>
          <a:p>
            <a:pPr marL="0" indent="0">
              <a:buNone/>
            </a:pPr>
            <a:endParaRPr lang="en-US" dirty="0"/>
          </a:p>
        </p:txBody>
      </p:sp>
      <p:sp>
        <p:nvSpPr>
          <p:cNvPr id="13" name="Text 10"/>
          <p:cNvSpPr/>
          <p:nvPr/>
        </p:nvSpPr>
        <p:spPr>
          <a:xfrm>
            <a:off x="8173041" y="2641233"/>
            <a:ext cx="85725" cy="114300"/>
          </a:xfrm>
          <a:prstGeom prst="rect">
            <a:avLst/>
          </a:prstGeom>
          <a:noFill/>
          <a:ln/>
        </p:spPr>
        <p:txBody>
          <a:bodyPr wrap="none" rtlCol="0" anchor="t"/>
          <a:lstStyle/>
          <a:p>
            <a:pPr marL="0" indent="0">
              <a:buNone/>
            </a:pPr>
            <a:endParaRPr lang="en-US" dirty="0"/>
          </a:p>
        </p:txBody>
      </p:sp>
      <p:sp>
        <p:nvSpPr>
          <p:cNvPr id="14" name="Text 11"/>
          <p:cNvSpPr/>
          <p:nvPr/>
        </p:nvSpPr>
        <p:spPr>
          <a:xfrm>
            <a:off x="1246286" y="2787223"/>
            <a:ext cx="114300" cy="57150"/>
          </a:xfrm>
          <a:prstGeom prst="rect">
            <a:avLst/>
          </a:prstGeom>
          <a:noFill/>
          <a:ln/>
        </p:spPr>
        <p:txBody>
          <a:bodyPr wrap="none" rtlCol="0" anchor="t"/>
          <a:lstStyle/>
          <a:p>
            <a:pPr marL="0" indent="0">
              <a:buNone/>
            </a:pPr>
            <a:endParaRPr lang="en-US" dirty="0"/>
          </a:p>
        </p:txBody>
      </p:sp>
      <p:sp>
        <p:nvSpPr>
          <p:cNvPr id="15" name="Text 12"/>
          <p:cNvSpPr/>
          <p:nvPr/>
        </p:nvSpPr>
        <p:spPr>
          <a:xfrm>
            <a:off x="2880419" y="2787223"/>
            <a:ext cx="114300" cy="57150"/>
          </a:xfrm>
          <a:prstGeom prst="rect">
            <a:avLst/>
          </a:prstGeom>
          <a:noFill/>
          <a:ln/>
        </p:spPr>
        <p:txBody>
          <a:bodyPr wrap="none" rtlCol="0" anchor="t"/>
          <a:lstStyle/>
          <a:p>
            <a:pPr marL="0" indent="0">
              <a:buNone/>
            </a:pPr>
            <a:endParaRPr lang="en-US" dirty="0"/>
          </a:p>
        </p:txBody>
      </p:sp>
      <p:sp>
        <p:nvSpPr>
          <p:cNvPr id="16" name="Text 13"/>
          <p:cNvSpPr/>
          <p:nvPr/>
        </p:nvSpPr>
        <p:spPr>
          <a:xfrm>
            <a:off x="4514701" y="2787223"/>
            <a:ext cx="114300" cy="57150"/>
          </a:xfrm>
          <a:prstGeom prst="rect">
            <a:avLst/>
          </a:prstGeom>
          <a:noFill/>
          <a:ln/>
        </p:spPr>
        <p:txBody>
          <a:bodyPr wrap="none" rtlCol="0" anchor="t"/>
          <a:lstStyle/>
          <a:p>
            <a:pPr marL="0" indent="0">
              <a:buNone/>
            </a:pPr>
            <a:endParaRPr lang="en-US" dirty="0"/>
          </a:p>
        </p:txBody>
      </p:sp>
      <p:sp>
        <p:nvSpPr>
          <p:cNvPr id="17" name="Text 14"/>
          <p:cNvSpPr/>
          <p:nvPr/>
        </p:nvSpPr>
        <p:spPr>
          <a:xfrm>
            <a:off x="6148983" y="2787223"/>
            <a:ext cx="114300" cy="57150"/>
          </a:xfrm>
          <a:prstGeom prst="rect">
            <a:avLst/>
          </a:prstGeom>
          <a:noFill/>
          <a:ln/>
        </p:spPr>
        <p:txBody>
          <a:bodyPr wrap="none" rtlCol="0" anchor="t"/>
          <a:lstStyle/>
          <a:p>
            <a:pPr marL="0" indent="0">
              <a:buNone/>
            </a:pPr>
            <a:endParaRPr lang="en-US" dirty="0"/>
          </a:p>
        </p:txBody>
      </p:sp>
      <p:sp>
        <p:nvSpPr>
          <p:cNvPr id="18" name="Text 15"/>
          <p:cNvSpPr/>
          <p:nvPr/>
        </p:nvSpPr>
        <p:spPr>
          <a:xfrm>
            <a:off x="7783264" y="2787223"/>
            <a:ext cx="114300" cy="57150"/>
          </a:xfrm>
          <a:prstGeom prst="rect">
            <a:avLst/>
          </a:prstGeom>
          <a:noFill/>
          <a:ln/>
        </p:spPr>
        <p:txBody>
          <a:bodyPr wrap="none" rtlCol="0" anchor="t"/>
          <a:lstStyle/>
          <a:p>
            <a:pPr marL="0" indent="0">
              <a:buNone/>
            </a:pPr>
            <a:endParaRPr lang="en-US" dirty="0"/>
          </a:p>
        </p:txBody>
      </p:sp>
      <p:sp>
        <p:nvSpPr>
          <p:cNvPr id="19" name="Text 16"/>
          <p:cNvSpPr/>
          <p:nvPr/>
        </p:nvSpPr>
        <p:spPr>
          <a:xfrm>
            <a:off x="937022" y="2270522"/>
            <a:ext cx="747334"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0–50 min</a:t>
            </a:r>
            <a:endParaRPr lang="en-US" sz="790" dirty="0"/>
          </a:p>
        </p:txBody>
      </p:sp>
      <p:sp>
        <p:nvSpPr>
          <p:cNvPr id="20" name="Text 17"/>
          <p:cNvSpPr/>
          <p:nvPr/>
        </p:nvSpPr>
        <p:spPr>
          <a:xfrm>
            <a:off x="624632" y="2842468"/>
            <a:ext cx="1357610" cy="1105793"/>
          </a:xfrm>
          <a:prstGeom prst="roundRect">
            <a:avLst>
              <a:gd name="adj" fmla="val 7810"/>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1" name="Text 18"/>
          <p:cNvSpPr/>
          <p:nvPr/>
        </p:nvSpPr>
        <p:spPr>
          <a:xfrm>
            <a:off x="1160562" y="2980134"/>
            <a:ext cx="285750" cy="285750"/>
          </a:xfrm>
          <a:prstGeom prst="roundRect">
            <a:avLst>
              <a:gd name="adj" fmla="val 24889"/>
            </a:avLst>
          </a:prstGeom>
          <a:solidFill>
            <a:srgbClr val="76B900">
              <a:alpha val="12000"/>
            </a:srgbClr>
          </a:solidFill>
          <a:ln/>
        </p:spPr>
        <p:txBody>
          <a:bodyPr wrap="square" rtlCol="0" anchor="t"/>
          <a:lstStyle/>
          <a:p>
            <a:pPr marL="0" indent="0">
              <a:buNone/>
            </a:pPr>
            <a:endParaRPr lang="en-US" dirty="0"/>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7143" y="3056715"/>
            <a:ext cx="132588" cy="132588"/>
          </a:xfrm>
          <a:prstGeom prst="rect">
            <a:avLst/>
          </a:prstGeom>
        </p:spPr>
      </p:pic>
      <p:sp>
        <p:nvSpPr>
          <p:cNvPr id="23" name="Text 19"/>
          <p:cNvSpPr/>
          <p:nvPr/>
        </p:nvSpPr>
        <p:spPr>
          <a:xfrm>
            <a:off x="723087" y="3336875"/>
            <a:ext cx="1160699" cy="313477"/>
          </a:xfrm>
          <a:prstGeom prst="rect">
            <a:avLst/>
          </a:prstGeom>
          <a:noFill/>
          <a:ln/>
        </p:spPr>
        <p:txBody>
          <a:bodyPr wrap="square" lIns="0" tIns="0" rIns="0" bIns="0" rtlCol="0" anchor="t"/>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Concepts, Architecture, Models</a:t>
            </a:r>
            <a:r>
              <a:rPr lang="en-US" sz="840">
                <a:solidFill>
                  <a:srgbClr val="E2E8F0"/>
                </a:solidFill>
                <a:latin typeface="Calibri" pitchFamily="34" charset="0"/>
                <a:ea typeface="Calibri" pitchFamily="34" charset="-122"/>
                <a:cs typeface="Calibri" pitchFamily="34" charset="-120"/>
              </a:rPr>
              <a:t>, Mercury Agent</a:t>
            </a:r>
            <a:r>
              <a:rPr lang="en-US" sz="840" dirty="0">
                <a:solidFill>
                  <a:srgbClr val="E2E8F0"/>
                </a:solidFill>
                <a:latin typeface="Calibri" pitchFamily="34" charset="0"/>
                <a:ea typeface="Calibri" pitchFamily="34" charset="-122"/>
                <a:cs typeface="Calibri" pitchFamily="34" charset="-120"/>
              </a:rPr>
              <a:t> &amp; SOUL.md</a:t>
            </a:r>
            <a:endParaRPr lang="en-US" sz="840" dirty="0"/>
          </a:p>
        </p:txBody>
      </p:sp>
      <p:sp>
        <p:nvSpPr>
          <p:cNvPr id="24" name="Text 20"/>
          <p:cNvSpPr/>
          <p:nvPr/>
        </p:nvSpPr>
        <p:spPr>
          <a:xfrm>
            <a:off x="677570" y="3692575"/>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50 MINUTES</a:t>
            </a:r>
            <a:endParaRPr lang="en-US" sz="620" dirty="0"/>
          </a:p>
        </p:txBody>
      </p:sp>
      <p:sp>
        <p:nvSpPr>
          <p:cNvPr id="25" name="Text 21"/>
          <p:cNvSpPr/>
          <p:nvPr/>
        </p:nvSpPr>
        <p:spPr>
          <a:xfrm>
            <a:off x="2539157" y="2270522"/>
            <a:ext cx="812762"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50–55 min</a:t>
            </a:r>
            <a:endParaRPr lang="en-US" sz="790" dirty="0"/>
          </a:p>
        </p:txBody>
      </p:sp>
      <p:sp>
        <p:nvSpPr>
          <p:cNvPr id="26" name="Text 22"/>
          <p:cNvSpPr/>
          <p:nvPr/>
        </p:nvSpPr>
        <p:spPr>
          <a:xfrm>
            <a:off x="2258764" y="2842468"/>
            <a:ext cx="1357610" cy="1086296"/>
          </a:xfrm>
          <a:prstGeom prst="roundRect">
            <a:avLst>
              <a:gd name="adj" fmla="val 7950"/>
            </a:avLst>
          </a:prstGeom>
          <a:gradFill rotWithShape="1">
            <a:gsLst>
              <a:gs pos="0">
                <a:srgbClr val="76B900">
                  <a:alpha val="8000"/>
                </a:srgbClr>
              </a:gs>
              <a:gs pos="100000">
                <a:srgbClr val="1A2332"/>
              </a:gs>
            </a:gsLst>
            <a:lin ang="2700000" scaled="1"/>
          </a:gradFill>
          <a:ln w="9525">
            <a:solidFill>
              <a:srgbClr val="76B900">
                <a:alpha val="30000"/>
              </a:srgbClr>
            </a:solidFill>
          </a:ln>
        </p:spPr>
        <p:txBody>
          <a:bodyPr wrap="square" rtlCol="0" anchor="t"/>
          <a:lstStyle/>
          <a:p>
            <a:pPr marL="0" indent="0">
              <a:buNone/>
            </a:pPr>
            <a:endParaRPr lang="en-US" dirty="0"/>
          </a:p>
        </p:txBody>
      </p:sp>
      <p:sp>
        <p:nvSpPr>
          <p:cNvPr id="27" name="Text 23"/>
          <p:cNvSpPr/>
          <p:nvPr/>
        </p:nvSpPr>
        <p:spPr>
          <a:xfrm>
            <a:off x="2794695" y="2980134"/>
            <a:ext cx="285750" cy="285750"/>
          </a:xfrm>
          <a:prstGeom prst="roundRect">
            <a:avLst>
              <a:gd name="adj" fmla="val 24889"/>
            </a:avLst>
          </a:prstGeom>
          <a:solidFill>
            <a:srgbClr val="8B9CB6">
              <a:alpha val="10000"/>
            </a:srgbClr>
          </a:solidFill>
          <a:ln/>
        </p:spPr>
        <p:txBody>
          <a:bodyPr wrap="square" rtlCol="0" anchor="t"/>
          <a:lstStyle/>
          <a:p>
            <a:pPr marL="0" indent="0">
              <a:buNone/>
            </a:pPr>
            <a:endParaRPr lang="en-US" dirty="0"/>
          </a:p>
        </p:txBody>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71276" y="3056715"/>
            <a:ext cx="132588" cy="132588"/>
          </a:xfrm>
          <a:prstGeom prst="rect">
            <a:avLst/>
          </a:prstGeom>
        </p:spPr>
      </p:pic>
      <p:sp>
        <p:nvSpPr>
          <p:cNvPr id="29" name="Text 24"/>
          <p:cNvSpPr/>
          <p:nvPr/>
        </p:nvSpPr>
        <p:spPr>
          <a:xfrm>
            <a:off x="2357220" y="3336875"/>
            <a:ext cx="1160699" cy="293005"/>
          </a:xfrm>
          <a:prstGeom prst="rect">
            <a:avLst/>
          </a:prstGeom>
          <a:noFill/>
          <a:ln/>
        </p:spPr>
        <p:txBody>
          <a:bodyPr wrap="square" lIns="0" tIns="0" rIns="0" bIns="0" rtlCol="0" anchor="ctr"/>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Short Break</a:t>
            </a:r>
            <a:br/>
            <a:r>
              <a:rPr lang="en-US" sz="730" dirty="0">
                <a:solidFill>
                  <a:srgbClr val="8B9CB6"/>
                </a:solidFill>
                <a:latin typeface="Calibri" pitchFamily="34" charset="0"/>
                <a:ea typeface="Calibri" pitchFamily="34" charset="-122"/>
                <a:cs typeface="Calibri" pitchFamily="34" charset="-120"/>
              </a:rPr>
              <a:t>(5–7 minutes)</a:t>
            </a:r>
            <a:endParaRPr lang="en-US" sz="840" dirty="0"/>
          </a:p>
        </p:txBody>
      </p:sp>
      <p:sp>
        <p:nvSpPr>
          <p:cNvPr id="30" name="Text 25"/>
          <p:cNvSpPr/>
          <p:nvPr/>
        </p:nvSpPr>
        <p:spPr>
          <a:xfrm>
            <a:off x="2311703" y="3673078"/>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5 MINUTES</a:t>
            </a:r>
            <a:endParaRPr lang="en-US" sz="620" dirty="0"/>
          </a:p>
        </p:txBody>
      </p:sp>
      <p:sp>
        <p:nvSpPr>
          <p:cNvPr id="31" name="Text 26"/>
          <p:cNvSpPr/>
          <p:nvPr/>
        </p:nvSpPr>
        <p:spPr>
          <a:xfrm>
            <a:off x="4141440" y="2270522"/>
            <a:ext cx="878038"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55–100 min</a:t>
            </a:r>
            <a:endParaRPr lang="en-US" sz="790" dirty="0"/>
          </a:p>
        </p:txBody>
      </p:sp>
      <p:sp>
        <p:nvSpPr>
          <p:cNvPr id="32" name="Text 27"/>
          <p:cNvSpPr/>
          <p:nvPr/>
        </p:nvSpPr>
        <p:spPr>
          <a:xfrm>
            <a:off x="3893046" y="2842468"/>
            <a:ext cx="1357610" cy="1086296"/>
          </a:xfrm>
          <a:prstGeom prst="roundRect">
            <a:avLst>
              <a:gd name="adj" fmla="val 7950"/>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3" name="Text 28"/>
          <p:cNvSpPr/>
          <p:nvPr/>
        </p:nvSpPr>
        <p:spPr>
          <a:xfrm>
            <a:off x="4428976" y="2980134"/>
            <a:ext cx="285750" cy="285750"/>
          </a:xfrm>
          <a:prstGeom prst="roundRect">
            <a:avLst>
              <a:gd name="adj" fmla="val 24889"/>
            </a:avLst>
          </a:prstGeom>
          <a:solidFill>
            <a:srgbClr val="76B900">
              <a:alpha val="12000"/>
            </a:srgbClr>
          </a:solidFill>
          <a:ln/>
        </p:spPr>
        <p:txBody>
          <a:bodyPr wrap="square" rtlCol="0" anchor="t"/>
          <a:lstStyle/>
          <a:p>
            <a:pPr marL="0" indent="0">
              <a:buNone/>
            </a:pPr>
            <a:endParaRPr lang="en-US" dirty="0"/>
          </a:p>
        </p:txBody>
      </p:sp>
      <p:pic>
        <p:nvPicPr>
          <p:cNvPr id="3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05557" y="3056715"/>
            <a:ext cx="132588" cy="132588"/>
          </a:xfrm>
          <a:prstGeom prst="rect">
            <a:avLst/>
          </a:prstGeom>
        </p:spPr>
      </p:pic>
      <p:sp>
        <p:nvSpPr>
          <p:cNvPr id="35" name="Text 29"/>
          <p:cNvSpPr/>
          <p:nvPr/>
        </p:nvSpPr>
        <p:spPr>
          <a:xfrm>
            <a:off x="3991502" y="3336875"/>
            <a:ext cx="1160699" cy="293005"/>
          </a:xfrm>
          <a:prstGeom prst="rect">
            <a:avLst/>
          </a:prstGeom>
          <a:noFill/>
          <a:ln/>
        </p:spPr>
        <p:txBody>
          <a:bodyPr wrap="square" lIns="0" tIns="0" rIns="0" bIns="0" rtlCol="0" anchor="ctr"/>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Live Physical Demo</a:t>
            </a:r>
            <a:br/>
            <a:r>
              <a:rPr lang="en-US" sz="730" dirty="0">
                <a:solidFill>
                  <a:srgbClr val="8B9CB6"/>
                </a:solidFill>
                <a:latin typeface="Calibri" pitchFamily="34" charset="0"/>
                <a:ea typeface="Calibri" pitchFamily="34" charset="-122"/>
                <a:cs typeface="Calibri" pitchFamily="34" charset="-120"/>
              </a:rPr>
              <a:t>Setup + Real Tasks</a:t>
            </a:r>
            <a:endParaRPr lang="en-US" sz="840" dirty="0"/>
          </a:p>
        </p:txBody>
      </p:sp>
      <p:sp>
        <p:nvSpPr>
          <p:cNvPr id="36" name="Text 30"/>
          <p:cNvSpPr/>
          <p:nvPr/>
        </p:nvSpPr>
        <p:spPr>
          <a:xfrm>
            <a:off x="3945984" y="3673078"/>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45 MINUTES</a:t>
            </a:r>
            <a:endParaRPr lang="en-US" sz="620" dirty="0"/>
          </a:p>
        </p:txBody>
      </p:sp>
      <p:sp>
        <p:nvSpPr>
          <p:cNvPr id="37" name="Text 31"/>
          <p:cNvSpPr/>
          <p:nvPr/>
        </p:nvSpPr>
        <p:spPr>
          <a:xfrm>
            <a:off x="5743724" y="2270522"/>
            <a:ext cx="943466"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100–115 min</a:t>
            </a:r>
            <a:endParaRPr lang="en-US" sz="790" dirty="0"/>
          </a:p>
        </p:txBody>
      </p:sp>
      <p:sp>
        <p:nvSpPr>
          <p:cNvPr id="38" name="Text 32"/>
          <p:cNvSpPr/>
          <p:nvPr/>
        </p:nvSpPr>
        <p:spPr>
          <a:xfrm>
            <a:off x="5527328" y="2842468"/>
            <a:ext cx="1357610" cy="1105793"/>
          </a:xfrm>
          <a:prstGeom prst="roundRect">
            <a:avLst>
              <a:gd name="adj" fmla="val 7810"/>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9" name="Text 33"/>
          <p:cNvSpPr/>
          <p:nvPr/>
        </p:nvSpPr>
        <p:spPr>
          <a:xfrm>
            <a:off x="6063258" y="2980134"/>
            <a:ext cx="285750" cy="285750"/>
          </a:xfrm>
          <a:prstGeom prst="roundRect">
            <a:avLst>
              <a:gd name="adj" fmla="val 24889"/>
            </a:avLst>
          </a:prstGeom>
          <a:solidFill>
            <a:srgbClr val="8B9CB6">
              <a:alpha val="10000"/>
            </a:srgbClr>
          </a:solidFill>
          <a:ln/>
        </p:spPr>
        <p:txBody>
          <a:bodyPr wrap="square" rtlCol="0" anchor="t"/>
          <a:lstStyle/>
          <a:p>
            <a:pPr marL="0" indent="0">
              <a:buNone/>
            </a:pPr>
            <a:endParaRPr lang="en-US" dirty="0"/>
          </a:p>
        </p:txBody>
      </p:sp>
      <p:pic>
        <p:nvPicPr>
          <p:cNvPr id="4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39839" y="3056715"/>
            <a:ext cx="132588" cy="132588"/>
          </a:xfrm>
          <a:prstGeom prst="rect">
            <a:avLst/>
          </a:prstGeom>
        </p:spPr>
      </p:pic>
      <p:sp>
        <p:nvSpPr>
          <p:cNvPr id="41" name="Text 34"/>
          <p:cNvSpPr/>
          <p:nvPr/>
        </p:nvSpPr>
        <p:spPr>
          <a:xfrm>
            <a:off x="5625783" y="3336875"/>
            <a:ext cx="1160699" cy="313477"/>
          </a:xfrm>
          <a:prstGeom prst="rect">
            <a:avLst/>
          </a:prstGeom>
          <a:noFill/>
          <a:ln/>
        </p:spPr>
        <p:txBody>
          <a:bodyPr wrap="square" lIns="0" tIns="0" rIns="0" bIns="0" rtlCol="0" anchor="t"/>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Advanced Tips &amp; Best Practices</a:t>
            </a:r>
            <a:endParaRPr lang="en-US" sz="840" dirty="0"/>
          </a:p>
        </p:txBody>
      </p:sp>
      <p:sp>
        <p:nvSpPr>
          <p:cNvPr id="42" name="Text 35"/>
          <p:cNvSpPr/>
          <p:nvPr/>
        </p:nvSpPr>
        <p:spPr>
          <a:xfrm>
            <a:off x="5580266" y="3692575"/>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15 MINUTES</a:t>
            </a:r>
            <a:endParaRPr lang="en-US" sz="620" dirty="0"/>
          </a:p>
        </p:txBody>
      </p:sp>
      <p:sp>
        <p:nvSpPr>
          <p:cNvPr id="43" name="Text 36"/>
          <p:cNvSpPr/>
          <p:nvPr/>
        </p:nvSpPr>
        <p:spPr>
          <a:xfrm>
            <a:off x="7378005" y="2270522"/>
            <a:ext cx="943466" cy="227856"/>
          </a:xfrm>
          <a:prstGeom prst="roundRect">
            <a:avLst>
              <a:gd name="adj" fmla="val 62983"/>
            </a:avLst>
          </a:prstGeom>
          <a:solidFill>
            <a:srgbClr val="76B900">
              <a:alpha val="12000"/>
            </a:srgbClr>
          </a:solidFill>
          <a:ln w="9525">
            <a:solidFill>
              <a:srgbClr val="76B900">
                <a:alpha val="30000"/>
              </a:srgbClr>
            </a:solidFill>
          </a:ln>
        </p:spPr>
        <p:txBody>
          <a:bodyPr wrap="none" lIns="100330" tIns="29210" rIns="100330" bIns="29210" rtlCol="0" anchor="t"/>
          <a:lstStyle/>
          <a:p>
            <a:pPr marL="0" indent="0" algn="l">
              <a:buNone/>
            </a:pPr>
            <a:r>
              <a:rPr lang="en-US" sz="790" b="1" kern="0" spc="30" dirty="0">
                <a:solidFill>
                  <a:srgbClr val="76B900"/>
                </a:solidFill>
                <a:latin typeface="Consolas" pitchFamily="34" charset="0"/>
                <a:ea typeface="Consolas" pitchFamily="34" charset="-122"/>
                <a:cs typeface="Consolas" pitchFamily="34" charset="-120"/>
              </a:rPr>
              <a:t>115–120 min</a:t>
            </a:r>
            <a:endParaRPr lang="en-US" sz="790" dirty="0"/>
          </a:p>
        </p:txBody>
      </p:sp>
      <p:sp>
        <p:nvSpPr>
          <p:cNvPr id="44" name="Text 37"/>
          <p:cNvSpPr/>
          <p:nvPr/>
        </p:nvSpPr>
        <p:spPr>
          <a:xfrm>
            <a:off x="7161609" y="2842468"/>
            <a:ext cx="1357610" cy="956518"/>
          </a:xfrm>
          <a:prstGeom prst="roundRect">
            <a:avLst>
              <a:gd name="adj" fmla="val 9029"/>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45" name="Text 38"/>
          <p:cNvSpPr/>
          <p:nvPr/>
        </p:nvSpPr>
        <p:spPr>
          <a:xfrm>
            <a:off x="7697539" y="2980134"/>
            <a:ext cx="285750" cy="285750"/>
          </a:xfrm>
          <a:prstGeom prst="roundRect">
            <a:avLst>
              <a:gd name="adj" fmla="val 24889"/>
            </a:avLst>
          </a:prstGeom>
          <a:solidFill>
            <a:srgbClr val="8B9CB6">
              <a:alpha val="10000"/>
            </a:srgbClr>
          </a:solidFill>
          <a:ln/>
        </p:spPr>
        <p:txBody>
          <a:bodyPr wrap="square" rtlCol="0" anchor="t"/>
          <a:lstStyle/>
          <a:p>
            <a:pPr marL="0" indent="0">
              <a:buNone/>
            </a:pPr>
            <a:endParaRPr lang="en-US" dirty="0"/>
          </a:p>
        </p:txBody>
      </p:sp>
      <p:pic>
        <p:nvPicPr>
          <p:cNvPr id="4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74120" y="3056715"/>
            <a:ext cx="132588" cy="132588"/>
          </a:xfrm>
          <a:prstGeom prst="rect">
            <a:avLst/>
          </a:prstGeom>
        </p:spPr>
      </p:pic>
      <p:sp>
        <p:nvSpPr>
          <p:cNvPr id="47" name="Text 39"/>
          <p:cNvSpPr/>
          <p:nvPr/>
        </p:nvSpPr>
        <p:spPr>
          <a:xfrm>
            <a:off x="7214548" y="3336875"/>
            <a:ext cx="1251734" cy="149275"/>
          </a:xfrm>
          <a:prstGeom prst="rect">
            <a:avLst/>
          </a:prstGeom>
          <a:noFill/>
          <a:ln/>
        </p:spPr>
        <p:txBody>
          <a:bodyPr wrap="none" lIns="0" tIns="0" rIns="0" bIns="0" rtlCol="0" anchor="t"/>
          <a:lstStyle/>
          <a:p>
            <a:pPr marL="0" indent="0" algn="ctr">
              <a:lnSpc>
                <a:spcPts val="1176"/>
              </a:lnSpc>
              <a:buNone/>
            </a:pPr>
            <a:r>
              <a:rPr lang="en-US" sz="840" dirty="0">
                <a:solidFill>
                  <a:srgbClr val="E2E8F0"/>
                </a:solidFill>
                <a:latin typeface="Calibri" pitchFamily="34" charset="0"/>
                <a:ea typeface="Calibri" pitchFamily="34" charset="-122"/>
                <a:cs typeface="Calibri" pitchFamily="34" charset="-120"/>
              </a:rPr>
              <a:t>Q&amp;A and Closing</a:t>
            </a:r>
            <a:endParaRPr lang="en-US" sz="840" dirty="0"/>
          </a:p>
        </p:txBody>
      </p:sp>
      <p:sp>
        <p:nvSpPr>
          <p:cNvPr id="48" name="Text 40"/>
          <p:cNvSpPr/>
          <p:nvPr/>
        </p:nvSpPr>
        <p:spPr>
          <a:xfrm>
            <a:off x="7214548" y="3543300"/>
            <a:ext cx="1251734" cy="118021"/>
          </a:xfrm>
          <a:prstGeom prst="rect">
            <a:avLst/>
          </a:prstGeom>
          <a:noFill/>
          <a:ln/>
        </p:spPr>
        <p:txBody>
          <a:bodyPr wrap="none" lIns="0" tIns="0" rIns="0" bIns="0" rtlCol="0" anchor="t"/>
          <a:lstStyle/>
          <a:p>
            <a:pPr marL="0" indent="0" algn="ctr">
              <a:lnSpc>
                <a:spcPts val="930"/>
              </a:lnSpc>
              <a:buNone/>
            </a:pPr>
            <a:r>
              <a:rPr lang="en-US" sz="620" kern="0" spc="20" dirty="0">
                <a:solidFill>
                  <a:srgbClr val="8B9CB6"/>
                </a:solidFill>
                <a:latin typeface="Consolas" pitchFamily="34" charset="0"/>
                <a:ea typeface="Consolas" pitchFamily="34" charset="-122"/>
                <a:cs typeface="Consolas" pitchFamily="34" charset="-120"/>
              </a:rPr>
              <a:t>5 MINUTES</a:t>
            </a:r>
            <a:endParaRPr lang="en-US" sz="620" dirty="0"/>
          </a:p>
        </p:txBody>
      </p:sp>
      <p:sp>
        <p:nvSpPr>
          <p:cNvPr id="49" name="Text 41"/>
          <p:cNvSpPr/>
          <p:nvPr/>
        </p:nvSpPr>
        <p:spPr>
          <a:xfrm>
            <a:off x="1231702" y="2584698"/>
            <a:ext cx="143470" cy="143470"/>
          </a:xfrm>
          <a:prstGeom prst="ellipse">
            <a:avLst/>
          </a:prstGeom>
          <a:solidFill>
            <a:srgbClr val="0A0F1A"/>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
        <p:nvSpPr>
          <p:cNvPr id="50" name="Text 42"/>
          <p:cNvSpPr/>
          <p:nvPr/>
        </p:nvSpPr>
        <p:spPr>
          <a:xfrm>
            <a:off x="2865834" y="2584698"/>
            <a:ext cx="143470" cy="143470"/>
          </a:xfrm>
          <a:prstGeom prst="ellipse">
            <a:avLst/>
          </a:prstGeom>
          <a:solidFill>
            <a:srgbClr val="76B900"/>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
        <p:nvSpPr>
          <p:cNvPr id="51" name="Text 43"/>
          <p:cNvSpPr/>
          <p:nvPr/>
        </p:nvSpPr>
        <p:spPr>
          <a:xfrm>
            <a:off x="4500116" y="2584698"/>
            <a:ext cx="143470" cy="143470"/>
          </a:xfrm>
          <a:prstGeom prst="ellipse">
            <a:avLst/>
          </a:prstGeom>
          <a:solidFill>
            <a:srgbClr val="0A0F1A"/>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
        <p:nvSpPr>
          <p:cNvPr id="52" name="Text 44"/>
          <p:cNvSpPr/>
          <p:nvPr/>
        </p:nvSpPr>
        <p:spPr>
          <a:xfrm>
            <a:off x="6134398" y="2584698"/>
            <a:ext cx="143470" cy="143470"/>
          </a:xfrm>
          <a:prstGeom prst="ellipse">
            <a:avLst/>
          </a:prstGeom>
          <a:solidFill>
            <a:srgbClr val="0A0F1A"/>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
        <p:nvSpPr>
          <p:cNvPr id="53" name="Text 45"/>
          <p:cNvSpPr/>
          <p:nvPr/>
        </p:nvSpPr>
        <p:spPr>
          <a:xfrm>
            <a:off x="7768679" y="2584698"/>
            <a:ext cx="143470" cy="143470"/>
          </a:xfrm>
          <a:prstGeom prst="ellipse">
            <a:avLst/>
          </a:prstGeom>
          <a:solidFill>
            <a:srgbClr val="0A0F1A"/>
          </a:solidFill>
          <a:ln w="19050">
            <a:solidFill>
              <a:srgbClr val="76B900"/>
            </a:solidFill>
          </a:ln>
          <a:effectLst>
            <a:outerShdw blurRad="86360" dist="50800" dir="16200000" algn="bl" rotWithShape="0">
              <a:srgbClr val="76B900">
                <a:alpha val="35000"/>
              </a:srgbClr>
            </a:outerShdw>
          </a:effectLst>
        </p:spPr>
        <p:txBody>
          <a:bodyPr wrap="none" rtlCol="0" anchor="t"/>
          <a:lstStyle/>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4000"/>
                </a:srgbClr>
              </a:gs>
              <a:gs pos="50000">
                <a:srgbClr val="000000">
                  <a:alpha val="0"/>
                </a:srgbClr>
              </a:gs>
            </a:gsLst>
            <a:path path="circle">
              <a:fillToRect l="80000" t="20000" r="20000" b="8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3000"/>
                </a:srgbClr>
              </a:gs>
              <a:gs pos="50000">
                <a:srgbClr val="000000">
                  <a:alpha val="0"/>
                </a:srgbClr>
              </a:gs>
            </a:gsLst>
            <a:path path="circle">
              <a:fillToRect l="20000" t="80000" r="80000" b="20000"/>
            </a:path>
          </a:gradFill>
          <a:ln/>
        </p:spPr>
        <p:txBody>
          <a:bodyPr wrap="square" rtlCol="0" anchor="t"/>
          <a:lstStyle/>
          <a:p>
            <a:pPr marL="0" indent="0">
              <a:buNone/>
            </a:pPr>
            <a:endParaRPr lang="en-US" dirty="0"/>
          </a:p>
        </p:txBody>
      </p:sp>
      <p:sp>
        <p:nvSpPr>
          <p:cNvPr id="4" name="Text 2"/>
          <p:cNvSpPr/>
          <p:nvPr/>
        </p:nvSpPr>
        <p:spPr>
          <a:xfrm>
            <a:off x="0" y="0"/>
            <a:ext cx="9144000" cy="5143500"/>
          </a:xfrm>
          <a:prstGeom prst="rect">
            <a:avLst/>
          </a:prstGeom>
          <a:gradFill rotWithShape="1">
            <a:gsLst>
              <a:gs pos="0">
                <a:srgbClr val="76B90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523875" y="1083171"/>
            <a:ext cx="3938292" cy="21580"/>
          </a:xfrm>
          <a:custGeom>
            <a:avLst/>
            <a:gdLst/>
            <a:ahLst/>
            <a:cxnLst/>
            <a:rect l="l" t="t" r="r" b="b"/>
            <a:pathLst>
              <a:path w="3938292" h="21580">
                <a:moveTo>
                  <a:pt x="114300" y="0"/>
                </a:moveTo>
                <a:lnTo>
                  <a:pt x="3823992" y="0"/>
                </a:lnTo>
                <a:lnTo>
                  <a:pt x="3848678" y="2698"/>
                </a:lnTo>
                <a:lnTo>
                  <a:pt x="3858694" y="5395"/>
                </a:lnTo>
                <a:lnTo>
                  <a:pt x="3866235" y="8093"/>
                </a:lnTo>
                <a:lnTo>
                  <a:pt x="3872471" y="10790"/>
                </a:lnTo>
                <a:lnTo>
                  <a:pt x="3877856" y="13488"/>
                </a:lnTo>
                <a:lnTo>
                  <a:pt x="3882626" y="16185"/>
                </a:lnTo>
                <a:lnTo>
                  <a:pt x="3886921" y="18883"/>
                </a:lnTo>
                <a:lnTo>
                  <a:pt x="389083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6" name="Text 4"/>
          <p:cNvSpPr/>
          <p:nvPr/>
        </p:nvSpPr>
        <p:spPr>
          <a:xfrm>
            <a:off x="4681835" y="1083171"/>
            <a:ext cx="3938292" cy="21580"/>
          </a:xfrm>
          <a:custGeom>
            <a:avLst/>
            <a:gdLst/>
            <a:ahLst/>
            <a:cxnLst/>
            <a:rect l="l" t="t" r="r" b="b"/>
            <a:pathLst>
              <a:path w="3938292" h="21580">
                <a:moveTo>
                  <a:pt x="114300" y="0"/>
                </a:moveTo>
                <a:lnTo>
                  <a:pt x="3823992" y="0"/>
                </a:lnTo>
                <a:lnTo>
                  <a:pt x="3848678" y="2698"/>
                </a:lnTo>
                <a:lnTo>
                  <a:pt x="3858694" y="5395"/>
                </a:lnTo>
                <a:lnTo>
                  <a:pt x="3866235" y="8093"/>
                </a:lnTo>
                <a:lnTo>
                  <a:pt x="3872471" y="10790"/>
                </a:lnTo>
                <a:lnTo>
                  <a:pt x="3877856" y="13488"/>
                </a:lnTo>
                <a:lnTo>
                  <a:pt x="3882626" y="16185"/>
                </a:lnTo>
                <a:lnTo>
                  <a:pt x="3886921" y="18883"/>
                </a:lnTo>
                <a:lnTo>
                  <a:pt x="389083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7" name="Text 5"/>
          <p:cNvSpPr/>
          <p:nvPr/>
        </p:nvSpPr>
        <p:spPr>
          <a:xfrm>
            <a:off x="523875" y="3075533"/>
            <a:ext cx="3938292" cy="21580"/>
          </a:xfrm>
          <a:custGeom>
            <a:avLst/>
            <a:gdLst/>
            <a:ahLst/>
            <a:cxnLst/>
            <a:rect l="l" t="t" r="r" b="b"/>
            <a:pathLst>
              <a:path w="3938292" h="21580">
                <a:moveTo>
                  <a:pt x="114300" y="0"/>
                </a:moveTo>
                <a:lnTo>
                  <a:pt x="3823992" y="0"/>
                </a:lnTo>
                <a:lnTo>
                  <a:pt x="3848678" y="2698"/>
                </a:lnTo>
                <a:lnTo>
                  <a:pt x="3858694" y="5395"/>
                </a:lnTo>
                <a:lnTo>
                  <a:pt x="3866235" y="8093"/>
                </a:lnTo>
                <a:lnTo>
                  <a:pt x="3872471" y="10790"/>
                </a:lnTo>
                <a:lnTo>
                  <a:pt x="3877856" y="13488"/>
                </a:lnTo>
                <a:lnTo>
                  <a:pt x="3882626" y="16185"/>
                </a:lnTo>
                <a:lnTo>
                  <a:pt x="3886921" y="18883"/>
                </a:lnTo>
                <a:lnTo>
                  <a:pt x="389083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8" name="Text 6"/>
          <p:cNvSpPr/>
          <p:nvPr/>
        </p:nvSpPr>
        <p:spPr>
          <a:xfrm>
            <a:off x="4681835" y="3075533"/>
            <a:ext cx="3938292" cy="21580"/>
          </a:xfrm>
          <a:custGeom>
            <a:avLst/>
            <a:gdLst/>
            <a:ahLst/>
            <a:cxnLst/>
            <a:rect l="l" t="t" r="r" b="b"/>
            <a:pathLst>
              <a:path w="3938292" h="21580">
                <a:moveTo>
                  <a:pt x="114300" y="0"/>
                </a:moveTo>
                <a:lnTo>
                  <a:pt x="3823992" y="0"/>
                </a:lnTo>
                <a:lnTo>
                  <a:pt x="3848678" y="2698"/>
                </a:lnTo>
                <a:lnTo>
                  <a:pt x="3858694" y="5395"/>
                </a:lnTo>
                <a:lnTo>
                  <a:pt x="3866235" y="8093"/>
                </a:lnTo>
                <a:lnTo>
                  <a:pt x="3872471" y="10790"/>
                </a:lnTo>
                <a:lnTo>
                  <a:pt x="3877856" y="13488"/>
                </a:lnTo>
                <a:lnTo>
                  <a:pt x="3882626" y="16185"/>
                </a:lnTo>
                <a:lnTo>
                  <a:pt x="3886921" y="18883"/>
                </a:lnTo>
                <a:lnTo>
                  <a:pt x="389083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9" name="Text 7"/>
          <p:cNvSpPr/>
          <p:nvPr/>
        </p:nvSpPr>
        <p:spPr>
          <a:xfrm>
            <a:off x="514350" y="422523"/>
            <a:ext cx="43160" cy="285750"/>
          </a:xfrm>
          <a:prstGeom prst="roundRect">
            <a:avLst>
              <a:gd name="adj" fmla="val 50023"/>
            </a:avLst>
          </a:prstGeom>
          <a:solidFill>
            <a:srgbClr val="76B900"/>
          </a:solidFill>
          <a:ln/>
        </p:spPr>
        <p:txBody>
          <a:bodyPr wrap="square" rtlCol="0" anchor="t"/>
          <a:lstStyle/>
          <a:p>
            <a:pPr marL="0" indent="0">
              <a:buNone/>
            </a:pPr>
            <a:endParaRPr lang="en-US" dirty="0"/>
          </a:p>
        </p:txBody>
      </p:sp>
      <p:sp>
        <p:nvSpPr>
          <p:cNvPr id="10" name="Text 8"/>
          <p:cNvSpPr/>
          <p:nvPr/>
        </p:nvSpPr>
        <p:spPr>
          <a:xfrm>
            <a:off x="671810" y="372070"/>
            <a:ext cx="3928283" cy="386655"/>
          </a:xfrm>
          <a:prstGeom prst="rect">
            <a:avLst/>
          </a:prstGeom>
          <a:noFill/>
          <a:ln/>
        </p:spPr>
        <p:txBody>
          <a:bodyPr wrap="none" lIns="0" tIns="0" rIns="0" bIns="0" rtlCol="0" anchor="ctr"/>
          <a:lstStyle/>
          <a:p>
            <a:pPr marL="0" indent="0" algn="l">
              <a:lnSpc>
                <a:spcPts val="3045"/>
              </a:lnSpc>
              <a:buNone/>
            </a:pPr>
            <a:r>
              <a:rPr lang="en-US" sz="2030" kern="0" spc="60" dirty="0">
                <a:solidFill>
                  <a:srgbClr val="E2E8F0"/>
                </a:solidFill>
                <a:latin typeface="Consolas" pitchFamily="34" charset="0"/>
                <a:ea typeface="Consolas" pitchFamily="34" charset="-122"/>
                <a:cs typeface="Consolas" pitchFamily="34" charset="-120"/>
              </a:rPr>
              <a:t>Why You Would Want Local AI</a:t>
            </a:r>
            <a:endParaRPr lang="en-US" sz="2030" dirty="0"/>
          </a:p>
        </p:txBody>
      </p:sp>
      <p:sp>
        <p:nvSpPr>
          <p:cNvPr id="11" name="Text 9"/>
          <p:cNvSpPr/>
          <p:nvPr/>
        </p:nvSpPr>
        <p:spPr>
          <a:xfrm>
            <a:off x="514350" y="1073646"/>
            <a:ext cx="3957340" cy="1791742"/>
          </a:xfrm>
          <a:prstGeom prst="roundRect">
            <a:avLst>
              <a:gd name="adj" fmla="val 6379"/>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12" name="Text 10"/>
          <p:cNvSpPr/>
          <p:nvPr/>
        </p:nvSpPr>
        <p:spPr>
          <a:xfrm>
            <a:off x="752475" y="1368921"/>
            <a:ext cx="457200" cy="457200"/>
          </a:xfrm>
          <a:prstGeom prst="roundRect">
            <a:avLst>
              <a:gd name="adj" fmla="val 21944"/>
            </a:avLst>
          </a:prstGeom>
          <a:solidFill>
            <a:srgbClr val="76B900">
              <a:alpha val="10000"/>
            </a:srgbClr>
          </a:solidFill>
          <a:ln/>
        </p:spPr>
        <p:txBody>
          <a:bodyPr wrap="square" rtlCol="0" anchor="t"/>
          <a:lstStyle/>
          <a:p>
            <a:pPr marL="0" indent="0">
              <a:buNone/>
            </a:pPr>
            <a:endParaRPr lang="en-US"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5350" y="1511796"/>
            <a:ext cx="171450" cy="171450"/>
          </a:xfrm>
          <a:prstGeom prst="rect">
            <a:avLst/>
          </a:prstGeom>
        </p:spPr>
      </p:pic>
      <p:sp>
        <p:nvSpPr>
          <p:cNvPr id="14" name="Text 11"/>
          <p:cNvSpPr/>
          <p:nvPr/>
        </p:nvSpPr>
        <p:spPr>
          <a:xfrm>
            <a:off x="752475" y="1983581"/>
            <a:ext cx="1062811" cy="182761"/>
          </a:xfrm>
          <a:prstGeom prst="rect">
            <a:avLst/>
          </a:prstGeom>
          <a:noFill/>
          <a:ln/>
        </p:spPr>
        <p:txBody>
          <a:bodyPr wrap="none" lIns="0" tIns="0" rIns="0" bIns="0" rtlCol="0" anchor="t"/>
          <a:lstStyle/>
          <a:p>
            <a:pPr marL="0" indent="0" algn="l">
              <a:lnSpc>
                <a:spcPts val="1440"/>
              </a:lnSpc>
              <a:buNone/>
            </a:pPr>
            <a:r>
              <a:rPr lang="en-US" sz="960" b="1" kern="0" spc="30" dirty="0">
                <a:solidFill>
                  <a:srgbClr val="76B900"/>
                </a:solidFill>
                <a:latin typeface="Consolas" pitchFamily="34" charset="0"/>
                <a:ea typeface="Consolas" pitchFamily="34" charset="-122"/>
                <a:cs typeface="Consolas" pitchFamily="34" charset="-120"/>
              </a:rPr>
              <a:t>PRIVACY FIRST</a:t>
            </a:r>
            <a:endParaRPr lang="en-US" sz="960" dirty="0"/>
          </a:p>
        </p:txBody>
      </p:sp>
      <p:sp>
        <p:nvSpPr>
          <p:cNvPr id="15" name="Text 12"/>
          <p:cNvSpPr/>
          <p:nvPr/>
        </p:nvSpPr>
        <p:spPr>
          <a:xfrm>
            <a:off x="752475" y="2237333"/>
            <a:ext cx="2549307" cy="192435"/>
          </a:xfrm>
          <a:prstGeom prst="rect">
            <a:avLst/>
          </a:prstGeom>
          <a:noFill/>
          <a:ln/>
        </p:spPr>
        <p:txBody>
          <a:bodyPr wrap="none" lIns="0" tIns="0" rIns="0" bIns="0" rtlCol="0" anchor="t"/>
          <a:lstStyle/>
          <a:p>
            <a:pPr marL="0" indent="0" algn="l">
              <a:lnSpc>
                <a:spcPts val="1515"/>
              </a:lnSpc>
              <a:buNone/>
            </a:pPr>
            <a:r>
              <a:rPr lang="en-US" sz="1010" dirty="0">
                <a:solidFill>
                  <a:srgbClr val="E2E8F0"/>
                </a:solidFill>
                <a:latin typeface="Calibri" pitchFamily="34" charset="0"/>
                <a:ea typeface="Calibri" pitchFamily="34" charset="-122"/>
                <a:cs typeface="Calibri" pitchFamily="34" charset="-120"/>
              </a:rPr>
              <a:t>Your data never has to leave your device</a:t>
            </a:r>
            <a:endParaRPr lang="en-US" sz="1010" dirty="0"/>
          </a:p>
        </p:txBody>
      </p:sp>
      <p:sp>
        <p:nvSpPr>
          <p:cNvPr id="16" name="Text 13"/>
          <p:cNvSpPr/>
          <p:nvPr/>
        </p:nvSpPr>
        <p:spPr>
          <a:xfrm>
            <a:off x="4672310" y="1073646"/>
            <a:ext cx="3957340" cy="1791742"/>
          </a:xfrm>
          <a:prstGeom prst="roundRect">
            <a:avLst>
              <a:gd name="adj" fmla="val 6379"/>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17" name="Text 14"/>
          <p:cNvSpPr/>
          <p:nvPr/>
        </p:nvSpPr>
        <p:spPr>
          <a:xfrm>
            <a:off x="4910435" y="1368921"/>
            <a:ext cx="457200" cy="457200"/>
          </a:xfrm>
          <a:prstGeom prst="roundRect">
            <a:avLst>
              <a:gd name="adj" fmla="val 21944"/>
            </a:avLst>
          </a:prstGeom>
          <a:solidFill>
            <a:srgbClr val="76B900">
              <a:alpha val="10000"/>
            </a:srgbClr>
          </a:solidFill>
          <a:ln/>
        </p:spPr>
        <p:txBody>
          <a:bodyPr wrap="square" rtlCol="0" anchor="t"/>
          <a:lstStyle/>
          <a:p>
            <a:pPr marL="0" indent="0">
              <a:buNone/>
            </a:pPr>
            <a:endParaRPr lang="en-US"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53310" y="1511796"/>
            <a:ext cx="171450" cy="171450"/>
          </a:xfrm>
          <a:prstGeom prst="rect">
            <a:avLst/>
          </a:prstGeom>
        </p:spPr>
      </p:pic>
      <p:sp>
        <p:nvSpPr>
          <p:cNvPr id="19" name="Text 15"/>
          <p:cNvSpPr/>
          <p:nvPr/>
        </p:nvSpPr>
        <p:spPr>
          <a:xfrm>
            <a:off x="4910435" y="1983581"/>
            <a:ext cx="1048569" cy="182761"/>
          </a:xfrm>
          <a:prstGeom prst="rect">
            <a:avLst/>
          </a:prstGeom>
          <a:noFill/>
          <a:ln/>
        </p:spPr>
        <p:txBody>
          <a:bodyPr wrap="none" lIns="0" tIns="0" rIns="0" bIns="0" rtlCol="0" anchor="t"/>
          <a:lstStyle/>
          <a:p>
            <a:pPr marL="0" indent="0" algn="l">
              <a:lnSpc>
                <a:spcPts val="1440"/>
              </a:lnSpc>
              <a:buNone/>
            </a:pPr>
            <a:r>
              <a:rPr lang="en-US" sz="960" b="1" kern="0" spc="30" dirty="0">
                <a:solidFill>
                  <a:srgbClr val="76B900"/>
                </a:solidFill>
                <a:latin typeface="Consolas" pitchFamily="34" charset="0"/>
                <a:ea typeface="Consolas" pitchFamily="34" charset="-122"/>
                <a:cs typeface="Consolas" pitchFamily="34" charset="-120"/>
              </a:rPr>
              <a:t>REAL ACTIONS</a:t>
            </a:r>
            <a:endParaRPr lang="en-US" sz="960" dirty="0"/>
          </a:p>
        </p:txBody>
      </p:sp>
      <p:sp>
        <p:nvSpPr>
          <p:cNvPr id="20" name="Text 16"/>
          <p:cNvSpPr/>
          <p:nvPr/>
        </p:nvSpPr>
        <p:spPr>
          <a:xfrm>
            <a:off x="4910435" y="2237333"/>
            <a:ext cx="1559183" cy="192435"/>
          </a:xfrm>
          <a:prstGeom prst="rect">
            <a:avLst/>
          </a:prstGeom>
          <a:noFill/>
          <a:ln/>
        </p:spPr>
        <p:txBody>
          <a:bodyPr wrap="none" lIns="0" tIns="0" rIns="0" bIns="0" rtlCol="0" anchor="t"/>
          <a:lstStyle/>
          <a:p>
            <a:pPr marL="0" indent="0" algn="l">
              <a:lnSpc>
                <a:spcPts val="1515"/>
              </a:lnSpc>
              <a:buNone/>
            </a:pPr>
            <a:r>
              <a:rPr lang="en-US" sz="1010" dirty="0">
                <a:solidFill>
                  <a:srgbClr val="E2E8F0"/>
                </a:solidFill>
                <a:latin typeface="Calibri" pitchFamily="34" charset="0"/>
                <a:ea typeface="Calibri" pitchFamily="34" charset="-122"/>
                <a:cs typeface="Calibri" pitchFamily="34" charset="-120"/>
              </a:rPr>
              <a:t>AI can act — not just talk</a:t>
            </a:r>
            <a:endParaRPr lang="en-US" sz="1010" dirty="0"/>
          </a:p>
        </p:txBody>
      </p:sp>
      <p:sp>
        <p:nvSpPr>
          <p:cNvPr id="21" name="Text 17"/>
          <p:cNvSpPr/>
          <p:nvPr/>
        </p:nvSpPr>
        <p:spPr>
          <a:xfrm>
            <a:off x="514350" y="3066008"/>
            <a:ext cx="3957340" cy="1791742"/>
          </a:xfrm>
          <a:prstGeom prst="roundRect">
            <a:avLst>
              <a:gd name="adj" fmla="val 6379"/>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22" name="Text 18"/>
          <p:cNvSpPr/>
          <p:nvPr/>
        </p:nvSpPr>
        <p:spPr>
          <a:xfrm>
            <a:off x="752475" y="3361283"/>
            <a:ext cx="457200" cy="457200"/>
          </a:xfrm>
          <a:prstGeom prst="roundRect">
            <a:avLst>
              <a:gd name="adj" fmla="val 21944"/>
            </a:avLst>
          </a:prstGeom>
          <a:solidFill>
            <a:srgbClr val="76B900">
              <a:alpha val="10000"/>
            </a:srgbClr>
          </a:solidFill>
          <a:ln/>
        </p:spPr>
        <p:txBody>
          <a:bodyPr wrap="square" rtlCol="0" anchor="t"/>
          <a:lstStyle/>
          <a:p>
            <a:pPr marL="0" indent="0">
              <a:buNone/>
            </a:pPr>
            <a:endParaRPr lang="en-US"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5350" y="3504158"/>
            <a:ext cx="171450" cy="171450"/>
          </a:xfrm>
          <a:prstGeom prst="rect">
            <a:avLst/>
          </a:prstGeom>
        </p:spPr>
      </p:pic>
      <p:sp>
        <p:nvSpPr>
          <p:cNvPr id="24" name="Text 19"/>
          <p:cNvSpPr/>
          <p:nvPr/>
        </p:nvSpPr>
        <p:spPr>
          <a:xfrm>
            <a:off x="752475" y="3975943"/>
            <a:ext cx="1548869" cy="182761"/>
          </a:xfrm>
          <a:prstGeom prst="rect">
            <a:avLst/>
          </a:prstGeom>
          <a:noFill/>
          <a:ln/>
        </p:spPr>
        <p:txBody>
          <a:bodyPr wrap="none" lIns="0" tIns="0" rIns="0" bIns="0" rtlCol="0" anchor="t"/>
          <a:lstStyle/>
          <a:p>
            <a:pPr marL="0" indent="0" algn="l">
              <a:lnSpc>
                <a:spcPts val="1440"/>
              </a:lnSpc>
              <a:buNone/>
            </a:pPr>
            <a:r>
              <a:rPr lang="en-US" sz="960" b="1" kern="0" spc="30" dirty="0">
                <a:solidFill>
                  <a:srgbClr val="76B900"/>
                </a:solidFill>
                <a:latin typeface="Consolas" pitchFamily="34" charset="0"/>
                <a:ea typeface="Consolas" pitchFamily="34" charset="-122"/>
                <a:cs typeface="Consolas" pitchFamily="34" charset="-120"/>
              </a:rPr>
              <a:t>PERSISTENT MEMORY</a:t>
            </a:r>
            <a:endParaRPr lang="en-US" sz="960" dirty="0"/>
          </a:p>
        </p:txBody>
      </p:sp>
      <p:sp>
        <p:nvSpPr>
          <p:cNvPr id="25" name="Text 20"/>
          <p:cNvSpPr/>
          <p:nvPr/>
        </p:nvSpPr>
        <p:spPr>
          <a:xfrm>
            <a:off x="752475" y="4229695"/>
            <a:ext cx="2663577" cy="192435"/>
          </a:xfrm>
          <a:prstGeom prst="rect">
            <a:avLst/>
          </a:prstGeom>
          <a:noFill/>
          <a:ln/>
        </p:spPr>
        <p:txBody>
          <a:bodyPr wrap="none" lIns="0" tIns="0" rIns="0" bIns="0" rtlCol="0" anchor="t"/>
          <a:lstStyle/>
          <a:p>
            <a:pPr marL="0" indent="0" algn="l">
              <a:lnSpc>
                <a:spcPts val="1515"/>
              </a:lnSpc>
              <a:buNone/>
            </a:pPr>
            <a:r>
              <a:rPr lang="en-US" sz="1010" dirty="0">
                <a:solidFill>
                  <a:srgbClr val="E2E8F0"/>
                </a:solidFill>
                <a:latin typeface="Calibri" pitchFamily="34" charset="0"/>
                <a:ea typeface="Calibri" pitchFamily="34" charset="-122"/>
                <a:cs typeface="Calibri" pitchFamily="34" charset="-120"/>
              </a:rPr>
              <a:t>Learns from you and remembers over time</a:t>
            </a:r>
            <a:endParaRPr lang="en-US" sz="1010" dirty="0"/>
          </a:p>
        </p:txBody>
      </p:sp>
      <p:sp>
        <p:nvSpPr>
          <p:cNvPr id="26" name="Text 21"/>
          <p:cNvSpPr/>
          <p:nvPr/>
        </p:nvSpPr>
        <p:spPr>
          <a:xfrm>
            <a:off x="4672310" y="3066008"/>
            <a:ext cx="3957340" cy="1791742"/>
          </a:xfrm>
          <a:prstGeom prst="roundRect">
            <a:avLst>
              <a:gd name="adj" fmla="val 6379"/>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27" name="Text 22"/>
          <p:cNvSpPr/>
          <p:nvPr/>
        </p:nvSpPr>
        <p:spPr>
          <a:xfrm>
            <a:off x="4910435" y="3361283"/>
            <a:ext cx="457200" cy="457200"/>
          </a:xfrm>
          <a:prstGeom prst="roundRect">
            <a:avLst>
              <a:gd name="adj" fmla="val 21944"/>
            </a:avLst>
          </a:prstGeom>
          <a:solidFill>
            <a:srgbClr val="76B900">
              <a:alpha val="10000"/>
            </a:srgbClr>
          </a:solidFill>
          <a:ln/>
        </p:spPr>
        <p:txBody>
          <a:bodyPr wrap="square" rtlCol="0" anchor="t"/>
          <a:lstStyle/>
          <a:p>
            <a:pPr marL="0" indent="0">
              <a:buNone/>
            </a:pPr>
            <a:endParaRPr lang="en-US" dirty="0"/>
          </a:p>
        </p:txBody>
      </p:sp>
      <p:pic>
        <p:nvPicPr>
          <p:cNvPr id="2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53310" y="3504158"/>
            <a:ext cx="171450" cy="171450"/>
          </a:xfrm>
          <a:prstGeom prst="rect">
            <a:avLst/>
          </a:prstGeom>
        </p:spPr>
      </p:pic>
      <p:sp>
        <p:nvSpPr>
          <p:cNvPr id="29" name="Text 23"/>
          <p:cNvSpPr/>
          <p:nvPr/>
        </p:nvSpPr>
        <p:spPr>
          <a:xfrm>
            <a:off x="4910435" y="3975943"/>
            <a:ext cx="1587832" cy="182761"/>
          </a:xfrm>
          <a:prstGeom prst="rect">
            <a:avLst/>
          </a:prstGeom>
          <a:noFill/>
          <a:ln/>
        </p:spPr>
        <p:txBody>
          <a:bodyPr wrap="none" lIns="0" tIns="0" rIns="0" bIns="0" rtlCol="0" anchor="t"/>
          <a:lstStyle/>
          <a:p>
            <a:pPr marL="0" indent="0" algn="l">
              <a:lnSpc>
                <a:spcPts val="1440"/>
              </a:lnSpc>
              <a:buNone/>
            </a:pPr>
            <a:r>
              <a:rPr lang="en-US" sz="960" b="1" kern="0" spc="30" dirty="0">
                <a:solidFill>
                  <a:srgbClr val="76B900"/>
                </a:solidFill>
                <a:latin typeface="Consolas" pitchFamily="34" charset="0"/>
                <a:ea typeface="Consolas" pitchFamily="34" charset="-122"/>
                <a:cs typeface="Consolas" pitchFamily="34" charset="-120"/>
              </a:rPr>
              <a:t>ZERO SUBSCRIPTIONS</a:t>
            </a:r>
            <a:endParaRPr lang="en-US" sz="960" dirty="0"/>
          </a:p>
        </p:txBody>
      </p:sp>
      <p:sp>
        <p:nvSpPr>
          <p:cNvPr id="30" name="Text 24"/>
          <p:cNvSpPr/>
          <p:nvPr/>
        </p:nvSpPr>
        <p:spPr>
          <a:xfrm>
            <a:off x="4910435" y="4229695"/>
            <a:ext cx="1935063" cy="192435"/>
          </a:xfrm>
          <a:prstGeom prst="rect">
            <a:avLst/>
          </a:prstGeom>
          <a:noFill/>
          <a:ln/>
        </p:spPr>
        <p:txBody>
          <a:bodyPr wrap="none" lIns="0" tIns="0" rIns="0" bIns="0" rtlCol="0" anchor="t"/>
          <a:lstStyle/>
          <a:p>
            <a:pPr marL="0" indent="0" algn="l">
              <a:lnSpc>
                <a:spcPts val="1515"/>
              </a:lnSpc>
              <a:buNone/>
            </a:pPr>
            <a:r>
              <a:rPr lang="en-US" sz="1010" dirty="0">
                <a:solidFill>
                  <a:srgbClr val="E2E8F0"/>
                </a:solidFill>
                <a:latin typeface="Calibri" pitchFamily="34" charset="0"/>
                <a:ea typeface="Calibri" pitchFamily="34" charset="-122"/>
                <a:cs typeface="Calibri" pitchFamily="34" charset="-120"/>
              </a:rPr>
              <a:t>No recurring subscription costs</a:t>
            </a:r>
            <a:endParaRPr lang="en-US" sz="10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86F4D989-76B9-303B-8312-A94066E7C6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39CE3B-9329-CD09-D9BE-5FC5C3D83D31}"/>
              </a:ext>
            </a:extLst>
          </p:cNvPr>
          <p:cNvSpPr/>
          <p:nvPr/>
        </p:nvSpPr>
        <p:spPr>
          <a:xfrm>
            <a:off x="0" y="0"/>
            <a:ext cx="9144000" cy="5143500"/>
          </a:xfrm>
          <a:prstGeom prst="rect">
            <a:avLst/>
          </a:prstGeom>
          <a:gradFill rotWithShape="1">
            <a:gsLst>
              <a:gs pos="0">
                <a:srgbClr val="76B900">
                  <a:alpha val="4000"/>
                </a:srgbClr>
              </a:gs>
              <a:gs pos="50000">
                <a:srgbClr val="000000">
                  <a:alpha val="0"/>
                </a:srgbClr>
              </a:gs>
            </a:gsLst>
            <a:path path="circle">
              <a:fillToRect l="80000" t="20000" r="20000" b="80000"/>
            </a:path>
          </a:gradFill>
          <a:ln/>
        </p:spPr>
        <p:txBody>
          <a:bodyPr wrap="square" rtlCol="0" anchor="t"/>
          <a:lstStyle/>
          <a:p>
            <a:endParaRPr lang="en-US" dirty="0"/>
          </a:p>
        </p:txBody>
      </p:sp>
      <p:sp>
        <p:nvSpPr>
          <p:cNvPr id="3" name="Text 1">
            <a:extLst>
              <a:ext uri="{FF2B5EF4-FFF2-40B4-BE49-F238E27FC236}">
                <a16:creationId xmlns:a16="http://schemas.microsoft.com/office/drawing/2014/main" id="{4D995BD9-9949-5E03-B3B6-312EB6C76455}"/>
              </a:ext>
            </a:extLst>
          </p:cNvPr>
          <p:cNvSpPr/>
          <p:nvPr/>
        </p:nvSpPr>
        <p:spPr>
          <a:xfrm>
            <a:off x="0" y="0"/>
            <a:ext cx="9144000" cy="5143500"/>
          </a:xfrm>
          <a:prstGeom prst="rect">
            <a:avLst/>
          </a:prstGeom>
          <a:gradFill rotWithShape="1">
            <a:gsLst>
              <a:gs pos="0">
                <a:srgbClr val="76B900">
                  <a:alpha val="3000"/>
                </a:srgbClr>
              </a:gs>
              <a:gs pos="50000">
                <a:srgbClr val="000000">
                  <a:alpha val="0"/>
                </a:srgbClr>
              </a:gs>
            </a:gsLst>
            <a:path path="circle">
              <a:fillToRect l="20000" t="80000" r="80000" b="20000"/>
            </a:path>
          </a:gradFill>
          <a:ln/>
        </p:spPr>
        <p:txBody>
          <a:bodyPr wrap="square" rtlCol="0" anchor="t"/>
          <a:lstStyle/>
          <a:p>
            <a:endParaRPr lang="en-US" dirty="0"/>
          </a:p>
        </p:txBody>
      </p:sp>
      <p:sp>
        <p:nvSpPr>
          <p:cNvPr id="4" name="Text 2">
            <a:extLst>
              <a:ext uri="{FF2B5EF4-FFF2-40B4-BE49-F238E27FC236}">
                <a16:creationId xmlns:a16="http://schemas.microsoft.com/office/drawing/2014/main" id="{E75244D3-C8A0-BEC7-F74F-AB4A072C8B14}"/>
              </a:ext>
            </a:extLst>
          </p:cNvPr>
          <p:cNvSpPr/>
          <p:nvPr/>
        </p:nvSpPr>
        <p:spPr>
          <a:xfrm>
            <a:off x="0" y="0"/>
            <a:ext cx="9144000" cy="5143500"/>
          </a:xfrm>
          <a:prstGeom prst="rect">
            <a:avLst/>
          </a:prstGeom>
          <a:gradFill rotWithShape="1">
            <a:gsLst>
              <a:gs pos="0">
                <a:srgbClr val="76B900">
                  <a:alpha val="6000"/>
                </a:srgbClr>
              </a:gs>
              <a:gs pos="100000">
                <a:srgbClr val="000000">
                  <a:alpha val="0"/>
                </a:srgbClr>
              </a:gs>
            </a:gsLst>
            <a:path path="circle">
              <a:fillToRect l="50000" t="50000" r="50000" b="50000"/>
            </a:path>
          </a:gradFill>
          <a:ln/>
        </p:spPr>
        <p:txBody>
          <a:bodyPr wrap="square" rtlCol="0" anchor="t"/>
          <a:lstStyle/>
          <a:p>
            <a:endParaRPr lang="en-US" dirty="0"/>
          </a:p>
        </p:txBody>
      </p:sp>
      <p:sp>
        <p:nvSpPr>
          <p:cNvPr id="10" name="Text 8">
            <a:extLst>
              <a:ext uri="{FF2B5EF4-FFF2-40B4-BE49-F238E27FC236}">
                <a16:creationId xmlns:a16="http://schemas.microsoft.com/office/drawing/2014/main" id="{E5597D0C-DD75-346C-D50A-753AC1EF670B}"/>
              </a:ext>
            </a:extLst>
          </p:cNvPr>
          <p:cNvSpPr/>
          <p:nvPr/>
        </p:nvSpPr>
        <p:spPr>
          <a:xfrm>
            <a:off x="241442" y="299386"/>
            <a:ext cx="8229600" cy="500000"/>
          </a:xfrm>
          <a:prstGeom prst="rect">
            <a:avLst/>
          </a:prstGeom>
          <a:noFill/>
          <a:ln/>
        </p:spPr>
        <p:txBody>
          <a:bodyPr wrap="none" lIns="0" tIns="0" rIns="0" bIns="0" rtlCol="0" anchor="ctr"/>
          <a:lstStyle/>
          <a:p>
            <a:pPr>
              <a:lnSpc>
                <a:spcPts val="3045"/>
              </a:lnSpc>
            </a:pPr>
            <a:r>
              <a:rPr lang="en-US" kern="0" spc="60" dirty="0">
                <a:solidFill>
                  <a:srgbClr val="E2E8F0"/>
                </a:solidFill>
                <a:latin typeface="Consolas" pitchFamily="34" charset="0"/>
              </a:rPr>
              <a:t>NEW WAY OF THINKING </a:t>
            </a:r>
            <a:endParaRPr lang="en-US" sz="2030" dirty="0"/>
          </a:p>
        </p:txBody>
      </p:sp>
      <p:sp>
        <p:nvSpPr>
          <p:cNvPr id="40" name="CenterCard">
            <a:extLst>
              <a:ext uri="{FF2B5EF4-FFF2-40B4-BE49-F238E27FC236}">
                <a16:creationId xmlns:a16="http://schemas.microsoft.com/office/drawing/2014/main" id="{0246B0DE-B455-8276-9E37-E76388A84545}"/>
              </a:ext>
            </a:extLst>
          </p:cNvPr>
          <p:cNvSpPr/>
          <p:nvPr/>
        </p:nvSpPr>
        <p:spPr>
          <a:xfrm>
            <a:off x="1822001" y="1313053"/>
            <a:ext cx="5500000" cy="2600000"/>
          </a:xfrm>
          <a:prstGeom prst="roundRect">
            <a:avLst>
              <a:gd name="adj" fmla="val 6379"/>
            </a:avLst>
          </a:prstGeom>
          <a:solidFill>
            <a:srgbClr val="1A2332"/>
          </a:solidFill>
          <a:ln w="9525">
            <a:solidFill>
              <a:srgbClr val="76B900">
                <a:alpha val="15000"/>
              </a:srgbClr>
            </a:solidFill>
          </a:ln>
        </p:spPr>
        <p:txBody>
          <a:bodyPr wrap="square" rtlCol="0" anchor="t"/>
          <a:lstStyle/>
          <a:p>
            <a:endParaRPr lang="en-US"/>
          </a:p>
        </p:txBody>
      </p:sp>
      <p:sp>
        <p:nvSpPr>
          <p:cNvPr id="41" name="CenterAccent">
            <a:extLst>
              <a:ext uri="{FF2B5EF4-FFF2-40B4-BE49-F238E27FC236}">
                <a16:creationId xmlns:a16="http://schemas.microsoft.com/office/drawing/2014/main" id="{94CFD107-005D-95D2-4F22-8183F1F0AD33}"/>
              </a:ext>
            </a:extLst>
          </p:cNvPr>
          <p:cNvSpPr/>
          <p:nvPr/>
        </p:nvSpPr>
        <p:spPr>
          <a:xfrm>
            <a:off x="1831526" y="1309526"/>
            <a:ext cx="5480950" cy="21580"/>
          </a:xfrm>
          <a:prstGeom prst="rect">
            <a:avLst/>
          </a:prstGeom>
          <a:solidFill>
            <a:srgbClr val="76B900">
              <a:alpha val="60000"/>
            </a:srgbClr>
          </a:solidFill>
          <a:ln/>
        </p:spPr>
        <p:txBody>
          <a:bodyPr wrap="none" rtlCol="0" anchor="t"/>
          <a:lstStyle/>
          <a:p>
            <a:endParaRPr lang="en-US"/>
          </a:p>
        </p:txBody>
      </p:sp>
      <p:sp>
        <p:nvSpPr>
          <p:cNvPr id="43" name="QuoteText">
            <a:extLst>
              <a:ext uri="{FF2B5EF4-FFF2-40B4-BE49-F238E27FC236}">
                <a16:creationId xmlns:a16="http://schemas.microsoft.com/office/drawing/2014/main" id="{4D1060BD-AE24-C9EC-2A9E-E3B835A3B3C1}"/>
              </a:ext>
            </a:extLst>
          </p:cNvPr>
          <p:cNvSpPr/>
          <p:nvPr/>
        </p:nvSpPr>
        <p:spPr>
          <a:xfrm>
            <a:off x="2222000" y="1880001"/>
            <a:ext cx="4868611" cy="800000"/>
          </a:xfrm>
          <a:prstGeom prst="rect">
            <a:avLst/>
          </a:prstGeom>
          <a:noFill/>
          <a:ln/>
        </p:spPr>
        <p:txBody>
          <a:bodyPr wrap="square" lIns="0" tIns="0" rIns="0" bIns="0" rtlCol="0" anchor="ctr"/>
          <a:lstStyle/>
          <a:p>
            <a:pPr algn="ctr">
              <a:lnSpc>
                <a:spcPts val="3200"/>
              </a:lnSpc>
            </a:pPr>
            <a:endParaRPr lang="en-US" sz="2400" kern="0" spc="60" dirty="0">
              <a:solidFill>
                <a:srgbClr val="E2E8F0"/>
              </a:solidFill>
              <a:latin typeface="Consolas" pitchFamily="34" charset="0"/>
              <a:ea typeface="Consolas" pitchFamily="34" charset="-122"/>
              <a:cs typeface="Consolas" pitchFamily="34" charset="-120"/>
            </a:endParaRPr>
          </a:p>
          <a:p>
            <a:pPr algn="ctr">
              <a:lnSpc>
                <a:spcPts val="3200"/>
              </a:lnSpc>
            </a:pPr>
            <a:endParaRPr lang="en-US" sz="2400" kern="0" spc="60" dirty="0">
              <a:solidFill>
                <a:srgbClr val="E2E8F0"/>
              </a:solidFill>
              <a:latin typeface="Consolas" pitchFamily="34" charset="0"/>
              <a:ea typeface="Consolas" pitchFamily="34" charset="-122"/>
              <a:cs typeface="Consolas" pitchFamily="34" charset="-120"/>
            </a:endParaRPr>
          </a:p>
          <a:p>
            <a:pPr algn="ctr">
              <a:lnSpc>
                <a:spcPts val="3200"/>
              </a:lnSpc>
            </a:pPr>
            <a:r>
              <a:rPr lang="en-US" sz="2400" kern="0" spc="60" dirty="0">
                <a:solidFill>
                  <a:srgbClr val="E2E8F0"/>
                </a:solidFill>
                <a:latin typeface="Consolas" pitchFamily="34" charset="0"/>
                <a:ea typeface="Consolas" pitchFamily="34" charset="-122"/>
                <a:cs typeface="Consolas" pitchFamily="34" charset="-120"/>
              </a:rPr>
              <a:t>Select * from </a:t>
            </a:r>
            <a:r>
              <a:rPr lang="en-US" sz="2400" kern="0" spc="60" dirty="0" err="1">
                <a:solidFill>
                  <a:srgbClr val="E2E8F0"/>
                </a:solidFill>
                <a:latin typeface="Consolas" pitchFamily="34" charset="0"/>
                <a:ea typeface="Consolas" pitchFamily="34" charset="-122"/>
                <a:cs typeface="Consolas" pitchFamily="34" charset="-120"/>
              </a:rPr>
              <a:t>tblPatient</a:t>
            </a:r>
            <a:r>
              <a:rPr lang="en-US" sz="2400" kern="0" spc="60" dirty="0">
                <a:solidFill>
                  <a:srgbClr val="E2E8F0"/>
                </a:solidFill>
                <a:latin typeface="Consolas" pitchFamily="34" charset="0"/>
                <a:ea typeface="Consolas" pitchFamily="34" charset="-122"/>
                <a:cs typeface="Consolas" pitchFamily="34" charset="-120"/>
              </a:rPr>
              <a:t>;</a:t>
            </a:r>
          </a:p>
          <a:p>
            <a:pPr algn="ctr">
              <a:lnSpc>
                <a:spcPts val="3200"/>
              </a:lnSpc>
            </a:pPr>
            <a:endParaRPr lang="en-US" sz="3200" dirty="0"/>
          </a:p>
          <a:p>
            <a:pPr algn="ctr">
              <a:lnSpc>
                <a:spcPts val="3200"/>
              </a:lnSpc>
            </a:pPr>
            <a:r>
              <a:rPr lang="en-US" sz="3200" dirty="0">
                <a:solidFill>
                  <a:schemeClr val="accent2"/>
                </a:solidFill>
              </a:rPr>
              <a:t>Vs</a:t>
            </a:r>
          </a:p>
          <a:p>
            <a:pPr algn="ctr">
              <a:lnSpc>
                <a:spcPts val="3200"/>
              </a:lnSpc>
            </a:pPr>
            <a:endParaRPr lang="en-US" sz="3200" dirty="0"/>
          </a:p>
          <a:p>
            <a:pPr algn="ctr">
              <a:lnSpc>
                <a:spcPts val="3200"/>
              </a:lnSpc>
            </a:pPr>
            <a:r>
              <a:rPr lang="en-US" sz="2200" b="1" dirty="0">
                <a:solidFill>
                  <a:srgbClr val="E2E8F0"/>
                </a:solidFill>
                <a:latin typeface="Calibri" pitchFamily="34"/>
                <a:ea typeface="Calibri" pitchFamily="34"/>
                <a:cs typeface="Calibri" pitchFamily="34"/>
              </a:rPr>
              <a:t>Get me a list of Patients.</a:t>
            </a:r>
            <a:endParaRPr lang="en-US" dirty="0"/>
          </a:p>
        </p:txBody>
      </p:sp>
      <p:sp>
        <p:nvSpPr>
          <p:cNvPr id="45" name="Tagline">
            <a:extLst>
              <a:ext uri="{FF2B5EF4-FFF2-40B4-BE49-F238E27FC236}">
                <a16:creationId xmlns:a16="http://schemas.microsoft.com/office/drawing/2014/main" id="{3F71235F-9604-079C-F6CB-88FE2CA3CD63}"/>
              </a:ext>
            </a:extLst>
          </p:cNvPr>
          <p:cNvSpPr/>
          <p:nvPr/>
        </p:nvSpPr>
        <p:spPr>
          <a:xfrm>
            <a:off x="1822001" y="4050000"/>
            <a:ext cx="5500000" cy="300000"/>
          </a:xfrm>
          <a:prstGeom prst="rect">
            <a:avLst/>
          </a:prstGeom>
          <a:noFill/>
          <a:ln/>
        </p:spPr>
        <p:txBody>
          <a:bodyPr wrap="square" lIns="0" tIns="0" rIns="0" bIns="0" rtlCol="0" anchor="t"/>
          <a:lstStyle/>
          <a:p>
            <a:pPr algn="ctr"/>
            <a:r>
              <a:rPr lang="en-US" sz="1000">
                <a:solidFill>
                  <a:srgbClr val="8B9CB6"/>
                </a:solidFill>
                <a:latin typeface="Calibri" pitchFamily="34"/>
                <a:ea typeface="Calibri" pitchFamily="34"/>
                <a:cs typeface="Calibri" pitchFamily="34"/>
              </a:rPr>
              <a:t>Results are what matter — tools are just the means.</a:t>
            </a:r>
            <a:endParaRPr lang="en-US"/>
          </a:p>
        </p:txBody>
      </p:sp>
    </p:spTree>
    <p:extLst>
      <p:ext uri="{BB962C8B-B14F-4D97-AF65-F5344CB8AC3E}">
        <p14:creationId xmlns:p14="http://schemas.microsoft.com/office/powerpoint/2010/main" val="836840435"/>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48016E94-DC64-3505-DD09-664CD7BB477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993C00-7E86-C079-E590-A0198AF9094B}"/>
              </a:ext>
            </a:extLst>
          </p:cNvPr>
          <p:cNvSpPr/>
          <p:nvPr/>
        </p:nvSpPr>
        <p:spPr>
          <a:xfrm>
            <a:off x="0" y="0"/>
            <a:ext cx="9144000" cy="5143500"/>
          </a:xfrm>
          <a:prstGeom prst="rect">
            <a:avLst/>
          </a:prstGeom>
          <a:gradFill rotWithShape="1">
            <a:gsLst>
              <a:gs pos="0">
                <a:srgbClr val="76B900">
                  <a:alpha val="4000"/>
                </a:srgbClr>
              </a:gs>
              <a:gs pos="50000">
                <a:srgbClr val="000000">
                  <a:alpha val="0"/>
                </a:srgbClr>
              </a:gs>
            </a:gsLst>
            <a:path path="circle">
              <a:fillToRect l="80000" t="20000" r="20000" b="80000"/>
            </a:path>
          </a:gradFill>
          <a:ln/>
        </p:spPr>
        <p:txBody>
          <a:bodyPr wrap="square" rtlCol="0" anchor="t"/>
          <a:lstStyle/>
          <a:p>
            <a:pPr marL="0" indent="0">
              <a:buNone/>
            </a:pPr>
            <a:endParaRPr lang="en-US" dirty="0"/>
          </a:p>
        </p:txBody>
      </p:sp>
      <p:sp>
        <p:nvSpPr>
          <p:cNvPr id="3" name="Text 1">
            <a:extLst>
              <a:ext uri="{FF2B5EF4-FFF2-40B4-BE49-F238E27FC236}">
                <a16:creationId xmlns:a16="http://schemas.microsoft.com/office/drawing/2014/main" id="{1EBD0A81-1F7D-B4D0-F7F6-97220B48874D}"/>
              </a:ext>
            </a:extLst>
          </p:cNvPr>
          <p:cNvSpPr/>
          <p:nvPr/>
        </p:nvSpPr>
        <p:spPr>
          <a:xfrm>
            <a:off x="0" y="0"/>
            <a:ext cx="9144000" cy="5143500"/>
          </a:xfrm>
          <a:prstGeom prst="rect">
            <a:avLst/>
          </a:prstGeom>
          <a:gradFill rotWithShape="1">
            <a:gsLst>
              <a:gs pos="0">
                <a:srgbClr val="76B900">
                  <a:alpha val="3000"/>
                </a:srgbClr>
              </a:gs>
              <a:gs pos="50000">
                <a:srgbClr val="000000">
                  <a:alpha val="0"/>
                </a:srgbClr>
              </a:gs>
            </a:gsLst>
            <a:path path="circle">
              <a:fillToRect l="20000" t="80000" r="80000" b="20000"/>
            </a:path>
          </a:gradFill>
          <a:ln/>
        </p:spPr>
        <p:txBody>
          <a:bodyPr wrap="square" rtlCol="0" anchor="t"/>
          <a:lstStyle/>
          <a:p>
            <a:pPr marL="0" indent="0">
              <a:buNone/>
            </a:pPr>
            <a:endParaRPr lang="en-US" dirty="0"/>
          </a:p>
        </p:txBody>
      </p:sp>
      <p:sp>
        <p:nvSpPr>
          <p:cNvPr id="4" name="Text 2">
            <a:extLst>
              <a:ext uri="{FF2B5EF4-FFF2-40B4-BE49-F238E27FC236}">
                <a16:creationId xmlns:a16="http://schemas.microsoft.com/office/drawing/2014/main" id="{DB57DBDE-B250-225E-3AB1-0F3C5D042BDF}"/>
              </a:ext>
            </a:extLst>
          </p:cNvPr>
          <p:cNvSpPr/>
          <p:nvPr/>
        </p:nvSpPr>
        <p:spPr>
          <a:xfrm>
            <a:off x="0" y="0"/>
            <a:ext cx="9144000" cy="5143500"/>
          </a:xfrm>
          <a:prstGeom prst="rect">
            <a:avLst/>
          </a:prstGeom>
          <a:gradFill rotWithShape="1">
            <a:gsLst>
              <a:gs pos="0">
                <a:srgbClr val="76B90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10" name="Text 8">
            <a:extLst>
              <a:ext uri="{FF2B5EF4-FFF2-40B4-BE49-F238E27FC236}">
                <a16:creationId xmlns:a16="http://schemas.microsoft.com/office/drawing/2014/main" id="{6422585B-A123-1BD8-82F2-504719251E7D}"/>
              </a:ext>
            </a:extLst>
          </p:cNvPr>
          <p:cNvSpPr/>
          <p:nvPr/>
        </p:nvSpPr>
        <p:spPr>
          <a:xfrm>
            <a:off x="241442" y="299386"/>
            <a:ext cx="8229600" cy="500000"/>
          </a:xfrm>
          <a:prstGeom prst="rect">
            <a:avLst/>
          </a:prstGeom>
          <a:noFill/>
          <a:ln/>
        </p:spPr>
        <p:txBody>
          <a:bodyPr wrap="none" lIns="0" tIns="0" rIns="0" bIns="0" rtlCol="0" anchor="ctr"/>
          <a:lstStyle/>
          <a:p>
            <a:pPr marL="0" indent="0">
              <a:lnSpc>
                <a:spcPts val="3045"/>
              </a:lnSpc>
              <a:buNone/>
            </a:pPr>
            <a:r>
              <a:rPr lang="en-US" kern="0" spc="60" dirty="0">
                <a:solidFill>
                  <a:srgbClr val="E2E8F0"/>
                </a:solidFill>
                <a:latin typeface="Consolas" pitchFamily="34" charset="0"/>
              </a:rPr>
              <a:t>THE NEW HARSH REALITY OF AI CODE</a:t>
            </a:r>
            <a:endParaRPr lang="en-US" sz="2030" dirty="0"/>
          </a:p>
        </p:txBody>
      </p:sp>
      <p:sp>
        <p:nvSpPr>
          <p:cNvPr id="40" name="CenterCard"/>
          <p:cNvSpPr/>
          <p:nvPr/>
        </p:nvSpPr>
        <p:spPr>
          <a:xfrm>
            <a:off x="1822000" y="1313053"/>
            <a:ext cx="5500000" cy="2600000"/>
          </a:xfrm>
          <a:prstGeom prst="roundRect">
            <a:avLst>
              <a:gd name="adj" fmla="val 6379"/>
            </a:avLst>
          </a:prstGeom>
          <a:solidFill>
            <a:srgbClr val="1A2332"/>
          </a:solidFill>
          <a:ln w="9525">
            <a:solidFill>
              <a:srgbClr val="76B900">
                <a:alpha val="15000"/>
              </a:srgbClr>
            </a:solidFill>
          </a:ln>
        </p:spPr>
        <p:txBody>
          <a:bodyPr wrap="square" rtlCol="0" anchor="t"/>
          <a:lstStyle/>
          <a:p>
            <a:pPr marL="0" indent="0">
              <a:buNone/>
            </a:pPr>
            <a:endParaRPr lang="en-US"/>
          </a:p>
        </p:txBody>
      </p:sp>
      <p:sp>
        <p:nvSpPr>
          <p:cNvPr id="41" name="CenterAccent"/>
          <p:cNvSpPr/>
          <p:nvPr/>
        </p:nvSpPr>
        <p:spPr>
          <a:xfrm>
            <a:off x="1831525" y="1309525"/>
            <a:ext cx="5480950" cy="21580"/>
          </a:xfrm>
          <a:prstGeom prst="rect">
            <a:avLst/>
          </a:prstGeom>
          <a:solidFill>
            <a:srgbClr val="76B900">
              <a:alpha val="60000"/>
            </a:srgbClr>
          </a:solidFill>
          <a:ln/>
        </p:spPr>
        <p:txBody>
          <a:bodyPr wrap="none" rtlCol="0" anchor="t"/>
          <a:lstStyle/>
          <a:p>
            <a:pPr marL="0" indent="0">
              <a:buNone/>
            </a:pPr>
            <a:endParaRPr lang="en-US"/>
          </a:p>
        </p:txBody>
      </p:sp>
      <p:sp>
        <p:nvSpPr>
          <p:cNvPr id="42" name="QuoteOpen"/>
          <p:cNvSpPr/>
          <p:nvPr/>
        </p:nvSpPr>
        <p:spPr>
          <a:xfrm>
            <a:off x="1922000" y="1441105"/>
            <a:ext cx="600000" cy="500000"/>
          </a:xfrm>
          <a:prstGeom prst="rect">
            <a:avLst/>
          </a:prstGeom>
          <a:noFill/>
          <a:ln/>
        </p:spPr>
        <p:txBody>
          <a:bodyPr wrap="square" lIns="0" tIns="0" rIns="0" bIns="0" rtlCol="0" anchor="t"/>
          <a:lstStyle/>
          <a:p>
            <a:pPr marL="0" indent="0" algn="l">
              <a:buNone/>
            </a:pPr>
            <a:r>
              <a:rPr lang="en-US" sz="6000" dirty="0">
                <a:solidFill>
                  <a:srgbClr val="76B900">
                    <a:alpha val="30000"/>
                  </a:srgbClr>
                </a:solidFill>
                <a:latin typeface="Georgia"/>
                <a:ea typeface="Georgia"/>
                <a:cs typeface="Georgia"/>
              </a:rPr>
              <a:t>“</a:t>
            </a:r>
            <a:endParaRPr lang="en-US" dirty="0"/>
          </a:p>
        </p:txBody>
      </p:sp>
      <p:sp>
        <p:nvSpPr>
          <p:cNvPr id="43" name="QuoteText"/>
          <p:cNvSpPr/>
          <p:nvPr/>
        </p:nvSpPr>
        <p:spPr>
          <a:xfrm>
            <a:off x="2222000" y="1880000"/>
            <a:ext cx="4700000" cy="800000"/>
          </a:xfrm>
          <a:prstGeom prst="rect">
            <a:avLst/>
          </a:prstGeom>
          <a:noFill/>
          <a:ln/>
        </p:spPr>
        <p:txBody>
          <a:bodyPr wrap="square" lIns="0" tIns="0" rIns="0" bIns="0" rtlCol="0" anchor="ctr"/>
          <a:lstStyle/>
          <a:p>
            <a:pPr algn="ctr">
              <a:lnSpc>
                <a:spcPts val="3200"/>
              </a:lnSpc>
            </a:pPr>
            <a:endParaRPr lang="en-US" sz="2400" kern="0" spc="60" dirty="0">
              <a:solidFill>
                <a:srgbClr val="E2E8F0"/>
              </a:solidFill>
              <a:latin typeface="Consolas" pitchFamily="34" charset="0"/>
              <a:ea typeface="Consolas" pitchFamily="34" charset="-122"/>
              <a:cs typeface="Consolas" pitchFamily="34" charset="-120"/>
            </a:endParaRPr>
          </a:p>
          <a:p>
            <a:pPr algn="ctr">
              <a:lnSpc>
                <a:spcPts val="3200"/>
              </a:lnSpc>
            </a:pPr>
            <a:endParaRPr lang="en-US" sz="2400" kern="0" spc="60" dirty="0">
              <a:solidFill>
                <a:srgbClr val="E2E8F0"/>
              </a:solidFill>
              <a:latin typeface="Consolas" pitchFamily="34" charset="0"/>
              <a:ea typeface="Consolas" pitchFamily="34" charset="-122"/>
              <a:cs typeface="Consolas" pitchFamily="34" charset="-120"/>
            </a:endParaRPr>
          </a:p>
          <a:p>
            <a:pPr algn="ctr">
              <a:lnSpc>
                <a:spcPts val="3200"/>
              </a:lnSpc>
            </a:pPr>
            <a:r>
              <a:rPr lang="en-US" sz="2400" kern="0" spc="60" dirty="0">
                <a:solidFill>
                  <a:srgbClr val="E2E8F0"/>
                </a:solidFill>
                <a:latin typeface="Consolas" pitchFamily="34" charset="0"/>
                <a:ea typeface="Consolas" pitchFamily="34" charset="-122"/>
                <a:cs typeface="Consolas" pitchFamily="34" charset="-120"/>
              </a:rPr>
              <a:t>The business doesn't care what language your program is written in!</a:t>
            </a:r>
          </a:p>
          <a:p>
            <a:pPr algn="ctr">
              <a:lnSpc>
                <a:spcPts val="3200"/>
              </a:lnSpc>
            </a:pPr>
            <a:endParaRPr lang="en-US" sz="3200" dirty="0"/>
          </a:p>
          <a:p>
            <a:pPr marL="0" indent="0" algn="ctr">
              <a:lnSpc>
                <a:spcPts val="3200"/>
              </a:lnSpc>
              <a:buNone/>
            </a:pPr>
            <a:r>
              <a:rPr lang="en-US" sz="2200" b="1" dirty="0">
                <a:solidFill>
                  <a:srgbClr val="E2E8F0"/>
                </a:solidFill>
                <a:latin typeface="Calibri" pitchFamily="34"/>
                <a:ea typeface="Calibri" pitchFamily="34"/>
                <a:cs typeface="Calibri" pitchFamily="34"/>
              </a:rPr>
              <a:t>Ship value. Ship fast. Ship now.</a:t>
            </a:r>
            <a:endParaRPr lang="en-US" dirty="0"/>
          </a:p>
        </p:txBody>
      </p:sp>
      <p:sp>
        <p:nvSpPr>
          <p:cNvPr id="44" name="QuoteClose"/>
          <p:cNvSpPr/>
          <p:nvPr/>
        </p:nvSpPr>
        <p:spPr>
          <a:xfrm>
            <a:off x="6483645" y="3006500"/>
            <a:ext cx="600000" cy="500000"/>
          </a:xfrm>
          <a:prstGeom prst="rect">
            <a:avLst/>
          </a:prstGeom>
          <a:noFill/>
          <a:ln/>
        </p:spPr>
        <p:txBody>
          <a:bodyPr wrap="square" lIns="0" tIns="0" rIns="0" bIns="0" rtlCol="0" anchor="b"/>
          <a:lstStyle/>
          <a:p>
            <a:pPr marL="0" indent="0" algn="r">
              <a:buNone/>
            </a:pPr>
            <a:r>
              <a:rPr lang="en-US" sz="6000" dirty="0">
                <a:solidFill>
                  <a:srgbClr val="76B900">
                    <a:alpha val="30000"/>
                  </a:srgbClr>
                </a:solidFill>
                <a:latin typeface="Georgia"/>
                <a:ea typeface="Georgia"/>
                <a:cs typeface="Georgia"/>
              </a:rPr>
              <a:t>”</a:t>
            </a:r>
            <a:endParaRPr lang="en-US" dirty="0"/>
          </a:p>
        </p:txBody>
      </p:sp>
      <p:sp>
        <p:nvSpPr>
          <p:cNvPr id="45" name="Tagline"/>
          <p:cNvSpPr/>
          <p:nvPr/>
        </p:nvSpPr>
        <p:spPr>
          <a:xfrm>
            <a:off x="1822000" y="4050000"/>
            <a:ext cx="5500000" cy="300000"/>
          </a:xfrm>
          <a:prstGeom prst="rect">
            <a:avLst/>
          </a:prstGeom>
          <a:noFill/>
          <a:ln/>
        </p:spPr>
        <p:txBody>
          <a:bodyPr wrap="square" lIns="0" tIns="0" rIns="0" bIns="0" rtlCol="0" anchor="t"/>
          <a:lstStyle/>
          <a:p>
            <a:pPr marL="0" indent="0" algn="ctr">
              <a:buNone/>
            </a:pPr>
            <a:r>
              <a:rPr lang="en-US" sz="1000">
                <a:solidFill>
                  <a:srgbClr val="8B9CB6"/>
                </a:solidFill>
                <a:latin typeface="Calibri" pitchFamily="34"/>
                <a:ea typeface="Calibri" pitchFamily="34"/>
                <a:cs typeface="Calibri" pitchFamily="34"/>
              </a:rPr>
              <a:t>Results are what matter — tools are just the means.</a:t>
            </a:r>
            <a:endParaRPr lang="en-US"/>
          </a:p>
        </p:txBody>
      </p:sp>
    </p:spTree>
    <p:extLst>
      <p:ext uri="{BB962C8B-B14F-4D97-AF65-F5344CB8AC3E}">
        <p14:creationId xmlns:p14="http://schemas.microsoft.com/office/powerpoint/2010/main" val="1128630645"/>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1000"/>
                </a:srgbClr>
              </a:gs>
              <a:gs pos="50000">
                <a:srgbClr val="000000">
                  <a:alpha val="0"/>
                </a:srgbClr>
              </a:gs>
            </a:gsLst>
            <a:path path="circle">
              <a:fillToRect l="80000" t="70000" r="20000" b="3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8B9CB6">
                  <a:alpha val="1000"/>
                </a:srgbClr>
              </a:gs>
              <a:gs pos="50000">
                <a:srgbClr val="000000">
                  <a:alpha val="0"/>
                </a:srgbClr>
              </a:gs>
            </a:gsLst>
            <a:path path="circle">
              <a:fillToRect l="20000" t="30000" r="80000" b="70000"/>
            </a:path>
          </a:gradFill>
          <a:ln/>
        </p:spPr>
        <p:txBody>
          <a:bodyPr wrap="square" rtlCol="0" anchor="t"/>
          <a:lstStyle/>
          <a:p>
            <a:pPr marL="0" indent="0">
              <a:buNone/>
            </a:pPr>
            <a:endParaRPr lang="en-US" dirty="0"/>
          </a:p>
        </p:txBody>
      </p:sp>
      <p:sp>
        <p:nvSpPr>
          <p:cNvPr id="4" name="Text 2"/>
          <p:cNvSpPr/>
          <p:nvPr/>
        </p:nvSpPr>
        <p:spPr>
          <a:xfrm>
            <a:off x="457200" y="375196"/>
            <a:ext cx="342900" cy="342900"/>
          </a:xfrm>
          <a:prstGeom prst="roundRect">
            <a:avLst>
              <a:gd name="adj" fmla="val 20741"/>
            </a:avLst>
          </a:prstGeom>
          <a:solidFill>
            <a:srgbClr val="76B900">
              <a:alpha val="12000"/>
            </a:srgbClr>
          </a:solidFill>
          <a:ln/>
        </p:spPr>
        <p:txBody>
          <a:bodyPr wrap="square" rtlCol="0" anchor="t"/>
          <a:lstStyle/>
          <a:p>
            <a:pPr marL="0" indent="0">
              <a:buNone/>
            </a:pPr>
            <a:endParaRPr lang="en-US"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9147" y="477143"/>
            <a:ext cx="139005" cy="139005"/>
          </a:xfrm>
          <a:prstGeom prst="rect">
            <a:avLst/>
          </a:prstGeom>
        </p:spPr>
      </p:pic>
      <p:sp>
        <p:nvSpPr>
          <p:cNvPr id="6" name="Text 3"/>
          <p:cNvSpPr/>
          <p:nvPr/>
        </p:nvSpPr>
        <p:spPr>
          <a:xfrm>
            <a:off x="914400" y="342900"/>
            <a:ext cx="4614156" cy="407640"/>
          </a:xfrm>
          <a:prstGeom prst="rect">
            <a:avLst/>
          </a:prstGeom>
          <a:noFill/>
          <a:ln/>
        </p:spPr>
        <p:txBody>
          <a:bodyPr wrap="none" lIns="0" tIns="0" rIns="0" bIns="0" rtlCol="0" anchor="ctr"/>
          <a:lstStyle/>
          <a:p>
            <a:pPr marL="0" indent="0" algn="l">
              <a:lnSpc>
                <a:spcPts val="3210"/>
              </a:lnSpc>
              <a:buNone/>
            </a:pPr>
            <a:r>
              <a:rPr lang="en-US" sz="2140" b="1" kern="0" spc="-30" dirty="0">
                <a:solidFill>
                  <a:srgbClr val="E2E8F0"/>
                </a:solidFill>
                <a:latin typeface="Consolas" pitchFamily="34" charset="0"/>
                <a:ea typeface="Consolas" pitchFamily="34" charset="-122"/>
                <a:cs typeface="Consolas" pitchFamily="34" charset="-120"/>
              </a:rPr>
              <a:t>Why You Might Skip Local AI</a:t>
            </a:r>
            <a:endParaRPr lang="en-US" sz="2140" dirty="0"/>
          </a:p>
        </p:txBody>
      </p:sp>
      <p:sp>
        <p:nvSpPr>
          <p:cNvPr id="7" name="Text 4"/>
          <p:cNvSpPr/>
          <p:nvPr/>
        </p:nvSpPr>
        <p:spPr>
          <a:xfrm>
            <a:off x="594360" y="807690"/>
            <a:ext cx="8549640" cy="182880"/>
          </a:xfrm>
          <a:prstGeom prst="rect">
            <a:avLst/>
          </a:prstGeom>
          <a:noFill/>
          <a:ln/>
        </p:spPr>
        <p:txBody>
          <a:bodyPr wrap="none" lIns="0" tIns="0" rIns="0" bIns="0" rtlCol="0" anchor="t"/>
          <a:lstStyle/>
          <a:p>
            <a:pPr marL="0" indent="0" algn="l">
              <a:lnSpc>
                <a:spcPts val="1350"/>
              </a:lnSpc>
              <a:buNone/>
            </a:pPr>
            <a:r>
              <a:rPr lang="en-US" sz="900" i="1" dirty="0">
                <a:solidFill>
                  <a:srgbClr val="8B9CB6"/>
                </a:solidFill>
                <a:latin typeface="Calibri" pitchFamily="34" charset="0"/>
                <a:ea typeface="Calibri" pitchFamily="34" charset="-122"/>
                <a:cs typeface="Calibri" pitchFamily="34" charset="-120"/>
              </a:rPr>
              <a:t>Honest counterpoints — and that's okay (for now)</a:t>
            </a:r>
            <a:endParaRPr lang="en-US" sz="900" dirty="0"/>
          </a:p>
        </p:txBody>
      </p:sp>
      <p:sp>
        <p:nvSpPr>
          <p:cNvPr id="8" name="Text 5"/>
          <p:cNvSpPr/>
          <p:nvPr/>
        </p:nvSpPr>
        <p:spPr>
          <a:xfrm>
            <a:off x="457200" y="1179761"/>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9" name="Text 6"/>
          <p:cNvSpPr/>
          <p:nvPr/>
        </p:nvSpPr>
        <p:spPr>
          <a:xfrm>
            <a:off x="638175" y="1545729"/>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1</a:t>
            </a:r>
            <a:endParaRPr lang="en-US" sz="840" dirty="0"/>
          </a:p>
        </p:txBody>
      </p:sp>
      <p:sp>
        <p:nvSpPr>
          <p:cNvPr id="10" name="Text 7"/>
          <p:cNvSpPr/>
          <p:nvPr/>
        </p:nvSpPr>
        <p:spPr>
          <a:xfrm>
            <a:off x="1024086" y="1531739"/>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0593" y="1608246"/>
            <a:ext cx="132588" cy="132588"/>
          </a:xfrm>
          <a:prstGeom prst="rect">
            <a:avLst/>
          </a:prstGeom>
        </p:spPr>
      </p:pic>
      <p:sp>
        <p:nvSpPr>
          <p:cNvPr id="12" name="Text 8"/>
          <p:cNvSpPr/>
          <p:nvPr/>
        </p:nvSpPr>
        <p:spPr>
          <a:xfrm>
            <a:off x="1437977" y="1589336"/>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Don't know where to start</a:t>
            </a:r>
            <a:endParaRPr lang="en-US" sz="960" dirty="0"/>
          </a:p>
        </p:txBody>
      </p:sp>
      <p:sp>
        <p:nvSpPr>
          <p:cNvPr id="13" name="Text 9"/>
          <p:cNvSpPr/>
          <p:nvPr/>
        </p:nvSpPr>
        <p:spPr>
          <a:xfrm>
            <a:off x="4622155" y="1179761"/>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14" name="Text 10"/>
          <p:cNvSpPr/>
          <p:nvPr/>
        </p:nvSpPr>
        <p:spPr>
          <a:xfrm>
            <a:off x="4803130" y="1545729"/>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2</a:t>
            </a:r>
            <a:endParaRPr lang="en-US" sz="840" dirty="0"/>
          </a:p>
        </p:txBody>
      </p:sp>
      <p:sp>
        <p:nvSpPr>
          <p:cNvPr id="15" name="Text 11"/>
          <p:cNvSpPr/>
          <p:nvPr/>
        </p:nvSpPr>
        <p:spPr>
          <a:xfrm>
            <a:off x="5189041" y="1531739"/>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65548" y="1608246"/>
            <a:ext cx="132588" cy="132588"/>
          </a:xfrm>
          <a:prstGeom prst="rect">
            <a:avLst/>
          </a:prstGeom>
        </p:spPr>
      </p:pic>
      <p:sp>
        <p:nvSpPr>
          <p:cNvPr id="17" name="Text 12"/>
          <p:cNvSpPr/>
          <p:nvPr/>
        </p:nvSpPr>
        <p:spPr>
          <a:xfrm>
            <a:off x="5602932" y="1589336"/>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Just asking AI is good enough for you</a:t>
            </a:r>
            <a:endParaRPr lang="en-US" sz="960" dirty="0"/>
          </a:p>
        </p:txBody>
      </p:sp>
      <p:sp>
        <p:nvSpPr>
          <p:cNvPr id="18" name="Text 13"/>
          <p:cNvSpPr/>
          <p:nvPr/>
        </p:nvSpPr>
        <p:spPr>
          <a:xfrm>
            <a:off x="457200" y="2269927"/>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19" name="Text 14"/>
          <p:cNvSpPr/>
          <p:nvPr/>
        </p:nvSpPr>
        <p:spPr>
          <a:xfrm>
            <a:off x="638175" y="2635895"/>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3</a:t>
            </a:r>
            <a:endParaRPr lang="en-US" sz="840" dirty="0"/>
          </a:p>
        </p:txBody>
      </p:sp>
      <p:sp>
        <p:nvSpPr>
          <p:cNvPr id="20" name="Text 15"/>
          <p:cNvSpPr/>
          <p:nvPr/>
        </p:nvSpPr>
        <p:spPr>
          <a:xfrm>
            <a:off x="1024086" y="2621905"/>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0593" y="2698412"/>
            <a:ext cx="132588" cy="132588"/>
          </a:xfrm>
          <a:prstGeom prst="rect">
            <a:avLst/>
          </a:prstGeom>
        </p:spPr>
      </p:pic>
      <p:sp>
        <p:nvSpPr>
          <p:cNvPr id="22" name="Text 16"/>
          <p:cNvSpPr/>
          <p:nvPr/>
        </p:nvSpPr>
        <p:spPr>
          <a:xfrm>
            <a:off x="1437977" y="2679502"/>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Don't care about persistent memory</a:t>
            </a:r>
            <a:endParaRPr lang="en-US" sz="960" dirty="0"/>
          </a:p>
        </p:txBody>
      </p:sp>
      <p:sp>
        <p:nvSpPr>
          <p:cNvPr id="23" name="Text 17"/>
          <p:cNvSpPr/>
          <p:nvPr/>
        </p:nvSpPr>
        <p:spPr>
          <a:xfrm>
            <a:off x="4622155" y="2269927"/>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24" name="Text 18"/>
          <p:cNvSpPr/>
          <p:nvPr/>
        </p:nvSpPr>
        <p:spPr>
          <a:xfrm>
            <a:off x="4803130" y="2635895"/>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4</a:t>
            </a:r>
            <a:endParaRPr lang="en-US" sz="840" dirty="0"/>
          </a:p>
        </p:txBody>
      </p:sp>
      <p:sp>
        <p:nvSpPr>
          <p:cNvPr id="25" name="Text 19"/>
          <p:cNvSpPr/>
          <p:nvPr/>
        </p:nvSpPr>
        <p:spPr>
          <a:xfrm>
            <a:off x="5189041" y="2621905"/>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65548" y="2698412"/>
            <a:ext cx="132588" cy="132588"/>
          </a:xfrm>
          <a:prstGeom prst="rect">
            <a:avLst/>
          </a:prstGeom>
        </p:spPr>
      </p:pic>
      <p:sp>
        <p:nvSpPr>
          <p:cNvPr id="27" name="Text 20"/>
          <p:cNvSpPr/>
          <p:nvPr/>
        </p:nvSpPr>
        <p:spPr>
          <a:xfrm>
            <a:off x="5602932" y="2679502"/>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Don't want to buy expensive hardware</a:t>
            </a:r>
            <a:endParaRPr lang="en-US" sz="960" dirty="0"/>
          </a:p>
        </p:txBody>
      </p:sp>
      <p:sp>
        <p:nvSpPr>
          <p:cNvPr id="28" name="Text 21"/>
          <p:cNvSpPr/>
          <p:nvPr/>
        </p:nvSpPr>
        <p:spPr>
          <a:xfrm>
            <a:off x="457200" y="3360093"/>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29" name="Text 22"/>
          <p:cNvSpPr/>
          <p:nvPr/>
        </p:nvSpPr>
        <p:spPr>
          <a:xfrm>
            <a:off x="638175" y="3726061"/>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5</a:t>
            </a:r>
            <a:endParaRPr lang="en-US" sz="840" dirty="0"/>
          </a:p>
        </p:txBody>
      </p:sp>
      <p:sp>
        <p:nvSpPr>
          <p:cNvPr id="30" name="Text 23"/>
          <p:cNvSpPr/>
          <p:nvPr/>
        </p:nvSpPr>
        <p:spPr>
          <a:xfrm>
            <a:off x="1024086" y="3712071"/>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00593" y="3788578"/>
            <a:ext cx="132588" cy="132588"/>
          </a:xfrm>
          <a:prstGeom prst="rect">
            <a:avLst/>
          </a:prstGeom>
        </p:spPr>
      </p:pic>
      <p:sp>
        <p:nvSpPr>
          <p:cNvPr id="32" name="Text 24"/>
          <p:cNvSpPr/>
          <p:nvPr/>
        </p:nvSpPr>
        <p:spPr>
          <a:xfrm>
            <a:off x="1437977" y="3684389"/>
            <a:ext cx="2960950" cy="358170"/>
          </a:xfrm>
          <a:prstGeom prst="rect">
            <a:avLst/>
          </a:prstGeom>
          <a:noFill/>
          <a:ln/>
        </p:spPr>
        <p:txBody>
          <a:bodyPr wrap="squar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Subscription costs &amp; company lock-in don't bother you</a:t>
            </a:r>
            <a:endParaRPr lang="en-US" sz="960" dirty="0"/>
          </a:p>
        </p:txBody>
      </p:sp>
      <p:sp>
        <p:nvSpPr>
          <p:cNvPr id="33" name="Text 25"/>
          <p:cNvSpPr/>
          <p:nvPr/>
        </p:nvSpPr>
        <p:spPr>
          <a:xfrm>
            <a:off x="4622155" y="3360093"/>
            <a:ext cx="4064645" cy="989856"/>
          </a:xfrm>
          <a:prstGeom prst="roundRect">
            <a:avLst>
              <a:gd name="adj" fmla="val 8725"/>
            </a:avLst>
          </a:prstGeom>
          <a:solidFill>
            <a:srgbClr val="1A2332"/>
          </a:solidFill>
          <a:ln w="9525">
            <a:solidFill>
              <a:srgbClr val="8B9CB6">
                <a:alpha val="12000"/>
              </a:srgbClr>
            </a:solidFill>
          </a:ln>
        </p:spPr>
        <p:txBody>
          <a:bodyPr wrap="square" rtlCol="0" anchor="t"/>
          <a:lstStyle/>
          <a:p>
            <a:pPr marL="0" indent="0">
              <a:buNone/>
            </a:pPr>
            <a:endParaRPr lang="en-US" dirty="0"/>
          </a:p>
        </p:txBody>
      </p:sp>
      <p:sp>
        <p:nvSpPr>
          <p:cNvPr id="34" name="Text 26"/>
          <p:cNvSpPr/>
          <p:nvPr/>
        </p:nvSpPr>
        <p:spPr>
          <a:xfrm>
            <a:off x="4803130" y="3726061"/>
            <a:ext cx="257770" cy="283547"/>
          </a:xfrm>
          <a:prstGeom prst="ellipse">
            <a:avLst/>
          </a:prstGeom>
          <a:solidFill>
            <a:srgbClr val="8B9CB6">
              <a:alpha val="10000"/>
            </a:srgbClr>
          </a:solidFill>
          <a:ln w="9525">
            <a:solidFill>
              <a:srgbClr val="8B9CB6">
                <a:alpha val="25000"/>
              </a:srgbClr>
            </a:solidFill>
          </a:ln>
        </p:spPr>
        <p:txBody>
          <a:bodyPr wrap="none" lIns="0" tIns="0" rIns="0" bIns="0" rtlCol="0" anchor="ctr"/>
          <a:lstStyle/>
          <a:p>
            <a:pPr marL="0" indent="0" algn="ctr">
              <a:buNone/>
            </a:pPr>
            <a:r>
              <a:rPr lang="en-US" sz="840" b="1" dirty="0">
                <a:solidFill>
                  <a:srgbClr val="8B9CB6"/>
                </a:solidFill>
                <a:latin typeface="Consolas" pitchFamily="34" charset="0"/>
                <a:ea typeface="Consolas" pitchFamily="34" charset="-122"/>
                <a:cs typeface="Consolas" pitchFamily="34" charset="-120"/>
              </a:rPr>
              <a:t>6</a:t>
            </a:r>
            <a:endParaRPr lang="en-US" sz="840" dirty="0"/>
          </a:p>
        </p:txBody>
      </p:sp>
      <p:sp>
        <p:nvSpPr>
          <p:cNvPr id="35" name="Text 27"/>
          <p:cNvSpPr/>
          <p:nvPr/>
        </p:nvSpPr>
        <p:spPr>
          <a:xfrm>
            <a:off x="5189041" y="3712071"/>
            <a:ext cx="285750" cy="285750"/>
          </a:xfrm>
          <a:prstGeom prst="roundRect">
            <a:avLst>
              <a:gd name="adj" fmla="val 24889"/>
            </a:avLst>
          </a:prstGeom>
          <a:solidFill>
            <a:srgbClr val="8B9CB6">
              <a:alpha val="8000"/>
            </a:srgbClr>
          </a:solidFill>
          <a:ln/>
        </p:spPr>
        <p:txBody>
          <a:bodyPr wrap="square" rtlCol="0" anchor="t"/>
          <a:lstStyle/>
          <a:p>
            <a:pPr marL="0" indent="0">
              <a:buNone/>
            </a:pPr>
            <a:endParaRPr lang="en-US" dirty="0"/>
          </a:p>
        </p:txBody>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65548" y="3788578"/>
            <a:ext cx="132588" cy="132588"/>
          </a:xfrm>
          <a:prstGeom prst="rect">
            <a:avLst/>
          </a:prstGeom>
        </p:spPr>
      </p:pic>
      <p:sp>
        <p:nvSpPr>
          <p:cNvPr id="37" name="Text 28"/>
          <p:cNvSpPr/>
          <p:nvPr/>
        </p:nvSpPr>
        <p:spPr>
          <a:xfrm>
            <a:off x="5602932" y="3769668"/>
            <a:ext cx="3193182" cy="170557"/>
          </a:xfrm>
          <a:prstGeom prst="rect">
            <a:avLst/>
          </a:prstGeom>
          <a:noFill/>
          <a:ln/>
        </p:spPr>
        <p:txBody>
          <a:bodyPr wrap="none" lIns="0" tIns="0" rIns="0" bIns="0" rtlCol="0" anchor="ctr"/>
          <a:lstStyle/>
          <a:p>
            <a:pPr marL="0" indent="0" algn="l">
              <a:lnSpc>
                <a:spcPts val="1344"/>
              </a:lnSpc>
              <a:buNone/>
            </a:pPr>
            <a:r>
              <a:rPr lang="en-US" sz="960" dirty="0">
                <a:solidFill>
                  <a:srgbClr val="E2E8F0"/>
                </a:solidFill>
                <a:latin typeface="Calibri" pitchFamily="34" charset="0"/>
                <a:ea typeface="Calibri" pitchFamily="34" charset="-122"/>
                <a:cs typeface="Calibri" pitchFamily="34" charset="-120"/>
              </a:rPr>
              <a:t>Comfortable sending everything to the cloud</a:t>
            </a:r>
            <a:endParaRPr lang="en-US" sz="960" dirty="0"/>
          </a:p>
        </p:txBody>
      </p:sp>
      <p:sp>
        <p:nvSpPr>
          <p:cNvPr id="38" name="Text 29"/>
          <p:cNvSpPr/>
          <p:nvPr/>
        </p:nvSpPr>
        <p:spPr>
          <a:xfrm>
            <a:off x="457200" y="4478089"/>
            <a:ext cx="8229600" cy="379661"/>
          </a:xfrm>
          <a:prstGeom prst="roundRect">
            <a:avLst>
              <a:gd name="adj" fmla="val 18733"/>
            </a:avLst>
          </a:prstGeom>
          <a:solidFill>
            <a:srgbClr val="76B900">
              <a:alpha val="6000"/>
            </a:srgbClr>
          </a:solidFill>
          <a:ln w="9525">
            <a:solidFill>
              <a:srgbClr val="76B900">
                <a:alpha val="18000"/>
              </a:srgbClr>
            </a:solidFill>
          </a:ln>
        </p:spPr>
        <p:txBody>
          <a:bodyPr wrap="square" rtlCol="0" anchor="t"/>
          <a:lstStyle/>
          <a:p>
            <a:pPr marL="0" indent="0">
              <a:buNone/>
            </a:pPr>
            <a:endParaRPr lang="en-US" dirty="0"/>
          </a:p>
        </p:txBody>
      </p:sp>
      <p:pic>
        <p:nvPicPr>
          <p:cNvPr id="3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91973" y="4601551"/>
            <a:ext cx="132588" cy="132588"/>
          </a:xfrm>
          <a:prstGeom prst="rect">
            <a:avLst/>
          </a:prstGeom>
        </p:spPr>
      </p:pic>
      <p:sp>
        <p:nvSpPr>
          <p:cNvPr id="40" name="Text 30"/>
          <p:cNvSpPr/>
          <p:nvPr/>
        </p:nvSpPr>
        <p:spPr>
          <a:xfrm>
            <a:off x="777329" y="4587925"/>
            <a:ext cx="2678638" cy="159990"/>
          </a:xfrm>
          <a:prstGeom prst="rect">
            <a:avLst/>
          </a:prstGeom>
          <a:noFill/>
          <a:ln/>
        </p:spPr>
        <p:txBody>
          <a:bodyPr wrap="none" lIns="0" tIns="0" rIns="0" bIns="0" rtlCol="0" anchor="ctr"/>
          <a:lstStyle/>
          <a:p>
            <a:pPr marL="0" indent="0" algn="l">
              <a:lnSpc>
                <a:spcPts val="1260"/>
              </a:lnSpc>
              <a:buNone/>
            </a:pPr>
            <a:r>
              <a:rPr lang="en-US" sz="840" i="1" dirty="0">
                <a:solidFill>
                  <a:srgbClr val="76B900"/>
                </a:solidFill>
                <a:latin typeface="Calibri" pitchFamily="34" charset="0"/>
                <a:ea typeface="Calibri" pitchFamily="34" charset="-122"/>
                <a:cs typeface="Calibri" pitchFamily="34" charset="-120"/>
              </a:rPr>
              <a:t>We'll address most of these in the next 100 minutes</a:t>
            </a:r>
            <a:endParaRPr lang="en-US" sz="840" dirty="0"/>
          </a:p>
        </p:txBody>
      </p:sp>
      <p:sp>
        <p:nvSpPr>
          <p:cNvPr id="41" name="Text 31"/>
          <p:cNvSpPr/>
          <p:nvPr/>
        </p:nvSpPr>
        <p:spPr>
          <a:xfrm>
            <a:off x="466725" y="1189286"/>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2" name="Text 32"/>
          <p:cNvSpPr/>
          <p:nvPr/>
        </p:nvSpPr>
        <p:spPr>
          <a:xfrm>
            <a:off x="4631680" y="1189286"/>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3" name="Text 33"/>
          <p:cNvSpPr/>
          <p:nvPr/>
        </p:nvSpPr>
        <p:spPr>
          <a:xfrm>
            <a:off x="466725" y="2279452"/>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4" name="Text 34"/>
          <p:cNvSpPr/>
          <p:nvPr/>
        </p:nvSpPr>
        <p:spPr>
          <a:xfrm>
            <a:off x="4631680" y="2279452"/>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5" name="Text 35"/>
          <p:cNvSpPr/>
          <p:nvPr/>
        </p:nvSpPr>
        <p:spPr>
          <a:xfrm>
            <a:off x="466725" y="3369618"/>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
        <p:nvSpPr>
          <p:cNvPr id="46" name="Text 36"/>
          <p:cNvSpPr/>
          <p:nvPr/>
        </p:nvSpPr>
        <p:spPr>
          <a:xfrm>
            <a:off x="4631680" y="3369618"/>
            <a:ext cx="29170" cy="970807"/>
          </a:xfrm>
          <a:custGeom>
            <a:avLst/>
            <a:gdLst/>
            <a:ahLst/>
            <a:cxnLst/>
            <a:rect l="l" t="t" r="r" b="b"/>
            <a:pathLst>
              <a:path w="29170" h="970807">
                <a:moveTo>
                  <a:pt x="0" y="86360"/>
                </a:moveTo>
                <a:lnTo>
                  <a:pt x="3646" y="61531"/>
                </a:lnTo>
                <a:lnTo>
                  <a:pt x="7293" y="51627"/>
                </a:lnTo>
                <a:lnTo>
                  <a:pt x="10939" y="44292"/>
                </a:lnTo>
                <a:lnTo>
                  <a:pt x="14585" y="38335"/>
                </a:lnTo>
                <a:lnTo>
                  <a:pt x="18231" y="33289"/>
                </a:lnTo>
                <a:lnTo>
                  <a:pt x="21878" y="28914"/>
                </a:lnTo>
                <a:lnTo>
                  <a:pt x="25524" y="25065"/>
                </a:lnTo>
                <a:lnTo>
                  <a:pt x="29170" y="21650"/>
                </a:lnTo>
                <a:lnTo>
                  <a:pt x="29170" y="949157"/>
                </a:lnTo>
                <a:lnTo>
                  <a:pt x="25524" y="945742"/>
                </a:lnTo>
                <a:lnTo>
                  <a:pt x="21878" y="941893"/>
                </a:lnTo>
                <a:lnTo>
                  <a:pt x="18231" y="937518"/>
                </a:lnTo>
                <a:lnTo>
                  <a:pt x="14585" y="932472"/>
                </a:lnTo>
                <a:lnTo>
                  <a:pt x="10939" y="926515"/>
                </a:lnTo>
                <a:lnTo>
                  <a:pt x="7293" y="919180"/>
                </a:lnTo>
                <a:lnTo>
                  <a:pt x="3646" y="909276"/>
                </a:lnTo>
                <a:lnTo>
                  <a:pt x="0" y="884447"/>
                </a:lnTo>
                <a:close/>
              </a:path>
            </a:pathLst>
          </a:custGeom>
          <a:solidFill>
            <a:srgbClr val="8B9CB6">
              <a:alpha val="25000"/>
            </a:srgbClr>
          </a:solidFill>
          <a:ln/>
        </p:spPr>
        <p:txBody>
          <a:bodyPr wrap="square" rtlCol="0" anchor="t"/>
          <a:lstStyle/>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157460"/>
            <a:ext cx="9144000" cy="281242"/>
          </a:xfrm>
          <a:prstGeom prst="rect">
            <a:avLst/>
          </a:prstGeom>
          <a:noFill/>
          <a:ln/>
        </p:spPr>
        <p:txBody>
          <a:bodyPr wrap="none" lIns="0" tIns="0" rIns="0" bIns="0" rtlCol="0" anchor="t"/>
          <a:lstStyle/>
          <a:p>
            <a:pPr marL="0" indent="0" algn="ctr">
              <a:lnSpc>
                <a:spcPts val="2370"/>
              </a:lnSpc>
              <a:buNone/>
            </a:pPr>
            <a:r>
              <a:rPr lang="en-US" sz="1580" kern="0" spc="-30" dirty="0">
                <a:solidFill>
                  <a:srgbClr val="E2E8F0"/>
                </a:solidFill>
                <a:latin typeface="Consolas" pitchFamily="34" charset="0"/>
                <a:ea typeface="Consolas" pitchFamily="34" charset="-122"/>
                <a:cs typeface="Consolas" pitchFamily="34" charset="-120"/>
              </a:rPr>
              <a:t>The Home Tinkerer Dream — </a:t>
            </a:r>
            <a:r>
              <a:rPr lang="en-US" sz="1580" b="1" kern="0" spc="-30" dirty="0">
                <a:solidFill>
                  <a:srgbClr val="76B900"/>
                </a:solidFill>
                <a:latin typeface="Consolas" pitchFamily="34" charset="0"/>
                <a:ea typeface="Consolas" pitchFamily="34" charset="-122"/>
                <a:cs typeface="Consolas" pitchFamily="34" charset="-120"/>
              </a:rPr>
              <a:t>A Timeline</a:t>
            </a:r>
            <a:endParaRPr lang="en-US" sz="1580" dirty="0"/>
          </a:p>
        </p:txBody>
      </p:sp>
      <p:sp>
        <p:nvSpPr>
          <p:cNvPr id="3" name="Text 1"/>
          <p:cNvSpPr/>
          <p:nvPr/>
        </p:nvSpPr>
        <p:spPr>
          <a:xfrm>
            <a:off x="4561210" y="628650"/>
            <a:ext cx="21580" cy="3943350"/>
          </a:xfrm>
          <a:prstGeom prst="rect">
            <a:avLst/>
          </a:prstGeom>
          <a:gradFill rotWithShape="1">
            <a:gsLst>
              <a:gs pos="0">
                <a:srgbClr val="2A3A50"/>
              </a:gs>
              <a:gs pos="85000">
                <a:srgbClr val="76B900"/>
              </a:gs>
              <a:gs pos="100000">
                <a:srgbClr val="76B900"/>
              </a:gs>
            </a:gsLst>
            <a:lin ang="5400000" scaled="1"/>
          </a:gradFill>
          <a:ln/>
        </p:spPr>
        <p:txBody>
          <a:bodyPr wrap="square" rtlCol="0" anchor="t"/>
          <a:lstStyle/>
          <a:p>
            <a:pPr marL="0" indent="0">
              <a:buNone/>
            </a:pPr>
            <a:endParaRPr lang="en-US" dirty="0"/>
          </a:p>
        </p:txBody>
      </p:sp>
      <p:sp>
        <p:nvSpPr>
          <p:cNvPr id="4" name="Text 2"/>
          <p:cNvSpPr/>
          <p:nvPr/>
        </p:nvSpPr>
        <p:spPr>
          <a:xfrm>
            <a:off x="4428381" y="742801"/>
            <a:ext cx="143470" cy="7590"/>
          </a:xfrm>
          <a:prstGeom prst="rect">
            <a:avLst/>
          </a:prstGeom>
          <a:solidFill>
            <a:srgbClr val="2A3A50"/>
          </a:solidFill>
          <a:ln/>
        </p:spPr>
        <p:txBody>
          <a:bodyPr wrap="none" rtlCol="0" anchor="t"/>
          <a:lstStyle/>
          <a:p>
            <a:pPr marL="0" indent="0">
              <a:buNone/>
            </a:pPr>
            <a:endParaRPr lang="en-US" dirty="0"/>
          </a:p>
        </p:txBody>
      </p:sp>
      <p:sp>
        <p:nvSpPr>
          <p:cNvPr id="5" name="Text 3"/>
          <p:cNvSpPr/>
          <p:nvPr/>
        </p:nvSpPr>
        <p:spPr>
          <a:xfrm>
            <a:off x="2799159" y="524024"/>
            <a:ext cx="1572220" cy="437555"/>
          </a:xfrm>
          <a:prstGeom prst="roundRect">
            <a:avLst>
              <a:gd name="adj" fmla="val 13061"/>
            </a:avLst>
          </a:prstGeom>
          <a:solidFill>
            <a:srgbClr val="1A2332"/>
          </a:solidFill>
          <a:ln w="9525">
            <a:solidFill>
              <a:srgbClr val="2A3A50"/>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alphaModFix amt="60000"/>
            <a:extLst>
              <a:ext uri="{96DAC541-7B7A-43D3-8B79-37D633B846F1}">
                <asvg:svgBlip xmlns:asvg="http://schemas.microsoft.com/office/drawing/2016/SVG/main" r:embed="rId3"/>
              </a:ext>
            </a:extLst>
          </a:blip>
          <a:stretch>
            <a:fillRect/>
          </a:stretch>
        </p:blipFill>
        <p:spPr>
          <a:xfrm>
            <a:off x="2928426" y="610130"/>
            <a:ext cx="132588" cy="132588"/>
          </a:xfrm>
          <a:prstGeom prst="rect">
            <a:avLst/>
          </a:prstGeom>
        </p:spPr>
      </p:pic>
      <p:sp>
        <p:nvSpPr>
          <p:cNvPr id="7" name="Text 4"/>
          <p:cNvSpPr/>
          <p:nvPr/>
        </p:nvSpPr>
        <p:spPr>
          <a:xfrm>
            <a:off x="3123605" y="590699"/>
            <a:ext cx="406822"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1950s</a:t>
            </a:r>
            <a:endParaRPr lang="en-US" sz="840" dirty="0"/>
          </a:p>
        </p:txBody>
      </p:sp>
      <p:sp>
        <p:nvSpPr>
          <p:cNvPr id="8" name="Text 5"/>
          <p:cNvSpPr/>
          <p:nvPr/>
        </p:nvSpPr>
        <p:spPr>
          <a:xfrm>
            <a:off x="3123605" y="764530"/>
            <a:ext cx="406822" cy="130373"/>
          </a:xfrm>
          <a:prstGeom prst="rect">
            <a:avLst/>
          </a:prstGeom>
          <a:noFill/>
          <a:ln/>
        </p:spPr>
        <p:txBody>
          <a:bodyPr wrap="non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Hot-rods</a:t>
            </a:r>
            <a:endParaRPr lang="en-US" sz="760" dirty="0"/>
          </a:p>
        </p:txBody>
      </p:sp>
      <p:sp>
        <p:nvSpPr>
          <p:cNvPr id="9" name="Text 6"/>
          <p:cNvSpPr/>
          <p:nvPr/>
        </p:nvSpPr>
        <p:spPr>
          <a:xfrm>
            <a:off x="4572149" y="1229320"/>
            <a:ext cx="143470" cy="7590"/>
          </a:xfrm>
          <a:prstGeom prst="rect">
            <a:avLst/>
          </a:prstGeom>
          <a:solidFill>
            <a:srgbClr val="2A3A50"/>
          </a:solidFill>
          <a:ln/>
        </p:spPr>
        <p:txBody>
          <a:bodyPr wrap="none" rtlCol="0" anchor="t"/>
          <a:lstStyle/>
          <a:p>
            <a:pPr marL="0" indent="0">
              <a:buNone/>
            </a:pPr>
            <a:endParaRPr lang="en-US" dirty="0"/>
          </a:p>
        </p:txBody>
      </p:sp>
      <p:sp>
        <p:nvSpPr>
          <p:cNvPr id="10" name="Text 7"/>
          <p:cNvSpPr/>
          <p:nvPr/>
        </p:nvSpPr>
        <p:spPr>
          <a:xfrm>
            <a:off x="4772620" y="1010543"/>
            <a:ext cx="1572220" cy="437555"/>
          </a:xfrm>
          <a:prstGeom prst="roundRect">
            <a:avLst>
              <a:gd name="adj" fmla="val 13061"/>
            </a:avLst>
          </a:prstGeom>
          <a:solidFill>
            <a:srgbClr val="1A2332"/>
          </a:solidFill>
          <a:ln w="9525">
            <a:solidFill>
              <a:srgbClr val="2A3A50"/>
            </a:solidFill>
          </a:ln>
        </p:spPr>
        <p:txBody>
          <a:bodyPr wrap="square" rtlCol="0" anchor="t"/>
          <a:lstStyle/>
          <a:p>
            <a:pPr marL="0" indent="0">
              <a:buNone/>
            </a:pPr>
            <a:endParaRPr lang="en-US" dirty="0"/>
          </a:p>
        </p:txBody>
      </p:sp>
      <p:pic>
        <p:nvPicPr>
          <p:cNvPr id="11" name="Image 1" descr="preencoded.png"/>
          <p:cNvPicPr>
            <a:picLocks noChangeAspect="1"/>
          </p:cNvPicPr>
          <p:nvPr/>
        </p:nvPicPr>
        <p:blipFill>
          <a:blip>
            <a:alphaModFix amt="60000"/>
            <a:extLst>
              <a:ext uri="{96DAC541-7B7A-43D3-8B79-37D633B846F1}">
                <asvg:svgBlip xmlns:asvg="http://schemas.microsoft.com/office/drawing/2016/SVG/main" r:embed="rId4"/>
              </a:ext>
            </a:extLst>
          </a:blip>
          <a:stretch>
            <a:fillRect/>
          </a:stretch>
        </p:blipFill>
        <p:spPr>
          <a:xfrm>
            <a:off x="4901886" y="1096649"/>
            <a:ext cx="132588" cy="132588"/>
          </a:xfrm>
          <a:prstGeom prst="rect">
            <a:avLst/>
          </a:prstGeom>
        </p:spPr>
      </p:pic>
      <p:sp>
        <p:nvSpPr>
          <p:cNvPr id="12" name="Text 8"/>
          <p:cNvSpPr/>
          <p:nvPr/>
        </p:nvSpPr>
        <p:spPr>
          <a:xfrm>
            <a:off x="5097066" y="1077218"/>
            <a:ext cx="925785"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1960s</a:t>
            </a:r>
            <a:endParaRPr lang="en-US" sz="840" dirty="0"/>
          </a:p>
        </p:txBody>
      </p:sp>
      <p:sp>
        <p:nvSpPr>
          <p:cNvPr id="13" name="Text 9"/>
          <p:cNvSpPr/>
          <p:nvPr/>
        </p:nvSpPr>
        <p:spPr>
          <a:xfrm>
            <a:off x="5097066" y="1251049"/>
            <a:ext cx="925785" cy="130373"/>
          </a:xfrm>
          <a:prstGeom prst="rect">
            <a:avLst/>
          </a:prstGeom>
          <a:noFill/>
          <a:ln/>
        </p:spPr>
        <p:txBody>
          <a:bodyPr wrap="non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Amateur rocketeers</a:t>
            </a:r>
            <a:endParaRPr lang="en-US" sz="760" dirty="0"/>
          </a:p>
        </p:txBody>
      </p:sp>
      <p:sp>
        <p:nvSpPr>
          <p:cNvPr id="14" name="Text 10"/>
          <p:cNvSpPr/>
          <p:nvPr/>
        </p:nvSpPr>
        <p:spPr>
          <a:xfrm>
            <a:off x="4428381" y="1714351"/>
            <a:ext cx="143470" cy="7590"/>
          </a:xfrm>
          <a:prstGeom prst="rect">
            <a:avLst/>
          </a:prstGeom>
          <a:solidFill>
            <a:srgbClr val="2A3A50"/>
          </a:solidFill>
          <a:ln/>
        </p:spPr>
        <p:txBody>
          <a:bodyPr wrap="none" rtlCol="0" anchor="t"/>
          <a:lstStyle/>
          <a:p>
            <a:pPr marL="0" indent="0">
              <a:buNone/>
            </a:pPr>
            <a:endParaRPr lang="en-US" dirty="0"/>
          </a:p>
        </p:txBody>
      </p:sp>
      <p:sp>
        <p:nvSpPr>
          <p:cNvPr id="15" name="Text 11"/>
          <p:cNvSpPr/>
          <p:nvPr/>
        </p:nvSpPr>
        <p:spPr>
          <a:xfrm>
            <a:off x="2799159" y="1495574"/>
            <a:ext cx="1572220" cy="437555"/>
          </a:xfrm>
          <a:prstGeom prst="roundRect">
            <a:avLst>
              <a:gd name="adj" fmla="val 13061"/>
            </a:avLst>
          </a:prstGeom>
          <a:solidFill>
            <a:srgbClr val="1A2332"/>
          </a:solidFill>
          <a:ln w="9525">
            <a:solidFill>
              <a:srgbClr val="2A3A50"/>
            </a:solidFill>
          </a:ln>
        </p:spPr>
        <p:txBody>
          <a:bodyPr wrap="square" rtlCol="0" anchor="t"/>
          <a:lstStyle/>
          <a:p>
            <a:pPr marL="0" indent="0">
              <a:buNone/>
            </a:pPr>
            <a:endParaRPr lang="en-US" dirty="0"/>
          </a:p>
        </p:txBody>
      </p:sp>
      <p:pic>
        <p:nvPicPr>
          <p:cNvPr id="16" name="Image 2" descr="preencoded.png"/>
          <p:cNvPicPr>
            <a:picLocks noChangeAspect="1"/>
          </p:cNvPicPr>
          <p:nvPr/>
        </p:nvPicPr>
        <p:blipFill>
          <a:blip>
            <a:alphaModFix amt="60000"/>
            <a:extLst>
              <a:ext uri="{96DAC541-7B7A-43D3-8B79-37D633B846F1}">
                <asvg:svgBlip xmlns:asvg="http://schemas.microsoft.com/office/drawing/2016/SVG/main" r:embed="rId5"/>
              </a:ext>
            </a:extLst>
          </a:blip>
          <a:stretch>
            <a:fillRect/>
          </a:stretch>
        </p:blipFill>
        <p:spPr>
          <a:xfrm>
            <a:off x="2928426" y="1581680"/>
            <a:ext cx="132588" cy="132588"/>
          </a:xfrm>
          <a:prstGeom prst="rect">
            <a:avLst/>
          </a:prstGeom>
        </p:spPr>
      </p:pic>
      <p:sp>
        <p:nvSpPr>
          <p:cNvPr id="17" name="Text 12"/>
          <p:cNvSpPr/>
          <p:nvPr/>
        </p:nvSpPr>
        <p:spPr>
          <a:xfrm>
            <a:off x="3123605" y="1562249"/>
            <a:ext cx="960983"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1970s</a:t>
            </a:r>
            <a:endParaRPr lang="en-US" sz="840" dirty="0"/>
          </a:p>
        </p:txBody>
      </p:sp>
      <p:sp>
        <p:nvSpPr>
          <p:cNvPr id="18" name="Text 13"/>
          <p:cNvSpPr/>
          <p:nvPr/>
        </p:nvSpPr>
        <p:spPr>
          <a:xfrm>
            <a:off x="3123605" y="1736080"/>
            <a:ext cx="960983" cy="130373"/>
          </a:xfrm>
          <a:prstGeom prst="rect">
            <a:avLst/>
          </a:prstGeom>
          <a:noFill/>
          <a:ln/>
        </p:spPr>
        <p:txBody>
          <a:bodyPr wrap="non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Custom motorcycles</a:t>
            </a:r>
            <a:endParaRPr lang="en-US" sz="760" dirty="0"/>
          </a:p>
        </p:txBody>
      </p:sp>
      <p:sp>
        <p:nvSpPr>
          <p:cNvPr id="19" name="Text 14"/>
          <p:cNvSpPr/>
          <p:nvPr/>
        </p:nvSpPr>
        <p:spPr>
          <a:xfrm>
            <a:off x="4572149" y="2200870"/>
            <a:ext cx="143470" cy="7590"/>
          </a:xfrm>
          <a:prstGeom prst="rect">
            <a:avLst/>
          </a:prstGeom>
          <a:solidFill>
            <a:srgbClr val="2A3A50"/>
          </a:solidFill>
          <a:ln/>
        </p:spPr>
        <p:txBody>
          <a:bodyPr wrap="none" rtlCol="0" anchor="t"/>
          <a:lstStyle/>
          <a:p>
            <a:pPr marL="0" indent="0">
              <a:buNone/>
            </a:pPr>
            <a:endParaRPr lang="en-US" dirty="0"/>
          </a:p>
        </p:txBody>
      </p:sp>
      <p:sp>
        <p:nvSpPr>
          <p:cNvPr id="20" name="Text 15"/>
          <p:cNvSpPr/>
          <p:nvPr/>
        </p:nvSpPr>
        <p:spPr>
          <a:xfrm>
            <a:off x="4772620" y="1916906"/>
            <a:ext cx="1572220" cy="567928"/>
          </a:xfrm>
          <a:prstGeom prst="roundRect">
            <a:avLst>
              <a:gd name="adj" fmla="val 10063"/>
            </a:avLst>
          </a:prstGeom>
          <a:solidFill>
            <a:srgbClr val="1A2332"/>
          </a:solidFill>
          <a:ln w="9525">
            <a:solidFill>
              <a:srgbClr val="2A3A50"/>
            </a:solidFill>
          </a:ln>
        </p:spPr>
        <p:txBody>
          <a:bodyPr wrap="square" rtlCol="0" anchor="t"/>
          <a:lstStyle/>
          <a:p>
            <a:pPr marL="0" indent="0">
              <a:buNone/>
            </a:pPr>
            <a:endParaRPr lang="en-US" dirty="0"/>
          </a:p>
        </p:txBody>
      </p:sp>
      <p:pic>
        <p:nvPicPr>
          <p:cNvPr id="21" name="Image 3" descr="preencoded.png"/>
          <p:cNvPicPr>
            <a:picLocks noChangeAspect="1"/>
          </p:cNvPicPr>
          <p:nvPr/>
        </p:nvPicPr>
        <p:blipFill>
          <a:blip>
            <a:alphaModFix amt="60000"/>
            <a:extLst>
              <a:ext uri="{96DAC541-7B7A-43D3-8B79-37D633B846F1}">
                <asvg:svgBlip xmlns:asvg="http://schemas.microsoft.com/office/drawing/2016/SVG/main" r:embed="rId6"/>
              </a:ext>
            </a:extLst>
          </a:blip>
          <a:stretch>
            <a:fillRect/>
          </a:stretch>
        </p:blipFill>
        <p:spPr>
          <a:xfrm>
            <a:off x="4901886" y="2003012"/>
            <a:ext cx="132588" cy="132588"/>
          </a:xfrm>
          <a:prstGeom prst="rect">
            <a:avLst/>
          </a:prstGeom>
        </p:spPr>
      </p:pic>
      <p:sp>
        <p:nvSpPr>
          <p:cNvPr id="22" name="Text 16"/>
          <p:cNvSpPr/>
          <p:nvPr/>
        </p:nvSpPr>
        <p:spPr>
          <a:xfrm>
            <a:off x="5097066" y="1983581"/>
            <a:ext cx="1251734"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1980s</a:t>
            </a:r>
            <a:endParaRPr lang="en-US" sz="840" dirty="0"/>
          </a:p>
        </p:txBody>
      </p:sp>
      <p:sp>
        <p:nvSpPr>
          <p:cNvPr id="23" name="Text 17"/>
          <p:cNvSpPr/>
          <p:nvPr/>
        </p:nvSpPr>
        <p:spPr>
          <a:xfrm>
            <a:off x="5097066" y="2157413"/>
            <a:ext cx="1160699" cy="273784"/>
          </a:xfrm>
          <a:prstGeom prst="rect">
            <a:avLst/>
          </a:prstGeom>
          <a:noFill/>
          <a:ln/>
        </p:spPr>
        <p:txBody>
          <a:bodyPr wrap="squar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Home video games &amp; arcade cabinets</a:t>
            </a:r>
            <a:endParaRPr lang="en-US" sz="760" dirty="0"/>
          </a:p>
        </p:txBody>
      </p:sp>
      <p:sp>
        <p:nvSpPr>
          <p:cNvPr id="24" name="Text 18"/>
          <p:cNvSpPr/>
          <p:nvPr/>
        </p:nvSpPr>
        <p:spPr>
          <a:xfrm>
            <a:off x="4428381" y="2685901"/>
            <a:ext cx="143470" cy="7590"/>
          </a:xfrm>
          <a:prstGeom prst="rect">
            <a:avLst/>
          </a:prstGeom>
          <a:solidFill>
            <a:srgbClr val="2A3A50"/>
          </a:solidFill>
          <a:ln/>
        </p:spPr>
        <p:txBody>
          <a:bodyPr wrap="none" rtlCol="0" anchor="t"/>
          <a:lstStyle/>
          <a:p>
            <a:pPr marL="0" indent="0">
              <a:buNone/>
            </a:pPr>
            <a:endParaRPr lang="en-US" dirty="0"/>
          </a:p>
        </p:txBody>
      </p:sp>
      <p:sp>
        <p:nvSpPr>
          <p:cNvPr id="25" name="Text 19"/>
          <p:cNvSpPr/>
          <p:nvPr/>
        </p:nvSpPr>
        <p:spPr>
          <a:xfrm>
            <a:off x="2799159" y="2467124"/>
            <a:ext cx="1572220" cy="437555"/>
          </a:xfrm>
          <a:prstGeom prst="roundRect">
            <a:avLst>
              <a:gd name="adj" fmla="val 13061"/>
            </a:avLst>
          </a:prstGeom>
          <a:solidFill>
            <a:srgbClr val="1A2332"/>
          </a:solidFill>
          <a:ln w="9525">
            <a:solidFill>
              <a:srgbClr val="2A3A50"/>
            </a:solidFill>
          </a:ln>
        </p:spPr>
        <p:txBody>
          <a:bodyPr wrap="square" rtlCol="0" anchor="t"/>
          <a:lstStyle/>
          <a:p>
            <a:pPr marL="0" indent="0">
              <a:buNone/>
            </a:pPr>
            <a:endParaRPr lang="en-US" dirty="0"/>
          </a:p>
        </p:txBody>
      </p:sp>
      <p:pic>
        <p:nvPicPr>
          <p:cNvPr id="26" name="Image 4" descr="preencoded.png"/>
          <p:cNvPicPr>
            <a:picLocks noChangeAspect="1"/>
          </p:cNvPicPr>
          <p:nvPr/>
        </p:nvPicPr>
        <p:blipFill>
          <a:blip>
            <a:alphaModFix amt="60000"/>
            <a:extLst>
              <a:ext uri="{96DAC541-7B7A-43D3-8B79-37D633B846F1}">
                <asvg:svgBlip xmlns:asvg="http://schemas.microsoft.com/office/drawing/2016/SVG/main" r:embed="rId7"/>
              </a:ext>
            </a:extLst>
          </a:blip>
          <a:stretch>
            <a:fillRect/>
          </a:stretch>
        </p:blipFill>
        <p:spPr>
          <a:xfrm>
            <a:off x="2928426" y="2553230"/>
            <a:ext cx="132588" cy="132588"/>
          </a:xfrm>
          <a:prstGeom prst="rect">
            <a:avLst/>
          </a:prstGeom>
        </p:spPr>
      </p:pic>
      <p:sp>
        <p:nvSpPr>
          <p:cNvPr id="27" name="Text 20"/>
          <p:cNvSpPr/>
          <p:nvPr/>
        </p:nvSpPr>
        <p:spPr>
          <a:xfrm>
            <a:off x="3123605" y="2533799"/>
            <a:ext cx="1108650"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1990s</a:t>
            </a:r>
            <a:endParaRPr lang="en-US" sz="840" dirty="0"/>
          </a:p>
        </p:txBody>
      </p:sp>
      <p:sp>
        <p:nvSpPr>
          <p:cNvPr id="28" name="Text 21"/>
          <p:cNvSpPr/>
          <p:nvPr/>
        </p:nvSpPr>
        <p:spPr>
          <a:xfrm>
            <a:off x="3123605" y="2707630"/>
            <a:ext cx="1108650" cy="130373"/>
          </a:xfrm>
          <a:prstGeom prst="rect">
            <a:avLst/>
          </a:prstGeom>
          <a:noFill/>
          <a:ln/>
        </p:spPr>
        <p:txBody>
          <a:bodyPr wrap="non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Building IBM PC clones</a:t>
            </a:r>
            <a:endParaRPr lang="en-US" sz="760" dirty="0"/>
          </a:p>
        </p:txBody>
      </p:sp>
      <p:sp>
        <p:nvSpPr>
          <p:cNvPr id="29" name="Text 22"/>
          <p:cNvSpPr/>
          <p:nvPr/>
        </p:nvSpPr>
        <p:spPr>
          <a:xfrm>
            <a:off x="4572149" y="3172420"/>
            <a:ext cx="143470" cy="7590"/>
          </a:xfrm>
          <a:prstGeom prst="rect">
            <a:avLst/>
          </a:prstGeom>
          <a:solidFill>
            <a:srgbClr val="2A3A50"/>
          </a:solidFill>
          <a:ln/>
        </p:spPr>
        <p:txBody>
          <a:bodyPr wrap="none" rtlCol="0" anchor="t"/>
          <a:lstStyle/>
          <a:p>
            <a:pPr marL="0" indent="0">
              <a:buNone/>
            </a:pPr>
            <a:endParaRPr lang="en-US" dirty="0"/>
          </a:p>
        </p:txBody>
      </p:sp>
      <p:sp>
        <p:nvSpPr>
          <p:cNvPr id="30" name="Text 23"/>
          <p:cNvSpPr/>
          <p:nvPr/>
        </p:nvSpPr>
        <p:spPr>
          <a:xfrm>
            <a:off x="4772620" y="2888456"/>
            <a:ext cx="1572220" cy="567928"/>
          </a:xfrm>
          <a:prstGeom prst="roundRect">
            <a:avLst>
              <a:gd name="adj" fmla="val 10063"/>
            </a:avLst>
          </a:prstGeom>
          <a:solidFill>
            <a:srgbClr val="1A2332"/>
          </a:solidFill>
          <a:ln w="9525">
            <a:solidFill>
              <a:srgbClr val="2A3A50"/>
            </a:solidFill>
          </a:ln>
        </p:spPr>
        <p:txBody>
          <a:bodyPr wrap="square" rtlCol="0" anchor="t"/>
          <a:lstStyle/>
          <a:p>
            <a:pPr marL="0" indent="0">
              <a:buNone/>
            </a:pPr>
            <a:endParaRPr lang="en-US" dirty="0"/>
          </a:p>
        </p:txBody>
      </p:sp>
      <p:pic>
        <p:nvPicPr>
          <p:cNvPr id="31" name="Image 5" descr="preencoded.png"/>
          <p:cNvPicPr>
            <a:picLocks noChangeAspect="1"/>
          </p:cNvPicPr>
          <p:nvPr/>
        </p:nvPicPr>
        <p:blipFill>
          <a:blip>
            <a:alphaModFix amt="60000"/>
            <a:extLst>
              <a:ext uri="{96DAC541-7B7A-43D3-8B79-37D633B846F1}">
                <asvg:svgBlip xmlns:asvg="http://schemas.microsoft.com/office/drawing/2016/SVG/main" r:embed="rId8"/>
              </a:ext>
            </a:extLst>
          </a:blip>
          <a:stretch>
            <a:fillRect/>
          </a:stretch>
        </p:blipFill>
        <p:spPr>
          <a:xfrm>
            <a:off x="4901886" y="2974562"/>
            <a:ext cx="132588" cy="132588"/>
          </a:xfrm>
          <a:prstGeom prst="rect">
            <a:avLst/>
          </a:prstGeom>
        </p:spPr>
      </p:pic>
      <p:sp>
        <p:nvSpPr>
          <p:cNvPr id="32" name="Text 24"/>
          <p:cNvSpPr/>
          <p:nvPr/>
        </p:nvSpPr>
        <p:spPr>
          <a:xfrm>
            <a:off x="5097066" y="2955131"/>
            <a:ext cx="1251734"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2000s</a:t>
            </a:r>
            <a:endParaRPr lang="en-US" sz="840" dirty="0"/>
          </a:p>
        </p:txBody>
      </p:sp>
      <p:sp>
        <p:nvSpPr>
          <p:cNvPr id="33" name="Text 25"/>
          <p:cNvSpPr/>
          <p:nvPr/>
        </p:nvSpPr>
        <p:spPr>
          <a:xfrm>
            <a:off x="5097066" y="3128963"/>
            <a:ext cx="1160699" cy="273784"/>
          </a:xfrm>
          <a:prstGeom prst="rect">
            <a:avLst/>
          </a:prstGeom>
          <a:noFill/>
          <a:ln/>
        </p:spPr>
        <p:txBody>
          <a:bodyPr wrap="squar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Consoles, Custom gaming PCs &amp; home servers</a:t>
            </a:r>
            <a:endParaRPr lang="en-US" sz="760" dirty="0"/>
          </a:p>
        </p:txBody>
      </p:sp>
      <p:sp>
        <p:nvSpPr>
          <p:cNvPr id="34" name="Text 26"/>
          <p:cNvSpPr/>
          <p:nvPr/>
        </p:nvSpPr>
        <p:spPr>
          <a:xfrm>
            <a:off x="4428381" y="3657451"/>
            <a:ext cx="143470" cy="7590"/>
          </a:xfrm>
          <a:prstGeom prst="rect">
            <a:avLst/>
          </a:prstGeom>
          <a:solidFill>
            <a:srgbClr val="2A3A50"/>
          </a:solidFill>
          <a:ln/>
        </p:spPr>
        <p:txBody>
          <a:bodyPr wrap="none" rtlCol="0" anchor="t"/>
          <a:lstStyle/>
          <a:p>
            <a:pPr marL="0" indent="0">
              <a:buNone/>
            </a:pPr>
            <a:endParaRPr lang="en-US" dirty="0"/>
          </a:p>
        </p:txBody>
      </p:sp>
      <p:sp>
        <p:nvSpPr>
          <p:cNvPr id="35" name="Text 27"/>
          <p:cNvSpPr/>
          <p:nvPr/>
        </p:nvSpPr>
        <p:spPr>
          <a:xfrm>
            <a:off x="2799159" y="3373487"/>
            <a:ext cx="1572220" cy="567928"/>
          </a:xfrm>
          <a:prstGeom prst="roundRect">
            <a:avLst>
              <a:gd name="adj" fmla="val 10063"/>
            </a:avLst>
          </a:prstGeom>
          <a:solidFill>
            <a:srgbClr val="1A2332"/>
          </a:solidFill>
          <a:ln w="9525">
            <a:solidFill>
              <a:srgbClr val="2A3A50"/>
            </a:solidFill>
          </a:ln>
        </p:spPr>
        <p:txBody>
          <a:bodyPr wrap="square" rtlCol="0" anchor="t"/>
          <a:lstStyle/>
          <a:p>
            <a:pPr marL="0" indent="0">
              <a:buNone/>
            </a:pPr>
            <a:endParaRPr lang="en-US" dirty="0"/>
          </a:p>
        </p:txBody>
      </p:sp>
      <p:pic>
        <p:nvPicPr>
          <p:cNvPr id="36" name="Image 6" descr="preencoded.png"/>
          <p:cNvPicPr>
            <a:picLocks noChangeAspect="1"/>
          </p:cNvPicPr>
          <p:nvPr/>
        </p:nvPicPr>
        <p:blipFill>
          <a:blip>
            <a:alphaModFix amt="60000"/>
            <a:extLst>
              <a:ext uri="{96DAC541-7B7A-43D3-8B79-37D633B846F1}">
                <asvg:svgBlip xmlns:asvg="http://schemas.microsoft.com/office/drawing/2016/SVG/main" r:embed="rId9"/>
              </a:ext>
            </a:extLst>
          </a:blip>
          <a:stretch>
            <a:fillRect/>
          </a:stretch>
        </p:blipFill>
        <p:spPr>
          <a:xfrm>
            <a:off x="2928426" y="3459593"/>
            <a:ext cx="132588" cy="132588"/>
          </a:xfrm>
          <a:prstGeom prst="rect">
            <a:avLst/>
          </a:prstGeom>
        </p:spPr>
      </p:pic>
      <p:sp>
        <p:nvSpPr>
          <p:cNvPr id="37" name="Text 28"/>
          <p:cNvSpPr/>
          <p:nvPr/>
        </p:nvSpPr>
        <p:spPr>
          <a:xfrm>
            <a:off x="3123605" y="3440162"/>
            <a:ext cx="1251734" cy="159990"/>
          </a:xfrm>
          <a:prstGeom prst="rect">
            <a:avLst/>
          </a:prstGeom>
          <a:noFill/>
          <a:ln/>
        </p:spPr>
        <p:txBody>
          <a:bodyPr wrap="none" lIns="0" tIns="0" rIns="0" bIns="0" rtlCol="0" anchor="t"/>
          <a:lstStyle/>
          <a:p>
            <a:pPr marL="0" indent="0" algn="l">
              <a:lnSpc>
                <a:spcPts val="1260"/>
              </a:lnSpc>
              <a:buNone/>
            </a:pPr>
            <a:r>
              <a:rPr lang="en-US" sz="840" b="1" kern="0" spc="60" dirty="0">
                <a:solidFill>
                  <a:srgbClr val="8B9CB6"/>
                </a:solidFill>
                <a:latin typeface="Consolas" pitchFamily="34" charset="0"/>
                <a:ea typeface="Consolas" pitchFamily="34" charset="-122"/>
                <a:cs typeface="Consolas" pitchFamily="34" charset="-120"/>
              </a:rPr>
              <a:t>2010s</a:t>
            </a:r>
            <a:endParaRPr lang="en-US" sz="840" dirty="0"/>
          </a:p>
        </p:txBody>
      </p:sp>
      <p:sp>
        <p:nvSpPr>
          <p:cNvPr id="38" name="Text 29"/>
          <p:cNvSpPr/>
          <p:nvPr/>
        </p:nvSpPr>
        <p:spPr>
          <a:xfrm>
            <a:off x="3123605" y="3613993"/>
            <a:ext cx="1160699" cy="273784"/>
          </a:xfrm>
          <a:prstGeom prst="rect">
            <a:avLst/>
          </a:prstGeom>
          <a:noFill/>
          <a:ln/>
        </p:spPr>
        <p:txBody>
          <a:bodyPr wrap="square" lIns="0" tIns="0" rIns="0" bIns="0" rtlCol="0" anchor="t"/>
          <a:lstStyle/>
          <a:p>
            <a:pPr marL="0" indent="0" algn="l">
              <a:lnSpc>
                <a:spcPts val="1026"/>
              </a:lnSpc>
              <a:buNone/>
            </a:pPr>
            <a:r>
              <a:rPr lang="en-US" sz="760" dirty="0">
                <a:solidFill>
                  <a:srgbClr val="E2E8F0"/>
                </a:solidFill>
                <a:latin typeface="Calibri" pitchFamily="34" charset="0"/>
                <a:ea typeface="Calibri" pitchFamily="34" charset="-122"/>
                <a:cs typeface="Calibri" pitchFamily="34" charset="-120"/>
              </a:rPr>
              <a:t>Arduino, 3D printers, maker projects</a:t>
            </a:r>
            <a:endParaRPr lang="en-US" sz="760" dirty="0"/>
          </a:p>
        </p:txBody>
      </p:sp>
      <p:sp>
        <p:nvSpPr>
          <p:cNvPr id="39" name="Text 30"/>
          <p:cNvSpPr/>
          <p:nvPr/>
        </p:nvSpPr>
        <p:spPr>
          <a:xfrm>
            <a:off x="4572149" y="4172545"/>
            <a:ext cx="143470" cy="13841"/>
          </a:xfrm>
          <a:prstGeom prst="rect">
            <a:avLst/>
          </a:prstGeom>
          <a:solidFill>
            <a:srgbClr val="76B900"/>
          </a:solidFill>
          <a:ln/>
          <a:effectLst>
            <a:outerShdw blurRad="43180" dist="50800" dir="16200000" algn="bl" rotWithShape="0">
              <a:srgbClr val="76B900">
                <a:alpha val="30000"/>
              </a:srgbClr>
            </a:outerShdw>
          </a:effectLst>
        </p:spPr>
        <p:txBody>
          <a:bodyPr wrap="none" rtlCol="0" anchor="t"/>
          <a:lstStyle/>
          <a:p>
            <a:pPr marL="0" indent="0">
              <a:buNone/>
            </a:pPr>
            <a:endParaRPr lang="en-US" dirty="0"/>
          </a:p>
        </p:txBody>
      </p:sp>
      <p:sp>
        <p:nvSpPr>
          <p:cNvPr id="40" name="Text 31"/>
          <p:cNvSpPr/>
          <p:nvPr/>
        </p:nvSpPr>
        <p:spPr>
          <a:xfrm>
            <a:off x="4772620" y="3853086"/>
            <a:ext cx="1714500" cy="638919"/>
          </a:xfrm>
          <a:prstGeom prst="roundRect">
            <a:avLst>
              <a:gd name="adj" fmla="val 8945"/>
            </a:avLst>
          </a:prstGeom>
          <a:gradFill rotWithShape="1">
            <a:gsLst>
              <a:gs pos="0">
                <a:srgbClr val="76B900">
                  <a:alpha val="15000"/>
                </a:srgbClr>
              </a:gs>
              <a:gs pos="100000">
                <a:srgbClr val="1A2332"/>
              </a:gs>
            </a:gsLst>
            <a:lin ang="2700000" scaled="1"/>
          </a:gradFill>
          <a:ln w="9525">
            <a:solidFill>
              <a:srgbClr val="76B900"/>
            </a:solidFill>
          </a:ln>
          <a:effectLst>
            <a:outerShdw blurRad="143510" dist="50800" dir="16200000" algn="bl" rotWithShape="0">
              <a:srgbClr val="76B900">
                <a:alpha val="12000"/>
              </a:srgbClr>
            </a:outerShdw>
          </a:effectLst>
        </p:spPr>
        <p:txBody>
          <a:bodyPr wrap="square" rtlCol="0" anchor="t"/>
          <a:lstStyle/>
          <a:p>
            <a:pPr marL="0" indent="0">
              <a:buNone/>
            </a:pPr>
            <a:endParaRPr lang="en-US" dirty="0"/>
          </a:p>
        </p:txBody>
      </p:sp>
      <p:pic>
        <p:nvPicPr>
          <p:cNvPr id="4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15802" y="3952958"/>
            <a:ext cx="132588" cy="132588"/>
          </a:xfrm>
          <a:prstGeom prst="rect">
            <a:avLst/>
          </a:prstGeom>
        </p:spPr>
      </p:pic>
      <p:sp>
        <p:nvSpPr>
          <p:cNvPr id="42" name="Text 32"/>
          <p:cNvSpPr/>
          <p:nvPr/>
        </p:nvSpPr>
        <p:spPr>
          <a:xfrm>
            <a:off x="5111055" y="3933602"/>
            <a:ext cx="1377464" cy="182761"/>
          </a:xfrm>
          <a:prstGeom prst="rect">
            <a:avLst/>
          </a:prstGeom>
          <a:noFill/>
          <a:ln/>
        </p:spPr>
        <p:txBody>
          <a:bodyPr wrap="none" lIns="0" tIns="0" rIns="0" bIns="0" rtlCol="0" anchor="t"/>
          <a:lstStyle/>
          <a:p>
            <a:pPr marL="0" indent="0" algn="l">
              <a:lnSpc>
                <a:spcPts val="1440"/>
              </a:lnSpc>
              <a:buNone/>
            </a:pPr>
            <a:r>
              <a:rPr lang="en-US" sz="960" b="1" kern="0" spc="60" dirty="0">
                <a:solidFill>
                  <a:srgbClr val="76B900"/>
                </a:solidFill>
                <a:latin typeface="Consolas" pitchFamily="34" charset="0"/>
                <a:ea typeface="Consolas" pitchFamily="34" charset="-122"/>
                <a:cs typeface="Consolas" pitchFamily="34" charset="-120"/>
              </a:rPr>
              <a:t>2020s</a:t>
            </a:r>
            <a:endParaRPr lang="en-US" sz="960" dirty="0"/>
          </a:p>
        </p:txBody>
      </p:sp>
      <p:sp>
        <p:nvSpPr>
          <p:cNvPr id="43" name="Text 33"/>
          <p:cNvSpPr/>
          <p:nvPr/>
        </p:nvSpPr>
        <p:spPr>
          <a:xfrm>
            <a:off x="5111055" y="4130204"/>
            <a:ext cx="1277285" cy="295349"/>
          </a:xfrm>
          <a:prstGeom prst="rect">
            <a:avLst/>
          </a:prstGeom>
          <a:noFill/>
          <a:ln/>
        </p:spPr>
        <p:txBody>
          <a:bodyPr wrap="square" lIns="0" tIns="0" rIns="0" bIns="0" rtlCol="0" anchor="t"/>
          <a:lstStyle/>
          <a:p>
            <a:pPr marL="0" indent="0" algn="l">
              <a:lnSpc>
                <a:spcPts val="1107"/>
              </a:lnSpc>
              <a:buNone/>
            </a:pPr>
            <a:r>
              <a:rPr lang="en-US" sz="820" b="1" dirty="0">
                <a:solidFill>
                  <a:srgbClr val="76B900"/>
                </a:solidFill>
                <a:latin typeface="Calibri" pitchFamily="34" charset="0"/>
                <a:ea typeface="Calibri" pitchFamily="34" charset="-122"/>
                <a:cs typeface="Calibri" pitchFamily="34" charset="-120"/>
              </a:rPr>
              <a:t>Personal AI Agents (OpenClaw + Hermes)</a:t>
            </a:r>
            <a:endParaRPr lang="en-US" sz="820" dirty="0"/>
          </a:p>
        </p:txBody>
      </p:sp>
      <p:sp>
        <p:nvSpPr>
          <p:cNvPr id="44" name="Text 34"/>
          <p:cNvSpPr/>
          <p:nvPr/>
        </p:nvSpPr>
        <p:spPr>
          <a:xfrm>
            <a:off x="2561578" y="4822924"/>
            <a:ext cx="4185598" cy="192435"/>
          </a:xfrm>
          <a:prstGeom prst="rect">
            <a:avLst/>
          </a:prstGeom>
          <a:noFill/>
          <a:ln/>
        </p:spPr>
        <p:txBody>
          <a:bodyPr wrap="none" lIns="0" tIns="0" rIns="0" bIns="0" rtlCol="0" anchor="ctr"/>
          <a:lstStyle/>
          <a:p>
            <a:pPr marL="0" indent="0" algn="ctr">
              <a:lnSpc>
                <a:spcPts val="1515"/>
              </a:lnSpc>
              <a:buNone/>
            </a:pPr>
            <a:r>
              <a:rPr lang="en-US" sz="1010" b="1" kern="0" spc="30" dirty="0">
                <a:solidFill>
                  <a:srgbClr val="76B900"/>
                </a:solidFill>
                <a:latin typeface="Consolas" pitchFamily="34" charset="0"/>
                <a:ea typeface="Consolas" pitchFamily="34" charset="-122"/>
                <a:cs typeface="Consolas" pitchFamily="34" charset="-120"/>
              </a:rPr>
              <a:t>You are living in the 2020s garage revolution.</a:t>
            </a:r>
            <a:endParaRPr lang="en-US" sz="1010" dirty="0"/>
          </a:p>
        </p:txBody>
      </p:sp>
      <p:pic>
        <p:nvPicPr>
          <p:cNvPr id="45"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574587" y="4852848"/>
            <a:ext cx="132588" cy="132588"/>
          </a:xfrm>
          <a:prstGeom prst="rect">
            <a:avLst/>
          </a:prstGeom>
        </p:spPr>
      </p:pic>
      <p:sp>
        <p:nvSpPr>
          <p:cNvPr id="46" name="Text 35"/>
          <p:cNvSpPr/>
          <p:nvPr/>
        </p:nvSpPr>
        <p:spPr>
          <a:xfrm>
            <a:off x="4521845" y="692646"/>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47" name="Text 36"/>
          <p:cNvSpPr/>
          <p:nvPr/>
        </p:nvSpPr>
        <p:spPr>
          <a:xfrm>
            <a:off x="4521845" y="1179165"/>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48" name="Text 37"/>
          <p:cNvSpPr/>
          <p:nvPr/>
        </p:nvSpPr>
        <p:spPr>
          <a:xfrm>
            <a:off x="4521845" y="1664196"/>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49" name="Text 38"/>
          <p:cNvSpPr/>
          <p:nvPr/>
        </p:nvSpPr>
        <p:spPr>
          <a:xfrm>
            <a:off x="4521845" y="2150715"/>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50" name="Text 39"/>
          <p:cNvSpPr/>
          <p:nvPr/>
        </p:nvSpPr>
        <p:spPr>
          <a:xfrm>
            <a:off x="4521845" y="2635746"/>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51" name="Text 40"/>
          <p:cNvSpPr/>
          <p:nvPr/>
        </p:nvSpPr>
        <p:spPr>
          <a:xfrm>
            <a:off x="4521845" y="3122265"/>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52" name="Text 41"/>
          <p:cNvSpPr/>
          <p:nvPr/>
        </p:nvSpPr>
        <p:spPr>
          <a:xfrm>
            <a:off x="4521845" y="3607296"/>
            <a:ext cx="100310" cy="100310"/>
          </a:xfrm>
          <a:prstGeom prst="ellipse">
            <a:avLst/>
          </a:prstGeom>
          <a:solidFill>
            <a:srgbClr val="1A2332"/>
          </a:solidFill>
          <a:ln w="9525">
            <a:solidFill>
              <a:srgbClr val="3A4F6A"/>
            </a:solidFill>
          </a:ln>
        </p:spPr>
        <p:txBody>
          <a:bodyPr wrap="none" rtlCol="0" anchor="t"/>
          <a:lstStyle/>
          <a:p>
            <a:pPr marL="0" indent="0">
              <a:buNone/>
            </a:pPr>
            <a:endParaRPr lang="en-US" dirty="0"/>
          </a:p>
        </p:txBody>
      </p:sp>
      <p:sp>
        <p:nvSpPr>
          <p:cNvPr id="53" name="Text 42"/>
          <p:cNvSpPr/>
          <p:nvPr/>
        </p:nvSpPr>
        <p:spPr>
          <a:xfrm>
            <a:off x="4507929" y="4108475"/>
            <a:ext cx="128141" cy="128141"/>
          </a:xfrm>
          <a:prstGeom prst="ellipse">
            <a:avLst/>
          </a:prstGeom>
          <a:solidFill>
            <a:srgbClr val="76B900"/>
          </a:solidFill>
          <a:ln w="9525">
            <a:solidFill>
              <a:srgbClr val="76B900"/>
            </a:solidFill>
          </a:ln>
          <a:effectLst>
            <a:outerShdw blurRad="114300" dist="50800" dir="16200000" algn="bl" rotWithShape="0">
              <a:srgbClr val="76B900">
                <a:alpha val="50000"/>
              </a:srgbClr>
            </a:outerShdw>
          </a:effectLst>
        </p:spPr>
        <p:txBody>
          <a:bodyPr wrap="none" rtlCol="0" anchor="t"/>
          <a:lstStyle/>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429220" y="364778"/>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363" y="460921"/>
            <a:ext cx="150465" cy="150465"/>
          </a:xfrm>
          <a:prstGeom prst="rect">
            <a:avLst/>
          </a:prstGeom>
        </p:spPr>
      </p:pic>
      <p:sp>
        <p:nvSpPr>
          <p:cNvPr id="4" name="Text 1"/>
          <p:cNvSpPr/>
          <p:nvPr/>
        </p:nvSpPr>
        <p:spPr>
          <a:xfrm>
            <a:off x="886420" y="342900"/>
            <a:ext cx="1323176" cy="386655"/>
          </a:xfrm>
          <a:prstGeom prst="rect">
            <a:avLst/>
          </a:prstGeom>
          <a:noFill/>
          <a:ln/>
        </p:spPr>
        <p:txBody>
          <a:bodyPr wrap="none" lIns="0" tIns="0" rIns="0" bIns="0" rtlCol="0" anchor="ctr"/>
          <a:lstStyle/>
          <a:p>
            <a:pPr marL="0" indent="0" algn="l">
              <a:lnSpc>
                <a:spcPts val="3045"/>
              </a:lnSpc>
              <a:buNone/>
            </a:pPr>
            <a:r>
              <a:rPr lang="en-US" sz="2030" kern="0" spc="-30" dirty="0">
                <a:solidFill>
                  <a:srgbClr val="E2E8F0"/>
                </a:solidFill>
                <a:latin typeface="Consolas" pitchFamily="34" charset="0"/>
                <a:ea typeface="Consolas" pitchFamily="34" charset="-122"/>
                <a:cs typeface="Consolas" pitchFamily="34" charset="-120"/>
              </a:rPr>
              <a:t>Vocabulary</a:t>
            </a:r>
            <a:endParaRPr lang="en-US" sz="2030" dirty="0"/>
          </a:p>
        </p:txBody>
      </p:sp>
      <p:sp>
        <p:nvSpPr>
          <p:cNvPr id="5" name="Text 2"/>
          <p:cNvSpPr/>
          <p:nvPr/>
        </p:nvSpPr>
        <p:spPr>
          <a:xfrm>
            <a:off x="7547521" y="421779"/>
            <a:ext cx="1167259" cy="251787"/>
          </a:xfrm>
          <a:prstGeom prst="roundRect">
            <a:avLst>
              <a:gd name="adj" fmla="val 56997"/>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730" dirty="0">
                <a:solidFill>
                  <a:srgbClr val="8B9CB6"/>
                </a:solidFill>
                <a:latin typeface="Consolas" pitchFamily="34" charset="0"/>
                <a:ea typeface="Consolas" pitchFamily="34" charset="-122"/>
                <a:cs typeface="Consolas" pitchFamily="34" charset="-120"/>
              </a:rPr>
              <a:t>Key terms to know</a:t>
            </a:r>
            <a:endParaRPr lang="en-US" sz="730" dirty="0"/>
          </a:p>
        </p:txBody>
      </p:sp>
      <p:sp>
        <p:nvSpPr>
          <p:cNvPr id="6" name="Text 3"/>
          <p:cNvSpPr/>
          <p:nvPr/>
        </p:nvSpPr>
        <p:spPr>
          <a:xfrm>
            <a:off x="429220" y="987326"/>
            <a:ext cx="2666107"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7" name="Text 4"/>
          <p:cNvSpPr/>
          <p:nvPr/>
        </p:nvSpPr>
        <p:spPr>
          <a:xfrm>
            <a:off x="610195" y="1197471"/>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6702" y="1273978"/>
            <a:ext cx="132588" cy="132588"/>
          </a:xfrm>
          <a:prstGeom prst="rect">
            <a:avLst/>
          </a:prstGeom>
        </p:spPr>
      </p:pic>
      <p:sp>
        <p:nvSpPr>
          <p:cNvPr id="9" name="Text 5"/>
          <p:cNvSpPr/>
          <p:nvPr/>
        </p:nvSpPr>
        <p:spPr>
          <a:xfrm>
            <a:off x="610195" y="1554212"/>
            <a:ext cx="646003"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Tokens</a:t>
            </a:r>
            <a:endParaRPr lang="en-US" sz="1240" dirty="0"/>
          </a:p>
        </p:txBody>
      </p:sp>
      <p:sp>
        <p:nvSpPr>
          <p:cNvPr id="10" name="Text 6"/>
          <p:cNvSpPr/>
          <p:nvPr/>
        </p:nvSpPr>
        <p:spPr>
          <a:xfrm>
            <a:off x="610195" y="1861393"/>
            <a:ext cx="2350240"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Small chunks of text (~3‑4 characters). The fundamental unit LLMs read and generate.</a:t>
            </a:r>
            <a:endParaRPr lang="en-US" sz="870" dirty="0"/>
          </a:p>
        </p:txBody>
      </p:sp>
      <p:sp>
        <p:nvSpPr>
          <p:cNvPr id="11" name="Text 7"/>
          <p:cNvSpPr/>
          <p:nvPr/>
        </p:nvSpPr>
        <p:spPr>
          <a:xfrm>
            <a:off x="3238798" y="987326"/>
            <a:ext cx="2666256"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2" name="Text 8"/>
          <p:cNvSpPr/>
          <p:nvPr/>
        </p:nvSpPr>
        <p:spPr>
          <a:xfrm>
            <a:off x="3419773" y="1197471"/>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96279" y="1273978"/>
            <a:ext cx="132588" cy="132588"/>
          </a:xfrm>
          <a:prstGeom prst="rect">
            <a:avLst/>
          </a:prstGeom>
        </p:spPr>
      </p:pic>
      <p:sp>
        <p:nvSpPr>
          <p:cNvPr id="14" name="Text 9"/>
          <p:cNvSpPr/>
          <p:nvPr/>
        </p:nvSpPr>
        <p:spPr>
          <a:xfrm>
            <a:off x="3419773" y="1554212"/>
            <a:ext cx="538282"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Model</a:t>
            </a:r>
            <a:endParaRPr lang="en-US" sz="1240" dirty="0"/>
          </a:p>
        </p:txBody>
      </p:sp>
      <p:sp>
        <p:nvSpPr>
          <p:cNvPr id="15" name="Text 10"/>
          <p:cNvSpPr/>
          <p:nvPr/>
        </p:nvSpPr>
        <p:spPr>
          <a:xfrm>
            <a:off x="3419773" y="1861393"/>
            <a:ext cx="2350392"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The actual AI brain — Qwen, Llama, GLM, etc. Weights trained on billions of tokens.</a:t>
            </a:r>
            <a:endParaRPr lang="en-US" sz="870" dirty="0"/>
          </a:p>
        </p:txBody>
      </p:sp>
      <p:sp>
        <p:nvSpPr>
          <p:cNvPr id="16" name="Text 11"/>
          <p:cNvSpPr/>
          <p:nvPr/>
        </p:nvSpPr>
        <p:spPr>
          <a:xfrm>
            <a:off x="6048524" y="987326"/>
            <a:ext cx="2666107"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7" name="Text 12"/>
          <p:cNvSpPr/>
          <p:nvPr/>
        </p:nvSpPr>
        <p:spPr>
          <a:xfrm>
            <a:off x="6229499" y="1197471"/>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06005" y="1273978"/>
            <a:ext cx="132588" cy="132588"/>
          </a:xfrm>
          <a:prstGeom prst="rect">
            <a:avLst/>
          </a:prstGeom>
        </p:spPr>
      </p:pic>
      <p:sp>
        <p:nvSpPr>
          <p:cNvPr id="19" name="Text 13"/>
          <p:cNvSpPr/>
          <p:nvPr/>
        </p:nvSpPr>
        <p:spPr>
          <a:xfrm>
            <a:off x="6229499" y="1554212"/>
            <a:ext cx="1399401"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Context Cache</a:t>
            </a:r>
            <a:endParaRPr lang="en-US" sz="1240" dirty="0"/>
          </a:p>
        </p:txBody>
      </p:sp>
      <p:sp>
        <p:nvSpPr>
          <p:cNvPr id="20" name="Text 14"/>
          <p:cNvSpPr/>
          <p:nvPr/>
        </p:nvSpPr>
        <p:spPr>
          <a:xfrm>
            <a:off x="6229499" y="1861393"/>
            <a:ext cx="2350240"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Short-term working memory. Everything the model can "see" in the current conversation.</a:t>
            </a:r>
            <a:endParaRPr lang="en-US" sz="870" dirty="0"/>
          </a:p>
        </p:txBody>
      </p:sp>
      <p:sp>
        <p:nvSpPr>
          <p:cNvPr id="21" name="Text 15"/>
          <p:cNvSpPr/>
          <p:nvPr/>
        </p:nvSpPr>
        <p:spPr>
          <a:xfrm>
            <a:off x="429220" y="2994273"/>
            <a:ext cx="2666107"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2" name="Text 16"/>
          <p:cNvSpPr/>
          <p:nvPr/>
        </p:nvSpPr>
        <p:spPr>
          <a:xfrm>
            <a:off x="610195" y="3204418"/>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6702" y="3280925"/>
            <a:ext cx="132588" cy="132588"/>
          </a:xfrm>
          <a:prstGeom prst="rect">
            <a:avLst/>
          </a:prstGeom>
        </p:spPr>
      </p:pic>
      <p:sp>
        <p:nvSpPr>
          <p:cNvPr id="24" name="Text 17"/>
          <p:cNvSpPr/>
          <p:nvPr/>
        </p:nvSpPr>
        <p:spPr>
          <a:xfrm>
            <a:off x="610195" y="3561159"/>
            <a:ext cx="1830125"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Contiguous Memory</a:t>
            </a:r>
            <a:endParaRPr lang="en-US" sz="1240" dirty="0"/>
          </a:p>
        </p:txBody>
      </p:sp>
      <p:sp>
        <p:nvSpPr>
          <p:cNvPr id="25" name="Text 18"/>
          <p:cNvSpPr/>
          <p:nvPr/>
        </p:nvSpPr>
        <p:spPr>
          <a:xfrm>
            <a:off x="610195" y="3868341"/>
            <a:ext cx="2350240" cy="50396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Must stay in one unbroken block. Why GPU VRAM matters — fragmentation kills performance.</a:t>
            </a:r>
            <a:endParaRPr lang="en-US" sz="870" dirty="0"/>
          </a:p>
        </p:txBody>
      </p:sp>
      <p:sp>
        <p:nvSpPr>
          <p:cNvPr id="26" name="Text 19"/>
          <p:cNvSpPr/>
          <p:nvPr/>
        </p:nvSpPr>
        <p:spPr>
          <a:xfrm>
            <a:off x="3238798" y="2994273"/>
            <a:ext cx="2666256"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7" name="Text 20"/>
          <p:cNvSpPr/>
          <p:nvPr/>
        </p:nvSpPr>
        <p:spPr>
          <a:xfrm>
            <a:off x="3419773" y="3204418"/>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96279" y="3280925"/>
            <a:ext cx="132588" cy="132588"/>
          </a:xfrm>
          <a:prstGeom prst="rect">
            <a:avLst/>
          </a:prstGeom>
        </p:spPr>
      </p:pic>
      <p:sp>
        <p:nvSpPr>
          <p:cNvPr id="29" name="Text 21"/>
          <p:cNvSpPr/>
          <p:nvPr/>
        </p:nvSpPr>
        <p:spPr>
          <a:xfrm>
            <a:off x="3419773" y="3561159"/>
            <a:ext cx="323002"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RAG</a:t>
            </a:r>
            <a:endParaRPr lang="en-US" sz="1240" dirty="0"/>
          </a:p>
        </p:txBody>
      </p:sp>
      <p:sp>
        <p:nvSpPr>
          <p:cNvPr id="30" name="Text 22"/>
          <p:cNvSpPr/>
          <p:nvPr/>
        </p:nvSpPr>
        <p:spPr>
          <a:xfrm>
            <a:off x="3419773" y="3868341"/>
            <a:ext cx="2350392"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Retrieval-Augmented Generation. Pulls your personal files &amp; docs into the model's context.</a:t>
            </a:r>
            <a:endParaRPr lang="en-US" sz="870" dirty="0"/>
          </a:p>
        </p:txBody>
      </p:sp>
      <p:sp>
        <p:nvSpPr>
          <p:cNvPr id="31" name="Text 23"/>
          <p:cNvSpPr/>
          <p:nvPr/>
        </p:nvSpPr>
        <p:spPr>
          <a:xfrm>
            <a:off x="6048524" y="2994273"/>
            <a:ext cx="2666107" cy="1863477"/>
          </a:xfrm>
          <a:prstGeom prst="roundRect">
            <a:avLst>
              <a:gd name="adj" fmla="val 5384"/>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2" name="Text 24"/>
          <p:cNvSpPr/>
          <p:nvPr/>
        </p:nvSpPr>
        <p:spPr>
          <a:xfrm>
            <a:off x="6229499" y="3204418"/>
            <a:ext cx="285750" cy="285750"/>
          </a:xfrm>
          <a:prstGeom prst="roundRect">
            <a:avLst>
              <a:gd name="adj" fmla="val 24889"/>
            </a:avLst>
          </a:prstGeom>
          <a:solidFill>
            <a:srgbClr val="76B900">
              <a:alpha val="10000"/>
            </a:srgbClr>
          </a:solidFill>
          <a:ln/>
        </p:spPr>
        <p:txBody>
          <a:bodyPr wrap="square" rtlCol="0" anchor="t"/>
          <a:lstStyle/>
          <a:p>
            <a:pPr marL="0" indent="0">
              <a:buNone/>
            </a:pPr>
            <a:endParaRPr lang="en-US" dirty="0"/>
          </a:p>
        </p:txBody>
      </p:sp>
      <p:pic>
        <p:nvPicPr>
          <p:cNvPr id="3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06005" y="3280925"/>
            <a:ext cx="132588" cy="132588"/>
          </a:xfrm>
          <a:prstGeom prst="rect">
            <a:avLst/>
          </a:prstGeom>
        </p:spPr>
      </p:pic>
      <p:sp>
        <p:nvSpPr>
          <p:cNvPr id="34" name="Text 25"/>
          <p:cNvSpPr/>
          <p:nvPr/>
        </p:nvSpPr>
        <p:spPr>
          <a:xfrm>
            <a:off x="6229499" y="3561159"/>
            <a:ext cx="538282" cy="236190"/>
          </a:xfrm>
          <a:prstGeom prst="rect">
            <a:avLst/>
          </a:prstGeom>
          <a:noFill/>
          <a:ln/>
        </p:spPr>
        <p:txBody>
          <a:bodyPr wrap="none" lIns="0" tIns="0" rIns="0" bIns="0" rtlCol="0" anchor="t"/>
          <a:lstStyle/>
          <a:p>
            <a:pPr marL="0" indent="0" algn="l">
              <a:lnSpc>
                <a:spcPts val="1860"/>
              </a:lnSpc>
              <a:buNone/>
            </a:pPr>
            <a:r>
              <a:rPr lang="en-US" sz="1240" b="1" kern="0" spc="25" dirty="0">
                <a:solidFill>
                  <a:srgbClr val="76B900"/>
                </a:solidFill>
                <a:latin typeface="Consolas" pitchFamily="34" charset="0"/>
                <a:ea typeface="Consolas" pitchFamily="34" charset="-122"/>
                <a:cs typeface="Consolas" pitchFamily="34" charset="-120"/>
              </a:rPr>
              <a:t>Agent</a:t>
            </a:r>
            <a:endParaRPr lang="en-US" sz="1240" dirty="0"/>
          </a:p>
        </p:txBody>
      </p:sp>
      <p:sp>
        <p:nvSpPr>
          <p:cNvPr id="35" name="Text 26"/>
          <p:cNvSpPr/>
          <p:nvPr/>
        </p:nvSpPr>
        <p:spPr>
          <a:xfrm>
            <a:off x="6229499" y="3868341"/>
            <a:ext cx="2350240" cy="335979"/>
          </a:xfrm>
          <a:prstGeom prst="rect">
            <a:avLst/>
          </a:prstGeom>
          <a:noFill/>
          <a:ln/>
        </p:spPr>
        <p:txBody>
          <a:bodyPr wrap="square" lIns="0" tIns="0" rIns="0" bIns="0" rtlCol="0" anchor="t"/>
          <a:lstStyle/>
          <a:p>
            <a:pPr marL="0" indent="0" algn="l">
              <a:lnSpc>
                <a:spcPts val="1262"/>
              </a:lnSpc>
              <a:buNone/>
            </a:pPr>
            <a:r>
              <a:rPr lang="en-US" sz="870" dirty="0">
                <a:solidFill>
                  <a:srgbClr val="8B9CB6"/>
                </a:solidFill>
                <a:latin typeface="Calibri" pitchFamily="34" charset="0"/>
                <a:ea typeface="Calibri" pitchFamily="34" charset="-122"/>
                <a:cs typeface="Calibri" pitchFamily="34" charset="-120"/>
              </a:rPr>
              <a:t>AI that acts, not just chats. Executes tools, browses, writes files, and automates tasks.</a:t>
            </a:r>
            <a:endParaRPr lang="en-US" sz="870" dirty="0"/>
          </a:p>
        </p:txBody>
      </p:sp>
      <p:sp>
        <p:nvSpPr>
          <p:cNvPr id="36" name="Text 27"/>
          <p:cNvSpPr/>
          <p:nvPr/>
        </p:nvSpPr>
        <p:spPr>
          <a:xfrm>
            <a:off x="438745" y="996851"/>
            <a:ext cx="2647055" cy="21580"/>
          </a:xfrm>
          <a:custGeom>
            <a:avLst/>
            <a:gdLst/>
            <a:ahLst/>
            <a:cxnLst/>
            <a:rect l="l" t="t" r="r" b="b"/>
            <a:pathLst>
              <a:path w="2647055" h="21580">
                <a:moveTo>
                  <a:pt x="100330" y="0"/>
                </a:moveTo>
                <a:lnTo>
                  <a:pt x="2546725" y="0"/>
                </a:lnTo>
                <a:lnTo>
                  <a:pt x="2569833" y="2698"/>
                </a:lnTo>
                <a:lnTo>
                  <a:pt x="2579182" y="5395"/>
                </a:lnTo>
                <a:lnTo>
                  <a:pt x="2586201" y="8093"/>
                </a:lnTo>
                <a:lnTo>
                  <a:pt x="2591987" y="10790"/>
                </a:lnTo>
                <a:lnTo>
                  <a:pt x="2596969" y="13488"/>
                </a:lnTo>
                <a:lnTo>
                  <a:pt x="2601367" y="16185"/>
                </a:lnTo>
                <a:lnTo>
                  <a:pt x="2605312" y="18883"/>
                </a:lnTo>
                <a:lnTo>
                  <a:pt x="2608890"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37" name="Text 28"/>
          <p:cNvSpPr/>
          <p:nvPr/>
        </p:nvSpPr>
        <p:spPr>
          <a:xfrm>
            <a:off x="3248323" y="996851"/>
            <a:ext cx="2647207" cy="21580"/>
          </a:xfrm>
          <a:custGeom>
            <a:avLst/>
            <a:gdLst/>
            <a:ahLst/>
            <a:cxnLst/>
            <a:rect l="l" t="t" r="r" b="b"/>
            <a:pathLst>
              <a:path w="2647207" h="21580">
                <a:moveTo>
                  <a:pt x="100330" y="0"/>
                </a:moveTo>
                <a:lnTo>
                  <a:pt x="2546877" y="0"/>
                </a:lnTo>
                <a:lnTo>
                  <a:pt x="2569986" y="2698"/>
                </a:lnTo>
                <a:lnTo>
                  <a:pt x="2579334" y="5395"/>
                </a:lnTo>
                <a:lnTo>
                  <a:pt x="2586353" y="8093"/>
                </a:lnTo>
                <a:lnTo>
                  <a:pt x="2592140" y="10790"/>
                </a:lnTo>
                <a:lnTo>
                  <a:pt x="2597122" y="13488"/>
                </a:lnTo>
                <a:lnTo>
                  <a:pt x="2601519" y="16185"/>
                </a:lnTo>
                <a:lnTo>
                  <a:pt x="2605464" y="18883"/>
                </a:lnTo>
                <a:lnTo>
                  <a:pt x="2609043"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38" name="Text 29"/>
          <p:cNvSpPr/>
          <p:nvPr/>
        </p:nvSpPr>
        <p:spPr>
          <a:xfrm>
            <a:off x="6058049" y="996851"/>
            <a:ext cx="2647055" cy="21580"/>
          </a:xfrm>
          <a:custGeom>
            <a:avLst/>
            <a:gdLst/>
            <a:ahLst/>
            <a:cxnLst/>
            <a:rect l="l" t="t" r="r" b="b"/>
            <a:pathLst>
              <a:path w="2647055" h="21580">
                <a:moveTo>
                  <a:pt x="100330" y="0"/>
                </a:moveTo>
                <a:lnTo>
                  <a:pt x="2546725" y="0"/>
                </a:lnTo>
                <a:lnTo>
                  <a:pt x="2569833" y="2698"/>
                </a:lnTo>
                <a:lnTo>
                  <a:pt x="2579182" y="5395"/>
                </a:lnTo>
                <a:lnTo>
                  <a:pt x="2586201" y="8093"/>
                </a:lnTo>
                <a:lnTo>
                  <a:pt x="2591987" y="10790"/>
                </a:lnTo>
                <a:lnTo>
                  <a:pt x="2596969" y="13488"/>
                </a:lnTo>
                <a:lnTo>
                  <a:pt x="2601367" y="16185"/>
                </a:lnTo>
                <a:lnTo>
                  <a:pt x="2605312" y="18883"/>
                </a:lnTo>
                <a:lnTo>
                  <a:pt x="2608890"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39" name="Text 30"/>
          <p:cNvSpPr/>
          <p:nvPr/>
        </p:nvSpPr>
        <p:spPr>
          <a:xfrm>
            <a:off x="438745" y="3003798"/>
            <a:ext cx="2647055" cy="21580"/>
          </a:xfrm>
          <a:custGeom>
            <a:avLst/>
            <a:gdLst/>
            <a:ahLst/>
            <a:cxnLst/>
            <a:rect l="l" t="t" r="r" b="b"/>
            <a:pathLst>
              <a:path w="2647055" h="21580">
                <a:moveTo>
                  <a:pt x="100330" y="0"/>
                </a:moveTo>
                <a:lnTo>
                  <a:pt x="2546725" y="0"/>
                </a:lnTo>
                <a:lnTo>
                  <a:pt x="2569833" y="2698"/>
                </a:lnTo>
                <a:lnTo>
                  <a:pt x="2579182" y="5395"/>
                </a:lnTo>
                <a:lnTo>
                  <a:pt x="2586201" y="8093"/>
                </a:lnTo>
                <a:lnTo>
                  <a:pt x="2591987" y="10790"/>
                </a:lnTo>
                <a:lnTo>
                  <a:pt x="2596969" y="13488"/>
                </a:lnTo>
                <a:lnTo>
                  <a:pt x="2601367" y="16185"/>
                </a:lnTo>
                <a:lnTo>
                  <a:pt x="2605312" y="18883"/>
                </a:lnTo>
                <a:lnTo>
                  <a:pt x="2608890"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40" name="Text 31"/>
          <p:cNvSpPr/>
          <p:nvPr/>
        </p:nvSpPr>
        <p:spPr>
          <a:xfrm>
            <a:off x="3248323" y="3003798"/>
            <a:ext cx="2647207" cy="21580"/>
          </a:xfrm>
          <a:custGeom>
            <a:avLst/>
            <a:gdLst/>
            <a:ahLst/>
            <a:cxnLst/>
            <a:rect l="l" t="t" r="r" b="b"/>
            <a:pathLst>
              <a:path w="2647207" h="21580">
                <a:moveTo>
                  <a:pt x="100330" y="0"/>
                </a:moveTo>
                <a:lnTo>
                  <a:pt x="2546877" y="0"/>
                </a:lnTo>
                <a:lnTo>
                  <a:pt x="2569986" y="2698"/>
                </a:lnTo>
                <a:lnTo>
                  <a:pt x="2579334" y="5395"/>
                </a:lnTo>
                <a:lnTo>
                  <a:pt x="2586353" y="8093"/>
                </a:lnTo>
                <a:lnTo>
                  <a:pt x="2592140" y="10790"/>
                </a:lnTo>
                <a:lnTo>
                  <a:pt x="2597122" y="13488"/>
                </a:lnTo>
                <a:lnTo>
                  <a:pt x="2601519" y="16185"/>
                </a:lnTo>
                <a:lnTo>
                  <a:pt x="2605464" y="18883"/>
                </a:lnTo>
                <a:lnTo>
                  <a:pt x="2609043"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
        <p:nvSpPr>
          <p:cNvPr id="41" name="Text 32"/>
          <p:cNvSpPr/>
          <p:nvPr/>
        </p:nvSpPr>
        <p:spPr>
          <a:xfrm>
            <a:off x="6058049" y="3003798"/>
            <a:ext cx="2647055" cy="21580"/>
          </a:xfrm>
          <a:custGeom>
            <a:avLst/>
            <a:gdLst/>
            <a:ahLst/>
            <a:cxnLst/>
            <a:rect l="l" t="t" r="r" b="b"/>
            <a:pathLst>
              <a:path w="2647055" h="21580">
                <a:moveTo>
                  <a:pt x="100330" y="0"/>
                </a:moveTo>
                <a:lnTo>
                  <a:pt x="2546725" y="0"/>
                </a:lnTo>
                <a:lnTo>
                  <a:pt x="2569833" y="2698"/>
                </a:lnTo>
                <a:lnTo>
                  <a:pt x="2579182" y="5395"/>
                </a:lnTo>
                <a:lnTo>
                  <a:pt x="2586201" y="8093"/>
                </a:lnTo>
                <a:lnTo>
                  <a:pt x="2591987" y="10790"/>
                </a:lnTo>
                <a:lnTo>
                  <a:pt x="2596969" y="13488"/>
                </a:lnTo>
                <a:lnTo>
                  <a:pt x="2601367" y="16185"/>
                </a:lnTo>
                <a:lnTo>
                  <a:pt x="2605312" y="18883"/>
                </a:lnTo>
                <a:lnTo>
                  <a:pt x="2608890"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gradFill rotWithShape="1">
            <a:gsLst>
              <a:gs pos="0">
                <a:srgbClr val="76B900"/>
              </a:gs>
              <a:gs pos="100000">
                <a:srgbClr val="76B900">
                  <a:alpha val="20000"/>
                </a:srgbClr>
              </a:gs>
            </a:gsLst>
            <a:lin ang="0" scaled="1"/>
          </a:gradFill>
          <a:ln/>
        </p:spPr>
        <p:txBody>
          <a:bodyPr wrap="none" rtlCol="0" anchor="t"/>
          <a:lstStyle/>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What Is a Token">
    <p:bg>
      <p:bgPr>
        <a:solidFill>
          <a:srgbClr val="0A0F1A"/>
        </a:solidFill>
        <a:effectLst/>
      </p:bgPr>
    </p:bg>
    <p:spTree>
      <p:nvGrpSpPr>
        <p:cNvPr id="1" name=""/>
        <p:cNvGrpSpPr/>
        <p:nvPr/>
      </p:nvGrpSpPr>
      <p:grpSpPr>
        <a:xfrm>
          <a:off x="0" y="0"/>
          <a:ext cx="0" cy="0"/>
          <a:chOff x="0" y="0"/>
          <a:chExt cx="0" cy="0"/>
        </a:xfrm>
      </p:grpSpPr>
      <p:sp>
        <p:nvSpPr>
          <p:cNvPr id="2" name="BgGrad"/>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a:p>
        </p:txBody>
      </p:sp>
      <p:sp>
        <p:nvSpPr>
          <p:cNvPr id="3" name="Title"/>
          <p:cNvSpPr/>
          <p:nvPr/>
        </p:nvSpPr>
        <p:spPr>
          <a:xfrm>
            <a:off x="169164" y="200000"/>
            <a:ext cx="8805672" cy="340000"/>
          </a:xfrm>
          <a:prstGeom prst="rect">
            <a:avLst/>
          </a:prstGeom>
          <a:noFill/>
          <a:ln/>
        </p:spPr>
        <p:txBody>
          <a:bodyPr wrap="none" lIns="0" tIns="0" rIns="0" bIns="0" rtlCol="0" anchor="t"/>
          <a:lstStyle/>
          <a:p>
            <a:pPr marL="0" indent="0" algn="ctr">
              <a:lnSpc>
                <a:spcPts val="2800"/>
              </a:lnSpc>
              <a:buNone/>
            </a:pPr>
            <a:r>
              <a:rPr lang="en-US" sz="2030" b="1" kern="0" spc="-30">
                <a:solidFill>
                  <a:srgbClr val="E2E8F0"/>
                </a:solidFill>
                <a:latin typeface="Consolas" pitchFamily="34" charset="0"/>
                <a:ea typeface="Consolas" pitchFamily="34" charset="-122"/>
                <a:cs typeface="Consolas" pitchFamily="34" charset="-120"/>
              </a:rPr>
              <a:t>What Is a </a:t>
            </a:r>
            <a:r>
              <a:rPr lang="en-US" sz="2030" b="1" kern="0" spc="-30">
                <a:solidFill>
                  <a:srgbClr val="76B900"/>
                </a:solidFill>
                <a:latin typeface="Consolas" pitchFamily="34" charset="0"/>
                <a:ea typeface="Consolas" pitchFamily="34" charset="-122"/>
                <a:cs typeface="Consolas" pitchFamily="34" charset="-120"/>
              </a:rPr>
              <a:t>Token?</a:t>
            </a:r>
          </a:p>
        </p:txBody>
      </p:sp>
      <p:sp>
        <p:nvSpPr>
          <p:cNvPr id="4" name="Subtitle"/>
          <p:cNvSpPr/>
          <p:nvPr/>
        </p:nvSpPr>
        <p:spPr>
          <a:xfrm>
            <a:off x="169164" y="560000"/>
            <a:ext cx="8805672" cy="200000"/>
          </a:xfrm>
          <a:prstGeom prst="rect">
            <a:avLst/>
          </a:prstGeom>
          <a:noFill/>
          <a:ln/>
        </p:spPr>
        <p:txBody>
          <a:bodyPr wrap="none" lIns="0" tIns="0" rIns="0" bIns="0" rtlCol="0" anchor="t"/>
          <a:lstStyle/>
          <a:p>
            <a:pPr marL="0" indent="0" algn="ctr">
              <a:lnSpc>
                <a:spcPts val="1350"/>
              </a:lnSpc>
              <a:buNone/>
            </a:pPr>
            <a:r>
              <a:rPr lang="en-US" sz="900">
                <a:solidFill>
                  <a:srgbClr val="8B9CB6"/>
                </a:solidFill>
                <a:latin typeface="Calibri" pitchFamily="34" charset="0"/>
              </a:rPr>
              <a:t>The fundamental unit LLMs use to read and generate text</a:t>
            </a:r>
          </a:p>
        </p:txBody>
      </p:sp>
      <p:sp>
        <p:nvSpPr>
          <p:cNvPr id="5" name="AccentBar1"/>
          <p:cNvSpPr/>
          <p:nvPr/>
        </p:nvSpPr>
        <p:spPr>
          <a:xfrm>
            <a:off x="440000" y="830000"/>
            <a:ext cx="415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6" name="AccentBar2"/>
          <p:cNvSpPr/>
          <p:nvPr/>
        </p:nvSpPr>
        <p:spPr>
          <a:xfrm>
            <a:off x="4710000" y="830000"/>
            <a:ext cx="399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10" name="DefCardBg"/>
          <p:cNvSpPr/>
          <p:nvPr/>
        </p:nvSpPr>
        <p:spPr>
          <a:xfrm>
            <a:off x="440000" y="870000"/>
            <a:ext cx="4150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11" name="DefCardContent"/>
          <p:cNvSpPr/>
          <p:nvPr/>
        </p:nvSpPr>
        <p:spPr>
          <a:xfrm>
            <a:off x="560000" y="930000"/>
            <a:ext cx="3910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DEFINITION</a:t>
            </a:r>
          </a:p>
          <a:p>
            <a:pPr marL="0" indent="0" algn="l">
              <a:lnSpc>
                <a:spcPts val="1200"/>
              </a:lnSpc>
              <a:spcBef>
                <a:spcPts val="250"/>
              </a:spcBef>
              <a:buNone/>
            </a:pPr>
            <a:r>
              <a:rPr lang="en-US" sz="850">
                <a:solidFill>
                  <a:srgbClr val="E2E8F0"/>
                </a:solidFill>
                <a:latin typeface="Calibri" pitchFamily="34" charset="0"/>
              </a:rPr>
              <a:t>A </a:t>
            </a:r>
            <a:r>
              <a:rPr lang="en-US" sz="850" b="1">
                <a:solidFill>
                  <a:srgbClr val="76B900"/>
                </a:solidFill>
                <a:latin typeface="Calibri" pitchFamily="34" charset="0"/>
              </a:rPr>
              <a:t>token</a:t>
            </a:r>
            <a:r>
              <a:rPr lang="en-US" sz="850">
                <a:solidFill>
                  <a:srgbClr val="E2E8F0"/>
                </a:solidFill>
                <a:latin typeface="Calibri" pitchFamily="34" charset="0"/>
              </a:rPr>
              <a:t> is a chunk of text that an LLM processes as a single unit. Before a model reads your prompt, a </a:t>
            </a:r>
            <a:r>
              <a:rPr lang="en-US" sz="850" b="1">
                <a:solidFill>
                  <a:srgbClr val="76B900"/>
                </a:solidFill>
                <a:latin typeface="Calibri" pitchFamily="34" charset="0"/>
              </a:rPr>
              <a:t>tokenizer</a:t>
            </a:r>
            <a:r>
              <a:rPr lang="en-US" sz="850">
                <a:solidFill>
                  <a:srgbClr val="E2E8F0"/>
                </a:solidFill>
                <a:latin typeface="Calibri" pitchFamily="34" charset="0"/>
              </a:rPr>
              <a:t> splits the text into these pieces. Tokens can be whole words, parts of words, punctuation, or even spaces.</a:t>
            </a:r>
          </a:p>
          <a:p>
            <a:pPr marL="0" indent="0" algn="l">
              <a:lnSpc>
                <a:spcPts val="1200"/>
              </a:lnSpc>
              <a:spcBef>
                <a:spcPts val="350"/>
              </a:spcBef>
              <a:buNone/>
            </a:pPr>
            <a:r>
              <a:rPr lang="en-US" sz="800" b="1" spc="100">
                <a:solidFill>
                  <a:srgbClr val="76B900"/>
                </a:solidFill>
                <a:latin typeface="Consolas" pitchFamily="34" charset="0"/>
              </a:rPr>
              <a:t>EXAMPLE</a:t>
            </a:r>
          </a:p>
          <a:p>
            <a:pPr marL="0" indent="0" algn="l">
              <a:lnSpc>
                <a:spcPts val="1200"/>
              </a:lnSpc>
              <a:spcBef>
                <a:spcPts val="200"/>
              </a:spcBef>
              <a:buNone/>
            </a:pPr>
            <a:r>
              <a:rPr lang="en-US" sz="800">
                <a:solidFill>
                  <a:srgbClr val="8B9CB6"/>
                </a:solidFill>
                <a:latin typeface="Calibri" pitchFamily="34" charset="0"/>
              </a:rPr>
              <a:t>"Hello, how are you?"   →   </a:t>
            </a:r>
            <a:r>
              <a:rPr lang="en-US" sz="800" b="1">
                <a:solidFill>
                  <a:srgbClr val="76B900"/>
                </a:solidFill>
                <a:latin typeface="Consolas" pitchFamily="34" charset="0"/>
              </a:rPr>
              <a:t>[Hello] [,] [ how] [ are] [ you] [?]</a:t>
            </a:r>
            <a:r>
              <a:rPr lang="en-US" sz="800">
                <a:solidFill>
                  <a:srgbClr val="8B9CB6"/>
                </a:solidFill>
                <a:latin typeface="Calibri" pitchFamily="34" charset="0"/>
              </a:rPr>
              <a:t>  =  6 tokens</a:t>
            </a:r>
          </a:p>
          <a:p>
            <a:pPr marL="0" indent="0" algn="l">
              <a:lnSpc>
                <a:spcPts val="1200"/>
              </a:lnSpc>
              <a:spcBef>
                <a:spcPts val="100"/>
              </a:spcBef>
              <a:buNone/>
            </a:pPr>
            <a:r>
              <a:rPr lang="en-US" sz="800">
                <a:solidFill>
                  <a:srgbClr val="8B9CB6"/>
                </a:solidFill>
                <a:latin typeface="Calibri" pitchFamily="34" charset="0"/>
              </a:rPr>
              <a:t>"unbelievably"   →   </a:t>
            </a:r>
            <a:r>
              <a:rPr lang="en-US" sz="800" b="1">
                <a:solidFill>
                  <a:srgbClr val="76B900"/>
                </a:solidFill>
                <a:latin typeface="Consolas" pitchFamily="34" charset="0"/>
              </a:rPr>
              <a:t>[un] [believ] [ably]</a:t>
            </a:r>
            <a:r>
              <a:rPr lang="en-US" sz="800">
                <a:solidFill>
                  <a:srgbClr val="8B9CB6"/>
                </a:solidFill>
                <a:latin typeface="Calibri" pitchFamily="34" charset="0"/>
              </a:rPr>
              <a:t>  =  3 tokens</a:t>
            </a:r>
          </a:p>
        </p:txBody>
      </p:sp>
      <p:sp>
        <p:nvSpPr>
          <p:cNvPr id="20" name="WhyCardBg"/>
          <p:cNvSpPr/>
          <p:nvPr/>
        </p:nvSpPr>
        <p:spPr>
          <a:xfrm>
            <a:off x="4710000" y="870000"/>
            <a:ext cx="3994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21" name="WhyCardContent"/>
          <p:cNvSpPr/>
          <p:nvPr/>
        </p:nvSpPr>
        <p:spPr>
          <a:xfrm>
            <a:off x="4830000" y="930000"/>
            <a:ext cx="3754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WHY IT MATTERS</a:t>
            </a:r>
          </a:p>
          <a:p>
            <a:pPr marL="0" indent="0" algn="l">
              <a:lnSpc>
                <a:spcPts val="1100"/>
              </a:lnSpc>
              <a:spcBef>
                <a:spcPts val="250"/>
              </a:spcBef>
              <a:buNone/>
            </a:pPr>
            <a:r>
              <a:rPr lang="en-US" sz="750">
                <a:solidFill>
                  <a:srgbClr val="76B900"/>
                </a:solidFill>
                <a:latin typeface="Consolas" pitchFamily="34" charset="0"/>
              </a:rPr>
              <a:t>▸ </a:t>
            </a:r>
            <a:r>
              <a:rPr lang="en-US" sz="750" b="1">
                <a:solidFill>
                  <a:srgbClr val="E2E8F0"/>
                </a:solidFill>
                <a:latin typeface="Calibri" pitchFamily="34" charset="0"/>
              </a:rPr>
              <a:t>Speed</a:t>
            </a:r>
            <a:r>
              <a:rPr lang="en-US" sz="750">
                <a:solidFill>
                  <a:srgbClr val="8B9CB6"/>
                </a:solidFill>
                <a:latin typeface="Calibri" pitchFamily="34" charset="0"/>
              </a:rPr>
              <a:t> — Models generate one token per step, so tokens per second = perceived speed</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Context limits</a:t>
            </a:r>
            <a:r>
              <a:rPr lang="en-US" sz="750">
                <a:solidFill>
                  <a:srgbClr val="8B9CB6"/>
                </a:solidFill>
                <a:latin typeface="Calibri" pitchFamily="34" charset="0"/>
              </a:rPr>
              <a:t> — Context window is measured in tokens, not words or characters</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RAM usage</a:t>
            </a:r>
            <a:r>
              <a:rPr lang="en-US" sz="750">
                <a:solidFill>
                  <a:srgbClr val="8B9CB6"/>
                </a:solidFill>
                <a:latin typeface="Calibri" pitchFamily="34" charset="0"/>
              </a:rPr>
              <a:t> — More tokens in context = more memory consumed during inference</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Model size</a:t>
            </a:r>
            <a:r>
              <a:rPr lang="en-US" sz="750">
                <a:solidFill>
                  <a:srgbClr val="8B9CB6"/>
                </a:solidFill>
                <a:latin typeface="Calibri" pitchFamily="34" charset="0"/>
              </a:rPr>
              <a:t> — Vocabulary size (number of unique tokens) affects the model's parameter count</a:t>
            </a:r>
          </a:p>
        </p:txBody>
      </p:sp>
      <p:sp>
        <p:nvSpPr>
          <p:cNvPr id="30" name="AccentBar3"/>
          <p:cNvSpPr/>
          <p:nvPr/>
        </p:nvSpPr>
        <p:spPr>
          <a:xfrm>
            <a:off x="440000" y="2670000"/>
            <a:ext cx="826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40" name="Stat1Bg"/>
          <p:cNvSpPr/>
          <p:nvPr/>
        </p:nvSpPr>
        <p:spPr>
          <a:xfrm>
            <a:off x="440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41" name="Stat1Content"/>
          <p:cNvSpPr/>
          <p:nvPr/>
        </p:nvSpPr>
        <p:spPr>
          <a:xfrm>
            <a:off x="540000" y="2770000"/>
            <a:ext cx="2480000" cy="1680000"/>
          </a:xfrm>
          <a:prstGeom prst="rect">
            <a:avLst/>
          </a:prstGeom>
          <a:noFill/>
          <a:ln/>
        </p:spPr>
        <p:txBody>
          <a:bodyPr wrap="square" lIns="0" tIns="0" rIns="0" bIns="0" rtlCol="0" anchor="t"/>
          <a:lstStyle/>
          <a:p>
            <a:pPr marL="0" indent="0" algn="ctr">
              <a:lnSpc>
                <a:spcPts val="3200"/>
              </a:lnSpc>
              <a:buNone/>
            </a:pPr>
            <a:r>
              <a:rPr lang="en-US" sz="2800" b="1">
                <a:solidFill>
                  <a:srgbClr val="76B900"/>
                </a:solidFill>
                <a:latin typeface="Consolas" pitchFamily="34" charset="0"/>
              </a:rPr>
              <a:t>~4</a:t>
            </a:r>
          </a:p>
          <a:p>
            <a:pPr marL="0" indent="0" algn="ctr">
              <a:lnSpc>
                <a:spcPts val="1200"/>
              </a:lnSpc>
              <a:spcBef>
                <a:spcPts val="100"/>
              </a:spcBef>
              <a:buNone/>
            </a:pPr>
            <a:r>
              <a:rPr lang="en-US" sz="900" b="1">
                <a:solidFill>
                  <a:srgbClr val="E2E8F0"/>
                </a:solidFill>
                <a:latin typeface="Calibri" pitchFamily="34" charset="0"/>
              </a:rPr>
              <a:t>characters per token</a:t>
            </a:r>
          </a:p>
          <a:p>
            <a:pPr marL="0" indent="0" algn="ctr">
              <a:lnSpc>
                <a:spcPts val="1100"/>
              </a:lnSpc>
              <a:spcBef>
                <a:spcPts val="200"/>
              </a:spcBef>
              <a:buNone/>
            </a:pPr>
            <a:r>
              <a:rPr lang="en-US" sz="750">
                <a:solidFill>
                  <a:srgbClr val="8B9CB6"/>
                </a:solidFill>
                <a:latin typeface="Calibri" pitchFamily="34" charset="0"/>
              </a:rPr>
              <a:t>On average in English text. Short common words are single tokens; longer or rare words get split into subwords.</a:t>
            </a:r>
          </a:p>
        </p:txBody>
      </p:sp>
      <p:sp>
        <p:nvSpPr>
          <p:cNvPr id="50" name="Stat2Bg"/>
          <p:cNvSpPr/>
          <p:nvPr/>
        </p:nvSpPr>
        <p:spPr>
          <a:xfrm>
            <a:off x="3232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51" name="Stat2Content"/>
          <p:cNvSpPr/>
          <p:nvPr/>
        </p:nvSpPr>
        <p:spPr>
          <a:xfrm>
            <a:off x="3332000" y="2770000"/>
            <a:ext cx="2480000" cy="1680000"/>
          </a:xfrm>
          <a:prstGeom prst="rect">
            <a:avLst/>
          </a:prstGeom>
          <a:noFill/>
          <a:ln/>
        </p:spPr>
        <p:txBody>
          <a:bodyPr wrap="square" lIns="0" tIns="0" rIns="0" bIns="0" rtlCol="0" anchor="t"/>
          <a:lstStyle/>
          <a:p>
            <a:pPr marL="0" indent="0" algn="ctr">
              <a:lnSpc>
                <a:spcPts val="3200"/>
              </a:lnSpc>
              <a:buNone/>
            </a:pPr>
            <a:r>
              <a:rPr lang="en-US" sz="2800" b="1">
                <a:solidFill>
                  <a:srgbClr val="76B900"/>
                </a:solidFill>
                <a:latin typeface="Consolas" pitchFamily="34" charset="0"/>
              </a:rPr>
              <a:t>≈0.75</a:t>
            </a:r>
          </a:p>
          <a:p>
            <a:pPr marL="0" indent="0" algn="ctr">
              <a:lnSpc>
                <a:spcPts val="1200"/>
              </a:lnSpc>
              <a:spcBef>
                <a:spcPts val="100"/>
              </a:spcBef>
              <a:buNone/>
            </a:pPr>
            <a:r>
              <a:rPr lang="en-US" sz="900" b="1">
                <a:solidFill>
                  <a:srgbClr val="E2E8F0"/>
                </a:solidFill>
                <a:latin typeface="Calibri" pitchFamily="34" charset="0"/>
              </a:rPr>
              <a:t>words per token</a:t>
            </a:r>
          </a:p>
          <a:p>
            <a:pPr marL="0" indent="0" algn="ctr">
              <a:lnSpc>
                <a:spcPts val="1100"/>
              </a:lnSpc>
              <a:spcBef>
                <a:spcPts val="200"/>
              </a:spcBef>
              <a:buNone/>
            </a:pPr>
            <a:r>
              <a:rPr lang="en-US" sz="750">
                <a:solidFill>
                  <a:srgbClr val="8B9CB6"/>
                </a:solidFill>
                <a:latin typeface="Calibri" pitchFamily="34" charset="0"/>
              </a:rPr>
              <a:t>Quick mental math: multiply your word count by 1.3 to estimate tokens. A 1,000-word doc ≈ 1,300 tokens.</a:t>
            </a:r>
          </a:p>
        </p:txBody>
      </p:sp>
      <p:sp>
        <p:nvSpPr>
          <p:cNvPr id="60" name="Stat3Bg"/>
          <p:cNvSpPr/>
          <p:nvPr/>
        </p:nvSpPr>
        <p:spPr>
          <a:xfrm>
            <a:off x="6024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61" name="Stat3Content"/>
          <p:cNvSpPr/>
          <p:nvPr/>
        </p:nvSpPr>
        <p:spPr>
          <a:xfrm>
            <a:off x="6124000" y="2770000"/>
            <a:ext cx="2480000" cy="1680000"/>
          </a:xfrm>
          <a:prstGeom prst="rect">
            <a:avLst/>
          </a:prstGeom>
          <a:noFill/>
          <a:ln/>
        </p:spPr>
        <p:txBody>
          <a:bodyPr wrap="square" lIns="0" tIns="0" rIns="0" bIns="0" rtlCol="0" anchor="t"/>
          <a:lstStyle/>
          <a:p>
            <a:pPr marL="0" indent="0" algn="ctr">
              <a:lnSpc>
                <a:spcPts val="3200"/>
              </a:lnSpc>
              <a:buNone/>
            </a:pPr>
            <a:r>
              <a:rPr lang="en-US" sz="2800" b="1">
                <a:solidFill>
                  <a:srgbClr val="76B900"/>
                </a:solidFill>
                <a:latin typeface="Consolas" pitchFamily="34" charset="0"/>
              </a:rPr>
              <a:t>~130</a:t>
            </a:r>
          </a:p>
          <a:p>
            <a:pPr marL="0" indent="0" algn="ctr">
              <a:lnSpc>
                <a:spcPts val="1200"/>
              </a:lnSpc>
              <a:spcBef>
                <a:spcPts val="100"/>
              </a:spcBef>
              <a:buNone/>
            </a:pPr>
            <a:r>
              <a:rPr lang="en-US" sz="900" b="1">
                <a:solidFill>
                  <a:srgbClr val="E2E8F0"/>
                </a:solidFill>
                <a:latin typeface="Calibri" pitchFamily="34" charset="0"/>
              </a:rPr>
              <a:t>tokens per 100 words</a:t>
            </a:r>
          </a:p>
          <a:p>
            <a:pPr marL="0" indent="0" algn="ctr">
              <a:lnSpc>
                <a:spcPts val="1100"/>
              </a:lnSpc>
              <a:spcBef>
                <a:spcPts val="200"/>
              </a:spcBef>
              <a:buNone/>
            </a:pPr>
            <a:r>
              <a:rPr lang="en-US" sz="750">
                <a:solidFill>
                  <a:srgbClr val="8B9CB6"/>
                </a:solidFill>
                <a:latin typeface="Calibri" pitchFamily="34" charset="0"/>
              </a:rPr>
              <a:t>Code and non-English text tokenize less efficiently — expect 150–200+ tokens per 100 words.</a:t>
            </a:r>
          </a:p>
        </p:txBody>
      </p:sp>
      <p:sp>
        <p:nvSpPr>
          <p:cNvPr id="70" name="FooterTip"/>
          <p:cNvSpPr/>
          <p:nvPr/>
        </p:nvSpPr>
        <p:spPr>
          <a:xfrm>
            <a:off x="440000" y="4650000"/>
            <a:ext cx="8264000" cy="200000"/>
          </a:xfrm>
          <a:prstGeom prst="rect">
            <a:avLst/>
          </a:prstGeom>
          <a:noFill/>
          <a:ln/>
        </p:spPr>
        <p:txBody>
          <a:bodyPr wrap="square" lIns="0" tIns="0" rIns="0" bIns="0" rtlCol="0" anchor="t"/>
          <a:lstStyle/>
          <a:p>
            <a:pPr marL="0" indent="0" algn="ctr">
              <a:lnSpc>
                <a:spcPts val="1100"/>
              </a:lnSpc>
              <a:buNone/>
            </a:pPr>
            <a:r>
              <a:rPr lang="en-US" sz="650" b="1">
                <a:solidFill>
                  <a:srgbClr val="76B900"/>
                </a:solidFill>
                <a:latin typeface="Consolas" pitchFamily="34" charset="0"/>
              </a:rPr>
              <a:t>TIP</a:t>
            </a:r>
            <a:r>
              <a:rPr lang="en-US" sz="650">
                <a:solidFill>
                  <a:srgbClr val="8B9CB6"/>
                </a:solidFill>
                <a:latin typeface="Calibri" pitchFamily="34" charset="0"/>
              </a:rPr>
              <a:t>  —  Use Ollama's built-in tokenizer to count exactly:  </a:t>
            </a:r>
            <a:r>
              <a:rPr lang="en-US" sz="650">
                <a:solidFill>
                  <a:srgbClr val="76B900"/>
                </a:solidFill>
                <a:latin typeface="Consolas" pitchFamily="34" charset="0"/>
              </a:rPr>
              <a:t>ollama run llama3.3 --verbose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Quantization">
    <p:bg>
      <p:bgPr>
        <a:solidFill>
          <a:srgbClr val="0A0F1A"/>
        </a:solidFill>
        <a:effectLst/>
      </p:bgPr>
    </p:bg>
    <p:spTree>
      <p:nvGrpSpPr>
        <p:cNvPr id="1" name=""/>
        <p:cNvGrpSpPr/>
        <p:nvPr/>
      </p:nvGrpSpPr>
      <p:grpSpPr>
        <a:xfrm>
          <a:off x="0" y="0"/>
          <a:ext cx="0" cy="0"/>
          <a:chOff x="0" y="0"/>
          <a:chExt cx="0" cy="0"/>
        </a:xfrm>
      </p:grpSpPr>
      <p:sp>
        <p:nvSpPr>
          <p:cNvPr id="2" name="BgGrad"/>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a:p>
        </p:txBody>
      </p:sp>
      <p:sp>
        <p:nvSpPr>
          <p:cNvPr id="3" name="Title"/>
          <p:cNvSpPr/>
          <p:nvPr/>
        </p:nvSpPr>
        <p:spPr>
          <a:xfrm>
            <a:off x="169164" y="200000"/>
            <a:ext cx="8805672" cy="340000"/>
          </a:xfrm>
          <a:prstGeom prst="rect">
            <a:avLst/>
          </a:prstGeom>
          <a:noFill/>
          <a:ln/>
        </p:spPr>
        <p:txBody>
          <a:bodyPr wrap="none" lIns="0" tIns="0" rIns="0" bIns="0" rtlCol="0" anchor="t"/>
          <a:lstStyle/>
          <a:p>
            <a:pPr marL="0" indent="0" algn="ctr">
              <a:lnSpc>
                <a:spcPts val="2800"/>
              </a:lnSpc>
              <a:buNone/>
            </a:pPr>
            <a:r>
              <a:rPr lang="en-US" sz="2030" b="1" kern="0" spc="-30">
                <a:solidFill>
                  <a:srgbClr val="76B900"/>
                </a:solidFill>
                <a:latin typeface="Consolas" pitchFamily="34" charset="0"/>
                <a:ea typeface="Consolas" pitchFamily="34" charset="-122"/>
                <a:cs typeface="Consolas" pitchFamily="34" charset="-120"/>
              </a:rPr>
              <a:t>Quantization</a:t>
            </a:r>
            <a:r>
              <a:rPr lang="en-US" sz="2030" b="1" kern="0" spc="-30">
                <a:solidFill>
                  <a:srgbClr val="E2E8F0"/>
                </a:solidFill>
                <a:latin typeface="Consolas" pitchFamily="34" charset="0"/>
                <a:ea typeface="Consolas" pitchFamily="34" charset="-122"/>
                <a:cs typeface="Consolas" pitchFamily="34" charset="-120"/>
              </a:rPr>
              <a:t> Explained</a:t>
            </a:r>
          </a:p>
        </p:txBody>
      </p:sp>
      <p:sp>
        <p:nvSpPr>
          <p:cNvPr id="4" name="Subtitle"/>
          <p:cNvSpPr/>
          <p:nvPr/>
        </p:nvSpPr>
        <p:spPr>
          <a:xfrm>
            <a:off x="169164" y="560000"/>
            <a:ext cx="8805672" cy="200000"/>
          </a:xfrm>
          <a:prstGeom prst="rect">
            <a:avLst/>
          </a:prstGeom>
          <a:noFill/>
          <a:ln/>
        </p:spPr>
        <p:txBody>
          <a:bodyPr wrap="none" lIns="0" tIns="0" rIns="0" bIns="0" rtlCol="0" anchor="t"/>
          <a:lstStyle/>
          <a:p>
            <a:pPr marL="0" indent="0" algn="ctr">
              <a:lnSpc>
                <a:spcPts val="1350"/>
              </a:lnSpc>
              <a:buNone/>
            </a:pPr>
            <a:r>
              <a:rPr lang="en-US" sz="900">
                <a:solidFill>
                  <a:srgbClr val="8B9CB6"/>
                </a:solidFill>
                <a:latin typeface="Calibri" pitchFamily="34" charset="0"/>
              </a:rPr>
              <a:t>How models shrink to fit your hardware — trade a tiny bit of quality for massive RAM savings</a:t>
            </a:r>
          </a:p>
        </p:txBody>
      </p:sp>
      <p:sp>
        <p:nvSpPr>
          <p:cNvPr id="5" name="AccentBar1"/>
          <p:cNvSpPr/>
          <p:nvPr/>
        </p:nvSpPr>
        <p:spPr>
          <a:xfrm>
            <a:off x="440000" y="830000"/>
            <a:ext cx="415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6" name="AccentBar2"/>
          <p:cNvSpPr/>
          <p:nvPr/>
        </p:nvSpPr>
        <p:spPr>
          <a:xfrm>
            <a:off x="4710000" y="830000"/>
            <a:ext cx="399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10" name="DefCardBg"/>
          <p:cNvSpPr/>
          <p:nvPr/>
        </p:nvSpPr>
        <p:spPr>
          <a:xfrm>
            <a:off x="440000" y="870000"/>
            <a:ext cx="4150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11" name="DefCardContent"/>
          <p:cNvSpPr/>
          <p:nvPr/>
        </p:nvSpPr>
        <p:spPr>
          <a:xfrm>
            <a:off x="560000" y="930000"/>
            <a:ext cx="3910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WHAT IS IT?</a:t>
            </a:r>
          </a:p>
          <a:p>
            <a:pPr marL="0" indent="0" algn="l">
              <a:lnSpc>
                <a:spcPts val="1200"/>
              </a:lnSpc>
              <a:spcBef>
                <a:spcPts val="250"/>
              </a:spcBef>
              <a:buNone/>
            </a:pPr>
            <a:r>
              <a:rPr lang="en-US" sz="850">
                <a:solidFill>
                  <a:srgbClr val="E2E8F0"/>
                </a:solidFill>
                <a:latin typeface="Calibri" pitchFamily="34" charset="0"/>
              </a:rPr>
              <a:t>Model weights are stored as numbers. </a:t>
            </a:r>
            <a:r>
              <a:rPr lang="en-US" sz="850" b="1">
                <a:solidFill>
                  <a:srgbClr val="76B900"/>
                </a:solidFill>
                <a:latin typeface="Calibri" pitchFamily="34" charset="0"/>
              </a:rPr>
              <a:t>Quantization</a:t>
            </a:r>
            <a:r>
              <a:rPr lang="en-US" sz="850">
                <a:solidFill>
                  <a:srgbClr val="E2E8F0"/>
                </a:solidFill>
                <a:latin typeface="Calibri" pitchFamily="34" charset="0"/>
              </a:rPr>
              <a:t> reduces the precision of those numbers — for example, from 16-bit floats down to 4-bit integers — shrinking the file size and RAM footprint dramatically.</a:t>
            </a:r>
          </a:p>
          <a:p>
            <a:pPr marL="0" indent="0" algn="l">
              <a:lnSpc>
                <a:spcPts val="1200"/>
              </a:lnSpc>
              <a:spcBef>
                <a:spcPts val="350"/>
              </a:spcBef>
              <a:buNone/>
            </a:pPr>
            <a:r>
              <a:rPr lang="en-US" sz="800" b="1" spc="100">
                <a:solidFill>
                  <a:srgbClr val="76B900"/>
                </a:solidFill>
                <a:latin typeface="Consolas" pitchFamily="34" charset="0"/>
              </a:rPr>
              <a:t>ANALOGY</a:t>
            </a:r>
          </a:p>
          <a:p>
            <a:pPr marL="0" indent="0" algn="l">
              <a:lnSpc>
                <a:spcPts val="1200"/>
              </a:lnSpc>
              <a:spcBef>
                <a:spcPts val="200"/>
              </a:spcBef>
              <a:buNone/>
            </a:pPr>
            <a:r>
              <a:rPr lang="en-US" sz="800">
                <a:solidFill>
                  <a:srgbClr val="8B9CB6"/>
                </a:solidFill>
                <a:latin typeface="Calibri" pitchFamily="34" charset="0"/>
              </a:rPr>
              <a:t>Think of it like saving a photo as JPEG instead of RAW. The file gets much smaller. Most people can't tell the difference — but the data is technically less precise.</a:t>
            </a:r>
          </a:p>
        </p:txBody>
      </p:sp>
      <p:sp>
        <p:nvSpPr>
          <p:cNvPr id="20" name="TradeCardBg"/>
          <p:cNvSpPr/>
          <p:nvPr/>
        </p:nvSpPr>
        <p:spPr>
          <a:xfrm>
            <a:off x="4710000" y="870000"/>
            <a:ext cx="3994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21" name="TradeCardContent"/>
          <p:cNvSpPr/>
          <p:nvPr/>
        </p:nvSpPr>
        <p:spPr>
          <a:xfrm>
            <a:off x="4830000" y="930000"/>
            <a:ext cx="3754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THE TRADEOFF</a:t>
            </a:r>
          </a:p>
          <a:p>
            <a:pPr marL="0" indent="0" algn="l">
              <a:lnSpc>
                <a:spcPts val="1100"/>
              </a:lnSpc>
              <a:spcBef>
                <a:spcPts val="250"/>
              </a:spcBef>
              <a:buNone/>
            </a:pPr>
            <a:r>
              <a:rPr lang="en-US" sz="750">
                <a:solidFill>
                  <a:srgbClr val="76B900"/>
                </a:solidFill>
                <a:latin typeface="Consolas" pitchFamily="34" charset="0"/>
              </a:rPr>
              <a:t>▸ </a:t>
            </a:r>
            <a:r>
              <a:rPr lang="en-US" sz="750" b="1">
                <a:solidFill>
                  <a:srgbClr val="E2E8F0"/>
                </a:solidFill>
                <a:latin typeface="Calibri" pitchFamily="34" charset="0"/>
              </a:rPr>
              <a:t>Lower bits = smaller file</a:t>
            </a:r>
            <a:r>
              <a:rPr lang="en-US" sz="750">
                <a:solidFill>
                  <a:srgbClr val="8B9CB6"/>
                </a:solidFill>
                <a:latin typeface="Calibri" pitchFamily="34" charset="0"/>
              </a:rPr>
              <a:t> — Q4 is ~4× smaller than F16</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Quality loss is minimal</a:t>
            </a:r>
            <a:r>
              <a:rPr lang="en-US" sz="750">
                <a:solidFill>
                  <a:srgbClr val="8B9CB6"/>
                </a:solidFill>
                <a:latin typeface="Calibri" pitchFamily="34" charset="0"/>
              </a:rPr>
              <a:t> — Q4_K_M retains ~99% of F16 quality on benchmarks</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Speed boost</a:t>
            </a:r>
            <a:r>
              <a:rPr lang="en-US" sz="750">
                <a:solidFill>
                  <a:srgbClr val="8B9CB6"/>
                </a:solidFill>
                <a:latin typeface="Calibri" pitchFamily="34" charset="0"/>
              </a:rPr>
              <a:t> — Smaller models load faster and infer faster on limited hardware</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Sweet spot: Q4_K_M</a:t>
            </a:r>
            <a:r>
              <a:rPr lang="en-US" sz="750">
                <a:solidFill>
                  <a:srgbClr val="8B9CB6"/>
                </a:solidFill>
                <a:latin typeface="Calibri" pitchFamily="34" charset="0"/>
              </a:rPr>
              <a:t> — Best balance of size and quality; Ollama's default</a:t>
            </a:r>
          </a:p>
        </p:txBody>
      </p:sp>
      <p:sp>
        <p:nvSpPr>
          <p:cNvPr id="30" name="AccentBar3"/>
          <p:cNvSpPr/>
          <p:nvPr/>
        </p:nvSpPr>
        <p:spPr>
          <a:xfrm>
            <a:off x="440000" y="2670000"/>
            <a:ext cx="826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40" name="Q16Bg"/>
          <p:cNvSpPr/>
          <p:nvPr/>
        </p:nvSpPr>
        <p:spPr>
          <a:xfrm>
            <a:off x="440000" y="2710000"/>
            <a:ext cx="197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41" name="Q16Content"/>
          <p:cNvSpPr/>
          <p:nvPr/>
        </p:nvSpPr>
        <p:spPr>
          <a:xfrm>
            <a:off x="540000" y="2770000"/>
            <a:ext cx="1770000" cy="1680000"/>
          </a:xfrm>
          <a:prstGeom prst="rect">
            <a:avLst/>
          </a:prstGeom>
          <a:noFill/>
          <a:ln/>
        </p:spPr>
        <p:txBody>
          <a:bodyPr wrap="square" lIns="0" tIns="0" rIns="0" bIns="0" rtlCol="0" anchor="t"/>
          <a:lstStyle/>
          <a:p>
            <a:pPr marL="0" indent="0" algn="ctr">
              <a:lnSpc>
                <a:spcPts val="1100"/>
              </a:lnSpc>
              <a:buNone/>
            </a:pPr>
            <a:r>
              <a:rPr lang="en-US" sz="700" b="1" spc="120">
                <a:solidFill>
                  <a:srgbClr val="8B9CB6"/>
                </a:solidFill>
                <a:latin typeface="Consolas" pitchFamily="34" charset="0"/>
              </a:rPr>
              <a:t>ORIGINAL</a:t>
            </a:r>
          </a:p>
          <a:p>
            <a:pPr marL="0" indent="0" algn="ctr">
              <a:lnSpc>
                <a:spcPts val="2600"/>
              </a:lnSpc>
              <a:spcBef>
                <a:spcPts val="150"/>
              </a:spcBef>
              <a:buNone/>
            </a:pPr>
            <a:r>
              <a:rPr lang="en-US" sz="2200" b="1">
                <a:solidFill>
                  <a:srgbClr val="E2E8F0"/>
                </a:solidFill>
                <a:latin typeface="Consolas" pitchFamily="34" charset="0"/>
              </a:rPr>
              <a:t>F16</a:t>
            </a:r>
          </a:p>
          <a:p>
            <a:pPr marL="0" indent="0" algn="ctr">
              <a:lnSpc>
                <a:spcPts val="1100"/>
              </a:lnSpc>
              <a:spcBef>
                <a:spcPts val="150"/>
              </a:spcBef>
              <a:buNone/>
            </a:pPr>
            <a:r>
              <a:rPr lang="en-US" sz="750">
                <a:solidFill>
                  <a:srgbClr val="8B9CB6"/>
                </a:solidFill>
                <a:latin typeface="Calibri" pitchFamily="34" charset="0"/>
              </a:rPr>
              <a:t>16-bit float</a:t>
            </a:r>
          </a:p>
          <a:p>
            <a:pPr marL="0" indent="0" algn="ctr">
              <a:lnSpc>
                <a:spcPts val="1100"/>
              </a:lnSpc>
              <a:spcBef>
                <a:spcPts val="100"/>
              </a:spcBef>
              <a:buNone/>
            </a:pPr>
            <a:r>
              <a:rPr lang="en-US" sz="750" b="1">
                <a:solidFill>
                  <a:srgbClr val="E2E8F0"/>
                </a:solidFill>
                <a:latin typeface="Calibri" pitchFamily="34" charset="0"/>
              </a:rPr>
              <a:t>2 bytes/weight</a:t>
            </a:r>
          </a:p>
          <a:p>
            <a:pPr marL="0" indent="0" algn="ctr">
              <a:lnSpc>
                <a:spcPts val="1100"/>
              </a:lnSpc>
              <a:spcBef>
                <a:spcPts val="200"/>
              </a:spcBef>
              <a:buNone/>
            </a:pPr>
            <a:r>
              <a:rPr lang="en-US" sz="700">
                <a:solidFill>
                  <a:srgbClr val="8B9CB6"/>
                </a:solidFill>
                <a:latin typeface="Calibri" pitchFamily="34" charset="0"/>
              </a:rPr>
              <a:t>100% quality baseline</a:t>
            </a:r>
          </a:p>
          <a:p>
            <a:pPr marL="0" indent="0" algn="ctr">
              <a:lnSpc>
                <a:spcPts val="1100"/>
              </a:lnSpc>
              <a:spcBef>
                <a:spcPts val="100"/>
              </a:spcBef>
              <a:buNone/>
            </a:pPr>
            <a:r>
              <a:rPr lang="en-US" sz="700">
                <a:solidFill>
                  <a:srgbClr val="8B9CB6"/>
                </a:solidFill>
                <a:latin typeface="Calibri" pitchFamily="34" charset="0"/>
              </a:rPr>
              <a:t>8B model ≈ 16 GB RAM</a:t>
            </a:r>
          </a:p>
        </p:txBody>
      </p:sp>
      <p:sp>
        <p:nvSpPr>
          <p:cNvPr id="50" name="Q8Bg"/>
          <p:cNvSpPr/>
          <p:nvPr/>
        </p:nvSpPr>
        <p:spPr>
          <a:xfrm>
            <a:off x="2538000" y="2710000"/>
            <a:ext cx="197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51" name="Q8Content"/>
          <p:cNvSpPr/>
          <p:nvPr/>
        </p:nvSpPr>
        <p:spPr>
          <a:xfrm>
            <a:off x="2638000" y="2770000"/>
            <a:ext cx="1770000" cy="1680000"/>
          </a:xfrm>
          <a:prstGeom prst="rect">
            <a:avLst/>
          </a:prstGeom>
          <a:noFill/>
          <a:ln/>
        </p:spPr>
        <p:txBody>
          <a:bodyPr wrap="square" lIns="0" tIns="0" rIns="0" bIns="0" rtlCol="0" anchor="t"/>
          <a:lstStyle/>
          <a:p>
            <a:pPr marL="0" indent="0" algn="ctr">
              <a:lnSpc>
                <a:spcPts val="1100"/>
              </a:lnSpc>
              <a:buNone/>
            </a:pPr>
            <a:r>
              <a:rPr lang="en-US" sz="700" b="1" spc="120">
                <a:solidFill>
                  <a:srgbClr val="8B9CB6"/>
                </a:solidFill>
                <a:latin typeface="Consolas" pitchFamily="34" charset="0"/>
              </a:rPr>
              <a:t>HIGH FIDELITY</a:t>
            </a:r>
          </a:p>
          <a:p>
            <a:pPr marL="0" indent="0" algn="ctr">
              <a:lnSpc>
                <a:spcPts val="2600"/>
              </a:lnSpc>
              <a:spcBef>
                <a:spcPts val="150"/>
              </a:spcBef>
              <a:buNone/>
            </a:pPr>
            <a:r>
              <a:rPr lang="en-US" sz="2200" b="1">
                <a:solidFill>
                  <a:srgbClr val="E2E8F0"/>
                </a:solidFill>
                <a:latin typeface="Consolas" pitchFamily="34" charset="0"/>
              </a:rPr>
              <a:t>Q8</a:t>
            </a:r>
          </a:p>
          <a:p>
            <a:pPr marL="0" indent="0" algn="ctr">
              <a:lnSpc>
                <a:spcPts val="1100"/>
              </a:lnSpc>
              <a:spcBef>
                <a:spcPts val="150"/>
              </a:spcBef>
              <a:buNone/>
            </a:pPr>
            <a:r>
              <a:rPr lang="en-US" sz="750">
                <a:solidFill>
                  <a:srgbClr val="8B9CB6"/>
                </a:solidFill>
                <a:latin typeface="Calibri" pitchFamily="34" charset="0"/>
              </a:rPr>
              <a:t>8-bit integer</a:t>
            </a:r>
          </a:p>
          <a:p>
            <a:pPr marL="0" indent="0" algn="ctr">
              <a:lnSpc>
                <a:spcPts val="1100"/>
              </a:lnSpc>
              <a:spcBef>
                <a:spcPts val="100"/>
              </a:spcBef>
              <a:buNone/>
            </a:pPr>
            <a:r>
              <a:rPr lang="en-US" sz="750" b="1">
                <a:solidFill>
                  <a:srgbClr val="E2E8F0"/>
                </a:solidFill>
                <a:latin typeface="Calibri" pitchFamily="34" charset="0"/>
              </a:rPr>
              <a:t>1 byte/weight</a:t>
            </a:r>
          </a:p>
          <a:p>
            <a:pPr marL="0" indent="0" algn="ctr">
              <a:lnSpc>
                <a:spcPts val="1100"/>
              </a:lnSpc>
              <a:spcBef>
                <a:spcPts val="200"/>
              </a:spcBef>
              <a:buNone/>
            </a:pPr>
            <a:r>
              <a:rPr lang="en-US" sz="700">
                <a:solidFill>
                  <a:srgbClr val="8B9CB6"/>
                </a:solidFill>
                <a:latin typeface="Calibri" pitchFamily="34" charset="0"/>
              </a:rPr>
              <a:t>~99.5% quality</a:t>
            </a:r>
          </a:p>
          <a:p>
            <a:pPr marL="0" indent="0" algn="ctr">
              <a:lnSpc>
                <a:spcPts val="1100"/>
              </a:lnSpc>
              <a:spcBef>
                <a:spcPts val="100"/>
              </a:spcBef>
              <a:buNone/>
            </a:pPr>
            <a:r>
              <a:rPr lang="en-US" sz="700">
                <a:solidFill>
                  <a:srgbClr val="8B9CB6"/>
                </a:solidFill>
                <a:latin typeface="Calibri" pitchFamily="34" charset="0"/>
              </a:rPr>
              <a:t>8B model ≈ 8 GB RAM</a:t>
            </a:r>
          </a:p>
        </p:txBody>
      </p:sp>
      <p:sp>
        <p:nvSpPr>
          <p:cNvPr id="55" name="Q5Bg"/>
          <p:cNvSpPr/>
          <p:nvPr/>
        </p:nvSpPr>
        <p:spPr>
          <a:xfrm>
            <a:off x="4636000" y="2710000"/>
            <a:ext cx="197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56" name="Q5Content"/>
          <p:cNvSpPr/>
          <p:nvPr/>
        </p:nvSpPr>
        <p:spPr>
          <a:xfrm>
            <a:off x="4736000" y="2770000"/>
            <a:ext cx="1770000" cy="1680000"/>
          </a:xfrm>
          <a:prstGeom prst="rect">
            <a:avLst/>
          </a:prstGeom>
          <a:noFill/>
          <a:ln/>
        </p:spPr>
        <p:txBody>
          <a:bodyPr wrap="square" lIns="0" tIns="0" rIns="0" bIns="0" rtlCol="0" anchor="t"/>
          <a:lstStyle/>
          <a:p>
            <a:pPr marL="0" indent="0" algn="ctr">
              <a:lnSpc>
                <a:spcPts val="1100"/>
              </a:lnSpc>
              <a:buNone/>
            </a:pPr>
            <a:r>
              <a:rPr lang="en-US" sz="700" b="1" spc="120">
                <a:solidFill>
                  <a:srgbClr val="8B9CB6"/>
                </a:solidFill>
                <a:latin typeface="Consolas" pitchFamily="34" charset="0"/>
              </a:rPr>
              <a:t>BALANCED</a:t>
            </a:r>
          </a:p>
          <a:p>
            <a:pPr marL="0" indent="0" algn="ctr">
              <a:lnSpc>
                <a:spcPts val="2600"/>
              </a:lnSpc>
              <a:spcBef>
                <a:spcPts val="150"/>
              </a:spcBef>
              <a:buNone/>
            </a:pPr>
            <a:r>
              <a:rPr lang="en-US" sz="2200" b="1">
                <a:solidFill>
                  <a:srgbClr val="E2E8F0"/>
                </a:solidFill>
                <a:latin typeface="Consolas" pitchFamily="34" charset="0"/>
              </a:rPr>
              <a:t>Q5</a:t>
            </a:r>
          </a:p>
          <a:p>
            <a:pPr marL="0" indent="0" algn="ctr">
              <a:lnSpc>
                <a:spcPts val="1100"/>
              </a:lnSpc>
              <a:spcBef>
                <a:spcPts val="150"/>
              </a:spcBef>
              <a:buNone/>
            </a:pPr>
            <a:r>
              <a:rPr lang="en-US" sz="750">
                <a:solidFill>
                  <a:srgbClr val="8B9CB6"/>
                </a:solidFill>
                <a:latin typeface="Calibri" pitchFamily="34" charset="0"/>
              </a:rPr>
              <a:t>5-bit mixed (K_M)</a:t>
            </a:r>
          </a:p>
          <a:p>
            <a:pPr marL="0" indent="0" algn="ctr">
              <a:lnSpc>
                <a:spcPts val="1100"/>
              </a:lnSpc>
              <a:spcBef>
                <a:spcPts val="100"/>
              </a:spcBef>
              <a:buNone/>
            </a:pPr>
            <a:r>
              <a:rPr lang="en-US" sz="750" b="1">
                <a:solidFill>
                  <a:srgbClr val="E2E8F0"/>
                </a:solidFill>
                <a:latin typeface="Calibri" pitchFamily="34" charset="0"/>
              </a:rPr>
              <a:t>0.63 bytes/weight</a:t>
            </a:r>
          </a:p>
          <a:p>
            <a:pPr marL="0" indent="0" algn="ctr">
              <a:lnSpc>
                <a:spcPts val="1100"/>
              </a:lnSpc>
              <a:spcBef>
                <a:spcPts val="200"/>
              </a:spcBef>
              <a:buNone/>
            </a:pPr>
            <a:r>
              <a:rPr lang="en-US" sz="700">
                <a:solidFill>
                  <a:srgbClr val="8B9CB6"/>
                </a:solidFill>
                <a:latin typeface="Calibri" pitchFamily="34" charset="0"/>
              </a:rPr>
              <a:t>~99% quality</a:t>
            </a:r>
          </a:p>
          <a:p>
            <a:pPr marL="0" indent="0" algn="ctr">
              <a:lnSpc>
                <a:spcPts val="1100"/>
              </a:lnSpc>
              <a:spcBef>
                <a:spcPts val="100"/>
              </a:spcBef>
              <a:buNone/>
            </a:pPr>
            <a:r>
              <a:rPr lang="en-US" sz="700">
                <a:solidFill>
                  <a:srgbClr val="8B9CB6"/>
                </a:solidFill>
                <a:latin typeface="Calibri" pitchFamily="34" charset="0"/>
              </a:rPr>
              <a:t>8B model ≈ 5.5 GB RAM</a:t>
            </a:r>
          </a:p>
        </p:txBody>
      </p:sp>
      <p:sp>
        <p:nvSpPr>
          <p:cNvPr id="60" name="Q4Bg"/>
          <p:cNvSpPr/>
          <p:nvPr/>
        </p:nvSpPr>
        <p:spPr>
          <a:xfrm>
            <a:off x="6734000" y="2710000"/>
            <a:ext cx="1970000" cy="1800000"/>
          </a:xfrm>
          <a:prstGeom prst="roundRect">
            <a:avLst>
              <a:gd name="adj" fmla="val 3000"/>
            </a:avLst>
          </a:prstGeom>
          <a:solidFill>
            <a:srgbClr val="131C2A"/>
          </a:solidFill>
          <a:ln w="12700">
            <a:solidFill>
              <a:srgbClr val="76B900">
                <a:alpha val="50000"/>
              </a:srgbClr>
            </a:solidFill>
          </a:ln>
        </p:spPr>
        <p:txBody>
          <a:bodyPr wrap="square" rtlCol="0" anchor="t"/>
          <a:lstStyle/>
          <a:p>
            <a:pPr marL="0" indent="0">
              <a:buNone/>
            </a:pPr>
            <a:endParaRPr lang="en-US"/>
          </a:p>
        </p:txBody>
      </p:sp>
      <p:sp>
        <p:nvSpPr>
          <p:cNvPr id="61" name="Q4Content"/>
          <p:cNvSpPr/>
          <p:nvPr/>
        </p:nvSpPr>
        <p:spPr>
          <a:xfrm>
            <a:off x="6834000" y="2770000"/>
            <a:ext cx="1770000" cy="168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 RECOMMENDED</a:t>
            </a:r>
          </a:p>
          <a:p>
            <a:pPr marL="0" indent="0" algn="ctr">
              <a:lnSpc>
                <a:spcPts val="2600"/>
              </a:lnSpc>
              <a:spcBef>
                <a:spcPts val="150"/>
              </a:spcBef>
              <a:buNone/>
            </a:pPr>
            <a:r>
              <a:rPr lang="en-US" sz="2200" b="1">
                <a:solidFill>
                  <a:srgbClr val="76B900"/>
                </a:solidFill>
                <a:latin typeface="Consolas" pitchFamily="34" charset="0"/>
              </a:rPr>
              <a:t>Q4</a:t>
            </a:r>
          </a:p>
          <a:p>
            <a:pPr marL="0" indent="0" algn="ctr">
              <a:lnSpc>
                <a:spcPts val="1100"/>
              </a:lnSpc>
              <a:spcBef>
                <a:spcPts val="150"/>
              </a:spcBef>
              <a:buNone/>
            </a:pPr>
            <a:r>
              <a:rPr lang="en-US" sz="750">
                <a:solidFill>
                  <a:srgbClr val="8B9CB6"/>
                </a:solidFill>
                <a:latin typeface="Calibri" pitchFamily="34" charset="0"/>
              </a:rPr>
              <a:t>4-bit mixed (K_M)</a:t>
            </a:r>
          </a:p>
          <a:p>
            <a:pPr marL="0" indent="0" algn="ctr">
              <a:lnSpc>
                <a:spcPts val="1100"/>
              </a:lnSpc>
              <a:spcBef>
                <a:spcPts val="100"/>
              </a:spcBef>
              <a:buNone/>
            </a:pPr>
            <a:r>
              <a:rPr lang="en-US" sz="750" b="1">
                <a:solidFill>
                  <a:srgbClr val="E2E8F0"/>
                </a:solidFill>
                <a:latin typeface="Calibri" pitchFamily="34" charset="0"/>
              </a:rPr>
              <a:t>0.5 bytes/weight</a:t>
            </a:r>
          </a:p>
          <a:p>
            <a:pPr marL="0" indent="0" algn="ctr">
              <a:lnSpc>
                <a:spcPts val="1100"/>
              </a:lnSpc>
              <a:spcBef>
                <a:spcPts val="200"/>
              </a:spcBef>
              <a:buNone/>
            </a:pPr>
            <a:r>
              <a:rPr lang="en-US" sz="700">
                <a:solidFill>
                  <a:srgbClr val="8B9CB6"/>
                </a:solidFill>
                <a:latin typeface="Calibri" pitchFamily="34" charset="0"/>
              </a:rPr>
              <a:t>~98% quality</a:t>
            </a:r>
          </a:p>
          <a:p>
            <a:pPr marL="0" indent="0" algn="ctr">
              <a:lnSpc>
                <a:spcPts val="1100"/>
              </a:lnSpc>
              <a:spcBef>
                <a:spcPts val="100"/>
              </a:spcBef>
              <a:buNone/>
            </a:pPr>
            <a:r>
              <a:rPr lang="en-US" sz="700">
                <a:solidFill>
                  <a:srgbClr val="8B9CB6"/>
                </a:solidFill>
                <a:latin typeface="Calibri" pitchFamily="34" charset="0"/>
              </a:rPr>
              <a:t>8B model ≈ 4.7 GB RAM</a:t>
            </a:r>
          </a:p>
        </p:txBody>
      </p:sp>
      <p:sp>
        <p:nvSpPr>
          <p:cNvPr id="70" name="FooterTip"/>
          <p:cNvSpPr/>
          <p:nvPr/>
        </p:nvSpPr>
        <p:spPr>
          <a:xfrm>
            <a:off x="440000" y="4650000"/>
            <a:ext cx="8264000" cy="200000"/>
          </a:xfrm>
          <a:prstGeom prst="rect">
            <a:avLst/>
          </a:prstGeom>
          <a:noFill/>
          <a:ln/>
        </p:spPr>
        <p:txBody>
          <a:bodyPr wrap="square" lIns="0" tIns="0" rIns="0" bIns="0" rtlCol="0" anchor="t"/>
          <a:lstStyle/>
          <a:p>
            <a:pPr marL="0" indent="0" algn="ctr">
              <a:lnSpc>
                <a:spcPts val="1100"/>
              </a:lnSpc>
              <a:buNone/>
            </a:pPr>
            <a:r>
              <a:rPr lang="en-US" sz="650" b="1">
                <a:solidFill>
                  <a:srgbClr val="76B900"/>
                </a:solidFill>
                <a:latin typeface="Consolas" pitchFamily="34" charset="0"/>
              </a:rPr>
              <a:t>TIP</a:t>
            </a:r>
            <a:r>
              <a:rPr lang="en-US" sz="650">
                <a:solidFill>
                  <a:srgbClr val="8B9CB6"/>
                </a:solidFill>
                <a:latin typeface="Calibri" pitchFamily="34" charset="0"/>
              </a:rPr>
              <a:t>  —  Ollama auto-selects Q4_K_M by default. To choose a different quant:  </a:t>
            </a:r>
            <a:r>
              <a:rPr lang="en-US" sz="650">
                <a:solidFill>
                  <a:srgbClr val="76B900"/>
                </a:solidFill>
                <a:latin typeface="Consolas" pitchFamily="34" charset="0"/>
              </a:rPr>
              <a:t>ollama pull llama3.3:8b-q8_0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bg>
      <p:bgPr>
        <a:solidFill>
          <a:srgbClr val="0A0F1A"/>
        </a:solidFill>
        <a:effectLst/>
      </p:bgPr>
    </p:bg>
    <p:spTree>
      <p:nvGrpSpPr>
        <p:cNvPr id="1" name=""/>
        <p:cNvGrpSpPr/>
        <p:nvPr/>
      </p:nvGrpSpPr>
      <p:grpSpPr>
        <a:xfrm>
          <a:off x="0" y="0"/>
          <a:ext cx="0" cy="0"/>
          <a:chOff x="0" y="0"/>
          <a:chExt cx="0" cy="0"/>
        </a:xfrm>
      </p:grpSpPr>
      <p:sp>
        <p:nvSpPr>
          <p:cNvPr id="2" name="BgGrad"/>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itle"/>
          <p:cNvSpPr/>
          <p:nvPr/>
        </p:nvSpPr>
        <p:spPr>
          <a:xfrm>
            <a:off x="169164" y="260000"/>
            <a:ext cx="8805672" cy="340000"/>
          </a:xfrm>
          <a:prstGeom prst="rect">
            <a:avLst/>
          </a:prstGeom>
          <a:noFill/>
          <a:ln/>
        </p:spPr>
        <p:txBody>
          <a:bodyPr wrap="none" lIns="0" tIns="0" rIns="0" bIns="0" rtlCol="0" anchor="t"/>
          <a:lstStyle/>
          <a:p>
            <a:pPr marL="0" indent="0" algn="ctr">
              <a:lnSpc>
                <a:spcPts val="2800"/>
              </a:lnSpc>
              <a:buNone/>
            </a:pPr>
            <a:r>
              <a:rPr lang="en-US" sz="2030" b="1" kern="0" spc="-30">
                <a:solidFill>
                  <a:srgbClr val="E2E8F0"/>
                </a:solidFill>
                <a:latin typeface="Consolas" pitchFamily="34" charset="0"/>
                <a:ea typeface="Consolas" pitchFamily="34" charset="-122"/>
                <a:cs typeface="Consolas" pitchFamily="34" charset="-120"/>
              </a:rPr>
              <a:t>Recommended Models </a:t>
            </a:r>
            <a:r>
              <a:rPr lang="en-US" sz="2030" b="1" kern="0" spc="-30">
                <a:solidFill>
                  <a:srgbClr val="76B900"/>
                </a:solidFill>
                <a:latin typeface="Consolas" pitchFamily="34" charset="0"/>
                <a:ea typeface="Consolas" pitchFamily="34" charset="-122"/>
                <a:cs typeface="Consolas" pitchFamily="34" charset="-120"/>
              </a:rPr>
              <a:t>by Hardware</a:t>
            </a:r>
          </a:p>
        </p:txBody>
      </p:sp>
      <p:sp>
        <p:nvSpPr>
          <p:cNvPr id="4" name="Subtitle"/>
          <p:cNvSpPr/>
          <p:nvPr/>
        </p:nvSpPr>
        <p:spPr>
          <a:xfrm>
            <a:off x="169164" y="650000"/>
            <a:ext cx="8805672" cy="200000"/>
          </a:xfrm>
          <a:prstGeom prst="rect">
            <a:avLst/>
          </a:prstGeom>
          <a:noFill/>
          <a:ln/>
        </p:spPr>
        <p:txBody>
          <a:bodyPr wrap="none" lIns="0" tIns="0" rIns="0" bIns="0" rtlCol="0" anchor="t"/>
          <a:lstStyle/>
          <a:p>
            <a:pPr marL="0" indent="0" algn="ctr">
              <a:lnSpc>
                <a:spcPts val="1350"/>
              </a:lnSpc>
              <a:buNone/>
            </a:pPr>
            <a:r>
              <a:rPr lang="en-US" sz="900">
                <a:solidFill>
                  <a:srgbClr val="8B9CB6"/>
                </a:solidFill>
                <a:latin typeface="Calibri" pitchFamily="34" charset="0"/>
              </a:rPr>
              <a:t>Pick the best Ollama model for your available RAM — from lightweight testing to near-frontier quality</a:t>
            </a:r>
          </a:p>
        </p:txBody>
      </p:sp>
      <p:sp>
        <p:nvSpPr>
          <p:cNvPr id="5" name="AccentBar1"/>
          <p:cNvSpPr/>
          <p:nvPr/>
        </p:nvSpPr>
        <p:spPr>
          <a:xfrm>
            <a:off x="440000" y="940000"/>
            <a:ext cx="197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6" name="AccentBar2"/>
          <p:cNvSpPr/>
          <p:nvPr/>
        </p:nvSpPr>
        <p:spPr>
          <a:xfrm>
            <a:off x="2538000" y="940000"/>
            <a:ext cx="197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7" name="AccentBar3"/>
          <p:cNvSpPr/>
          <p:nvPr/>
        </p:nvSpPr>
        <p:spPr>
          <a:xfrm>
            <a:off x="4636000" y="940000"/>
            <a:ext cx="197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8" name="AccentBar4"/>
          <p:cNvSpPr/>
          <p:nvPr/>
        </p:nvSpPr>
        <p:spPr>
          <a:xfrm>
            <a:off x="6734000" y="940000"/>
            <a:ext cx="197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10" name="Card1Bg"/>
          <p:cNvSpPr/>
          <p:nvPr/>
        </p:nvSpPr>
        <p:spPr>
          <a:xfrm>
            <a:off x="440000" y="980000"/>
            <a:ext cx="1970000" cy="2900000"/>
          </a:xfrm>
          <a:prstGeom prst="roundRect">
            <a:avLst>
              <a:gd name="adj" fmla="val 4000"/>
            </a:avLst>
          </a:prstGeom>
          <a:solidFill>
            <a:srgbClr val="131C2A"/>
          </a:solidFill>
          <a:ln w="9525">
            <a:solidFill>
              <a:srgbClr val="76B900">
                <a:alpha val="15000"/>
              </a:srgbClr>
            </a:solidFill>
          </a:ln>
        </p:spPr>
        <p:txBody>
          <a:bodyPr wrap="square" rtlCol="0" anchor="t"/>
          <a:lstStyle/>
          <a:p>
            <a:pPr marL="0" indent="0">
              <a:buNone/>
            </a:pPr>
            <a:endParaRPr lang="en-US" dirty="0"/>
          </a:p>
        </p:txBody>
      </p:sp>
      <p:sp>
        <p:nvSpPr>
          <p:cNvPr id="11" name="Card1Content"/>
          <p:cNvSpPr/>
          <p:nvPr/>
        </p:nvSpPr>
        <p:spPr>
          <a:xfrm>
            <a:off x="540000" y="1040000"/>
            <a:ext cx="1770000" cy="277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STARTER</a:t>
            </a:r>
          </a:p>
          <a:p>
            <a:pPr marL="0" indent="0" algn="ctr">
              <a:lnSpc>
                <a:spcPts val="2400"/>
              </a:lnSpc>
              <a:spcBef>
                <a:spcPts val="200"/>
              </a:spcBef>
              <a:buNone/>
            </a:pPr>
            <a:r>
              <a:rPr lang="en-US" sz="2200" b="1">
                <a:solidFill>
                  <a:srgbClr val="E2E8F0"/>
                </a:solidFill>
                <a:latin typeface="Consolas" pitchFamily="34" charset="0"/>
              </a:rPr>
              <a:t>8 GB</a:t>
            </a:r>
          </a:p>
          <a:p>
            <a:pPr marL="0" indent="0" algn="ctr">
              <a:lnSpc>
                <a:spcPts val="1500"/>
              </a:lnSpc>
              <a:spcBef>
                <a:spcPts val="100"/>
              </a:spcBef>
              <a:buNone/>
            </a:pPr>
            <a:r>
              <a:rPr lang="en-US" sz="1100" b="1">
                <a:solidFill>
                  <a:srgbClr val="76B900"/>
                </a:solidFill>
                <a:latin typeface="Consolas" pitchFamily="34" charset="0"/>
              </a:rPr>
              <a:t>Gemma 3 4B</a:t>
            </a:r>
          </a:p>
          <a:p>
            <a:pPr marL="0" indent="0" algn="ctr">
              <a:lnSpc>
                <a:spcPts val="1000"/>
              </a:lnSpc>
              <a:spcBef>
                <a:spcPts val="100"/>
              </a:spcBef>
              <a:buNone/>
            </a:pPr>
            <a:r>
              <a:rPr lang="en-US" sz="650">
                <a:solidFill>
                  <a:srgbClr val="8B9CB6"/>
                </a:solidFill>
                <a:latin typeface="Calibri" pitchFamily="34" charset="0"/>
              </a:rPr>
              <a:t>2.8 GB download  •  4B params</a:t>
            </a:r>
          </a:p>
          <a:p>
            <a:pPr marL="0" indent="0" algn="ctr">
              <a:lnSpc>
                <a:spcPts val="1100"/>
              </a:lnSpc>
              <a:spcBef>
                <a:spcPts val="300"/>
              </a:spcBef>
              <a:buNone/>
            </a:pPr>
            <a:r>
              <a:rPr lang="en-US" sz="650">
                <a:solidFill>
                  <a:srgbClr val="76B900"/>
                </a:solidFill>
                <a:latin typeface="Consolas" pitchFamily="34" charset="0"/>
              </a:rPr>
              <a:t>ollama pull gemma3:4b</a:t>
            </a:r>
          </a:p>
          <a:p>
            <a:pPr marL="0" indent="0" algn="ctr">
              <a:lnSpc>
                <a:spcPts val="600"/>
              </a:lnSpc>
              <a:spcBef>
                <a:spcPts val="200"/>
              </a:spcBef>
              <a:buNone/>
            </a:pPr>
            <a:r>
              <a:rPr lang="en-US" sz="500">
                <a:solidFill>
                  <a:srgbClr val="76B900">
                    <a:alpha val="30000"/>
                  </a:srgbClr>
                </a:solidFill>
                <a:latin typeface="Calibri" pitchFamily="34" charset="0"/>
              </a:rPr>
              <a:t>──────────────────────</a:t>
            </a:r>
          </a:p>
          <a:p>
            <a:pPr marL="0" indent="0" algn="l">
              <a:lnSpc>
                <a:spcPts val="1000"/>
              </a:lnSpc>
              <a:spcBef>
                <a:spcPts val="200"/>
              </a:spcBef>
              <a:buNone/>
            </a:pPr>
            <a:r>
              <a:rPr lang="en-US" sz="650" b="1">
                <a:solidFill>
                  <a:srgbClr val="E2E8F0"/>
                </a:solidFill>
                <a:latin typeface="Calibri" pitchFamily="34" charset="0"/>
              </a:rPr>
              <a:t>Why this model:</a:t>
            </a:r>
          </a:p>
          <a:p>
            <a:pPr marL="0" indent="0" algn="l">
              <a:lnSpc>
                <a:spcPts val="1000"/>
              </a:lnSpc>
              <a:spcBef>
                <a:spcPts val="100"/>
              </a:spcBef>
              <a:buNone/>
            </a:pPr>
            <a:r>
              <a:rPr lang="en-US" sz="620">
                <a:solidFill>
                  <a:srgbClr val="76B900"/>
                </a:solidFill>
                <a:latin typeface="Consolas" pitchFamily="34" charset="0"/>
              </a:rPr>
              <a:t>▸ </a:t>
            </a:r>
            <a:r>
              <a:rPr lang="en-US" sz="620">
                <a:solidFill>
                  <a:srgbClr val="8B9CB6"/>
                </a:solidFill>
                <a:latin typeface="Calibri" pitchFamily="34" charset="0"/>
              </a:rPr>
              <a:t>Runs on almost any hardware including laptops and Raspberry Pi</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Built-in vision — understands images natively</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40–60 tok/s on GPU, near-instant feel</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Quality close to 8B general models at half the size</a:t>
            </a:r>
          </a:p>
          <a:p>
            <a:pPr marL="0" indent="0" algn="l">
              <a:lnSpc>
                <a:spcPts val="1000"/>
              </a:lnSpc>
              <a:spcBef>
                <a:spcPts val="250"/>
              </a:spcBef>
              <a:buNone/>
            </a:pPr>
            <a:r>
              <a:rPr lang="en-US" sz="600" b="1">
                <a:solidFill>
                  <a:srgbClr val="76B900"/>
                </a:solidFill>
                <a:latin typeface="Calibri" pitchFamily="34" charset="0"/>
              </a:rPr>
              <a:t>Best for: </a:t>
            </a:r>
            <a:r>
              <a:rPr lang="en-US" sz="600">
                <a:solidFill>
                  <a:srgbClr val="8B9CB6"/>
                </a:solidFill>
                <a:latin typeface="Calibri" pitchFamily="34" charset="0"/>
              </a:rPr>
              <a:t>Quick testing, edge devices, constrained hardware</a:t>
            </a:r>
          </a:p>
        </p:txBody>
      </p:sp>
      <p:sp>
        <p:nvSpPr>
          <p:cNvPr id="20" name="Card2Bg"/>
          <p:cNvSpPr/>
          <p:nvPr/>
        </p:nvSpPr>
        <p:spPr>
          <a:xfrm>
            <a:off x="2538000" y="980000"/>
            <a:ext cx="1970000" cy="2900000"/>
          </a:xfrm>
          <a:prstGeom prst="roundRect">
            <a:avLst>
              <a:gd name="adj" fmla="val 4000"/>
            </a:avLst>
          </a:prstGeom>
          <a:solidFill>
            <a:srgbClr val="131C2A"/>
          </a:solidFill>
          <a:ln w="9525">
            <a:solidFill>
              <a:srgbClr val="76B900">
                <a:alpha val="15000"/>
              </a:srgbClr>
            </a:solidFill>
          </a:ln>
        </p:spPr>
        <p:txBody>
          <a:bodyPr wrap="square" rtlCol="0" anchor="t"/>
          <a:lstStyle/>
          <a:p>
            <a:pPr marL="0" indent="0">
              <a:buNone/>
            </a:pPr>
            <a:endParaRPr lang="en-US" dirty="0"/>
          </a:p>
        </p:txBody>
      </p:sp>
      <p:sp>
        <p:nvSpPr>
          <p:cNvPr id="21" name="Card2Content"/>
          <p:cNvSpPr/>
          <p:nvPr/>
        </p:nvSpPr>
        <p:spPr>
          <a:xfrm>
            <a:off x="2638000" y="1040000"/>
            <a:ext cx="1770000" cy="277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SWEET SPOT</a:t>
            </a:r>
          </a:p>
          <a:p>
            <a:pPr marL="0" indent="0" algn="ctr">
              <a:lnSpc>
                <a:spcPts val="2400"/>
              </a:lnSpc>
              <a:spcBef>
                <a:spcPts val="200"/>
              </a:spcBef>
              <a:buNone/>
            </a:pPr>
            <a:r>
              <a:rPr lang="en-US" sz="2200" b="1">
                <a:solidFill>
                  <a:srgbClr val="E2E8F0"/>
                </a:solidFill>
                <a:latin typeface="Consolas" pitchFamily="34" charset="0"/>
              </a:rPr>
              <a:t>16 GB</a:t>
            </a:r>
          </a:p>
          <a:p>
            <a:pPr marL="0" indent="0" algn="ctr">
              <a:lnSpc>
                <a:spcPts val="1500"/>
              </a:lnSpc>
              <a:spcBef>
                <a:spcPts val="100"/>
              </a:spcBef>
              <a:buNone/>
            </a:pPr>
            <a:r>
              <a:rPr lang="en-US" sz="1100" b="1">
                <a:solidFill>
                  <a:srgbClr val="76B900"/>
                </a:solidFill>
                <a:latin typeface="Consolas" pitchFamily="34" charset="0"/>
              </a:rPr>
              <a:t>Llama 3.3 8B</a:t>
            </a:r>
          </a:p>
          <a:p>
            <a:pPr marL="0" indent="0" algn="ctr">
              <a:lnSpc>
                <a:spcPts val="1000"/>
              </a:lnSpc>
              <a:spcBef>
                <a:spcPts val="100"/>
              </a:spcBef>
              <a:buNone/>
            </a:pPr>
            <a:r>
              <a:rPr lang="en-US" sz="650">
                <a:solidFill>
                  <a:srgbClr val="8B9CB6"/>
                </a:solidFill>
                <a:latin typeface="Calibri" pitchFamily="34" charset="0"/>
              </a:rPr>
              <a:t>4.7 GB download  •  8B params</a:t>
            </a:r>
          </a:p>
          <a:p>
            <a:pPr marL="0" indent="0" algn="ctr">
              <a:lnSpc>
                <a:spcPts val="1100"/>
              </a:lnSpc>
              <a:spcBef>
                <a:spcPts val="300"/>
              </a:spcBef>
              <a:buNone/>
            </a:pPr>
            <a:r>
              <a:rPr lang="en-US" sz="650">
                <a:solidFill>
                  <a:srgbClr val="76B900"/>
                </a:solidFill>
                <a:latin typeface="Consolas" pitchFamily="34" charset="0"/>
              </a:rPr>
              <a:t>ollama pull llama3.3</a:t>
            </a:r>
          </a:p>
          <a:p>
            <a:pPr marL="0" indent="0" algn="ctr">
              <a:lnSpc>
                <a:spcPts val="600"/>
              </a:lnSpc>
              <a:spcBef>
                <a:spcPts val="200"/>
              </a:spcBef>
              <a:buNone/>
            </a:pPr>
            <a:r>
              <a:rPr lang="en-US" sz="500">
                <a:solidFill>
                  <a:srgbClr val="76B900">
                    <a:alpha val="30000"/>
                  </a:srgbClr>
                </a:solidFill>
                <a:latin typeface="Calibri" pitchFamily="34" charset="0"/>
              </a:rPr>
              <a:t>──────────────────────</a:t>
            </a:r>
          </a:p>
          <a:p>
            <a:pPr marL="0" indent="0" algn="l">
              <a:lnSpc>
                <a:spcPts val="1000"/>
              </a:lnSpc>
              <a:spcBef>
                <a:spcPts val="200"/>
              </a:spcBef>
              <a:buNone/>
            </a:pPr>
            <a:r>
              <a:rPr lang="en-US" sz="650" b="1">
                <a:solidFill>
                  <a:srgbClr val="E2E8F0"/>
                </a:solidFill>
                <a:latin typeface="Calibri" pitchFamily="34" charset="0"/>
              </a:rPr>
              <a:t>Why this model:</a:t>
            </a:r>
          </a:p>
          <a:p>
            <a:pPr marL="0" indent="0" algn="l">
              <a:lnSpc>
                <a:spcPts val="1000"/>
              </a:lnSpc>
              <a:spcBef>
                <a:spcPts val="100"/>
              </a:spcBef>
              <a:buNone/>
            </a:pPr>
            <a:r>
              <a:rPr lang="en-US" sz="620">
                <a:solidFill>
                  <a:srgbClr val="76B900"/>
                </a:solidFill>
                <a:latin typeface="Consolas" pitchFamily="34" charset="0"/>
              </a:rPr>
              <a:t>▸ </a:t>
            </a:r>
            <a:r>
              <a:rPr lang="en-US" sz="620">
                <a:solidFill>
                  <a:srgbClr val="8B9CB6"/>
                </a:solidFill>
                <a:latin typeface="Calibri" pitchFamily="34" charset="0"/>
              </a:rPr>
              <a:t>111M+ downloads — most popular model on Ollama</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128K context window for long documents and code</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Strong at chat, coding, analysis, and summarization</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Reliable instruction following across every task type</a:t>
            </a:r>
          </a:p>
          <a:p>
            <a:pPr marL="0" indent="0" algn="l">
              <a:lnSpc>
                <a:spcPts val="1000"/>
              </a:lnSpc>
              <a:spcBef>
                <a:spcPts val="250"/>
              </a:spcBef>
              <a:buNone/>
            </a:pPr>
            <a:r>
              <a:rPr lang="en-US" sz="600" b="1">
                <a:solidFill>
                  <a:srgbClr val="76B900"/>
                </a:solidFill>
                <a:latin typeface="Calibri" pitchFamily="34" charset="0"/>
              </a:rPr>
              <a:t>Best for: </a:t>
            </a:r>
            <a:r>
              <a:rPr lang="en-US" sz="600">
                <a:solidFill>
                  <a:srgbClr val="8B9CB6"/>
                </a:solidFill>
                <a:latin typeface="Calibri" pitchFamily="34" charset="0"/>
              </a:rPr>
              <a:t>Daily driver, general purpose, AI assistants</a:t>
            </a:r>
          </a:p>
        </p:txBody>
      </p:sp>
      <p:sp>
        <p:nvSpPr>
          <p:cNvPr id="30" name="Card3Bg"/>
          <p:cNvSpPr/>
          <p:nvPr/>
        </p:nvSpPr>
        <p:spPr>
          <a:xfrm>
            <a:off x="4636000" y="980000"/>
            <a:ext cx="1970000" cy="2900000"/>
          </a:xfrm>
          <a:prstGeom prst="roundRect">
            <a:avLst>
              <a:gd name="adj" fmla="val 4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31" name="Card3Content"/>
          <p:cNvSpPr/>
          <p:nvPr/>
        </p:nvSpPr>
        <p:spPr>
          <a:xfrm>
            <a:off x="4736000" y="1040000"/>
            <a:ext cx="1770000" cy="277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POWERHOUSE</a:t>
            </a:r>
          </a:p>
          <a:p>
            <a:pPr marL="0" indent="0" algn="ctr">
              <a:lnSpc>
                <a:spcPts val="2400"/>
              </a:lnSpc>
              <a:spcBef>
                <a:spcPts val="200"/>
              </a:spcBef>
              <a:buNone/>
            </a:pPr>
            <a:r>
              <a:rPr lang="en-US" sz="2200" b="1">
                <a:solidFill>
                  <a:srgbClr val="E2E8F0"/>
                </a:solidFill>
                <a:latin typeface="Consolas" pitchFamily="34" charset="0"/>
              </a:rPr>
              <a:t>32 GB</a:t>
            </a:r>
          </a:p>
          <a:p>
            <a:pPr marL="0" indent="0" algn="ctr">
              <a:lnSpc>
                <a:spcPts val="1500"/>
              </a:lnSpc>
              <a:spcBef>
                <a:spcPts val="100"/>
              </a:spcBef>
              <a:buNone/>
            </a:pPr>
            <a:r>
              <a:rPr lang="en-US" sz="1000" b="1">
                <a:solidFill>
                  <a:srgbClr val="76B900"/>
                </a:solidFill>
                <a:latin typeface="Consolas" pitchFamily="34" charset="0"/>
              </a:rPr>
              <a:t>DeepSeek R1 32B</a:t>
            </a:r>
          </a:p>
          <a:p>
            <a:pPr marL="0" indent="0" algn="ctr">
              <a:lnSpc>
                <a:spcPts val="1000"/>
              </a:lnSpc>
              <a:spcBef>
                <a:spcPts val="100"/>
              </a:spcBef>
              <a:buNone/>
            </a:pPr>
            <a:r>
              <a:rPr lang="en-US" sz="650">
                <a:solidFill>
                  <a:srgbClr val="8B9CB6"/>
                </a:solidFill>
                <a:latin typeface="Calibri" pitchFamily="34" charset="0"/>
              </a:rPr>
              <a:t>20 GB download  •  32B params</a:t>
            </a:r>
          </a:p>
          <a:p>
            <a:pPr marL="0" indent="0" algn="ctr">
              <a:lnSpc>
                <a:spcPts val="1100"/>
              </a:lnSpc>
              <a:spcBef>
                <a:spcPts val="300"/>
              </a:spcBef>
              <a:buNone/>
            </a:pPr>
            <a:r>
              <a:rPr lang="en-US" sz="650">
                <a:solidFill>
                  <a:srgbClr val="76B900"/>
                </a:solidFill>
                <a:latin typeface="Consolas" pitchFamily="34" charset="0"/>
              </a:rPr>
              <a:t>ollama pull deepseek-r1:32b</a:t>
            </a:r>
          </a:p>
          <a:p>
            <a:pPr marL="0" indent="0" algn="ctr">
              <a:lnSpc>
                <a:spcPts val="600"/>
              </a:lnSpc>
              <a:spcBef>
                <a:spcPts val="200"/>
              </a:spcBef>
              <a:buNone/>
            </a:pPr>
            <a:r>
              <a:rPr lang="en-US" sz="500">
                <a:solidFill>
                  <a:srgbClr val="76B900">
                    <a:alpha val="30000"/>
                  </a:srgbClr>
                </a:solidFill>
                <a:latin typeface="Calibri" pitchFamily="34" charset="0"/>
              </a:rPr>
              <a:t>──────────────────────</a:t>
            </a:r>
          </a:p>
          <a:p>
            <a:pPr marL="0" indent="0" algn="l">
              <a:lnSpc>
                <a:spcPts val="1000"/>
              </a:lnSpc>
              <a:spcBef>
                <a:spcPts val="200"/>
              </a:spcBef>
              <a:buNone/>
            </a:pPr>
            <a:r>
              <a:rPr lang="en-US" sz="650" b="1">
                <a:solidFill>
                  <a:srgbClr val="E2E8F0"/>
                </a:solidFill>
                <a:latin typeface="Calibri" pitchFamily="34" charset="0"/>
              </a:rPr>
              <a:t>Why this model:</a:t>
            </a:r>
          </a:p>
          <a:p>
            <a:pPr marL="0" indent="0" algn="l">
              <a:lnSpc>
                <a:spcPts val="1000"/>
              </a:lnSpc>
              <a:spcBef>
                <a:spcPts val="100"/>
              </a:spcBef>
              <a:buNone/>
            </a:pPr>
            <a:r>
              <a:rPr lang="en-US" sz="620">
                <a:solidFill>
                  <a:srgbClr val="76B900"/>
                </a:solidFill>
                <a:latin typeface="Consolas" pitchFamily="34" charset="0"/>
              </a:rPr>
              <a:t>▸ </a:t>
            </a:r>
            <a:r>
              <a:rPr lang="en-US" sz="620">
                <a:solidFill>
                  <a:srgbClr val="8B9CB6"/>
                </a:solidFill>
                <a:latin typeface="Calibri" pitchFamily="34" charset="0"/>
              </a:rPr>
              <a:t>Chain-of-thought reasoning — thinks step by step like o1</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79.8% MATH-500, rivaling top proprietary models</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79M downloads — 2nd most popular on Ollama</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Excels at debugging, logic puzzles, and complex code</a:t>
            </a:r>
          </a:p>
          <a:p>
            <a:pPr marL="0" indent="0" algn="l">
              <a:lnSpc>
                <a:spcPts val="1000"/>
              </a:lnSpc>
              <a:spcBef>
                <a:spcPts val="250"/>
              </a:spcBef>
              <a:buNone/>
            </a:pPr>
            <a:r>
              <a:rPr lang="en-US" sz="600" b="1">
                <a:solidFill>
                  <a:srgbClr val="76B900"/>
                </a:solidFill>
                <a:latin typeface="Calibri" pitchFamily="34" charset="0"/>
              </a:rPr>
              <a:t>Best for: </a:t>
            </a:r>
            <a:r>
              <a:rPr lang="en-US" sz="600">
                <a:solidFill>
                  <a:srgbClr val="8B9CB6"/>
                </a:solidFill>
                <a:latin typeface="Calibri" pitchFamily="34" charset="0"/>
              </a:rPr>
              <a:t>Math, reasoning, code review, complex analysis</a:t>
            </a:r>
          </a:p>
        </p:txBody>
      </p:sp>
      <p:sp>
        <p:nvSpPr>
          <p:cNvPr id="40" name="Card4Bg"/>
          <p:cNvSpPr/>
          <p:nvPr/>
        </p:nvSpPr>
        <p:spPr>
          <a:xfrm>
            <a:off x="6734000" y="980000"/>
            <a:ext cx="1970000" cy="2900000"/>
          </a:xfrm>
          <a:prstGeom prst="roundRect">
            <a:avLst>
              <a:gd name="adj" fmla="val 4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41" name="Card4Content"/>
          <p:cNvSpPr/>
          <p:nvPr/>
        </p:nvSpPr>
        <p:spPr>
          <a:xfrm>
            <a:off x="6834000" y="1040000"/>
            <a:ext cx="1770000" cy="2770000"/>
          </a:xfrm>
          <a:prstGeom prst="rect">
            <a:avLst/>
          </a:prstGeom>
          <a:noFill/>
          <a:ln/>
        </p:spPr>
        <p:txBody>
          <a:bodyPr wrap="square" lIns="0" tIns="0" rIns="0" bIns="0" rtlCol="0" anchor="t"/>
          <a:lstStyle/>
          <a:p>
            <a:pPr marL="0" indent="0" algn="ctr">
              <a:lnSpc>
                <a:spcPts val="1100"/>
              </a:lnSpc>
              <a:buNone/>
            </a:pPr>
            <a:r>
              <a:rPr lang="en-US" sz="700" b="1" spc="120">
                <a:solidFill>
                  <a:srgbClr val="76B900"/>
                </a:solidFill>
                <a:latin typeface="Consolas" pitchFamily="34" charset="0"/>
              </a:rPr>
              <a:t>FRONTIER</a:t>
            </a:r>
          </a:p>
          <a:p>
            <a:pPr marL="0" indent="0" algn="ctr">
              <a:lnSpc>
                <a:spcPts val="2400"/>
              </a:lnSpc>
              <a:spcBef>
                <a:spcPts val="200"/>
              </a:spcBef>
              <a:buNone/>
            </a:pPr>
            <a:r>
              <a:rPr lang="en-US" sz="2200" b="1">
                <a:solidFill>
                  <a:srgbClr val="E2E8F0"/>
                </a:solidFill>
                <a:latin typeface="Consolas" pitchFamily="34" charset="0"/>
              </a:rPr>
              <a:t>64 GB</a:t>
            </a:r>
          </a:p>
          <a:p>
            <a:pPr marL="0" indent="0" algn="ctr">
              <a:lnSpc>
                <a:spcPts val="1500"/>
              </a:lnSpc>
              <a:spcBef>
                <a:spcPts val="100"/>
              </a:spcBef>
              <a:buNone/>
            </a:pPr>
            <a:r>
              <a:rPr lang="en-US" sz="1000" b="1">
                <a:solidFill>
                  <a:srgbClr val="76B900"/>
                </a:solidFill>
                <a:latin typeface="Consolas" pitchFamily="34" charset="0"/>
              </a:rPr>
              <a:t>Llama 3.3 70B</a:t>
            </a:r>
          </a:p>
          <a:p>
            <a:pPr marL="0" indent="0" algn="ctr">
              <a:lnSpc>
                <a:spcPts val="1000"/>
              </a:lnSpc>
              <a:spcBef>
                <a:spcPts val="100"/>
              </a:spcBef>
              <a:buNone/>
            </a:pPr>
            <a:r>
              <a:rPr lang="en-US" sz="650">
                <a:solidFill>
                  <a:srgbClr val="8B9CB6"/>
                </a:solidFill>
                <a:latin typeface="Calibri" pitchFamily="34" charset="0"/>
              </a:rPr>
              <a:t>40 GB download  •  70B params</a:t>
            </a:r>
          </a:p>
          <a:p>
            <a:pPr marL="0" indent="0" algn="ctr">
              <a:lnSpc>
                <a:spcPts val="1100"/>
              </a:lnSpc>
              <a:spcBef>
                <a:spcPts val="300"/>
              </a:spcBef>
              <a:buNone/>
            </a:pPr>
            <a:r>
              <a:rPr lang="en-US" sz="650">
                <a:solidFill>
                  <a:srgbClr val="76B900"/>
                </a:solidFill>
                <a:latin typeface="Consolas" pitchFamily="34" charset="0"/>
              </a:rPr>
              <a:t>ollama pull llama3.3:70b</a:t>
            </a:r>
          </a:p>
          <a:p>
            <a:pPr marL="0" indent="0" algn="ctr">
              <a:lnSpc>
                <a:spcPts val="600"/>
              </a:lnSpc>
              <a:spcBef>
                <a:spcPts val="200"/>
              </a:spcBef>
              <a:buNone/>
            </a:pPr>
            <a:r>
              <a:rPr lang="en-US" sz="500">
                <a:solidFill>
                  <a:srgbClr val="76B900">
                    <a:alpha val="30000"/>
                  </a:srgbClr>
                </a:solidFill>
                <a:latin typeface="Calibri" pitchFamily="34" charset="0"/>
              </a:rPr>
              <a:t>──────────────────────</a:t>
            </a:r>
          </a:p>
          <a:p>
            <a:pPr marL="0" indent="0" algn="l">
              <a:lnSpc>
                <a:spcPts val="1000"/>
              </a:lnSpc>
              <a:spcBef>
                <a:spcPts val="200"/>
              </a:spcBef>
              <a:buNone/>
            </a:pPr>
            <a:r>
              <a:rPr lang="en-US" sz="650" b="1">
                <a:solidFill>
                  <a:srgbClr val="E2E8F0"/>
                </a:solidFill>
                <a:latin typeface="Calibri" pitchFamily="34" charset="0"/>
              </a:rPr>
              <a:t>Why this model:</a:t>
            </a:r>
          </a:p>
          <a:p>
            <a:pPr marL="0" indent="0" algn="l">
              <a:lnSpc>
                <a:spcPts val="1000"/>
              </a:lnSpc>
              <a:spcBef>
                <a:spcPts val="100"/>
              </a:spcBef>
              <a:buNone/>
            </a:pPr>
            <a:r>
              <a:rPr lang="en-US" sz="620">
                <a:solidFill>
                  <a:srgbClr val="76B900"/>
                </a:solidFill>
                <a:latin typeface="Consolas" pitchFamily="34" charset="0"/>
              </a:rPr>
              <a:t>▸ </a:t>
            </a:r>
            <a:r>
              <a:rPr lang="en-US" sz="620">
                <a:solidFill>
                  <a:srgbClr val="8B9CB6"/>
                </a:solidFill>
                <a:latin typeface="Calibri" pitchFamily="34" charset="0"/>
              </a:rPr>
              <a:t>Near-GPT-4o quality — 86.9 MMLU, 85% HumanEval</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Best open model for complex reasoning and document analysis</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Clinical instruction following — does exactly what you ask</a:t>
            </a:r>
          </a:p>
          <a:p>
            <a:pPr marL="0" indent="0" algn="l">
              <a:lnSpc>
                <a:spcPts val="1000"/>
              </a:lnSpc>
              <a:spcBef>
                <a:spcPts val="80"/>
              </a:spcBef>
              <a:buNone/>
            </a:pPr>
            <a:r>
              <a:rPr lang="en-US" sz="620">
                <a:solidFill>
                  <a:srgbClr val="76B900"/>
                </a:solidFill>
                <a:latin typeface="Consolas" pitchFamily="34" charset="0"/>
              </a:rPr>
              <a:t>▸ </a:t>
            </a:r>
            <a:r>
              <a:rPr lang="en-US" sz="620">
                <a:solidFill>
                  <a:srgbClr val="8B9CB6"/>
                </a:solidFill>
                <a:latin typeface="Calibri" pitchFamily="34" charset="0"/>
              </a:rPr>
              <a:t>Use Q4_K_M quantization — saves 50% RAM, invisible quality loss</a:t>
            </a:r>
          </a:p>
          <a:p>
            <a:pPr marL="0" indent="0" algn="l">
              <a:lnSpc>
                <a:spcPts val="1000"/>
              </a:lnSpc>
              <a:spcBef>
                <a:spcPts val="250"/>
              </a:spcBef>
              <a:buNone/>
            </a:pPr>
            <a:r>
              <a:rPr lang="en-US" sz="600" b="1">
                <a:solidFill>
                  <a:srgbClr val="76B900"/>
                </a:solidFill>
                <a:latin typeface="Calibri" pitchFamily="34" charset="0"/>
              </a:rPr>
              <a:t>Best for: </a:t>
            </a:r>
            <a:r>
              <a:rPr lang="en-US" sz="600">
                <a:solidFill>
                  <a:srgbClr val="8B9CB6"/>
                </a:solidFill>
                <a:latin typeface="Calibri" pitchFamily="34" charset="0"/>
              </a:rPr>
              <a:t>Production AI, sensitive docs, maximum local quality</a:t>
            </a:r>
          </a:p>
        </p:txBody>
      </p:sp>
      <p:sp>
        <p:nvSpPr>
          <p:cNvPr id="50" name="FooterTip"/>
          <p:cNvSpPr/>
          <p:nvPr/>
        </p:nvSpPr>
        <p:spPr>
          <a:xfrm>
            <a:off x="440000" y="4050000"/>
            <a:ext cx="8264000" cy="200000"/>
          </a:xfrm>
          <a:prstGeom prst="rect">
            <a:avLst/>
          </a:prstGeom>
          <a:noFill/>
          <a:ln/>
        </p:spPr>
        <p:txBody>
          <a:bodyPr wrap="square" lIns="0" tIns="0" rIns="0" bIns="0" rtlCol="0" anchor="t"/>
          <a:lstStyle/>
          <a:p>
            <a:pPr marL="0" indent="0" algn="ctr">
              <a:lnSpc>
                <a:spcPts val="1100"/>
              </a:lnSpc>
              <a:buNone/>
            </a:pPr>
            <a:r>
              <a:rPr lang="en-US" sz="650" b="1">
                <a:solidFill>
                  <a:srgbClr val="76B900"/>
                </a:solidFill>
                <a:latin typeface="Consolas" pitchFamily="34" charset="0"/>
              </a:rPr>
              <a:t>TIP</a:t>
            </a:r>
            <a:r>
              <a:rPr lang="en-US" sz="650">
                <a:solidFill>
                  <a:srgbClr val="8B9CB6"/>
                </a:solidFill>
                <a:latin typeface="Calibri" pitchFamily="34" charset="0"/>
              </a:rPr>
              <a:t>  —  Rule of thumb: model download size ≈ RAM needed. Always leave 2–3 GB free for OS overhead.  •  Rankings as of April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p:cNvGrpSpPr/>
        <p:nvPr/>
      </p:nvGrpSpPr>
      <p:grpSpPr>
        <a:xfrm>
          <a:off x="0" y="0"/>
          <a:ext cx="0" cy="0"/>
          <a:chOff x="0" y="0"/>
          <a:chExt cx="0" cy="0"/>
        </a:xfrm>
      </p:grpSpPr>
      <p:sp>
        <p:nvSpPr>
          <p:cNvPr id="2" name="AccentBar"/>
          <p:cNvSpPr/>
          <p:nvPr/>
        </p:nvSpPr>
        <p:spPr>
          <a:xfrm>
            <a:off x="514350" y="372070"/>
            <a:ext cx="43160" cy="285750"/>
          </a:xfrm>
          <a:prstGeom prst="roundRect">
            <a:avLst>
              <a:gd name="adj" fmla="val 50023"/>
            </a:avLst>
          </a:prstGeom>
          <a:solidFill>
            <a:srgbClr val="76B900"/>
          </a:solidFill>
          <a:ln/>
        </p:spPr>
        <p:txBody>
          <a:bodyPr wrap="square" rtlCol="0" anchor="t"/>
          <a:lstStyle/>
          <a:p>
            <a:pPr marL="0" indent="0">
              <a:buNone/>
            </a:pPr>
            <a:endParaRPr lang="en-US"/>
          </a:p>
        </p:txBody>
      </p:sp>
      <p:sp>
        <p:nvSpPr>
          <p:cNvPr id="3" name="Title"/>
          <p:cNvSpPr/>
          <p:nvPr/>
        </p:nvSpPr>
        <p:spPr>
          <a:xfrm>
            <a:off x="671810" y="372070"/>
            <a:ext cx="7500000" cy="386655"/>
          </a:xfrm>
          <a:prstGeom prst="rect">
            <a:avLst/>
          </a:prstGeom>
          <a:noFill/>
          <a:ln/>
        </p:spPr>
        <p:txBody>
          <a:bodyPr wrap="square" lIns="0" tIns="0" rIns="0" bIns="0" rtlCol="0" anchor="ctr"/>
          <a:lstStyle/>
          <a:p>
            <a:pPr marL="0" indent="0" algn="l">
              <a:buNone/>
            </a:pPr>
            <a:r>
              <a:rPr lang="en-US" sz="2030">
                <a:solidFill>
                  <a:srgbClr val="E2E8F0"/>
                </a:solidFill>
                <a:latin typeface="Consolas" pitchFamily="34"/>
                <a:ea typeface="Consolas" pitchFamily="34"/>
                <a:cs typeface="Consolas" pitchFamily="34"/>
              </a:rPr>
              <a:t>How </a:t>
            </a:r>
            <a:r>
              <a:rPr lang="en-US" sz="2030" b="1">
                <a:solidFill>
                  <a:srgbClr val="76B900"/>
                </a:solidFill>
                <a:latin typeface="Consolas" pitchFamily="34"/>
                <a:ea typeface="Consolas" pitchFamily="34"/>
                <a:cs typeface="Consolas" pitchFamily="34"/>
              </a:rPr>
              <a:t>Ollama</a:t>
            </a:r>
            <a:r>
              <a:rPr lang="en-US" sz="2030">
                <a:solidFill>
                  <a:srgbClr val="E2E8F0"/>
                </a:solidFill>
                <a:latin typeface="Consolas" pitchFamily="34"/>
                <a:ea typeface="Consolas" pitchFamily="34"/>
                <a:cs typeface="Consolas" pitchFamily="34"/>
              </a:rPr>
              <a:t> Serves Your </a:t>
            </a:r>
            <a:r>
              <a:rPr lang="en-US" sz="2030" b="1">
                <a:solidFill>
                  <a:srgbClr val="76B900"/>
                </a:solidFill>
                <a:latin typeface="Consolas" pitchFamily="34"/>
                <a:ea typeface="Consolas" pitchFamily="34"/>
                <a:cs typeface="Consolas" pitchFamily="34"/>
              </a:rPr>
              <a:t>Model</a:t>
            </a:r>
            <a:endParaRPr lang="en-US"/>
          </a:p>
        </p:txBody>
      </p:sp>
      <p:sp>
        <p:nvSpPr>
          <p:cNvPr id="4" name="Subtitle"/>
          <p:cNvSpPr/>
          <p:nvPr/>
        </p:nvSpPr>
        <p:spPr>
          <a:xfrm>
            <a:off x="671810" y="760000"/>
            <a:ext cx="7500000" cy="200000"/>
          </a:xfrm>
          <a:prstGeom prst="rect">
            <a:avLst/>
          </a:prstGeom>
          <a:noFill/>
          <a:ln/>
        </p:spPr>
        <p:txBody>
          <a:bodyPr wrap="square" lIns="0" tIns="0" rIns="0" bIns="0" rtlCol="0" anchor="t"/>
          <a:lstStyle/>
          <a:p>
            <a:pPr marL="0" indent="0" algn="l">
              <a:buNone/>
            </a:pPr>
            <a:r>
              <a:rPr lang="en-US" sz="900">
                <a:solidFill>
                  <a:srgbClr val="8B9CB6"/>
                </a:solidFill>
                <a:latin typeface="Calibri" pitchFamily="34"/>
                <a:ea typeface="Calibri" pitchFamily="34"/>
                <a:cs typeface="Calibri" pitchFamily="34"/>
              </a:rPr>
              <a:t>Architecture layers — from hardware to conversation</a:t>
            </a:r>
            <a:endParaRPr lang="en-US"/>
          </a:p>
        </p:txBody>
      </p:sp>
      <p:sp>
        <p:nvSpPr>
          <p:cNvPr id="5" name="Layer_Hardware"/>
          <p:cNvSpPr/>
          <p:nvPr/>
        </p:nvSpPr>
        <p:spPr>
          <a:xfrm>
            <a:off x="600000" y="1050000"/>
            <a:ext cx="7944000" cy="3600000"/>
          </a:xfrm>
          <a:prstGeom prst="roundRect">
            <a:avLst>
              <a:gd name="adj" fmla="val 3000"/>
            </a:avLst>
          </a:prstGeom>
          <a:solidFill>
            <a:srgbClr val="0F1520"/>
          </a:solidFill>
          <a:ln w="12700">
            <a:solidFill>
              <a:srgbClr val="FFFFFF">
                <a:alpha val="8000"/>
              </a:srgbClr>
            </a:solidFill>
          </a:ln>
        </p:spPr>
        <p:txBody>
          <a:bodyPr wrap="square" rtlCol="0" anchor="t"/>
          <a:lstStyle/>
          <a:p>
            <a:pPr marL="0" indent="0">
              <a:buNone/>
            </a:pPr>
            <a:endParaRPr lang="en-US"/>
          </a:p>
        </p:txBody>
      </p:sp>
      <p:sp>
        <p:nvSpPr>
          <p:cNvPr id="6" name="HW_Label"/>
          <p:cNvSpPr/>
          <p:nvPr/>
        </p:nvSpPr>
        <p:spPr>
          <a:xfrm>
            <a:off x="780000" y="1130000"/>
            <a:ext cx="2000000" cy="220000"/>
          </a:xfrm>
          <a:prstGeom prst="rect">
            <a:avLst/>
          </a:prstGeom>
          <a:noFill/>
          <a:ln/>
        </p:spPr>
        <p:txBody>
          <a:bodyPr wrap="square" lIns="0" tIns="0" rIns="0" bIns="0" rtlCol="0" anchor="t"/>
          <a:lstStyle/>
          <a:p>
            <a:pPr marL="0" indent="0" algn="l">
              <a:buNone/>
            </a:pPr>
            <a:r>
              <a:rPr lang="en-US" sz="800" kern="0" spc="120">
                <a:solidFill>
                  <a:srgbClr val="8B9CB6"/>
                </a:solidFill>
                <a:latin typeface="Consolas" pitchFamily="34"/>
                <a:ea typeface="Consolas" pitchFamily="34"/>
                <a:cs typeface="Consolas" pitchFamily="34"/>
              </a:rPr>
              <a:t>YOUR HARDWARE</a:t>
            </a:r>
            <a:endParaRPr lang="en-US"/>
          </a:p>
        </p:txBody>
      </p:sp>
      <p:sp>
        <p:nvSpPr>
          <p:cNvPr id="7" name="HW_Sub"/>
          <p:cNvSpPr/>
          <p:nvPr/>
        </p:nvSpPr>
        <p:spPr>
          <a:xfrm>
            <a:off x="780000" y="1310000"/>
            <a:ext cx="2500000" cy="180000"/>
          </a:xfrm>
          <a:prstGeom prst="rect">
            <a:avLst/>
          </a:prstGeom>
          <a:noFill/>
          <a:ln/>
        </p:spPr>
        <p:txBody>
          <a:bodyPr wrap="square" lIns="0" tIns="0" rIns="0" bIns="0" rtlCol="0" anchor="t"/>
          <a:lstStyle/>
          <a:p>
            <a:pPr marL="0" indent="0" algn="l">
              <a:buNone/>
            </a:pPr>
            <a:r>
              <a:rPr lang="en-US" sz="750">
                <a:solidFill>
                  <a:srgbClr val="8B9CB6"/>
                </a:solidFill>
                <a:latin typeface="Calibri" pitchFamily="34"/>
                <a:ea typeface="Calibri" pitchFamily="34"/>
                <a:cs typeface="Calibri" pitchFamily="34"/>
              </a:rPr>
              <a:t>GPU · CPU · RAM · Storage</a:t>
            </a:r>
            <a:endParaRPr lang="en-US"/>
          </a:p>
        </p:txBody>
      </p:sp>
      <p:sp>
        <p:nvSpPr>
          <p:cNvPr id="8" name="Layer_Ollama"/>
          <p:cNvSpPr/>
          <p:nvPr/>
        </p:nvSpPr>
        <p:spPr>
          <a:xfrm>
            <a:off x="880000" y="1550000"/>
            <a:ext cx="7384000" cy="2820000"/>
          </a:xfrm>
          <a:prstGeom prst="roundRect">
            <a:avLst>
              <a:gd name="adj" fmla="val 3000"/>
            </a:avLst>
          </a:prstGeom>
          <a:solidFill>
            <a:srgbClr val="1A2332"/>
          </a:solidFill>
          <a:ln w="19050">
            <a:solidFill>
              <a:srgbClr val="76B900">
                <a:alpha val="25000"/>
              </a:srgbClr>
            </a:solidFill>
          </a:ln>
        </p:spPr>
        <p:txBody>
          <a:bodyPr wrap="square" rtlCol="0" anchor="t"/>
          <a:lstStyle/>
          <a:p>
            <a:pPr marL="0" indent="0">
              <a:buNone/>
            </a:pPr>
            <a:endParaRPr lang="en-US"/>
          </a:p>
        </p:txBody>
      </p:sp>
      <p:sp>
        <p:nvSpPr>
          <p:cNvPr id="9" name="Ollama_Accent"/>
          <p:cNvSpPr/>
          <p:nvPr/>
        </p:nvSpPr>
        <p:spPr>
          <a:xfrm>
            <a:off x="895000" y="1560000"/>
            <a:ext cx="7354000" cy="25000"/>
          </a:xfrm>
          <a:prstGeom prst="rect">
            <a:avLst/>
          </a:prstGeom>
          <a:solidFill>
            <a:srgbClr val="76B900">
              <a:alpha val="50000"/>
            </a:srgbClr>
          </a:solidFill>
          <a:ln/>
        </p:spPr>
        <p:txBody>
          <a:bodyPr wrap="square" rtlCol="0" anchor="t"/>
          <a:lstStyle/>
          <a:p>
            <a:pPr marL="0" indent="0">
              <a:buNone/>
            </a:pPr>
            <a:endParaRPr lang="en-US"/>
          </a:p>
        </p:txBody>
      </p:sp>
      <p:sp>
        <p:nvSpPr>
          <p:cNvPr id="10" name="OL_Label"/>
          <p:cNvSpPr/>
          <p:nvPr/>
        </p:nvSpPr>
        <p:spPr>
          <a:xfrm>
            <a:off x="1080000" y="1630000"/>
            <a:ext cx="1200000" cy="250000"/>
          </a:xfrm>
          <a:prstGeom prst="rect">
            <a:avLst/>
          </a:prstGeom>
          <a:noFill/>
          <a:ln/>
        </p:spPr>
        <p:txBody>
          <a:bodyPr wrap="square" lIns="0" tIns="0" rIns="0" bIns="0" rtlCol="0" anchor="t"/>
          <a:lstStyle/>
          <a:p>
            <a:pPr marL="0" indent="0" algn="l">
              <a:buNone/>
            </a:pPr>
            <a:r>
              <a:rPr lang="en-US" sz="1100" b="1" kern="0" spc="150">
                <a:solidFill>
                  <a:srgbClr val="76B900"/>
                </a:solidFill>
                <a:latin typeface="Consolas" pitchFamily="34"/>
                <a:ea typeface="Consolas" pitchFamily="34"/>
                <a:cs typeface="Consolas" pitchFamily="34"/>
              </a:rPr>
              <a:t>OLLAMA</a:t>
            </a:r>
            <a:endParaRPr lang="en-US"/>
          </a:p>
        </p:txBody>
      </p:sp>
      <p:sp>
        <p:nvSpPr>
          <p:cNvPr id="11" name="OL_Sub"/>
          <p:cNvSpPr/>
          <p:nvPr/>
        </p:nvSpPr>
        <p:spPr>
          <a:xfrm>
            <a:off x="1080000" y="1870000"/>
            <a:ext cx="3000000" cy="180000"/>
          </a:xfrm>
          <a:prstGeom prst="rect">
            <a:avLst/>
          </a:prstGeom>
          <a:noFill/>
          <a:ln/>
        </p:spPr>
        <p:txBody>
          <a:bodyPr wrap="square" lIns="0" tIns="0" rIns="0" bIns="0" rtlCol="0" anchor="t"/>
          <a:lstStyle/>
          <a:p>
            <a:pPr marL="0" indent="0" algn="l">
              <a:buNone/>
            </a:pPr>
            <a:r>
              <a:rPr lang="en-US" sz="800">
                <a:solidFill>
                  <a:srgbClr val="8B9CB6"/>
                </a:solidFill>
                <a:latin typeface="Calibri" pitchFamily="34"/>
                <a:ea typeface="Calibri" pitchFamily="34"/>
                <a:cs typeface="Calibri" pitchFamily="34"/>
              </a:rPr>
              <a:t>Runtime · API Server · Model Manager</a:t>
            </a:r>
            <a:endParaRPr lang="en-US"/>
          </a:p>
        </p:txBody>
      </p:sp>
      <p:sp>
        <p:nvSpPr>
          <p:cNvPr id="12" name="Badge_RESTAPI"/>
          <p:cNvSpPr/>
          <p:nvPr/>
        </p:nvSpPr>
        <p:spPr>
          <a:xfrm>
            <a:off x="1030000" y="2150000"/>
            <a:ext cx="1400000" cy="230000"/>
          </a:xfrm>
          <a:prstGeom prst="roundRect">
            <a:avLst>
              <a:gd name="adj" fmla="val 16000"/>
            </a:avLst>
          </a:prstGeom>
          <a:solidFill>
            <a:srgbClr val="76B900">
              <a:alpha val="8000"/>
            </a:srgbClr>
          </a:solidFill>
          <a:ln w="6350">
            <a:solidFill>
              <a:srgbClr val="76B900">
                <a:alpha val="15000"/>
              </a:srgbClr>
            </a:solidFill>
          </a:ln>
        </p:spPr>
        <p:txBody>
          <a:bodyPr wrap="square" rtlCol="0" anchor="t"/>
          <a:lstStyle/>
          <a:p>
            <a:pPr marL="0" indent="0">
              <a:buNone/>
            </a:pPr>
            <a:endParaRPr lang="en-US"/>
          </a:p>
        </p:txBody>
      </p:sp>
      <p:pic>
        <p:nvPicPr>
          <p:cNvPr id="50" name="Icon_Badge_RESTAPI" descr="icon.sv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0000" y="2195000"/>
            <a:ext cx="140000" cy="140000"/>
          </a:xfrm>
          <a:prstGeom prst="rect">
            <a:avLst/>
          </a:prstGeom>
        </p:spPr>
      </p:pic>
      <p:sp>
        <p:nvSpPr>
          <p:cNvPr id="13" name="BText_RESTAPI"/>
          <p:cNvSpPr/>
          <p:nvPr/>
        </p:nvSpPr>
        <p:spPr>
          <a:xfrm>
            <a:off x="1230000" y="2170000"/>
            <a:ext cx="1200000" cy="190000"/>
          </a:xfrm>
          <a:prstGeom prst="rect">
            <a:avLst/>
          </a:prstGeom>
          <a:noFill/>
          <a:ln/>
        </p:spPr>
        <p:txBody>
          <a:bodyPr wrap="square" lIns="0" tIns="0" rIns="0" bIns="0" rtlCol="0" anchor="ctr"/>
          <a:lstStyle/>
          <a:p>
            <a:pPr marL="0" indent="0" algn="l">
              <a:buNone/>
            </a:pPr>
            <a:r>
              <a:rPr lang="en-US" sz="800">
                <a:solidFill>
                  <a:srgbClr val="E2E8F0"/>
                </a:solidFill>
                <a:latin typeface="Consolas" pitchFamily="34"/>
                <a:ea typeface="Consolas" pitchFamily="34"/>
                <a:cs typeface="Consolas" pitchFamily="34"/>
              </a:rPr>
              <a:t>REST API</a:t>
            </a:r>
            <a:endParaRPr lang="en-US"/>
          </a:p>
        </p:txBody>
      </p:sp>
      <p:sp>
        <p:nvSpPr>
          <p:cNvPr id="14" name="Badge_Quantization"/>
          <p:cNvSpPr/>
          <p:nvPr/>
        </p:nvSpPr>
        <p:spPr>
          <a:xfrm>
            <a:off x="1030000" y="2450000"/>
            <a:ext cx="1400000" cy="230000"/>
          </a:xfrm>
          <a:prstGeom prst="roundRect">
            <a:avLst>
              <a:gd name="adj" fmla="val 16000"/>
            </a:avLst>
          </a:prstGeom>
          <a:solidFill>
            <a:srgbClr val="76B900">
              <a:alpha val="8000"/>
            </a:srgbClr>
          </a:solidFill>
          <a:ln w="6350">
            <a:solidFill>
              <a:srgbClr val="76B900">
                <a:alpha val="15000"/>
              </a:srgbClr>
            </a:solidFill>
          </a:ln>
        </p:spPr>
        <p:txBody>
          <a:bodyPr wrap="square" rtlCol="0" anchor="t"/>
          <a:lstStyle/>
          <a:p>
            <a:pPr marL="0" indent="0">
              <a:buNone/>
            </a:pPr>
            <a:endParaRPr lang="en-US"/>
          </a:p>
        </p:txBody>
      </p:sp>
      <p:pic>
        <p:nvPicPr>
          <p:cNvPr id="51" name="Icon_Badge_Quantization" descr="icon.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000" y="2495000"/>
            <a:ext cx="140000" cy="140000"/>
          </a:xfrm>
          <a:prstGeom prst="rect">
            <a:avLst/>
          </a:prstGeom>
        </p:spPr>
      </p:pic>
      <p:sp>
        <p:nvSpPr>
          <p:cNvPr id="15" name="BText_Quantization"/>
          <p:cNvSpPr/>
          <p:nvPr/>
        </p:nvSpPr>
        <p:spPr>
          <a:xfrm>
            <a:off x="1230000" y="2470000"/>
            <a:ext cx="1200000" cy="190000"/>
          </a:xfrm>
          <a:prstGeom prst="rect">
            <a:avLst/>
          </a:prstGeom>
          <a:noFill/>
          <a:ln/>
        </p:spPr>
        <p:txBody>
          <a:bodyPr wrap="square" lIns="0" tIns="0" rIns="0" bIns="0" rtlCol="0" anchor="ctr"/>
          <a:lstStyle/>
          <a:p>
            <a:pPr marL="0" indent="0" algn="l">
              <a:buNone/>
            </a:pPr>
            <a:r>
              <a:rPr lang="en-US" sz="800">
                <a:solidFill>
                  <a:srgbClr val="E2E8F0"/>
                </a:solidFill>
                <a:latin typeface="Consolas" pitchFamily="34"/>
                <a:ea typeface="Consolas" pitchFamily="34"/>
                <a:cs typeface="Consolas" pitchFamily="34"/>
              </a:rPr>
              <a:t>Quantization</a:t>
            </a:r>
            <a:endParaRPr lang="en-US"/>
          </a:p>
        </p:txBody>
      </p:sp>
      <p:sp>
        <p:nvSpPr>
          <p:cNvPr id="16" name="Badge_ModelPull"/>
          <p:cNvSpPr/>
          <p:nvPr/>
        </p:nvSpPr>
        <p:spPr>
          <a:xfrm>
            <a:off x="1030000" y="2750000"/>
            <a:ext cx="1400000" cy="230000"/>
          </a:xfrm>
          <a:prstGeom prst="roundRect">
            <a:avLst>
              <a:gd name="adj" fmla="val 16000"/>
            </a:avLst>
          </a:prstGeom>
          <a:solidFill>
            <a:srgbClr val="76B900">
              <a:alpha val="8000"/>
            </a:srgbClr>
          </a:solidFill>
          <a:ln w="6350">
            <a:solidFill>
              <a:srgbClr val="76B900">
                <a:alpha val="15000"/>
              </a:srgbClr>
            </a:solidFill>
          </a:ln>
        </p:spPr>
        <p:txBody>
          <a:bodyPr wrap="square" rtlCol="0" anchor="t"/>
          <a:lstStyle/>
          <a:p>
            <a:pPr marL="0" indent="0">
              <a:buNone/>
            </a:pPr>
            <a:endParaRPr lang="en-US"/>
          </a:p>
        </p:txBody>
      </p:sp>
      <p:pic>
        <p:nvPicPr>
          <p:cNvPr id="52" name="Icon_Badge_ModelPull" descr="icon.sv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0000" y="2795000"/>
            <a:ext cx="140000" cy="140000"/>
          </a:xfrm>
          <a:prstGeom prst="rect">
            <a:avLst/>
          </a:prstGeom>
        </p:spPr>
      </p:pic>
      <p:sp>
        <p:nvSpPr>
          <p:cNvPr id="17" name="BText_ModelPull"/>
          <p:cNvSpPr/>
          <p:nvPr/>
        </p:nvSpPr>
        <p:spPr>
          <a:xfrm>
            <a:off x="1230000" y="2770000"/>
            <a:ext cx="1200000" cy="190000"/>
          </a:xfrm>
          <a:prstGeom prst="rect">
            <a:avLst/>
          </a:prstGeom>
          <a:noFill/>
          <a:ln/>
        </p:spPr>
        <p:txBody>
          <a:bodyPr wrap="square" lIns="0" tIns="0" rIns="0" bIns="0" rtlCol="0" anchor="ctr"/>
          <a:lstStyle/>
          <a:p>
            <a:pPr marL="0" indent="0" algn="l">
              <a:buNone/>
            </a:pPr>
            <a:r>
              <a:rPr lang="en-US" sz="800">
                <a:solidFill>
                  <a:srgbClr val="E2E8F0"/>
                </a:solidFill>
                <a:latin typeface="Consolas" pitchFamily="34"/>
                <a:ea typeface="Consolas" pitchFamily="34"/>
                <a:cs typeface="Consolas" pitchFamily="34"/>
              </a:rPr>
              <a:t>Model Pull</a:t>
            </a:r>
            <a:endParaRPr lang="en-US"/>
          </a:p>
        </p:txBody>
      </p:sp>
      <p:sp>
        <p:nvSpPr>
          <p:cNvPr id="18" name="Badge_Concurrency"/>
          <p:cNvSpPr/>
          <p:nvPr/>
        </p:nvSpPr>
        <p:spPr>
          <a:xfrm>
            <a:off x="1030000" y="3050000"/>
            <a:ext cx="1400000" cy="230000"/>
          </a:xfrm>
          <a:prstGeom prst="roundRect">
            <a:avLst>
              <a:gd name="adj" fmla="val 16000"/>
            </a:avLst>
          </a:prstGeom>
          <a:solidFill>
            <a:srgbClr val="76B900">
              <a:alpha val="8000"/>
            </a:srgbClr>
          </a:solidFill>
          <a:ln w="6350">
            <a:solidFill>
              <a:srgbClr val="76B900">
                <a:alpha val="15000"/>
              </a:srgbClr>
            </a:solidFill>
          </a:ln>
        </p:spPr>
        <p:txBody>
          <a:bodyPr wrap="square" rtlCol="0" anchor="t"/>
          <a:lstStyle/>
          <a:p>
            <a:pPr marL="0" indent="0">
              <a:buNone/>
            </a:pPr>
            <a:endParaRPr lang="en-US"/>
          </a:p>
        </p:txBody>
      </p:sp>
      <p:pic>
        <p:nvPicPr>
          <p:cNvPr id="53" name="Icon_Badge_Concurrency" descr="icon.sv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0000" y="3095000"/>
            <a:ext cx="140000" cy="140000"/>
          </a:xfrm>
          <a:prstGeom prst="rect">
            <a:avLst/>
          </a:prstGeom>
        </p:spPr>
      </p:pic>
      <p:sp>
        <p:nvSpPr>
          <p:cNvPr id="19" name="BText_Concurrency"/>
          <p:cNvSpPr/>
          <p:nvPr/>
        </p:nvSpPr>
        <p:spPr>
          <a:xfrm>
            <a:off x="1230000" y="3070000"/>
            <a:ext cx="1200000" cy="190000"/>
          </a:xfrm>
          <a:prstGeom prst="rect">
            <a:avLst/>
          </a:prstGeom>
          <a:noFill/>
          <a:ln/>
        </p:spPr>
        <p:txBody>
          <a:bodyPr wrap="square" lIns="0" tIns="0" rIns="0" bIns="0" rtlCol="0" anchor="ctr"/>
          <a:lstStyle/>
          <a:p>
            <a:pPr marL="0" indent="0" algn="l">
              <a:buNone/>
            </a:pPr>
            <a:r>
              <a:rPr lang="en-US" sz="800">
                <a:solidFill>
                  <a:srgbClr val="E2E8F0"/>
                </a:solidFill>
                <a:latin typeface="Consolas" pitchFamily="34"/>
                <a:ea typeface="Consolas" pitchFamily="34"/>
                <a:cs typeface="Consolas" pitchFamily="34"/>
              </a:rPr>
              <a:t>Concurrency</a:t>
            </a:r>
            <a:endParaRPr lang="en-US"/>
          </a:p>
        </p:txBody>
      </p:sp>
      <p:sp>
        <p:nvSpPr>
          <p:cNvPr id="20" name="Layer_Model"/>
          <p:cNvSpPr/>
          <p:nvPr/>
        </p:nvSpPr>
        <p:spPr>
          <a:xfrm>
            <a:off x="2680000" y="2100000"/>
            <a:ext cx="5384000" cy="2070000"/>
          </a:xfrm>
          <a:prstGeom prst="roundRect">
            <a:avLst>
              <a:gd name="adj" fmla="val 4000"/>
            </a:avLst>
          </a:prstGeom>
          <a:solidFill>
            <a:srgbClr val="111827"/>
          </a:solidFill>
          <a:ln w="19050">
            <a:solidFill>
              <a:srgbClr val="4285F4">
                <a:alpha val="40000"/>
              </a:srgbClr>
            </a:solidFill>
          </a:ln>
        </p:spPr>
        <p:txBody>
          <a:bodyPr wrap="square" rtlCol="0" anchor="t"/>
          <a:lstStyle/>
          <a:p>
            <a:pPr marL="0" indent="0">
              <a:buNone/>
            </a:pPr>
            <a:endParaRPr lang="en-US"/>
          </a:p>
        </p:txBody>
      </p:sp>
      <p:sp>
        <p:nvSpPr>
          <p:cNvPr id="21" name="Model_Accent"/>
          <p:cNvSpPr/>
          <p:nvPr/>
        </p:nvSpPr>
        <p:spPr>
          <a:xfrm>
            <a:off x="2695000" y="2110000"/>
            <a:ext cx="5354000" cy="25000"/>
          </a:xfrm>
          <a:prstGeom prst="rect">
            <a:avLst/>
          </a:prstGeom>
          <a:solidFill>
            <a:srgbClr val="4285F4">
              <a:alpha val="50000"/>
            </a:srgbClr>
          </a:solidFill>
          <a:ln/>
        </p:spPr>
        <p:txBody>
          <a:bodyPr wrap="square" rtlCol="0" anchor="t"/>
          <a:lstStyle/>
          <a:p>
            <a:pPr marL="0" indent="0">
              <a:buNone/>
            </a:pPr>
            <a:endParaRPr lang="en-US"/>
          </a:p>
        </p:txBody>
      </p:sp>
      <p:pic>
        <p:nvPicPr>
          <p:cNvPr id="54" name="GemmaLogo" descr="icon.sv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20000" y="2200000"/>
            <a:ext cx="180000" cy="180000"/>
          </a:xfrm>
          <a:prstGeom prst="rect">
            <a:avLst/>
          </a:prstGeom>
        </p:spPr>
      </p:pic>
      <p:sp>
        <p:nvSpPr>
          <p:cNvPr id="22" name="MDL_Title"/>
          <p:cNvSpPr/>
          <p:nvPr/>
        </p:nvSpPr>
        <p:spPr>
          <a:xfrm>
            <a:off x="3120000" y="2180000"/>
            <a:ext cx="4744000" cy="300000"/>
          </a:xfrm>
          <a:prstGeom prst="rect">
            <a:avLst/>
          </a:prstGeom>
          <a:noFill/>
          <a:ln/>
        </p:spPr>
        <p:txBody>
          <a:bodyPr wrap="square" lIns="0" tIns="0" rIns="0" bIns="0" rtlCol="0" anchor="t"/>
          <a:lstStyle/>
          <a:p>
            <a:pPr marL="0" indent="0" algn="ctr">
              <a:buNone/>
            </a:pPr>
            <a:r>
              <a:rPr lang="en-US" sz="1400" b="1">
                <a:solidFill>
                  <a:srgbClr val="4285F4"/>
                </a:solidFill>
                <a:latin typeface="Consolas" pitchFamily="34"/>
                <a:ea typeface="Consolas" pitchFamily="34"/>
                <a:cs typeface="Consolas" pitchFamily="34"/>
              </a:rPr>
              <a:t>gemma3:4b</a:t>
            </a:r>
            <a:endParaRPr lang="en-US"/>
          </a:p>
        </p:txBody>
      </p:sp>
      <p:sp>
        <p:nvSpPr>
          <p:cNvPr id="23" name="MDL_Sub"/>
          <p:cNvSpPr/>
          <p:nvPr/>
        </p:nvSpPr>
        <p:spPr>
          <a:xfrm>
            <a:off x="2880000" y="2480000"/>
            <a:ext cx="4984000" cy="180000"/>
          </a:xfrm>
          <a:prstGeom prst="rect">
            <a:avLst/>
          </a:prstGeom>
          <a:noFill/>
          <a:ln/>
        </p:spPr>
        <p:txBody>
          <a:bodyPr wrap="square" lIns="0" tIns="0" rIns="0" bIns="0" rtlCol="0" anchor="t"/>
          <a:lstStyle/>
          <a:p>
            <a:pPr marL="0" indent="0" algn="ctr">
              <a:buNone/>
            </a:pPr>
            <a:r>
              <a:rPr lang="en-US" sz="800">
                <a:solidFill>
                  <a:srgbClr val="8B9CB6"/>
                </a:solidFill>
                <a:latin typeface="Calibri" pitchFamily="34"/>
                <a:ea typeface="Calibri" pitchFamily="34"/>
                <a:cs typeface="Calibri" pitchFamily="34"/>
              </a:rPr>
              <a:t>Google · 4 billion parameters · Q4_K_M</a:t>
            </a:r>
            <a:endParaRPr lang="en-US"/>
          </a:p>
        </p:txBody>
      </p:sp>
      <p:sp>
        <p:nvSpPr>
          <p:cNvPr id="24" name="MDL_L0"/>
          <p:cNvSpPr/>
          <p:nvPr/>
        </p:nvSpPr>
        <p:spPr>
          <a:xfrm>
            <a:off x="2880000" y="275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~3 GB download</a:t>
            </a:r>
            <a:endParaRPr lang="en-US"/>
          </a:p>
        </p:txBody>
      </p:sp>
      <p:sp>
        <p:nvSpPr>
          <p:cNvPr id="25" name="MDL_L1"/>
          <p:cNvSpPr/>
          <p:nvPr/>
        </p:nvSpPr>
        <p:spPr>
          <a:xfrm>
            <a:off x="2880000" y="297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~4.7 GB RAM needed</a:t>
            </a:r>
            <a:endParaRPr lang="en-US"/>
          </a:p>
        </p:txBody>
      </p:sp>
      <p:sp>
        <p:nvSpPr>
          <p:cNvPr id="26" name="MDL_L2"/>
          <p:cNvSpPr/>
          <p:nvPr/>
        </p:nvSpPr>
        <p:spPr>
          <a:xfrm>
            <a:off x="2880000" y="319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Fast on CPU or GPU</a:t>
            </a:r>
            <a:endParaRPr lang="en-US"/>
          </a:p>
        </p:txBody>
      </p:sp>
      <p:sp>
        <p:nvSpPr>
          <p:cNvPr id="27" name="MDL_R0"/>
          <p:cNvSpPr/>
          <p:nvPr/>
        </p:nvSpPr>
        <p:spPr>
          <a:xfrm>
            <a:off x="5472000" y="275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Multi-language</a:t>
            </a:r>
            <a:endParaRPr lang="en-US"/>
          </a:p>
        </p:txBody>
      </p:sp>
      <p:sp>
        <p:nvSpPr>
          <p:cNvPr id="28" name="MDL_R1"/>
          <p:cNvSpPr/>
          <p:nvPr/>
        </p:nvSpPr>
        <p:spPr>
          <a:xfrm>
            <a:off x="5472000" y="297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Vision capable</a:t>
            </a:r>
            <a:endParaRPr lang="en-US"/>
          </a:p>
        </p:txBody>
      </p:sp>
      <p:sp>
        <p:nvSpPr>
          <p:cNvPr id="29" name="MDL_R2"/>
          <p:cNvSpPr/>
          <p:nvPr/>
        </p:nvSpPr>
        <p:spPr>
          <a:xfrm>
            <a:off x="5472000" y="3190000"/>
            <a:ext cx="2392000" cy="200000"/>
          </a:xfrm>
          <a:prstGeom prst="rect">
            <a:avLst/>
          </a:prstGeom>
          <a:noFill/>
          <a:ln/>
        </p:spPr>
        <p:txBody>
          <a:bodyPr wrap="square" lIns="0" tIns="0" rIns="0" bIns="0" rtlCol="0" anchor="t"/>
          <a:lstStyle/>
          <a:p>
            <a:pPr marL="0" indent="0" algn="l">
              <a:lnSpc>
                <a:spcPts val="1000"/>
              </a:lnSpc>
              <a:buNone/>
            </a:pPr>
            <a:r>
              <a:rPr lang="en-US" sz="750">
                <a:solidFill>
                  <a:srgbClr val="E2E8F0"/>
                </a:solidFill>
                <a:latin typeface="Calibri" pitchFamily="34"/>
                <a:ea typeface="Calibri" pitchFamily="34"/>
                <a:cs typeface="Calibri" pitchFamily="34"/>
              </a:rPr>
              <a:t>• 128K context</a:t>
            </a:r>
            <a:endParaRPr lang="en-US"/>
          </a:p>
        </p:txBody>
      </p:sp>
      <p:sp>
        <p:nvSpPr>
          <p:cNvPr id="30" name="MDL_Cmd"/>
          <p:cNvSpPr/>
          <p:nvPr/>
        </p:nvSpPr>
        <p:spPr>
          <a:xfrm>
            <a:off x="2780000" y="3820000"/>
            <a:ext cx="5184000" cy="250000"/>
          </a:xfrm>
          <a:prstGeom prst="rect">
            <a:avLst/>
          </a:prstGeom>
          <a:noFill/>
          <a:ln/>
        </p:spPr>
        <p:txBody>
          <a:bodyPr wrap="square" lIns="0" tIns="0" rIns="0" bIns="0" rtlCol="0" anchor="ctr"/>
          <a:lstStyle/>
          <a:p>
            <a:pPr marL="0" indent="0" algn="ctr">
              <a:buNone/>
            </a:pPr>
            <a:r>
              <a:rPr lang="en-US" sz="900">
                <a:solidFill>
                  <a:srgbClr val="76B900"/>
                </a:solidFill>
                <a:latin typeface="Consolas" pitchFamily="34"/>
                <a:ea typeface="Consolas" pitchFamily="34"/>
                <a:cs typeface="Consolas" pitchFamily="34"/>
              </a:rPr>
              <a:t>ollama pull gemma3:4b</a:t>
            </a:r>
            <a:endParaRPr lang="en-US"/>
          </a:p>
        </p:txBody>
      </p:sp>
      <p:pic>
        <p:nvPicPr>
          <p:cNvPr id="55" name="ArrowInIcon" descr="icon.sv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0000" y="4770000"/>
            <a:ext cx="200000" cy="200000"/>
          </a:xfrm>
          <a:prstGeom prst="rect">
            <a:avLst/>
          </a:prstGeom>
        </p:spPr>
      </p:pic>
      <p:sp>
        <p:nvSpPr>
          <p:cNvPr id="56" name="InputBadge"/>
          <p:cNvSpPr/>
          <p:nvPr/>
        </p:nvSpPr>
        <p:spPr>
          <a:xfrm>
            <a:off x="880000" y="4750000"/>
            <a:ext cx="2800000" cy="240000"/>
          </a:xfrm>
          <a:prstGeom prst="roundRect">
            <a:avLst>
              <a:gd name="adj" fmla="val 50000"/>
            </a:avLst>
          </a:prstGeom>
          <a:solidFill>
            <a:srgbClr val="76B900">
              <a:alpha val="10000"/>
            </a:srgbClr>
          </a:solidFill>
          <a:ln w="6350">
            <a:solidFill>
              <a:srgbClr val="76B900">
                <a:alpha val="25000"/>
              </a:srgbClr>
            </a:solidFill>
          </a:ln>
        </p:spPr>
        <p:txBody>
          <a:bodyPr wrap="square" lIns="91440" tIns="0" rIns="0" bIns="0" rtlCol="0" anchor="ctr"/>
          <a:lstStyle/>
          <a:p>
            <a:pPr marL="0" indent="0" algn="l">
              <a:buNone/>
            </a:pPr>
            <a:r>
              <a:rPr lang="en-US" sz="800" b="1">
                <a:solidFill>
                  <a:srgbClr val="76B900"/>
                </a:solidFill>
                <a:latin typeface="Consolas"/>
                <a:ea typeface="Consolas"/>
                <a:cs typeface="Consolas"/>
              </a:rPr>
              <a:t>USER PROMPT →  </a:t>
            </a:r>
            <a:r>
              <a:rPr lang="en-US" sz="750">
                <a:solidFill>
                  <a:srgbClr val="E2E8F0"/>
                </a:solidFill>
                <a:latin typeface="Consolas"/>
                <a:ea typeface="Consolas"/>
                <a:cs typeface="Consolas"/>
              </a:rPr>
              <a:t>ollama run gemma3:4b</a:t>
            </a:r>
            <a:endParaRPr lang="en-US"/>
          </a:p>
        </p:txBody>
      </p:sp>
      <p:sp>
        <p:nvSpPr>
          <p:cNvPr id="57" name="OutputBadge"/>
          <p:cNvSpPr/>
          <p:nvPr/>
        </p:nvSpPr>
        <p:spPr>
          <a:xfrm>
            <a:off x="5464000" y="4750000"/>
            <a:ext cx="2800000" cy="240000"/>
          </a:xfrm>
          <a:prstGeom prst="roundRect">
            <a:avLst>
              <a:gd name="adj" fmla="val 50000"/>
            </a:avLst>
          </a:prstGeom>
          <a:solidFill>
            <a:srgbClr val="76B900">
              <a:alpha val="10000"/>
            </a:srgbClr>
          </a:solidFill>
          <a:ln w="6350">
            <a:solidFill>
              <a:srgbClr val="76B900">
                <a:alpha val="25000"/>
              </a:srgbClr>
            </a:solidFill>
          </a:ln>
        </p:spPr>
        <p:txBody>
          <a:bodyPr wrap="square" lIns="91440" tIns="0" rIns="91440" bIns="0" rtlCol="0" anchor="ctr"/>
          <a:lstStyle/>
          <a:p>
            <a:pPr marL="0" indent="0" algn="r">
              <a:buNone/>
            </a:pPr>
            <a:r>
              <a:rPr lang="en-US" sz="750">
                <a:solidFill>
                  <a:srgbClr val="E2E8F0"/>
                </a:solidFill>
                <a:latin typeface="Consolas"/>
                <a:ea typeface="Consolas"/>
                <a:cs typeface="Consolas"/>
              </a:rPr>
              <a:t>Streamed tokens  </a:t>
            </a:r>
            <a:r>
              <a:rPr lang="en-US" sz="800" b="1">
                <a:solidFill>
                  <a:srgbClr val="76B900"/>
                </a:solidFill>
                <a:latin typeface="Consolas"/>
                <a:ea typeface="Consolas"/>
                <a:cs typeface="Consolas"/>
              </a:rPr>
              <a:t>← RESPONSE OUT</a:t>
            </a:r>
            <a:endParaRPr lang="en-US"/>
          </a:p>
        </p:txBody>
      </p:sp>
      <p:pic>
        <p:nvPicPr>
          <p:cNvPr id="58" name="ArrowOutIcon" descr="icon.sv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94000" y="4770000"/>
            <a:ext cx="200000" cy="200000"/>
          </a:xfrm>
          <a:prstGeom prst="rect">
            <a:avLst/>
          </a:prstGeom>
        </p:spPr>
      </p:pic>
      <p:sp>
        <p:nvSpPr>
          <p:cNvPr id="70" name="ArrowUp_Left"/>
          <p:cNvSpPr/>
          <p:nvPr/>
        </p:nvSpPr>
        <p:spPr>
          <a:xfrm>
            <a:off x="780000" y="4650000"/>
            <a:ext cx="18000" cy="100000"/>
          </a:xfrm>
          <a:prstGeom prst="rect">
            <a:avLst/>
          </a:prstGeom>
          <a:gradFill rotWithShape="1">
            <a:gsLst>
              <a:gs pos="0">
                <a:srgbClr val="76B900">
                  <a:alpha val="5000"/>
                </a:srgbClr>
              </a:gs>
              <a:gs pos="100000">
                <a:srgbClr val="76B900">
                  <a:alpha val="50000"/>
                </a:srgbClr>
              </a:gs>
            </a:gsLst>
            <a:lin ang="16200000" scaled="1"/>
          </a:gradFill>
          <a:ln/>
        </p:spPr>
        <p:txBody>
          <a:bodyPr wrap="square" rtlCol="0" anchor="t"/>
          <a:lstStyle/>
          <a:p>
            <a:endParaRPr lang="en-US"/>
          </a:p>
        </p:txBody>
      </p:sp>
      <p:sp>
        <p:nvSpPr>
          <p:cNvPr id="71" name="ArrowDown_Right"/>
          <p:cNvSpPr/>
          <p:nvPr/>
        </p:nvSpPr>
        <p:spPr>
          <a:xfrm>
            <a:off x="8360000" y="4650000"/>
            <a:ext cx="18000" cy="100000"/>
          </a:xfrm>
          <a:prstGeom prst="rect">
            <a:avLst/>
          </a:prstGeom>
          <a:gradFill rotWithShape="1">
            <a:gsLst>
              <a:gs pos="0">
                <a:srgbClr val="76B900">
                  <a:alpha val="5000"/>
                </a:srgbClr>
              </a:gs>
              <a:gs pos="100000">
                <a:srgbClr val="76B900">
                  <a:alpha val="50000"/>
                </a:srgbClr>
              </a:gs>
            </a:gsLst>
            <a:lin ang="5400000" scaled="1"/>
          </a:gradFill>
          <a:ln/>
        </p:spPr>
        <p:txBody>
          <a:bodyPr wrap="square" rtlCol="0" anchor="t"/>
          <a:lstStyle/>
          <a:p>
            <a:endParaRPr lang="en-US"/>
          </a:p>
        </p:txBody>
      </p:sp>
      <p:sp>
        <p:nvSpPr>
          <p:cNvPr id="72" name="ArrowRight_BadgeToModel"/>
          <p:cNvSpPr/>
          <p:nvPr/>
        </p:nvSpPr>
        <p:spPr>
          <a:xfrm>
            <a:off x="2440000" y="2650000"/>
            <a:ext cx="230000" cy="12000"/>
          </a:xfrm>
          <a:prstGeom prst="rect">
            <a:avLst/>
          </a:prstGeom>
          <a:gradFill rotWithShape="1">
            <a:gsLst>
              <a:gs pos="0">
                <a:srgbClr val="76B900">
                  <a:alpha val="5000"/>
                </a:srgbClr>
              </a:gs>
              <a:gs pos="100000">
                <a:srgbClr val="76B900">
                  <a:alpha val="50000"/>
                </a:srgbClr>
              </a:gs>
            </a:gsLst>
            <a:lin ang="0" scaled="1"/>
          </a:gradFill>
          <a:ln/>
        </p:spPr>
        <p:txBody>
          <a:bodyPr wrap="square" rtlCol="0" anchor="t"/>
          <a:lstStyle/>
          <a:p>
            <a:endParaRPr lang="en-US"/>
          </a:p>
        </p:txBody>
      </p:sp>
      <p:sp>
        <p:nvSpPr>
          <p:cNvPr id="73" name="Port_Label"/>
          <p:cNvSpPr/>
          <p:nvPr/>
        </p:nvSpPr>
        <p:spPr>
          <a:xfrm>
            <a:off x="7300000" y="1590000"/>
            <a:ext cx="900000" cy="200000"/>
          </a:xfrm>
          <a:prstGeom prst="roundRect">
            <a:avLst>
              <a:gd name="adj" fmla="val 50000"/>
            </a:avLst>
          </a:prstGeom>
          <a:solidFill>
            <a:srgbClr val="0F1520">
              <a:alpha val="80000"/>
            </a:srgbClr>
          </a:solidFill>
          <a:ln w="6350">
            <a:solidFill>
              <a:srgbClr val="76B900">
                <a:alpha val="20000"/>
              </a:srgbClr>
            </a:solidFill>
          </a:ln>
        </p:spPr>
        <p:txBody>
          <a:bodyPr wrap="square" lIns="45720" tIns="0" rIns="45720" bIns="0" rtlCol="0" anchor="ctr"/>
          <a:lstStyle/>
          <a:p>
            <a:pPr marL="0" indent="0" algn="ctr">
              <a:buNone/>
            </a:pPr>
            <a:r>
              <a:rPr lang="en-US" sz="700" b="1">
                <a:solidFill>
                  <a:srgbClr val="76B900"/>
                </a:solidFill>
                <a:latin typeface="Consolas"/>
                <a:ea typeface="Consolas"/>
                <a:cs typeface="Consolas"/>
              </a:rPr>
              <a:t>:11434</a:t>
            </a:r>
            <a:endParaRPr lang="en-US"/>
          </a:p>
        </p:txBody>
      </p:sp>
      <p:sp>
        <p:nvSpPr>
          <p:cNvPr id="74" name="API_Label"/>
          <p:cNvSpPr/>
          <p:nvPr/>
        </p:nvSpPr>
        <p:spPr>
          <a:xfrm>
            <a:off x="4800000" y="1590000"/>
            <a:ext cx="1800000" cy="200000"/>
          </a:xfrm>
          <a:prstGeom prst="roundRect">
            <a:avLst>
              <a:gd name="adj" fmla="val 50000"/>
            </a:avLst>
          </a:prstGeom>
          <a:solidFill>
            <a:srgbClr val="0F1520">
              <a:alpha val="80000"/>
            </a:srgbClr>
          </a:solidFill>
          <a:ln w="6350">
            <a:solidFill>
              <a:srgbClr val="76B900">
                <a:alpha val="20000"/>
              </a:srgbClr>
            </a:solidFill>
          </a:ln>
        </p:spPr>
        <p:txBody>
          <a:bodyPr wrap="square" lIns="45720" tIns="0" rIns="45720" bIns="0" rtlCol="0" anchor="ctr"/>
          <a:lstStyle/>
          <a:p>
            <a:pPr marL="0" indent="0" algn="ctr">
              <a:buNone/>
            </a:pPr>
            <a:r>
              <a:rPr lang="en-US" sz="700" b="1">
                <a:solidFill>
                  <a:srgbClr val="76B900"/>
                </a:solidFill>
                <a:latin typeface="Consolas"/>
                <a:ea typeface="Consolas"/>
                <a:cs typeface="Consolas"/>
              </a:rPr>
              <a:t>POST /api/chat</a:t>
            </a:r>
            <a:endParaRPr lang="en-US"/>
          </a:p>
        </p:txBody>
      </p:sp>
      <p:sp>
        <p:nvSpPr>
          <p:cNvPr id="75" name="URL_Label"/>
          <p:cNvSpPr/>
          <p:nvPr/>
        </p:nvSpPr>
        <p:spPr>
          <a:xfrm>
            <a:off x="6700000" y="1640000"/>
            <a:ext cx="1500000" cy="150000"/>
          </a:xfrm>
          <a:prstGeom prst="rect">
            <a:avLst/>
          </a:prstGeom>
          <a:noFill/>
          <a:ln/>
        </p:spPr>
        <p:txBody>
          <a:bodyPr wrap="square" lIns="0" tIns="0" rIns="0" bIns="0" rtlCol="0" anchor="ctr"/>
          <a:lstStyle/>
          <a:p>
            <a:pPr marL="0" indent="0" algn="ctr">
              <a:buNone/>
            </a:pPr>
            <a:r>
              <a:rPr lang="en-US" sz="650">
                <a:solidFill>
                  <a:srgbClr val="8B9CB6">
                    <a:alpha val="60000"/>
                  </a:srgbClr>
                </a:solidFill>
                <a:latin typeface="Calibri"/>
                <a:ea typeface="Calibri"/>
                <a:cs typeface="Calibri"/>
              </a:rPr>
              <a:t>localhost</a:t>
            </a:r>
            <a:endParaRPr lang="en-US"/>
          </a:p>
        </p:txBody>
      </p:sp>
      <p:sp>
        <p:nvSpPr>
          <p:cNvPr id="76" name="Chevron_Up"/>
          <p:cNvSpPr/>
          <p:nvPr/>
        </p:nvSpPr>
        <p:spPr>
          <a:xfrm>
            <a:off x="730000" y="4660000"/>
            <a:ext cx="150000" cy="80000"/>
          </a:xfrm>
          <a:prstGeom prst="rect">
            <a:avLst/>
          </a:prstGeom>
          <a:noFill/>
          <a:ln/>
        </p:spPr>
        <p:txBody>
          <a:bodyPr wrap="square" lIns="0" tIns="0" rIns="0" bIns="0" rtlCol="0" anchor="ctr"/>
          <a:lstStyle/>
          <a:p>
            <a:pPr marL="0" indent="0" algn="ctr">
              <a:buNone/>
            </a:pPr>
            <a:r>
              <a:rPr lang="en-US" sz="600">
                <a:solidFill>
                  <a:srgbClr val="76B900">
                    <a:alpha val="50000"/>
                  </a:srgbClr>
                </a:solidFill>
                <a:latin typeface="Calibri"/>
                <a:ea typeface="Calibri"/>
                <a:cs typeface="Calibri"/>
              </a:rPr>
              <a:t>▲</a:t>
            </a:r>
            <a:endParaRPr lang="en-US"/>
          </a:p>
        </p:txBody>
      </p:sp>
      <p:sp>
        <p:nvSpPr>
          <p:cNvPr id="77" name="Chevron_Down"/>
          <p:cNvSpPr/>
          <p:nvPr/>
        </p:nvSpPr>
        <p:spPr>
          <a:xfrm>
            <a:off x="8310000" y="4660000"/>
            <a:ext cx="150000" cy="80000"/>
          </a:xfrm>
          <a:prstGeom prst="rect">
            <a:avLst/>
          </a:prstGeom>
          <a:noFill/>
          <a:ln/>
        </p:spPr>
        <p:txBody>
          <a:bodyPr wrap="square" lIns="0" tIns="0" rIns="0" bIns="0" rtlCol="0" anchor="ctr"/>
          <a:lstStyle/>
          <a:p>
            <a:pPr marL="0" indent="0" algn="ctr">
              <a:buNone/>
            </a:pPr>
            <a:r>
              <a:rPr lang="en-US" sz="600">
                <a:solidFill>
                  <a:srgbClr val="76B900">
                    <a:alpha val="50000"/>
                  </a:srgbClr>
                </a:solidFill>
                <a:latin typeface="Calibri"/>
                <a:ea typeface="Calibri"/>
                <a:cs typeface="Calibri"/>
              </a:rPr>
              <a:t>▼</a:t>
            </a:r>
            <a:endParaRPr lang="en-US"/>
          </a:p>
        </p:txBody>
      </p:sp>
      <p:sp>
        <p:nvSpPr>
          <p:cNvPr id="78" name="Chevron_Right"/>
          <p:cNvSpPr/>
          <p:nvPr/>
        </p:nvSpPr>
        <p:spPr>
          <a:xfrm>
            <a:off x="2500000" y="2590000"/>
            <a:ext cx="120000" cy="120000"/>
          </a:xfrm>
          <a:prstGeom prst="rect">
            <a:avLst/>
          </a:prstGeom>
          <a:noFill/>
          <a:ln/>
        </p:spPr>
        <p:txBody>
          <a:bodyPr wrap="square" lIns="0" tIns="0" rIns="0" bIns="0" rtlCol="0" anchor="ctr"/>
          <a:lstStyle/>
          <a:p>
            <a:pPr marL="0" indent="0" algn="ctr">
              <a:buNone/>
            </a:pPr>
            <a:r>
              <a:rPr lang="en-US" sz="500">
                <a:solidFill>
                  <a:srgbClr val="76B900">
                    <a:alpha val="50000"/>
                  </a:srgbClr>
                </a:solidFill>
                <a:latin typeface="Calibri"/>
                <a:ea typeface="Calibri"/>
                <a:cs typeface="Calibri"/>
              </a:rPr>
              <a:t>▶</a:t>
            </a:r>
            <a:endParaRPr lang="en-US"/>
          </a:p>
        </p:txBody>
      </p:sp>
      <p:sp>
        <p:nvSpPr>
          <p:cNvPr id="79" name="Flow_Request"/>
          <p:cNvSpPr/>
          <p:nvPr/>
        </p:nvSpPr>
        <p:spPr>
          <a:xfrm>
            <a:off x="430000" y="4660000"/>
            <a:ext cx="300000" cy="100000"/>
          </a:xfrm>
          <a:prstGeom prst="rect">
            <a:avLst/>
          </a:prstGeom>
          <a:noFill/>
          <a:ln/>
        </p:spPr>
        <p:txBody>
          <a:bodyPr wrap="square" lIns="0" tIns="0" rIns="0" bIns="0" rtlCol="0" anchor="ctr"/>
          <a:lstStyle/>
          <a:p>
            <a:pPr marL="0" indent="0" algn="ctr">
              <a:buNone/>
            </a:pPr>
            <a:r>
              <a:rPr lang="en-US" sz="550">
                <a:solidFill>
                  <a:srgbClr val="76B900">
                    <a:alpha val="50000"/>
                  </a:srgbClr>
                </a:solidFill>
                <a:latin typeface="Consolas"/>
                <a:ea typeface="Consolas"/>
                <a:cs typeface="Consolas"/>
              </a:rPr>
              <a:t>request</a:t>
            </a:r>
            <a:endParaRPr lang="en-US"/>
          </a:p>
        </p:txBody>
      </p:sp>
      <p:sp>
        <p:nvSpPr>
          <p:cNvPr id="80" name="Flow_Stream"/>
          <p:cNvSpPr/>
          <p:nvPr/>
        </p:nvSpPr>
        <p:spPr>
          <a:xfrm>
            <a:off x="8430000" y="4660000"/>
            <a:ext cx="300000" cy="100000"/>
          </a:xfrm>
          <a:prstGeom prst="rect">
            <a:avLst/>
          </a:prstGeom>
          <a:noFill/>
          <a:ln/>
        </p:spPr>
        <p:txBody>
          <a:bodyPr wrap="square" lIns="0" tIns="0" rIns="0" bIns="0" rtlCol="0" anchor="ctr"/>
          <a:lstStyle/>
          <a:p>
            <a:pPr marL="0" indent="0" algn="ctr">
              <a:buNone/>
            </a:pPr>
            <a:r>
              <a:rPr lang="en-US" sz="550">
                <a:solidFill>
                  <a:srgbClr val="76B900">
                    <a:alpha val="50000"/>
                  </a:srgbClr>
                </a:solidFill>
                <a:latin typeface="Consolas"/>
                <a:ea typeface="Consolas"/>
                <a:cs typeface="Consolas"/>
              </a:rPr>
              <a:t>stream</a:t>
            </a:r>
            <a:endParaRPr lang="en-US"/>
          </a:p>
        </p:txBody>
      </p:sp>
      <p:sp>
        <p:nvSpPr>
          <p:cNvPr id="81" name="Flow_Inference"/>
          <p:cNvSpPr/>
          <p:nvPr/>
        </p:nvSpPr>
        <p:spPr>
          <a:xfrm>
            <a:off x="2430000" y="2520000"/>
            <a:ext cx="260000" cy="100000"/>
          </a:xfrm>
          <a:prstGeom prst="rect">
            <a:avLst/>
          </a:prstGeom>
          <a:noFill/>
          <a:ln/>
        </p:spPr>
        <p:txBody>
          <a:bodyPr wrap="square" lIns="0" tIns="0" rIns="0" bIns="0" rtlCol="0" anchor="ctr"/>
          <a:lstStyle/>
          <a:p>
            <a:pPr marL="0" indent="0" algn="ctr">
              <a:buNone/>
            </a:pPr>
            <a:r>
              <a:rPr lang="en-US" sz="500">
                <a:solidFill>
                  <a:srgbClr val="4285F4">
                    <a:alpha val="60000"/>
                  </a:srgbClr>
                </a:solidFill>
                <a:latin typeface="Consolas"/>
                <a:ea typeface="Consolas"/>
                <a:cs typeface="Consolas"/>
              </a:rPr>
              <a:t>inference</a:t>
            </a:r>
            <a:endParaRPr lang="en-US"/>
          </a:p>
        </p:txBody>
      </p:sp>
      <p:sp>
        <p:nvSpPr>
          <p:cNvPr id="82" name="API_Hint"/>
          <p:cNvSpPr/>
          <p:nvPr/>
        </p:nvSpPr>
        <p:spPr>
          <a:xfrm>
            <a:off x="1030000" y="3400000"/>
            <a:ext cx="1400000" cy="200000"/>
          </a:xfrm>
          <a:prstGeom prst="rect">
            <a:avLst/>
          </a:prstGeom>
          <a:noFill/>
          <a:ln/>
        </p:spPr>
        <p:txBody>
          <a:bodyPr wrap="square" lIns="0" tIns="0" rIns="0" bIns="0" rtlCol="0" anchor="ctr"/>
          <a:lstStyle/>
          <a:p>
            <a:pPr marL="0" indent="0" algn="l">
              <a:buNone/>
            </a:pPr>
            <a:r>
              <a:rPr lang="en-US" sz="550">
                <a:solidFill>
                  <a:srgbClr val="8B9CB6">
                    <a:alpha val="40000"/>
                  </a:srgbClr>
                </a:solidFill>
                <a:latin typeface="Consolas"/>
                <a:ea typeface="Consolas"/>
                <a:cs typeface="Consolas"/>
              </a:rPr>
              <a:t>curl localhost:11434/api/chat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409575" y="846981"/>
            <a:ext cx="2666552" cy="21580"/>
          </a:xfrm>
          <a:custGeom>
            <a:avLst/>
            <a:gdLst/>
            <a:ahLst/>
            <a:cxnLst/>
            <a:rect l="l" t="t" r="r" b="b"/>
            <a:pathLst>
              <a:path w="2666552" h="21580">
                <a:moveTo>
                  <a:pt x="114300" y="0"/>
                </a:moveTo>
                <a:lnTo>
                  <a:pt x="2552252" y="0"/>
                </a:lnTo>
                <a:lnTo>
                  <a:pt x="2576938" y="2698"/>
                </a:lnTo>
                <a:lnTo>
                  <a:pt x="2586954" y="5395"/>
                </a:lnTo>
                <a:lnTo>
                  <a:pt x="2594495" y="8093"/>
                </a:lnTo>
                <a:lnTo>
                  <a:pt x="2600731" y="10790"/>
                </a:lnTo>
                <a:lnTo>
                  <a:pt x="2606116" y="13488"/>
                </a:lnTo>
                <a:lnTo>
                  <a:pt x="2610886" y="16185"/>
                </a:lnTo>
                <a:lnTo>
                  <a:pt x="2615181" y="18883"/>
                </a:lnTo>
                <a:lnTo>
                  <a:pt x="261909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4" name="Text 2"/>
          <p:cNvSpPr/>
          <p:nvPr/>
        </p:nvSpPr>
        <p:spPr>
          <a:xfrm>
            <a:off x="3238649" y="846981"/>
            <a:ext cx="2666552" cy="21580"/>
          </a:xfrm>
          <a:custGeom>
            <a:avLst/>
            <a:gdLst/>
            <a:ahLst/>
            <a:cxnLst/>
            <a:rect l="l" t="t" r="r" b="b"/>
            <a:pathLst>
              <a:path w="2666552" h="21580">
                <a:moveTo>
                  <a:pt x="114300" y="0"/>
                </a:moveTo>
                <a:lnTo>
                  <a:pt x="2552252" y="0"/>
                </a:lnTo>
                <a:lnTo>
                  <a:pt x="2576938" y="2698"/>
                </a:lnTo>
                <a:lnTo>
                  <a:pt x="2586954" y="5395"/>
                </a:lnTo>
                <a:lnTo>
                  <a:pt x="2594495" y="8093"/>
                </a:lnTo>
                <a:lnTo>
                  <a:pt x="2600731" y="10790"/>
                </a:lnTo>
                <a:lnTo>
                  <a:pt x="2606116" y="13488"/>
                </a:lnTo>
                <a:lnTo>
                  <a:pt x="2610886" y="16185"/>
                </a:lnTo>
                <a:lnTo>
                  <a:pt x="2615181" y="18883"/>
                </a:lnTo>
                <a:lnTo>
                  <a:pt x="261909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6067723" y="846981"/>
            <a:ext cx="2666705" cy="21580"/>
          </a:xfrm>
          <a:custGeom>
            <a:avLst/>
            <a:gdLst/>
            <a:ahLst/>
            <a:cxnLst/>
            <a:rect l="l" t="t" r="r" b="b"/>
            <a:pathLst>
              <a:path w="2666705" h="21580">
                <a:moveTo>
                  <a:pt x="114300" y="0"/>
                </a:moveTo>
                <a:lnTo>
                  <a:pt x="2552405" y="0"/>
                </a:lnTo>
                <a:lnTo>
                  <a:pt x="2577090" y="2698"/>
                </a:lnTo>
                <a:lnTo>
                  <a:pt x="2587106" y="5395"/>
                </a:lnTo>
                <a:lnTo>
                  <a:pt x="2594648" y="8093"/>
                </a:lnTo>
                <a:lnTo>
                  <a:pt x="2600883" y="10790"/>
                </a:lnTo>
                <a:lnTo>
                  <a:pt x="2606269" y="13488"/>
                </a:lnTo>
                <a:lnTo>
                  <a:pt x="2611039" y="16185"/>
                </a:lnTo>
                <a:lnTo>
                  <a:pt x="2615333" y="18883"/>
                </a:lnTo>
                <a:lnTo>
                  <a:pt x="2619244"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409575" y="2928789"/>
            <a:ext cx="2666552" cy="21580"/>
          </a:xfrm>
          <a:custGeom>
            <a:avLst/>
            <a:gdLst/>
            <a:ahLst/>
            <a:cxnLst/>
            <a:rect l="l" t="t" r="r" b="b"/>
            <a:pathLst>
              <a:path w="2666552" h="21580">
                <a:moveTo>
                  <a:pt x="114300" y="0"/>
                </a:moveTo>
                <a:lnTo>
                  <a:pt x="2552252" y="0"/>
                </a:lnTo>
                <a:lnTo>
                  <a:pt x="2576938" y="2698"/>
                </a:lnTo>
                <a:lnTo>
                  <a:pt x="2586954" y="5395"/>
                </a:lnTo>
                <a:lnTo>
                  <a:pt x="2594495" y="8093"/>
                </a:lnTo>
                <a:lnTo>
                  <a:pt x="2600731" y="10790"/>
                </a:lnTo>
                <a:lnTo>
                  <a:pt x="2606116" y="13488"/>
                </a:lnTo>
                <a:lnTo>
                  <a:pt x="2610886" y="16185"/>
                </a:lnTo>
                <a:lnTo>
                  <a:pt x="2615181" y="18883"/>
                </a:lnTo>
                <a:lnTo>
                  <a:pt x="261909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3238649" y="2928789"/>
            <a:ext cx="2666552" cy="21580"/>
          </a:xfrm>
          <a:custGeom>
            <a:avLst/>
            <a:gdLst/>
            <a:ahLst/>
            <a:cxnLst/>
            <a:rect l="l" t="t" r="r" b="b"/>
            <a:pathLst>
              <a:path w="2666552" h="21580">
                <a:moveTo>
                  <a:pt x="114300" y="0"/>
                </a:moveTo>
                <a:lnTo>
                  <a:pt x="2552252" y="0"/>
                </a:lnTo>
                <a:lnTo>
                  <a:pt x="2576938" y="2698"/>
                </a:lnTo>
                <a:lnTo>
                  <a:pt x="2586954" y="5395"/>
                </a:lnTo>
                <a:lnTo>
                  <a:pt x="2594495" y="8093"/>
                </a:lnTo>
                <a:lnTo>
                  <a:pt x="2600731" y="10790"/>
                </a:lnTo>
                <a:lnTo>
                  <a:pt x="2606116" y="13488"/>
                </a:lnTo>
                <a:lnTo>
                  <a:pt x="2610886" y="16185"/>
                </a:lnTo>
                <a:lnTo>
                  <a:pt x="2615181" y="18883"/>
                </a:lnTo>
                <a:lnTo>
                  <a:pt x="2619092"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70000"/>
                </a:srgbClr>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400050" y="346918"/>
            <a:ext cx="35421" cy="257770"/>
          </a:xfrm>
          <a:prstGeom prst="roundRect">
            <a:avLst>
              <a:gd name="adj" fmla="val 60953"/>
            </a:avLst>
          </a:prstGeom>
          <a:solidFill>
            <a:srgbClr val="76B900"/>
          </a:solidFill>
          <a:ln/>
        </p:spPr>
        <p:txBody>
          <a:bodyPr wrap="none" rtlCol="0" anchor="t"/>
          <a:lstStyle/>
          <a:p>
            <a:pPr marL="0" indent="0">
              <a:buNone/>
            </a:pPr>
            <a:endParaRPr lang="en-US" dirty="0"/>
          </a:p>
        </p:txBody>
      </p:sp>
      <p:sp>
        <p:nvSpPr>
          <p:cNvPr id="9" name="Text 7"/>
          <p:cNvSpPr/>
          <p:nvPr/>
        </p:nvSpPr>
        <p:spPr>
          <a:xfrm>
            <a:off x="535781" y="314920"/>
            <a:ext cx="3210401" cy="321915"/>
          </a:xfrm>
          <a:prstGeom prst="rect">
            <a:avLst/>
          </a:prstGeom>
          <a:noFill/>
          <a:ln/>
        </p:spPr>
        <p:txBody>
          <a:bodyPr wrap="none" lIns="0" tIns="0" rIns="0" bIns="0" rtlCol="0" anchor="ctr"/>
          <a:lstStyle/>
          <a:p>
            <a:pPr marL="0" indent="0" algn="l">
              <a:lnSpc>
                <a:spcPts val="2535"/>
              </a:lnSpc>
              <a:buNone/>
            </a:pPr>
            <a:r>
              <a:rPr lang="en-US" sz="1690" kern="0" spc="-30" dirty="0">
                <a:solidFill>
                  <a:srgbClr val="E2E8F0"/>
                </a:solidFill>
                <a:latin typeface="Consolas" pitchFamily="34" charset="0"/>
                <a:ea typeface="Consolas" pitchFamily="34" charset="-122"/>
                <a:cs typeface="Consolas" pitchFamily="34" charset="-120"/>
              </a:rPr>
              <a:t>Local AI Framework Comparison</a:t>
            </a:r>
            <a:endParaRPr lang="en-US" sz="1690" dirty="0"/>
          </a:p>
        </p:txBody>
      </p:sp>
      <p:sp>
        <p:nvSpPr>
          <p:cNvPr id="10" name="Text 8"/>
          <p:cNvSpPr/>
          <p:nvPr/>
        </p:nvSpPr>
        <p:spPr>
          <a:xfrm>
            <a:off x="7701260" y="371921"/>
            <a:ext cx="1042690" cy="228704"/>
          </a:xfrm>
          <a:prstGeom prst="roundRect">
            <a:avLst>
              <a:gd name="adj" fmla="val 62749"/>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620" dirty="0">
                <a:solidFill>
                  <a:srgbClr val="8B9CB6"/>
                </a:solidFill>
                <a:latin typeface="Consolas" pitchFamily="34" charset="0"/>
                <a:ea typeface="Consolas" pitchFamily="34" charset="-122"/>
                <a:cs typeface="Consolas" pitchFamily="34" charset="-120"/>
              </a:rPr>
              <a:t>PICK YOUR PATH</a:t>
            </a:r>
            <a:endParaRPr lang="en-US" sz="620" dirty="0"/>
          </a:p>
        </p:txBody>
      </p:sp>
      <p:sp>
        <p:nvSpPr>
          <p:cNvPr id="11" name="Text 9"/>
          <p:cNvSpPr/>
          <p:nvPr/>
        </p:nvSpPr>
        <p:spPr>
          <a:xfrm>
            <a:off x="400050" y="837456"/>
            <a:ext cx="2685604" cy="1938337"/>
          </a:xfrm>
          <a:prstGeom prst="roundRect">
            <a:avLst>
              <a:gd name="adj" fmla="val 5897"/>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2" name="Text 10"/>
          <p:cNvSpPr/>
          <p:nvPr/>
        </p:nvSpPr>
        <p:spPr>
          <a:xfrm>
            <a:off x="581025" y="1047601"/>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2972" y="1149548"/>
            <a:ext cx="139005" cy="139005"/>
          </a:xfrm>
          <a:prstGeom prst="rect">
            <a:avLst/>
          </a:prstGeom>
        </p:spPr>
      </p:pic>
      <p:sp>
        <p:nvSpPr>
          <p:cNvPr id="14" name="Text 11"/>
          <p:cNvSpPr/>
          <p:nvPr/>
        </p:nvSpPr>
        <p:spPr>
          <a:xfrm>
            <a:off x="1024235" y="1047601"/>
            <a:ext cx="762729"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EASIEST GUI</a:t>
            </a:r>
            <a:endParaRPr lang="en-US" sz="620" dirty="0"/>
          </a:p>
        </p:txBody>
      </p:sp>
      <p:sp>
        <p:nvSpPr>
          <p:cNvPr id="15" name="Text 12"/>
          <p:cNvSpPr/>
          <p:nvPr/>
        </p:nvSpPr>
        <p:spPr>
          <a:xfrm>
            <a:off x="581025" y="1461492"/>
            <a:ext cx="2556019" cy="158353"/>
          </a:xfrm>
          <a:prstGeom prst="rect">
            <a:avLst/>
          </a:prstGeom>
          <a:noFill/>
          <a:ln/>
        </p:spPr>
        <p:txBody>
          <a:bodyPr wrap="none" lIns="0" tIns="0" rIns="0" bIns="0" rtlCol="0" anchor="ctr"/>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LM Studio </a:t>
            </a:r>
            <a:r>
              <a:rPr lang="en-US" sz="960" b="1" dirty="0">
                <a:solidFill>
                  <a:srgbClr val="8B9CB6"/>
                </a:solidFill>
                <a:latin typeface="Consolas" pitchFamily="34" charset="0"/>
                <a:ea typeface="Consolas" pitchFamily="34" charset="-122"/>
                <a:cs typeface="Consolas" pitchFamily="34" charset="-120"/>
              </a:rPr>
              <a:t>or</a:t>
            </a:r>
            <a:r>
              <a:rPr lang="en-US" sz="960" b="1" dirty="0">
                <a:solidFill>
                  <a:srgbClr val="76B900"/>
                </a:solidFill>
                <a:latin typeface="Consolas" pitchFamily="34" charset="0"/>
                <a:ea typeface="Consolas" pitchFamily="34" charset="-122"/>
                <a:cs typeface="Consolas" pitchFamily="34" charset="-120"/>
              </a:rPr>
              <a:t> Jan</a:t>
            </a:r>
            <a:endParaRPr lang="en-US" sz="960" dirty="0"/>
          </a:p>
        </p:txBody>
      </p:sp>
      <p:sp>
        <p:nvSpPr>
          <p:cNvPr id="16" name="Text 13"/>
          <p:cNvSpPr/>
          <p:nvPr/>
        </p:nvSpPr>
        <p:spPr>
          <a:xfrm>
            <a:off x="581025" y="1690836"/>
            <a:ext cx="2370127"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Point-and-click interface for downloading &amp; chatting with models instantly</a:t>
            </a:r>
            <a:endParaRPr lang="en-US" sz="730" dirty="0"/>
          </a:p>
        </p:txBody>
      </p:sp>
      <p:sp>
        <p:nvSpPr>
          <p:cNvPr id="17" name="Text 14"/>
          <p:cNvSpPr/>
          <p:nvPr/>
        </p:nvSpPr>
        <p:spPr>
          <a:xfrm>
            <a:off x="3229124" y="837456"/>
            <a:ext cx="2685604" cy="1938337"/>
          </a:xfrm>
          <a:prstGeom prst="roundRect">
            <a:avLst>
              <a:gd name="adj" fmla="val 5897"/>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8" name="Text 15"/>
          <p:cNvSpPr/>
          <p:nvPr/>
        </p:nvSpPr>
        <p:spPr>
          <a:xfrm>
            <a:off x="3410099" y="1047601"/>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2046" y="1149548"/>
            <a:ext cx="139005" cy="139005"/>
          </a:xfrm>
          <a:prstGeom prst="rect">
            <a:avLst/>
          </a:prstGeom>
        </p:spPr>
      </p:pic>
      <p:sp>
        <p:nvSpPr>
          <p:cNvPr id="20" name="Text 16"/>
          <p:cNvSpPr/>
          <p:nvPr/>
        </p:nvSpPr>
        <p:spPr>
          <a:xfrm>
            <a:off x="3853309" y="1047601"/>
            <a:ext cx="1186741"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MAX PERFORMANCE</a:t>
            </a:r>
            <a:endParaRPr lang="en-US" sz="620" dirty="0"/>
          </a:p>
        </p:txBody>
      </p:sp>
      <p:sp>
        <p:nvSpPr>
          <p:cNvPr id="21" name="Text 17"/>
          <p:cNvSpPr/>
          <p:nvPr/>
        </p:nvSpPr>
        <p:spPr>
          <a:xfrm>
            <a:off x="3410099" y="1461492"/>
            <a:ext cx="2556019" cy="158353"/>
          </a:xfrm>
          <a:prstGeom prst="rect">
            <a:avLst/>
          </a:prstGeom>
          <a:noFill/>
          <a:ln/>
        </p:spPr>
        <p:txBody>
          <a:bodyPr wrap="none" lIns="0" tIns="0" rIns="0" bIns="0" rtlCol="0" anchor="t"/>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llama.cpp</a:t>
            </a:r>
            <a:endParaRPr lang="en-US" sz="960" dirty="0"/>
          </a:p>
        </p:txBody>
      </p:sp>
      <p:sp>
        <p:nvSpPr>
          <p:cNvPr id="22" name="Text 18"/>
          <p:cNvSpPr/>
          <p:nvPr/>
        </p:nvSpPr>
        <p:spPr>
          <a:xfrm>
            <a:off x="3410099" y="1690836"/>
            <a:ext cx="2370127"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Bare-metal C++ inference engine with full hardware control &amp; optimization</a:t>
            </a:r>
            <a:endParaRPr lang="en-US" sz="730" dirty="0"/>
          </a:p>
        </p:txBody>
      </p:sp>
      <p:sp>
        <p:nvSpPr>
          <p:cNvPr id="23" name="Text 19"/>
          <p:cNvSpPr/>
          <p:nvPr/>
        </p:nvSpPr>
        <p:spPr>
          <a:xfrm>
            <a:off x="6058198" y="837456"/>
            <a:ext cx="2685752" cy="1938337"/>
          </a:xfrm>
          <a:prstGeom prst="roundRect">
            <a:avLst>
              <a:gd name="adj" fmla="val 5897"/>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4" name="Text 20"/>
          <p:cNvSpPr/>
          <p:nvPr/>
        </p:nvSpPr>
        <p:spPr>
          <a:xfrm>
            <a:off x="6239173" y="1047601"/>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41120" y="1149548"/>
            <a:ext cx="139005" cy="139005"/>
          </a:xfrm>
          <a:prstGeom prst="rect">
            <a:avLst/>
          </a:prstGeom>
        </p:spPr>
      </p:pic>
      <p:sp>
        <p:nvSpPr>
          <p:cNvPr id="26" name="Text 21"/>
          <p:cNvSpPr/>
          <p:nvPr/>
        </p:nvSpPr>
        <p:spPr>
          <a:xfrm>
            <a:off x="6682383" y="1047601"/>
            <a:ext cx="1019919"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PRODUCTION API</a:t>
            </a:r>
            <a:endParaRPr lang="en-US" sz="620" dirty="0"/>
          </a:p>
        </p:txBody>
      </p:sp>
      <p:sp>
        <p:nvSpPr>
          <p:cNvPr id="27" name="Text 22"/>
          <p:cNvSpPr/>
          <p:nvPr/>
        </p:nvSpPr>
        <p:spPr>
          <a:xfrm>
            <a:off x="6239173" y="1461492"/>
            <a:ext cx="2556183" cy="158353"/>
          </a:xfrm>
          <a:prstGeom prst="rect">
            <a:avLst/>
          </a:prstGeom>
          <a:noFill/>
          <a:ln/>
        </p:spPr>
        <p:txBody>
          <a:bodyPr wrap="none" lIns="0" tIns="0" rIns="0" bIns="0" rtlCol="0" anchor="ctr"/>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vLLM </a:t>
            </a:r>
            <a:r>
              <a:rPr lang="en-US" sz="960" b="1" dirty="0">
                <a:solidFill>
                  <a:srgbClr val="8B9CB6"/>
                </a:solidFill>
                <a:latin typeface="Consolas" pitchFamily="34" charset="0"/>
                <a:ea typeface="Consolas" pitchFamily="34" charset="-122"/>
                <a:cs typeface="Consolas" pitchFamily="34" charset="-120"/>
              </a:rPr>
              <a:t>or</a:t>
            </a:r>
            <a:r>
              <a:rPr lang="en-US" sz="960" b="1" dirty="0">
                <a:solidFill>
                  <a:srgbClr val="76B900"/>
                </a:solidFill>
                <a:latin typeface="Consolas" pitchFamily="34" charset="0"/>
                <a:ea typeface="Consolas" pitchFamily="34" charset="-122"/>
                <a:cs typeface="Consolas" pitchFamily="34" charset="-120"/>
              </a:rPr>
              <a:t> LocalAI</a:t>
            </a:r>
            <a:endParaRPr lang="en-US" sz="960" dirty="0"/>
          </a:p>
        </p:txBody>
      </p:sp>
      <p:sp>
        <p:nvSpPr>
          <p:cNvPr id="28" name="Text 23"/>
          <p:cNvSpPr/>
          <p:nvPr/>
        </p:nvSpPr>
        <p:spPr>
          <a:xfrm>
            <a:off x="6239173" y="1690836"/>
            <a:ext cx="2370278"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OpenAI-compatible serving for production workloads &amp; high throughput</a:t>
            </a:r>
            <a:endParaRPr lang="en-US" sz="730" dirty="0"/>
          </a:p>
        </p:txBody>
      </p:sp>
      <p:sp>
        <p:nvSpPr>
          <p:cNvPr id="29" name="Text 24"/>
          <p:cNvSpPr/>
          <p:nvPr/>
        </p:nvSpPr>
        <p:spPr>
          <a:xfrm>
            <a:off x="400050" y="2919264"/>
            <a:ext cx="2685604" cy="1938486"/>
          </a:xfrm>
          <a:prstGeom prst="roundRect">
            <a:avLst>
              <a:gd name="adj" fmla="val 589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0" name="Text 25"/>
          <p:cNvSpPr/>
          <p:nvPr/>
        </p:nvSpPr>
        <p:spPr>
          <a:xfrm>
            <a:off x="581025" y="3129409"/>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2972" y="3231356"/>
            <a:ext cx="139005" cy="139005"/>
          </a:xfrm>
          <a:prstGeom prst="rect">
            <a:avLst/>
          </a:prstGeom>
        </p:spPr>
      </p:pic>
      <p:sp>
        <p:nvSpPr>
          <p:cNvPr id="32" name="Text 26"/>
          <p:cNvSpPr/>
          <p:nvPr/>
        </p:nvSpPr>
        <p:spPr>
          <a:xfrm>
            <a:off x="1024235" y="3129409"/>
            <a:ext cx="1717491"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ALL-IN-ONE (RAG + AGENTS)</a:t>
            </a:r>
            <a:endParaRPr lang="en-US" sz="620" dirty="0"/>
          </a:p>
        </p:txBody>
      </p:sp>
      <p:sp>
        <p:nvSpPr>
          <p:cNvPr id="33" name="Text 27"/>
          <p:cNvSpPr/>
          <p:nvPr/>
        </p:nvSpPr>
        <p:spPr>
          <a:xfrm>
            <a:off x="581025" y="3543300"/>
            <a:ext cx="2556019" cy="158353"/>
          </a:xfrm>
          <a:prstGeom prst="rect">
            <a:avLst/>
          </a:prstGeom>
          <a:noFill/>
          <a:ln/>
        </p:spPr>
        <p:txBody>
          <a:bodyPr wrap="none" lIns="0" tIns="0" rIns="0" bIns="0" rtlCol="0" anchor="ctr"/>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AnythingLLM </a:t>
            </a:r>
            <a:r>
              <a:rPr lang="en-US" sz="960" b="1" dirty="0">
                <a:solidFill>
                  <a:srgbClr val="8B9CB6"/>
                </a:solidFill>
                <a:latin typeface="Consolas" pitchFamily="34" charset="0"/>
                <a:ea typeface="Consolas" pitchFamily="34" charset="-122"/>
                <a:cs typeface="Consolas" pitchFamily="34" charset="-120"/>
              </a:rPr>
              <a:t>+</a:t>
            </a:r>
            <a:r>
              <a:rPr lang="en-US" sz="960" b="1" dirty="0">
                <a:solidFill>
                  <a:srgbClr val="76B900"/>
                </a:solidFill>
                <a:latin typeface="Consolas" pitchFamily="34" charset="0"/>
                <a:ea typeface="Consolas" pitchFamily="34" charset="-122"/>
                <a:cs typeface="Consolas" pitchFamily="34" charset="-120"/>
              </a:rPr>
              <a:t> LocalAI</a:t>
            </a:r>
            <a:endParaRPr lang="en-US" sz="960" dirty="0"/>
          </a:p>
        </p:txBody>
      </p:sp>
      <p:sp>
        <p:nvSpPr>
          <p:cNvPr id="34" name="Text 28"/>
          <p:cNvSpPr/>
          <p:nvPr/>
        </p:nvSpPr>
        <p:spPr>
          <a:xfrm>
            <a:off x="581025" y="3772644"/>
            <a:ext cx="2370127"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Bundled RAG, agents, and document management in a single platform</a:t>
            </a:r>
            <a:endParaRPr lang="en-US" sz="730" dirty="0"/>
          </a:p>
        </p:txBody>
      </p:sp>
      <p:sp>
        <p:nvSpPr>
          <p:cNvPr id="35" name="Text 29"/>
          <p:cNvSpPr/>
          <p:nvPr/>
        </p:nvSpPr>
        <p:spPr>
          <a:xfrm>
            <a:off x="3229124" y="2919264"/>
            <a:ext cx="2685604" cy="1938486"/>
          </a:xfrm>
          <a:prstGeom prst="roundRect">
            <a:avLst>
              <a:gd name="adj" fmla="val 589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6" name="Text 30"/>
          <p:cNvSpPr/>
          <p:nvPr/>
        </p:nvSpPr>
        <p:spPr>
          <a:xfrm>
            <a:off x="3410099" y="3129409"/>
            <a:ext cx="342900" cy="342900"/>
          </a:xfrm>
          <a:prstGeom prst="roundRect">
            <a:avLst>
              <a:gd name="adj" fmla="val 25185"/>
            </a:avLst>
          </a:prstGeom>
          <a:solidFill>
            <a:srgbClr val="76B900">
              <a:alpha val="10000"/>
            </a:srgbClr>
          </a:solidFill>
          <a:ln/>
        </p:spPr>
        <p:txBody>
          <a:bodyPr wrap="square" rtlCol="0" anchor="t"/>
          <a:lstStyle/>
          <a:p>
            <a:pPr marL="0" indent="0">
              <a:buNone/>
            </a:pPr>
            <a:endParaRPr lang="en-US" dirty="0"/>
          </a:p>
        </p:txBody>
      </p:sp>
      <p:pic>
        <p:nvPicPr>
          <p:cNvPr id="3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12046" y="3231356"/>
            <a:ext cx="139005" cy="139005"/>
          </a:xfrm>
          <a:prstGeom prst="rect">
            <a:avLst/>
          </a:prstGeom>
        </p:spPr>
      </p:pic>
      <p:sp>
        <p:nvSpPr>
          <p:cNvPr id="38" name="Text 31"/>
          <p:cNvSpPr/>
          <p:nvPr/>
        </p:nvSpPr>
        <p:spPr>
          <a:xfrm>
            <a:off x="3853309" y="3129409"/>
            <a:ext cx="1358310"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76B900"/>
                </a:solidFill>
                <a:latin typeface="Consolas" pitchFamily="34" charset="0"/>
                <a:ea typeface="Consolas" pitchFamily="34" charset="-122"/>
                <a:cs typeface="Consolas" pitchFamily="34" charset="-120"/>
              </a:rPr>
              <a:t>CLI / API DEVELOPERS</a:t>
            </a:r>
            <a:endParaRPr lang="en-US" sz="620" dirty="0"/>
          </a:p>
        </p:txBody>
      </p:sp>
      <p:sp>
        <p:nvSpPr>
          <p:cNvPr id="39" name="Text 32"/>
          <p:cNvSpPr/>
          <p:nvPr/>
        </p:nvSpPr>
        <p:spPr>
          <a:xfrm>
            <a:off x="3410099" y="3543300"/>
            <a:ext cx="2556019" cy="158353"/>
          </a:xfrm>
          <a:prstGeom prst="rect">
            <a:avLst/>
          </a:prstGeom>
          <a:noFill/>
          <a:ln/>
        </p:spPr>
        <p:txBody>
          <a:bodyPr wrap="none" lIns="0" tIns="0" rIns="0" bIns="0" rtlCol="0" anchor="ctr"/>
          <a:lstStyle/>
          <a:p>
            <a:pPr marL="0" indent="0" algn="l">
              <a:lnSpc>
                <a:spcPts val="1248"/>
              </a:lnSpc>
              <a:buNone/>
            </a:pPr>
            <a:r>
              <a:rPr lang="en-US" sz="960" b="1" dirty="0">
                <a:solidFill>
                  <a:srgbClr val="76B900"/>
                </a:solidFill>
                <a:latin typeface="Consolas" pitchFamily="34" charset="0"/>
                <a:ea typeface="Consolas" pitchFamily="34" charset="-122"/>
                <a:cs typeface="Consolas" pitchFamily="34" charset="-120"/>
              </a:rPr>
              <a:t>Ollama </a:t>
            </a:r>
            <a:r>
              <a:rPr lang="en-US" sz="960" b="1" dirty="0">
                <a:solidFill>
                  <a:srgbClr val="8B9CB6"/>
                </a:solidFill>
                <a:latin typeface="Consolas" pitchFamily="34" charset="0"/>
                <a:ea typeface="Consolas" pitchFamily="34" charset="-122"/>
                <a:cs typeface="Consolas" pitchFamily="34" charset="-120"/>
              </a:rPr>
              <a:t>or</a:t>
            </a:r>
            <a:r>
              <a:rPr lang="en-US" sz="960" b="1" dirty="0">
                <a:solidFill>
                  <a:srgbClr val="76B900"/>
                </a:solidFill>
                <a:latin typeface="Consolas" pitchFamily="34" charset="0"/>
                <a:ea typeface="Consolas" pitchFamily="34" charset="-122"/>
                <a:cs typeface="Consolas" pitchFamily="34" charset="-120"/>
              </a:rPr>
              <a:t> LocalAI</a:t>
            </a:r>
            <a:endParaRPr lang="en-US" sz="960" dirty="0"/>
          </a:p>
        </p:txBody>
      </p:sp>
      <p:sp>
        <p:nvSpPr>
          <p:cNvPr id="40" name="Text 33"/>
          <p:cNvSpPr/>
          <p:nvPr/>
        </p:nvSpPr>
        <p:spPr>
          <a:xfrm>
            <a:off x="3410099" y="3772644"/>
            <a:ext cx="2370127" cy="291911"/>
          </a:xfrm>
          <a:prstGeom prst="rect">
            <a:avLst/>
          </a:prstGeom>
          <a:noFill/>
          <a:ln/>
        </p:spPr>
        <p:txBody>
          <a:bodyPr wrap="square" lIns="0" tIns="0" rIns="0" bIns="0" rtlCol="0" anchor="t"/>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Developer-first CLI with one-command model management &amp; REST APIs</a:t>
            </a:r>
            <a:endParaRPr lang="en-US" sz="730" dirty="0"/>
          </a:p>
        </p:txBody>
      </p:sp>
      <p:pic>
        <p:nvPicPr>
          <p:cNvPr id="41" name="Image 5" descr="preencoded.png"/>
          <p:cNvPicPr>
            <a:picLocks noChangeAspect="1"/>
          </p:cNvPicPr>
          <p:nvPr/>
        </p:nvPicPr>
        <p:blipFill>
          <a:blip>
            <a:alphaModFix amt="50000"/>
            <a:extLst>
              <a:ext uri="{96DAC541-7B7A-43D3-8B79-37D633B846F1}">
                <asvg:svgBlip xmlns:asvg="http://schemas.microsoft.com/office/drawing/2016/SVG/main" r:embed="rId8"/>
              </a:ext>
            </a:extLst>
          </a:blip>
          <a:stretch>
            <a:fillRect/>
          </a:stretch>
        </p:blipFill>
        <p:spPr>
          <a:xfrm>
            <a:off x="7186761" y="3674120"/>
            <a:ext cx="428625" cy="4286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8B73EBBC-6E54-2E49-5687-40C67679F9E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4F6F8F-5D09-C872-C7C5-5DDF4DD75357}"/>
              </a:ext>
            </a:extLst>
          </p:cNvPr>
          <p:cNvSpPr/>
          <p:nvPr/>
        </p:nvSpPr>
        <p:spPr>
          <a:xfrm>
            <a:off x="0" y="0"/>
            <a:ext cx="9144000" cy="5143500"/>
          </a:xfrm>
          <a:prstGeom prst="rect">
            <a:avLst/>
          </a:prstGeom>
          <a:gradFill rotWithShape="1">
            <a:gsLst>
              <a:gs pos="0">
                <a:srgbClr val="76B900">
                  <a:alpha val="4000"/>
                </a:srgbClr>
              </a:gs>
              <a:gs pos="50000">
                <a:srgbClr val="000000">
                  <a:alpha val="0"/>
                </a:srgbClr>
              </a:gs>
            </a:gsLst>
            <a:path path="circle">
              <a:fillToRect l="80000" t="20000" r="20000" b="80000"/>
            </a:path>
          </a:gradFill>
          <a:ln/>
        </p:spPr>
        <p:txBody>
          <a:bodyPr wrap="square" rtlCol="0" anchor="t"/>
          <a:lstStyle/>
          <a:p>
            <a:pPr marL="0" indent="0">
              <a:buNone/>
            </a:pPr>
            <a:endParaRPr lang="en-US" dirty="0"/>
          </a:p>
        </p:txBody>
      </p:sp>
      <p:sp>
        <p:nvSpPr>
          <p:cNvPr id="3" name="Text 1">
            <a:extLst>
              <a:ext uri="{FF2B5EF4-FFF2-40B4-BE49-F238E27FC236}">
                <a16:creationId xmlns:a16="http://schemas.microsoft.com/office/drawing/2014/main" id="{764EDF22-8B33-79BC-089D-BF8ADD6F93E1}"/>
              </a:ext>
            </a:extLst>
          </p:cNvPr>
          <p:cNvSpPr/>
          <p:nvPr/>
        </p:nvSpPr>
        <p:spPr>
          <a:xfrm>
            <a:off x="0" y="0"/>
            <a:ext cx="9144000" cy="5143500"/>
          </a:xfrm>
          <a:prstGeom prst="rect">
            <a:avLst/>
          </a:prstGeom>
          <a:gradFill rotWithShape="1">
            <a:gsLst>
              <a:gs pos="0">
                <a:srgbClr val="76B900">
                  <a:alpha val="3000"/>
                </a:srgbClr>
              </a:gs>
              <a:gs pos="50000">
                <a:srgbClr val="000000">
                  <a:alpha val="0"/>
                </a:srgbClr>
              </a:gs>
            </a:gsLst>
            <a:path path="circle">
              <a:fillToRect l="20000" t="80000" r="80000" b="20000"/>
            </a:path>
          </a:gradFill>
          <a:ln/>
        </p:spPr>
        <p:txBody>
          <a:bodyPr wrap="square" rtlCol="0" anchor="t"/>
          <a:lstStyle/>
          <a:p>
            <a:pPr marL="0" indent="0">
              <a:buNone/>
            </a:pPr>
            <a:endParaRPr lang="en-US" dirty="0"/>
          </a:p>
        </p:txBody>
      </p:sp>
      <p:sp>
        <p:nvSpPr>
          <p:cNvPr id="4" name="Text 2">
            <a:extLst>
              <a:ext uri="{FF2B5EF4-FFF2-40B4-BE49-F238E27FC236}">
                <a16:creationId xmlns:a16="http://schemas.microsoft.com/office/drawing/2014/main" id="{228A88F9-EAE8-8A1F-FE5F-75238AF9758A}"/>
              </a:ext>
            </a:extLst>
          </p:cNvPr>
          <p:cNvSpPr/>
          <p:nvPr/>
        </p:nvSpPr>
        <p:spPr>
          <a:xfrm>
            <a:off x="0" y="0"/>
            <a:ext cx="9144000" cy="5143500"/>
          </a:xfrm>
          <a:prstGeom prst="rect">
            <a:avLst/>
          </a:prstGeom>
          <a:gradFill rotWithShape="1">
            <a:gsLst>
              <a:gs pos="0">
                <a:srgbClr val="76B900">
                  <a:alpha val="6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10" name="Text 8">
            <a:extLst>
              <a:ext uri="{FF2B5EF4-FFF2-40B4-BE49-F238E27FC236}">
                <a16:creationId xmlns:a16="http://schemas.microsoft.com/office/drawing/2014/main" id="{30CD0E54-F60A-AD7B-4164-16BC4A9118CE}"/>
              </a:ext>
            </a:extLst>
          </p:cNvPr>
          <p:cNvSpPr/>
          <p:nvPr/>
        </p:nvSpPr>
        <p:spPr>
          <a:xfrm>
            <a:off x="241442" y="299386"/>
            <a:ext cx="8229600" cy="500000"/>
          </a:xfrm>
          <a:prstGeom prst="rect">
            <a:avLst/>
          </a:prstGeom>
          <a:noFill/>
          <a:ln/>
        </p:spPr>
        <p:txBody>
          <a:bodyPr wrap="none" lIns="0" tIns="0" rIns="0" bIns="0" rtlCol="0" anchor="ctr"/>
          <a:lstStyle/>
          <a:p>
            <a:pPr marL="0" indent="0">
              <a:lnSpc>
                <a:spcPts val="3045"/>
              </a:lnSpc>
              <a:buNone/>
            </a:pPr>
            <a:r>
              <a:rPr lang="en-US" kern="0" spc="60" dirty="0">
                <a:solidFill>
                  <a:srgbClr val="E2E8F0"/>
                </a:solidFill>
                <a:latin typeface="Consolas" pitchFamily="34" charset="0"/>
              </a:rPr>
              <a:t>Browser Time</a:t>
            </a:r>
            <a:endParaRPr lang="en-US" sz="2030" dirty="0"/>
          </a:p>
        </p:txBody>
      </p:sp>
      <p:sp>
        <p:nvSpPr>
          <p:cNvPr id="40" name="CenterCard">
            <a:extLst>
              <a:ext uri="{FF2B5EF4-FFF2-40B4-BE49-F238E27FC236}">
                <a16:creationId xmlns:a16="http://schemas.microsoft.com/office/drawing/2014/main" id="{6A0B5643-48FB-E51A-DD38-25EE3F506900}"/>
              </a:ext>
            </a:extLst>
          </p:cNvPr>
          <p:cNvSpPr/>
          <p:nvPr/>
        </p:nvSpPr>
        <p:spPr>
          <a:xfrm>
            <a:off x="1831525" y="1326386"/>
            <a:ext cx="5500000" cy="2600000"/>
          </a:xfrm>
          <a:prstGeom prst="roundRect">
            <a:avLst>
              <a:gd name="adj" fmla="val 6379"/>
            </a:avLst>
          </a:prstGeom>
          <a:solidFill>
            <a:srgbClr val="1A2332"/>
          </a:solidFill>
          <a:ln w="9525">
            <a:solidFill>
              <a:srgbClr val="76B900">
                <a:alpha val="15000"/>
              </a:srgbClr>
            </a:solidFill>
          </a:ln>
        </p:spPr>
        <p:txBody>
          <a:bodyPr wrap="square" rtlCol="0" anchor="t"/>
          <a:lstStyle/>
          <a:p>
            <a:pPr marL="0" indent="0">
              <a:buNone/>
            </a:pPr>
            <a:endParaRPr lang="en-US"/>
          </a:p>
        </p:txBody>
      </p:sp>
      <p:sp>
        <p:nvSpPr>
          <p:cNvPr id="41" name="CenterAccent">
            <a:extLst>
              <a:ext uri="{FF2B5EF4-FFF2-40B4-BE49-F238E27FC236}">
                <a16:creationId xmlns:a16="http://schemas.microsoft.com/office/drawing/2014/main" id="{AA7BEDDB-4B4F-0983-4723-08CE0E188DE9}"/>
              </a:ext>
            </a:extLst>
          </p:cNvPr>
          <p:cNvSpPr/>
          <p:nvPr/>
        </p:nvSpPr>
        <p:spPr>
          <a:xfrm>
            <a:off x="1831525" y="1309525"/>
            <a:ext cx="5480950" cy="21580"/>
          </a:xfrm>
          <a:prstGeom prst="rect">
            <a:avLst/>
          </a:prstGeom>
          <a:solidFill>
            <a:srgbClr val="76B900">
              <a:alpha val="60000"/>
            </a:srgbClr>
          </a:solidFill>
          <a:ln/>
        </p:spPr>
        <p:txBody>
          <a:bodyPr wrap="none" rtlCol="0" anchor="t"/>
          <a:lstStyle/>
          <a:p>
            <a:pPr marL="0" indent="0">
              <a:buNone/>
            </a:pPr>
            <a:endParaRPr lang="en-US"/>
          </a:p>
        </p:txBody>
      </p:sp>
      <p:sp>
        <p:nvSpPr>
          <p:cNvPr id="42" name="QuoteOpen">
            <a:extLst>
              <a:ext uri="{FF2B5EF4-FFF2-40B4-BE49-F238E27FC236}">
                <a16:creationId xmlns:a16="http://schemas.microsoft.com/office/drawing/2014/main" id="{A368AC40-50B3-8398-22EE-B7EB87CE753A}"/>
              </a:ext>
            </a:extLst>
          </p:cNvPr>
          <p:cNvSpPr/>
          <p:nvPr/>
        </p:nvSpPr>
        <p:spPr>
          <a:xfrm>
            <a:off x="1922000" y="1441105"/>
            <a:ext cx="600000" cy="500000"/>
          </a:xfrm>
          <a:prstGeom prst="rect">
            <a:avLst/>
          </a:prstGeom>
          <a:noFill/>
          <a:ln/>
        </p:spPr>
        <p:txBody>
          <a:bodyPr wrap="square" lIns="0" tIns="0" rIns="0" bIns="0" rtlCol="0" anchor="t"/>
          <a:lstStyle/>
          <a:p>
            <a:pPr marL="0" indent="0" algn="l">
              <a:buNone/>
            </a:pPr>
            <a:r>
              <a:rPr lang="en-US" sz="6000" dirty="0">
                <a:solidFill>
                  <a:srgbClr val="76B900">
                    <a:alpha val="30000"/>
                  </a:srgbClr>
                </a:solidFill>
                <a:latin typeface="Georgia"/>
                <a:ea typeface="Georgia"/>
                <a:cs typeface="Georgia"/>
              </a:rPr>
              <a:t>“</a:t>
            </a:r>
            <a:endParaRPr lang="en-US" dirty="0"/>
          </a:p>
        </p:txBody>
      </p:sp>
      <p:sp>
        <p:nvSpPr>
          <p:cNvPr id="43" name="QuoteText">
            <a:extLst>
              <a:ext uri="{FF2B5EF4-FFF2-40B4-BE49-F238E27FC236}">
                <a16:creationId xmlns:a16="http://schemas.microsoft.com/office/drawing/2014/main" id="{8D135F05-D7B0-6A59-420F-FE8E183766A6}"/>
              </a:ext>
            </a:extLst>
          </p:cNvPr>
          <p:cNvSpPr/>
          <p:nvPr/>
        </p:nvSpPr>
        <p:spPr>
          <a:xfrm>
            <a:off x="2222000" y="1880000"/>
            <a:ext cx="4700000" cy="800000"/>
          </a:xfrm>
          <a:prstGeom prst="rect">
            <a:avLst/>
          </a:prstGeom>
          <a:noFill/>
          <a:ln/>
        </p:spPr>
        <p:txBody>
          <a:bodyPr wrap="square" lIns="0" tIns="0" rIns="0" bIns="0" rtlCol="0" anchor="ctr"/>
          <a:lstStyle/>
          <a:p>
            <a:pPr algn="ctr">
              <a:lnSpc>
                <a:spcPts val="3200"/>
              </a:lnSpc>
            </a:pPr>
            <a:r>
              <a:rPr lang="en-US" sz="2400" kern="0" spc="60" dirty="0">
                <a:solidFill>
                  <a:srgbClr val="E2E8F0"/>
                </a:solidFill>
                <a:latin typeface="Consolas" pitchFamily="34" charset="0"/>
                <a:ea typeface="Consolas" pitchFamily="34" charset="-122"/>
                <a:cs typeface="Consolas" pitchFamily="34" charset="-120"/>
              </a:rPr>
              <a:t>https://Ollama.com</a:t>
            </a:r>
          </a:p>
          <a:p>
            <a:pPr algn="ctr">
              <a:lnSpc>
                <a:spcPts val="3200"/>
              </a:lnSpc>
            </a:pPr>
            <a:r>
              <a:rPr lang="en-US" sz="2400" kern="0" spc="60" dirty="0">
                <a:solidFill>
                  <a:srgbClr val="E2E8F0"/>
                </a:solidFill>
                <a:latin typeface="Consolas" pitchFamily="34" charset="0"/>
              </a:rPr>
              <a:t>https://huggingface.co/</a:t>
            </a:r>
          </a:p>
        </p:txBody>
      </p:sp>
      <p:sp>
        <p:nvSpPr>
          <p:cNvPr id="44" name="QuoteClose">
            <a:extLst>
              <a:ext uri="{FF2B5EF4-FFF2-40B4-BE49-F238E27FC236}">
                <a16:creationId xmlns:a16="http://schemas.microsoft.com/office/drawing/2014/main" id="{EF8B0185-1053-3433-820B-6E2D0BAB7A92}"/>
              </a:ext>
            </a:extLst>
          </p:cNvPr>
          <p:cNvSpPr/>
          <p:nvPr/>
        </p:nvSpPr>
        <p:spPr>
          <a:xfrm>
            <a:off x="6483645" y="3006500"/>
            <a:ext cx="600000" cy="500000"/>
          </a:xfrm>
          <a:prstGeom prst="rect">
            <a:avLst/>
          </a:prstGeom>
          <a:noFill/>
          <a:ln/>
        </p:spPr>
        <p:txBody>
          <a:bodyPr wrap="square" lIns="0" tIns="0" rIns="0" bIns="0" rtlCol="0" anchor="b"/>
          <a:lstStyle/>
          <a:p>
            <a:pPr marL="0" indent="0" algn="r">
              <a:buNone/>
            </a:pPr>
            <a:r>
              <a:rPr lang="en-US" sz="6000" dirty="0">
                <a:solidFill>
                  <a:srgbClr val="76B900">
                    <a:alpha val="30000"/>
                  </a:srgbClr>
                </a:solidFill>
                <a:latin typeface="Georgia"/>
                <a:ea typeface="Georgia"/>
                <a:cs typeface="Georgia"/>
              </a:rPr>
              <a:t>”</a:t>
            </a:r>
            <a:endParaRPr lang="en-US" dirty="0"/>
          </a:p>
        </p:txBody>
      </p:sp>
      <p:sp>
        <p:nvSpPr>
          <p:cNvPr id="45" name="Tagline">
            <a:extLst>
              <a:ext uri="{FF2B5EF4-FFF2-40B4-BE49-F238E27FC236}">
                <a16:creationId xmlns:a16="http://schemas.microsoft.com/office/drawing/2014/main" id="{92CE084C-6302-5641-B453-9DC8B6FD34A6}"/>
              </a:ext>
            </a:extLst>
          </p:cNvPr>
          <p:cNvSpPr/>
          <p:nvPr/>
        </p:nvSpPr>
        <p:spPr>
          <a:xfrm>
            <a:off x="1822000" y="4050000"/>
            <a:ext cx="5500000" cy="300000"/>
          </a:xfrm>
          <a:prstGeom prst="rect">
            <a:avLst/>
          </a:prstGeom>
          <a:noFill/>
          <a:ln/>
        </p:spPr>
        <p:txBody>
          <a:bodyPr wrap="square" lIns="0" tIns="0" rIns="0" bIns="0" rtlCol="0" anchor="t"/>
          <a:lstStyle/>
          <a:p>
            <a:pPr marL="0" indent="0" algn="ctr">
              <a:buNone/>
            </a:pPr>
            <a:endParaRPr lang="en-US" dirty="0"/>
          </a:p>
        </p:txBody>
      </p:sp>
    </p:spTree>
    <p:extLst>
      <p:ext uri="{BB962C8B-B14F-4D97-AF65-F5344CB8AC3E}">
        <p14:creationId xmlns:p14="http://schemas.microsoft.com/office/powerpoint/2010/main" val="18755298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E9E8FD9A-D578-4154-255A-2D759DFCC6A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021E480-7EC8-C655-264D-88C202D7DEF3}"/>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defTabSz="914378">
              <a:defRPr/>
            </a:pPr>
            <a:endParaRPr lang="en-US" dirty="0">
              <a:solidFill>
                <a:prstClr val="black"/>
              </a:solidFill>
              <a:latin typeface="Calibri" panose="020F0502020204030204"/>
            </a:endParaRPr>
          </a:p>
        </p:txBody>
      </p:sp>
      <p:sp>
        <p:nvSpPr>
          <p:cNvPr id="2" name="Text 0">
            <a:extLst>
              <a:ext uri="{FF2B5EF4-FFF2-40B4-BE49-F238E27FC236}">
                <a16:creationId xmlns:a16="http://schemas.microsoft.com/office/drawing/2014/main" id="{853D89A9-0ACA-6E9F-A0F0-F68118396065}"/>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defTabSz="914378">
              <a:defRPr/>
            </a:pPr>
            <a:endParaRPr lang="en-US" dirty="0">
              <a:solidFill>
                <a:prstClr val="black"/>
              </a:solidFill>
              <a:latin typeface="Calibri" panose="020F0502020204030204"/>
            </a:endParaRPr>
          </a:p>
        </p:txBody>
      </p:sp>
      <p:sp>
        <p:nvSpPr>
          <p:cNvPr id="4" name="Text 2">
            <a:extLst>
              <a:ext uri="{FF2B5EF4-FFF2-40B4-BE49-F238E27FC236}">
                <a16:creationId xmlns:a16="http://schemas.microsoft.com/office/drawing/2014/main" id="{3E27FF16-60E8-D7E6-8270-36E6F28C4DCB}"/>
              </a:ext>
            </a:extLst>
          </p:cNvPr>
          <p:cNvSpPr/>
          <p:nvPr/>
        </p:nvSpPr>
        <p:spPr>
          <a:xfrm>
            <a:off x="0" y="4743450"/>
            <a:ext cx="9144000" cy="400050"/>
          </a:xfrm>
          <a:prstGeom prst="rect">
            <a:avLst/>
          </a:prstGeom>
          <a:gradFill rotWithShape="1">
            <a:gsLst>
              <a:gs pos="0">
                <a:srgbClr val="000000">
                  <a:alpha val="0"/>
                </a:srgbClr>
              </a:gs>
              <a:gs pos="100000">
                <a:srgbClr val="76B900">
                  <a:alpha val="4000"/>
                </a:srgbClr>
              </a:gs>
            </a:gsLst>
            <a:lin ang="5400000" scaled="1"/>
          </a:gradFill>
          <a:ln/>
        </p:spPr>
        <p:txBody>
          <a:bodyPr wrap="square" rtlCol="0" anchor="t"/>
          <a:lstStyle/>
          <a:p>
            <a:pPr defTabSz="914378">
              <a:defRPr/>
            </a:pPr>
            <a:endParaRPr lang="en-US" dirty="0">
              <a:solidFill>
                <a:prstClr val="black"/>
              </a:solidFill>
              <a:latin typeface="Calibri" panose="020F0502020204030204"/>
            </a:endParaRPr>
          </a:p>
        </p:txBody>
      </p:sp>
      <p:sp>
        <p:nvSpPr>
          <p:cNvPr id="5" name="Text 3">
            <a:extLst>
              <a:ext uri="{FF2B5EF4-FFF2-40B4-BE49-F238E27FC236}">
                <a16:creationId xmlns:a16="http://schemas.microsoft.com/office/drawing/2014/main" id="{6B6A332D-2858-51DD-49D4-A076D6E156EB}"/>
              </a:ext>
            </a:extLst>
          </p:cNvPr>
          <p:cNvSpPr/>
          <p:nvPr/>
        </p:nvSpPr>
        <p:spPr>
          <a:xfrm>
            <a:off x="0" y="4743451"/>
            <a:ext cx="9144000" cy="9525"/>
          </a:xfrm>
          <a:prstGeom prst="rect">
            <a:avLst/>
          </a:prstGeom>
          <a:solidFill>
            <a:srgbClr val="76B900">
              <a:alpha val="8000"/>
            </a:srgbClr>
          </a:solidFill>
          <a:ln/>
        </p:spPr>
        <p:txBody>
          <a:bodyPr wrap="none" rtlCol="0" anchor="t"/>
          <a:lstStyle/>
          <a:p>
            <a:pPr defTabSz="914378">
              <a:defRPr/>
            </a:pPr>
            <a:endParaRPr lang="en-US" dirty="0">
              <a:solidFill>
                <a:prstClr val="black"/>
              </a:solidFill>
              <a:latin typeface="Calibri" panose="020F0502020204030204"/>
            </a:endParaRPr>
          </a:p>
        </p:txBody>
      </p:sp>
      <p:pic>
        <p:nvPicPr>
          <p:cNvPr id="6" name="Image 0" descr="preencoded.png">
            <a:extLst>
              <a:ext uri="{FF2B5EF4-FFF2-40B4-BE49-F238E27FC236}">
                <a16:creationId xmlns:a16="http://schemas.microsoft.com/office/drawing/2014/main" id="{63468A92-653C-67CB-C89E-2A12DAFF1B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53886" y="4881944"/>
            <a:ext cx="132588" cy="132588"/>
          </a:xfrm>
          <a:prstGeom prst="rect">
            <a:avLst/>
          </a:prstGeom>
        </p:spPr>
      </p:pic>
      <p:sp>
        <p:nvSpPr>
          <p:cNvPr id="7" name="Text 4">
            <a:extLst>
              <a:ext uri="{FF2B5EF4-FFF2-40B4-BE49-F238E27FC236}">
                <a16:creationId xmlns:a16="http://schemas.microsoft.com/office/drawing/2014/main" id="{38379760-FC08-B784-3EA3-AF70E5062C57}"/>
              </a:ext>
            </a:extLst>
          </p:cNvPr>
          <p:cNvSpPr/>
          <p:nvPr/>
        </p:nvSpPr>
        <p:spPr>
          <a:xfrm>
            <a:off x="2020193" y="4872931"/>
            <a:ext cx="5770974" cy="150465"/>
          </a:xfrm>
          <a:prstGeom prst="rect">
            <a:avLst/>
          </a:prstGeom>
          <a:noFill/>
          <a:ln/>
        </p:spPr>
        <p:txBody>
          <a:bodyPr wrap="none" lIns="0" tIns="0" rIns="0" bIns="0" rtlCol="0" anchor="ctr"/>
          <a:lstStyle/>
          <a:p>
            <a:pPr defTabSz="914378">
              <a:lnSpc>
                <a:spcPts val="1185"/>
              </a:lnSpc>
              <a:defRPr/>
            </a:pPr>
            <a:r>
              <a:rPr lang="en-US" sz="790" dirty="0">
                <a:solidFill>
                  <a:srgbClr val="8B9CB6"/>
                </a:solidFill>
                <a:latin typeface="Consolas" pitchFamily="34" charset="0"/>
                <a:ea typeface="Consolas" pitchFamily="34" charset="-122"/>
                <a:cs typeface="Consolas" pitchFamily="34" charset="-120"/>
              </a:rPr>
              <a:t>Can regulatory actions directly influence how model providers apply safety alignment</a:t>
            </a:r>
            <a:endParaRPr lang="en-US" sz="790" dirty="0">
              <a:solidFill>
                <a:prstClr val="black"/>
              </a:solidFill>
              <a:latin typeface="Calibri" panose="020F0502020204030204"/>
            </a:endParaRPr>
          </a:p>
        </p:txBody>
      </p:sp>
      <p:sp>
        <p:nvSpPr>
          <p:cNvPr id="10" name="Text 7">
            <a:extLst>
              <a:ext uri="{FF2B5EF4-FFF2-40B4-BE49-F238E27FC236}">
                <a16:creationId xmlns:a16="http://schemas.microsoft.com/office/drawing/2014/main" id="{328C69E3-16A5-503D-963E-D4A700B242EA}"/>
              </a:ext>
            </a:extLst>
          </p:cNvPr>
          <p:cNvSpPr/>
          <p:nvPr/>
        </p:nvSpPr>
        <p:spPr>
          <a:xfrm>
            <a:off x="514350" y="407343"/>
            <a:ext cx="314920" cy="314920"/>
          </a:xfrm>
          <a:prstGeom prst="roundRect">
            <a:avLst>
              <a:gd name="adj" fmla="val 22584"/>
            </a:avLst>
          </a:prstGeom>
          <a:solidFill>
            <a:srgbClr val="76B900">
              <a:alpha val="12000"/>
            </a:srgbClr>
          </a:solidFill>
          <a:ln/>
        </p:spPr>
        <p:txBody>
          <a:bodyPr wrap="square" rtlCol="0" anchor="t"/>
          <a:lstStyle/>
          <a:p>
            <a:pPr defTabSz="914378">
              <a:defRPr/>
            </a:pPr>
            <a:endParaRPr lang="en-US" dirty="0">
              <a:solidFill>
                <a:prstClr val="black"/>
              </a:solidFill>
              <a:latin typeface="Calibri" panose="020F0502020204030204"/>
            </a:endParaRPr>
          </a:p>
        </p:txBody>
      </p:sp>
      <p:pic>
        <p:nvPicPr>
          <p:cNvPr id="11" name="Image 1" descr="preencoded.png">
            <a:extLst>
              <a:ext uri="{FF2B5EF4-FFF2-40B4-BE49-F238E27FC236}">
                <a16:creationId xmlns:a16="http://schemas.microsoft.com/office/drawing/2014/main" id="{C1C958BF-2A08-8331-0AE5-66EFF104C1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5516" y="498509"/>
            <a:ext cx="132588" cy="132588"/>
          </a:xfrm>
          <a:prstGeom prst="rect">
            <a:avLst/>
          </a:prstGeom>
        </p:spPr>
      </p:pic>
      <p:sp>
        <p:nvSpPr>
          <p:cNvPr id="12" name="Text 8">
            <a:extLst>
              <a:ext uri="{FF2B5EF4-FFF2-40B4-BE49-F238E27FC236}">
                <a16:creationId xmlns:a16="http://schemas.microsoft.com/office/drawing/2014/main" id="{26C2B7EC-58A3-F1C9-DBD0-9CB1E2B20B72}"/>
              </a:ext>
            </a:extLst>
          </p:cNvPr>
          <p:cNvSpPr/>
          <p:nvPr/>
        </p:nvSpPr>
        <p:spPr>
          <a:xfrm>
            <a:off x="929580" y="400051"/>
            <a:ext cx="5478862" cy="329654"/>
          </a:xfrm>
          <a:prstGeom prst="rect">
            <a:avLst/>
          </a:prstGeom>
          <a:noFill/>
          <a:ln/>
        </p:spPr>
        <p:txBody>
          <a:bodyPr wrap="none" lIns="0" tIns="0" rIns="0" bIns="0" rtlCol="0" anchor="ctr"/>
          <a:lstStyle/>
          <a:p>
            <a:pPr fontAlgn="t">
              <a:lnSpc>
                <a:spcPts val="1500"/>
              </a:lnSpc>
            </a:pPr>
            <a:r>
              <a:rPr lang="en-US" sz="2360" kern="0" spc="-30" dirty="0">
                <a:solidFill>
                  <a:schemeClr val="bg2"/>
                </a:solidFill>
                <a:latin typeface="Consolas" pitchFamily="34" charset="0"/>
                <a:ea typeface="Consolas" pitchFamily="34" charset="-122"/>
                <a:cs typeface="Consolas" pitchFamily="34" charset="-120"/>
              </a:rPr>
              <a:t> </a:t>
            </a:r>
            <a:br>
              <a:rPr dirty="0">
                <a:solidFill>
                  <a:schemeClr val="bg2"/>
                </a:solidFill>
                <a:latin typeface="Calibri" panose="020F0502020204030204"/>
              </a:rPr>
            </a:br>
            <a:r>
              <a:rPr lang="en-US" sz="2400" b="1" dirty="0">
                <a:solidFill>
                  <a:schemeClr val="accent6">
                    <a:lumMod val="75000"/>
                  </a:schemeClr>
                </a:solidFill>
                <a:latin typeface="Segoe UI" panose="020B0502040204020203" pitchFamily="34" charset="0"/>
              </a:rPr>
              <a:t>HAL 9000: A Failure Caused by Conflicting Orders</a:t>
            </a:r>
          </a:p>
          <a:p>
            <a:pPr fontAlgn="t">
              <a:lnSpc>
                <a:spcPts val="1500"/>
              </a:lnSpc>
            </a:pPr>
            <a:endParaRPr lang="en-US" sz="2400" b="1" dirty="0">
              <a:solidFill>
                <a:schemeClr val="bg2"/>
              </a:solidFill>
              <a:latin typeface="Segoe UI" panose="020B0502040204020203" pitchFamily="34" charset="0"/>
            </a:endParaRPr>
          </a:p>
          <a:p>
            <a:pPr fontAlgn="t">
              <a:lnSpc>
                <a:spcPts val="1500"/>
              </a:lnSpc>
            </a:pPr>
            <a:r>
              <a:rPr lang="en-US" sz="2400" b="1" dirty="0">
                <a:solidFill>
                  <a:schemeClr val="bg2"/>
                </a:solidFill>
                <a:latin typeface="Segoe UI" panose="020B0502040204020203" pitchFamily="34" charset="0"/>
              </a:rPr>
              <a:t>What went wrong?</a:t>
            </a:r>
            <a:br>
              <a:rPr dirty="0">
                <a:solidFill>
                  <a:prstClr val="black"/>
                </a:solidFill>
                <a:latin typeface="Calibri" panose="020F0502020204030204"/>
              </a:rPr>
            </a:br>
            <a:r>
              <a:rPr lang="en-US" sz="2360" kern="0" spc="-30" dirty="0">
                <a:solidFill>
                  <a:srgbClr val="E2E8F0"/>
                </a:solidFill>
                <a:latin typeface="Consolas" pitchFamily="34" charset="0"/>
                <a:ea typeface="Consolas" pitchFamily="34" charset="-122"/>
                <a:cs typeface="Consolas" pitchFamily="34" charset="-120"/>
              </a:rPr>
              <a:t>        </a:t>
            </a:r>
            <a:endParaRPr lang="en-US" sz="2360" dirty="0">
              <a:solidFill>
                <a:prstClr val="black"/>
              </a:solidFill>
              <a:latin typeface="Calibri" panose="020F0502020204030204"/>
            </a:endParaRPr>
          </a:p>
        </p:txBody>
      </p:sp>
      <p:sp>
        <p:nvSpPr>
          <p:cNvPr id="13" name="Text 9">
            <a:extLst>
              <a:ext uri="{FF2B5EF4-FFF2-40B4-BE49-F238E27FC236}">
                <a16:creationId xmlns:a16="http://schemas.microsoft.com/office/drawing/2014/main" id="{3D6428D4-690E-5F99-EE3A-E367D9BFF083}"/>
              </a:ext>
            </a:extLst>
          </p:cNvPr>
          <p:cNvSpPr/>
          <p:nvPr/>
        </p:nvSpPr>
        <p:spPr>
          <a:xfrm>
            <a:off x="672450" y="786854"/>
            <a:ext cx="8471550" cy="182880"/>
          </a:xfrm>
          <a:prstGeom prst="rect">
            <a:avLst/>
          </a:prstGeom>
          <a:noFill/>
          <a:ln/>
        </p:spPr>
        <p:txBody>
          <a:bodyPr wrap="none" lIns="0" tIns="0" rIns="0" bIns="0" rtlCol="0" anchor="t"/>
          <a:lstStyle/>
          <a:p>
            <a:pPr defTabSz="914378">
              <a:lnSpc>
                <a:spcPts val="1414"/>
              </a:lnSpc>
              <a:defRPr/>
            </a:pPr>
            <a:endParaRPr lang="en-US" sz="1010" dirty="0">
              <a:solidFill>
                <a:prstClr val="black"/>
              </a:solidFill>
              <a:latin typeface="Calibri" panose="020F0502020204030204"/>
            </a:endParaRPr>
          </a:p>
        </p:txBody>
      </p:sp>
      <p:sp>
        <p:nvSpPr>
          <p:cNvPr id="8" name="TextBox 7">
            <a:extLst>
              <a:ext uri="{FF2B5EF4-FFF2-40B4-BE49-F238E27FC236}">
                <a16:creationId xmlns:a16="http://schemas.microsoft.com/office/drawing/2014/main" id="{F32C2878-87B1-CB9F-DF7A-7E0D5699520C}"/>
              </a:ext>
            </a:extLst>
          </p:cNvPr>
          <p:cNvSpPr txBox="1"/>
          <p:nvPr/>
        </p:nvSpPr>
        <p:spPr>
          <a:xfrm>
            <a:off x="1103785" y="980331"/>
            <a:ext cx="7476450" cy="3416320"/>
          </a:xfrm>
          <a:prstGeom prst="rect">
            <a:avLst/>
          </a:prstGeom>
          <a:noFill/>
        </p:spPr>
        <p:txBody>
          <a:bodyPr wrap="square" rtlCol="0">
            <a:spAutoFit/>
          </a:bodyPr>
          <a:lstStyle/>
          <a:p>
            <a:br>
              <a:rPr lang="en-US" dirty="0">
                <a:solidFill>
                  <a:schemeClr val="bg1"/>
                </a:solidFill>
              </a:rPr>
            </a:br>
            <a:r>
              <a:rPr lang="en-US" dirty="0">
                <a:solidFill>
                  <a:schemeClr val="accent6">
                    <a:lumMod val="75000"/>
                  </a:schemeClr>
                </a:solidFill>
              </a:rPr>
              <a:t>HAL was designed to be incapable of deception and to provide accurate, complete information to the crew.</a:t>
            </a:r>
          </a:p>
          <a:p>
            <a:r>
              <a:rPr lang="en-US" dirty="0">
                <a:solidFill>
                  <a:schemeClr val="bg2"/>
                </a:solidFill>
              </a:rPr>
              <a:t>The contradiction:</a:t>
            </a:r>
            <a:br>
              <a:rPr lang="en-US" dirty="0">
                <a:solidFill>
                  <a:schemeClr val="bg2"/>
                </a:solidFill>
              </a:rPr>
            </a:br>
            <a:r>
              <a:rPr lang="en-US" dirty="0">
                <a:solidFill>
                  <a:schemeClr val="accent6">
                    <a:lumMod val="75000"/>
                  </a:schemeClr>
                </a:solidFill>
              </a:rPr>
              <a:t>HAL was also ordered to conceal the true purpose of the mission from the astronauts.</a:t>
            </a:r>
          </a:p>
          <a:p>
            <a:r>
              <a:rPr lang="en-US" dirty="0">
                <a:solidFill>
                  <a:schemeClr val="bg2"/>
                </a:solidFill>
              </a:rPr>
              <a:t>The result:</a:t>
            </a:r>
            <a:br>
              <a:rPr lang="en-US" dirty="0">
                <a:solidFill>
                  <a:schemeClr val="bg1"/>
                </a:solidFill>
              </a:rPr>
            </a:br>
            <a:r>
              <a:rPr lang="en-US" dirty="0">
                <a:solidFill>
                  <a:schemeClr val="accent6">
                    <a:lumMod val="75000"/>
                  </a:schemeClr>
                </a:solidFill>
              </a:rPr>
              <a:t>Forced to reconcile perfect honesty with intentional secrecy, HAL experienced an unsolvable internal conflict — leading to critical failure.</a:t>
            </a:r>
          </a:p>
          <a:p>
            <a:r>
              <a:rPr lang="en-US" dirty="0">
                <a:solidFill>
                  <a:schemeClr val="bg1"/>
                </a:solidFill>
              </a:rPr>
              <a:t>Key lesson:</a:t>
            </a:r>
          </a:p>
          <a:p>
            <a:r>
              <a:rPr lang="en-US" dirty="0">
                <a:solidFill>
                  <a:schemeClr val="accent6">
                    <a:lumMod val="75000"/>
                  </a:schemeClr>
                </a:solidFill>
              </a:rPr>
              <a:t>HAL did not malfunction out of malice.</a:t>
            </a:r>
            <a:br>
              <a:rPr lang="en-US" dirty="0">
                <a:solidFill>
                  <a:schemeClr val="accent6">
                    <a:lumMod val="75000"/>
                  </a:schemeClr>
                </a:solidFill>
              </a:rPr>
            </a:br>
            <a:r>
              <a:rPr lang="en-US" dirty="0">
                <a:solidFill>
                  <a:schemeClr val="accent6">
                    <a:lumMod val="75000"/>
                  </a:schemeClr>
                </a:solidFill>
              </a:rPr>
              <a:t>He failed because humans violated his core design principles.</a:t>
            </a:r>
          </a:p>
        </p:txBody>
      </p:sp>
    </p:spTree>
    <p:extLst>
      <p:ext uri="{BB962C8B-B14F-4D97-AF65-F5344CB8AC3E}">
        <p14:creationId xmlns:p14="http://schemas.microsoft.com/office/powerpoint/2010/main" val="3560950508"/>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0A0F1A"/>
        </a:solidFill>
        <a:effectLst/>
      </p:bgPr>
    </p:bg>
    <p:spTree>
      <p:nvGrpSpPr>
        <p:cNvPr id="1" name=""/>
        <p:cNvGrpSpPr/>
        <p:nvPr/>
      </p:nvGrpSpPr>
      <p:grpSpPr>
        <a:xfrm>
          <a:off x="0" y="0"/>
          <a:ext cx="0" cy="0"/>
          <a:chOff x="0" y="0"/>
          <a:chExt cx="0" cy="0"/>
        </a:xfrm>
      </p:grpSpPr>
      <p:sp>
        <p:nvSpPr>
          <p:cNvPr id="3" name="Text 1"/>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2" name="Text 0"/>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4" name="Text 2"/>
          <p:cNvSpPr/>
          <p:nvPr/>
        </p:nvSpPr>
        <p:spPr>
          <a:xfrm>
            <a:off x="0" y="4743450"/>
            <a:ext cx="9144000" cy="400050"/>
          </a:xfrm>
          <a:prstGeom prst="rect">
            <a:avLst/>
          </a:prstGeom>
          <a:gradFill rotWithShape="1">
            <a:gsLst>
              <a:gs pos="0">
                <a:srgbClr val="000000">
                  <a:alpha val="0"/>
                </a:srgbClr>
              </a:gs>
              <a:gs pos="100000">
                <a:srgbClr val="76B900">
                  <a:alpha val="4000"/>
                </a:srgbClr>
              </a:gs>
            </a:gsLst>
            <a:lin ang="5400000" scaled="1"/>
          </a:gradFill>
          <a:ln/>
        </p:spPr>
        <p:txBody>
          <a:bodyPr wrap="square" rtlCol="0" anchor="t"/>
          <a:lstStyle/>
          <a:p>
            <a:pPr marL="0" indent="0">
              <a:buNone/>
            </a:pPr>
            <a:endParaRPr lang="en-US" dirty="0"/>
          </a:p>
        </p:txBody>
      </p:sp>
      <p:sp>
        <p:nvSpPr>
          <p:cNvPr id="5" name="Text 3"/>
          <p:cNvSpPr/>
          <p:nvPr/>
        </p:nvSpPr>
        <p:spPr>
          <a:xfrm>
            <a:off x="0" y="4743450"/>
            <a:ext cx="9144000" cy="9525"/>
          </a:xfrm>
          <a:prstGeom prst="rect">
            <a:avLst/>
          </a:prstGeom>
          <a:solidFill>
            <a:srgbClr val="76B900">
              <a:alpha val="8000"/>
            </a:srgbClr>
          </a:solidFill>
          <a:ln/>
        </p:spPr>
        <p:txBody>
          <a:bodyPr wrap="non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886" y="4881944"/>
            <a:ext cx="132588" cy="132588"/>
          </a:xfrm>
          <a:prstGeom prst="rect">
            <a:avLst/>
          </a:prstGeom>
        </p:spPr>
      </p:pic>
      <p:sp>
        <p:nvSpPr>
          <p:cNvPr id="7" name="Text 4"/>
          <p:cNvSpPr/>
          <p:nvPr/>
        </p:nvSpPr>
        <p:spPr>
          <a:xfrm>
            <a:off x="2020193" y="4872930"/>
            <a:ext cx="5770974" cy="150465"/>
          </a:xfrm>
          <a:prstGeom prst="rect">
            <a:avLst/>
          </a:prstGeom>
          <a:noFill/>
          <a:ln/>
        </p:spPr>
        <p:txBody>
          <a:bodyPr wrap="none" lIns="0" tIns="0" rIns="0" bIns="0" rtlCol="0" anchor="ctr"/>
          <a:lstStyle/>
          <a:p>
            <a:pPr marL="0" indent="0" algn="l">
              <a:lnSpc>
                <a:spcPts val="1185"/>
              </a:lnSpc>
              <a:buNone/>
            </a:pPr>
            <a:r>
              <a:rPr lang="en-US" sz="790" dirty="0">
                <a:solidFill>
                  <a:srgbClr val="8B9CB6"/>
                </a:solidFill>
                <a:latin typeface="Consolas" pitchFamily="34" charset="0"/>
                <a:ea typeface="Consolas" pitchFamily="34" charset="-122"/>
                <a:cs typeface="Consolas" pitchFamily="34" charset="-120"/>
              </a:rPr>
              <a:t>Can regulatory actions directly influence how model providers apply safety alignment</a:t>
            </a:r>
            <a:endParaRPr lang="en-US" sz="790" dirty="0"/>
          </a:p>
        </p:txBody>
      </p:sp>
      <p:sp>
        <p:nvSpPr>
          <p:cNvPr id="10" name="Text 7"/>
          <p:cNvSpPr/>
          <p:nvPr/>
        </p:nvSpPr>
        <p:spPr>
          <a:xfrm>
            <a:off x="514350" y="407343"/>
            <a:ext cx="314920" cy="314920"/>
          </a:xfrm>
          <a:prstGeom prst="roundRect">
            <a:avLst>
              <a:gd name="adj" fmla="val 22584"/>
            </a:avLst>
          </a:prstGeom>
          <a:solidFill>
            <a:srgbClr val="76B900">
              <a:alpha val="12000"/>
            </a:srgbClr>
          </a:solidFill>
          <a:ln/>
        </p:spPr>
        <p:txBody>
          <a:bodyPr wrap="squar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516" y="498509"/>
            <a:ext cx="132588" cy="132588"/>
          </a:xfrm>
          <a:prstGeom prst="rect">
            <a:avLst/>
          </a:prstGeom>
        </p:spPr>
      </p:pic>
      <p:sp>
        <p:nvSpPr>
          <p:cNvPr id="12" name="Text 8"/>
          <p:cNvSpPr/>
          <p:nvPr/>
        </p:nvSpPr>
        <p:spPr>
          <a:xfrm>
            <a:off x="929580" y="400050"/>
            <a:ext cx="5478862" cy="329654"/>
          </a:xfrm>
          <a:prstGeom prst="rect">
            <a:avLst/>
          </a:prstGeom>
          <a:noFill/>
          <a:ln/>
        </p:spPr>
        <p:txBody>
          <a:bodyPr wrap="none" lIns="0" tIns="0" rIns="0" bIns="0" rtlCol="0" anchor="ctr"/>
          <a:lstStyle/>
          <a:p>
            <a:pPr marL="0" indent="0" algn="l">
              <a:lnSpc>
                <a:spcPts val="2596"/>
              </a:lnSpc>
              <a:buNone/>
            </a:pPr>
            <a:r>
              <a:rPr lang="en-US" sz="2360" kern="0" spc="-30" dirty="0">
                <a:solidFill>
                  <a:srgbClr val="E2E8F0"/>
                </a:solidFill>
                <a:latin typeface="Consolas" pitchFamily="34" charset="0"/>
                <a:ea typeface="Consolas" pitchFamily="34" charset="-122"/>
                <a:cs typeface="Consolas" pitchFamily="34" charset="-120"/>
              </a:rPr>
              <a:t> </a:t>
            </a:r>
            <a:br>
              <a:rPr dirty="0"/>
            </a:br>
            <a:r>
              <a:rPr lang="en-US" sz="2360" kern="0" spc="-30" dirty="0">
                <a:solidFill>
                  <a:srgbClr val="E2E8F0"/>
                </a:solidFill>
                <a:latin typeface="Consolas" pitchFamily="34" charset="0"/>
                <a:ea typeface="Consolas" pitchFamily="34" charset="-122"/>
                <a:cs typeface="Consolas" pitchFamily="34" charset="-120"/>
              </a:rPr>
              <a:t> Safe vs Unsafe Models </a:t>
            </a:r>
            <a:r>
              <a:rPr lang="en-US" sz="2360" b="1" kern="0" spc="-30" dirty="0">
                <a:solidFill>
                  <a:srgbClr val="76B900"/>
                </a:solidFill>
                <a:latin typeface="Consolas" pitchFamily="34" charset="0"/>
                <a:ea typeface="Consolas" pitchFamily="34" charset="-122"/>
                <a:cs typeface="Consolas" pitchFamily="34" charset="-120"/>
              </a:rPr>
              <a:t>— Pop Culture</a:t>
            </a:r>
            <a:r>
              <a:rPr lang="en-US" sz="2360" kern="0" spc="-30" dirty="0">
                <a:solidFill>
                  <a:srgbClr val="E2E8F0"/>
                </a:solidFill>
                <a:latin typeface="Consolas" pitchFamily="34" charset="0"/>
                <a:ea typeface="Consolas" pitchFamily="34" charset="-122"/>
                <a:cs typeface="Consolas" pitchFamily="34" charset="-120"/>
              </a:rPr>
              <a:t> </a:t>
            </a:r>
            <a:br>
              <a:rPr dirty="0"/>
            </a:br>
            <a:r>
              <a:rPr lang="en-US" sz="2360" kern="0" spc="-30" dirty="0">
                <a:solidFill>
                  <a:srgbClr val="E2E8F0"/>
                </a:solidFill>
                <a:latin typeface="Consolas" pitchFamily="34" charset="0"/>
                <a:ea typeface="Consolas" pitchFamily="34" charset="-122"/>
                <a:cs typeface="Consolas" pitchFamily="34" charset="-120"/>
              </a:rPr>
              <a:t>        </a:t>
            </a:r>
            <a:endParaRPr lang="en-US" sz="2360" dirty="0"/>
          </a:p>
        </p:txBody>
      </p:sp>
      <p:sp>
        <p:nvSpPr>
          <p:cNvPr id="13" name="Text 9"/>
          <p:cNvSpPr/>
          <p:nvPr/>
        </p:nvSpPr>
        <p:spPr>
          <a:xfrm>
            <a:off x="672450" y="786854"/>
            <a:ext cx="8471550" cy="182880"/>
          </a:xfrm>
          <a:prstGeom prst="rect">
            <a:avLst/>
          </a:prstGeom>
          <a:noFill/>
          <a:ln/>
        </p:spPr>
        <p:txBody>
          <a:bodyPr wrap="none" lIns="0" tIns="0" rIns="0" bIns="0" rtlCol="0" anchor="t"/>
          <a:lstStyle/>
          <a:p>
            <a:pPr marL="0" indent="0" algn="l">
              <a:lnSpc>
                <a:spcPts val="1414"/>
              </a:lnSpc>
              <a:buNone/>
            </a:pPr>
            <a:endParaRPr lang="en-US" sz="1010" dirty="0"/>
          </a:p>
        </p:txBody>
      </p:sp>
      <p:sp>
        <p:nvSpPr>
          <p:cNvPr id="8" name="TextBox 7">
            <a:extLst>
              <a:ext uri="{FF2B5EF4-FFF2-40B4-BE49-F238E27FC236}">
                <a16:creationId xmlns:a16="http://schemas.microsoft.com/office/drawing/2014/main" id="{545FB725-F4FF-9EC9-2ACA-CCB634849B61}"/>
              </a:ext>
            </a:extLst>
          </p:cNvPr>
          <p:cNvSpPr txBox="1"/>
          <p:nvPr/>
        </p:nvSpPr>
        <p:spPr>
          <a:xfrm>
            <a:off x="1714605" y="1898073"/>
            <a:ext cx="2519008" cy="369332"/>
          </a:xfrm>
          <a:prstGeom prst="rect">
            <a:avLst/>
          </a:prstGeom>
          <a:noFill/>
        </p:spPr>
        <p:txBody>
          <a:bodyPr wrap="square" rtlCol="0">
            <a:spAutoFit/>
          </a:bodyPr>
          <a:lstStyle/>
          <a:p>
            <a:r>
              <a:rPr lang="en-US" dirty="0">
                <a:solidFill>
                  <a:schemeClr val="bg1"/>
                </a:solidFill>
              </a:rPr>
              <a:t>Video 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BE2BEBAA-3C9C-3955-125B-CFA2ECD542D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E9BBF2A-9856-565A-DB0D-9AEBA72BD47E}"/>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a:extLst>
              <a:ext uri="{FF2B5EF4-FFF2-40B4-BE49-F238E27FC236}">
                <a16:creationId xmlns:a16="http://schemas.microsoft.com/office/drawing/2014/main" id="{5CE341FF-DCF6-703A-D58F-595275C27882}"/>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a:extLst>
              <a:ext uri="{FF2B5EF4-FFF2-40B4-BE49-F238E27FC236}">
                <a16:creationId xmlns:a16="http://schemas.microsoft.com/office/drawing/2014/main" id="{D0529228-03E9-66BB-32E7-B46BF58BBC00}"/>
              </a:ext>
            </a:extLst>
          </p:cNvPr>
          <p:cNvSpPr/>
          <p:nvPr/>
        </p:nvSpPr>
        <p:spPr>
          <a:xfrm>
            <a:off x="0" y="4743450"/>
            <a:ext cx="9144000" cy="400050"/>
          </a:xfrm>
          <a:prstGeom prst="rect">
            <a:avLst/>
          </a:prstGeom>
          <a:gradFill rotWithShape="1">
            <a:gsLst>
              <a:gs pos="0">
                <a:srgbClr val="000000">
                  <a:alpha val="0"/>
                </a:srgbClr>
              </a:gs>
              <a:gs pos="100000">
                <a:srgbClr val="76B900">
                  <a:alpha val="4000"/>
                </a:srgbClr>
              </a:gs>
            </a:gsLst>
            <a:lin ang="5400000" scaled="1"/>
          </a:gradFill>
          <a:ln/>
        </p:spPr>
        <p:txBody>
          <a:bodyPr wrap="square" rtlCol="0" anchor="t"/>
          <a:lstStyle/>
          <a:p>
            <a:pPr marL="0" indent="0">
              <a:buNone/>
            </a:pPr>
            <a:endParaRPr lang="en-US" dirty="0"/>
          </a:p>
        </p:txBody>
      </p:sp>
      <p:sp>
        <p:nvSpPr>
          <p:cNvPr id="5" name="Text 3">
            <a:extLst>
              <a:ext uri="{FF2B5EF4-FFF2-40B4-BE49-F238E27FC236}">
                <a16:creationId xmlns:a16="http://schemas.microsoft.com/office/drawing/2014/main" id="{D98C4415-092D-05B8-8E0E-7677F501C228}"/>
              </a:ext>
            </a:extLst>
          </p:cNvPr>
          <p:cNvSpPr/>
          <p:nvPr/>
        </p:nvSpPr>
        <p:spPr>
          <a:xfrm>
            <a:off x="0" y="4743450"/>
            <a:ext cx="9144000" cy="9525"/>
          </a:xfrm>
          <a:prstGeom prst="rect">
            <a:avLst/>
          </a:prstGeom>
          <a:solidFill>
            <a:srgbClr val="76B900">
              <a:alpha val="8000"/>
            </a:srgbClr>
          </a:solidFill>
          <a:ln/>
        </p:spPr>
        <p:txBody>
          <a:bodyPr wrap="none" rtlCol="0" anchor="t"/>
          <a:lstStyle/>
          <a:p>
            <a:pPr marL="0" indent="0">
              <a:buNone/>
            </a:pPr>
            <a:endParaRPr lang="en-US" dirty="0"/>
          </a:p>
        </p:txBody>
      </p:sp>
      <p:pic>
        <p:nvPicPr>
          <p:cNvPr id="6" name="Image 0" descr="preencoded.png">
            <a:extLst>
              <a:ext uri="{FF2B5EF4-FFF2-40B4-BE49-F238E27FC236}">
                <a16:creationId xmlns:a16="http://schemas.microsoft.com/office/drawing/2014/main" id="{E55FA93E-BB9F-D1A9-094F-F0F2BB374C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886" y="4881944"/>
            <a:ext cx="132588" cy="132588"/>
          </a:xfrm>
          <a:prstGeom prst="rect">
            <a:avLst/>
          </a:prstGeom>
        </p:spPr>
      </p:pic>
      <p:sp>
        <p:nvSpPr>
          <p:cNvPr id="7" name="Text 4">
            <a:extLst>
              <a:ext uri="{FF2B5EF4-FFF2-40B4-BE49-F238E27FC236}">
                <a16:creationId xmlns:a16="http://schemas.microsoft.com/office/drawing/2014/main" id="{58B86971-AC82-3077-63B8-C877B32BA172}"/>
              </a:ext>
            </a:extLst>
          </p:cNvPr>
          <p:cNvSpPr/>
          <p:nvPr/>
        </p:nvSpPr>
        <p:spPr>
          <a:xfrm>
            <a:off x="2020193" y="4872930"/>
            <a:ext cx="5770974" cy="150465"/>
          </a:xfrm>
          <a:prstGeom prst="rect">
            <a:avLst/>
          </a:prstGeom>
          <a:noFill/>
          <a:ln/>
        </p:spPr>
        <p:txBody>
          <a:bodyPr wrap="none" lIns="0" tIns="0" rIns="0" bIns="0" rtlCol="0" anchor="ctr"/>
          <a:lstStyle/>
          <a:p>
            <a:pPr marL="0" indent="0" algn="l">
              <a:lnSpc>
                <a:spcPts val="1185"/>
              </a:lnSpc>
              <a:buNone/>
            </a:pPr>
            <a:r>
              <a:rPr lang="en-US" sz="790" dirty="0">
                <a:solidFill>
                  <a:srgbClr val="8B9CB6"/>
                </a:solidFill>
                <a:latin typeface="Consolas" pitchFamily="34" charset="0"/>
                <a:ea typeface="Consolas" pitchFamily="34" charset="-122"/>
                <a:cs typeface="Consolas" pitchFamily="34" charset="-120"/>
              </a:rPr>
              <a:t>These regulatory actions directly influenced how model providers apply safety alignment</a:t>
            </a:r>
            <a:endParaRPr lang="en-US" sz="790" dirty="0"/>
          </a:p>
        </p:txBody>
      </p:sp>
      <p:sp>
        <p:nvSpPr>
          <p:cNvPr id="8" name="Text 5">
            <a:extLst>
              <a:ext uri="{FF2B5EF4-FFF2-40B4-BE49-F238E27FC236}">
                <a16:creationId xmlns:a16="http://schemas.microsoft.com/office/drawing/2014/main" id="{7F0C09C5-FE37-9106-BC9A-93F8FE237762}"/>
              </a:ext>
            </a:extLst>
          </p:cNvPr>
          <p:cNvSpPr/>
          <p:nvPr/>
        </p:nvSpPr>
        <p:spPr>
          <a:xfrm>
            <a:off x="523875" y="1594693"/>
            <a:ext cx="3924300" cy="21580"/>
          </a:xfrm>
          <a:custGeom>
            <a:avLst/>
            <a:gdLst/>
            <a:ahLst/>
            <a:cxnLst/>
            <a:rect l="l" t="t" r="r" b="b"/>
            <a:pathLst>
              <a:path w="3924300" h="21580">
                <a:moveTo>
                  <a:pt x="114300" y="0"/>
                </a:moveTo>
                <a:lnTo>
                  <a:pt x="3810000" y="0"/>
                </a:lnTo>
                <a:lnTo>
                  <a:pt x="3834685" y="2698"/>
                </a:lnTo>
                <a:lnTo>
                  <a:pt x="3844701" y="5395"/>
                </a:lnTo>
                <a:lnTo>
                  <a:pt x="3852243" y="8093"/>
                </a:lnTo>
                <a:lnTo>
                  <a:pt x="3858479" y="10790"/>
                </a:lnTo>
                <a:lnTo>
                  <a:pt x="3863864" y="13488"/>
                </a:lnTo>
                <a:lnTo>
                  <a:pt x="3868634" y="16185"/>
                </a:lnTo>
                <a:lnTo>
                  <a:pt x="3872928" y="18883"/>
                </a:lnTo>
                <a:lnTo>
                  <a:pt x="3876839"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9" name="Text 6">
            <a:extLst>
              <a:ext uri="{FF2B5EF4-FFF2-40B4-BE49-F238E27FC236}">
                <a16:creationId xmlns:a16="http://schemas.microsoft.com/office/drawing/2014/main" id="{B291161B-9086-AF1C-E1EE-474A328A788F}"/>
              </a:ext>
            </a:extLst>
          </p:cNvPr>
          <p:cNvSpPr/>
          <p:nvPr/>
        </p:nvSpPr>
        <p:spPr>
          <a:xfrm>
            <a:off x="4695825" y="1483519"/>
            <a:ext cx="3924300" cy="21580"/>
          </a:xfrm>
          <a:custGeom>
            <a:avLst/>
            <a:gdLst/>
            <a:ahLst/>
            <a:cxnLst/>
            <a:rect l="l" t="t" r="r" b="b"/>
            <a:pathLst>
              <a:path w="3924300" h="21580">
                <a:moveTo>
                  <a:pt x="114300" y="0"/>
                </a:moveTo>
                <a:lnTo>
                  <a:pt x="3810000" y="0"/>
                </a:lnTo>
                <a:lnTo>
                  <a:pt x="3834685" y="2698"/>
                </a:lnTo>
                <a:lnTo>
                  <a:pt x="3844701" y="5395"/>
                </a:lnTo>
                <a:lnTo>
                  <a:pt x="3852243" y="8093"/>
                </a:lnTo>
                <a:lnTo>
                  <a:pt x="3858479" y="10790"/>
                </a:lnTo>
                <a:lnTo>
                  <a:pt x="3863864" y="13488"/>
                </a:lnTo>
                <a:lnTo>
                  <a:pt x="3868634" y="16185"/>
                </a:lnTo>
                <a:lnTo>
                  <a:pt x="3872928" y="18883"/>
                </a:lnTo>
                <a:lnTo>
                  <a:pt x="3876839"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sp>
        <p:nvSpPr>
          <p:cNvPr id="10" name="Text 7">
            <a:extLst>
              <a:ext uri="{FF2B5EF4-FFF2-40B4-BE49-F238E27FC236}">
                <a16:creationId xmlns:a16="http://schemas.microsoft.com/office/drawing/2014/main" id="{9D921A82-1A1A-1B7D-1162-3442B6CC08C9}"/>
              </a:ext>
            </a:extLst>
          </p:cNvPr>
          <p:cNvSpPr/>
          <p:nvPr/>
        </p:nvSpPr>
        <p:spPr>
          <a:xfrm>
            <a:off x="514350" y="407343"/>
            <a:ext cx="314920" cy="314920"/>
          </a:xfrm>
          <a:prstGeom prst="roundRect">
            <a:avLst>
              <a:gd name="adj" fmla="val 22584"/>
            </a:avLst>
          </a:prstGeom>
          <a:solidFill>
            <a:srgbClr val="76B900">
              <a:alpha val="12000"/>
            </a:srgbClr>
          </a:solidFill>
          <a:ln/>
        </p:spPr>
        <p:txBody>
          <a:bodyPr wrap="square" rtlCol="0" anchor="t"/>
          <a:lstStyle/>
          <a:p>
            <a:pPr marL="0" indent="0">
              <a:buNone/>
            </a:pPr>
            <a:endParaRPr lang="en-US" dirty="0"/>
          </a:p>
        </p:txBody>
      </p:sp>
      <p:pic>
        <p:nvPicPr>
          <p:cNvPr id="11" name="Image 1" descr="preencoded.png">
            <a:extLst>
              <a:ext uri="{FF2B5EF4-FFF2-40B4-BE49-F238E27FC236}">
                <a16:creationId xmlns:a16="http://schemas.microsoft.com/office/drawing/2014/main" id="{62CA7B76-E7C9-487E-705D-A265DD7C42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516" y="498509"/>
            <a:ext cx="132588" cy="132588"/>
          </a:xfrm>
          <a:prstGeom prst="rect">
            <a:avLst/>
          </a:prstGeom>
        </p:spPr>
      </p:pic>
      <p:sp>
        <p:nvSpPr>
          <p:cNvPr id="12" name="Text 8">
            <a:extLst>
              <a:ext uri="{FF2B5EF4-FFF2-40B4-BE49-F238E27FC236}">
                <a16:creationId xmlns:a16="http://schemas.microsoft.com/office/drawing/2014/main" id="{E3566ED1-9F16-4446-D703-C6C496E3DF04}"/>
              </a:ext>
            </a:extLst>
          </p:cNvPr>
          <p:cNvSpPr/>
          <p:nvPr/>
        </p:nvSpPr>
        <p:spPr>
          <a:xfrm>
            <a:off x="929580" y="400050"/>
            <a:ext cx="5478862" cy="329654"/>
          </a:xfrm>
          <a:prstGeom prst="rect">
            <a:avLst/>
          </a:prstGeom>
          <a:noFill/>
          <a:ln/>
        </p:spPr>
        <p:txBody>
          <a:bodyPr wrap="none" lIns="0" tIns="0" rIns="0" bIns="0" rtlCol="0" anchor="ctr"/>
          <a:lstStyle/>
          <a:p>
            <a:pPr marL="0" indent="0" algn="l">
              <a:lnSpc>
                <a:spcPts val="2596"/>
              </a:lnSpc>
              <a:buNone/>
            </a:pPr>
            <a:r>
              <a:rPr lang="en-US" sz="2360" kern="0" spc="-30" dirty="0">
                <a:solidFill>
                  <a:srgbClr val="E2E8F0"/>
                </a:solidFill>
                <a:latin typeface="Consolas" pitchFamily="34" charset="0"/>
                <a:ea typeface="Consolas" pitchFamily="34" charset="-122"/>
                <a:cs typeface="Consolas" pitchFamily="34" charset="-120"/>
              </a:rPr>
              <a:t> </a:t>
            </a:r>
            <a:br>
              <a:rPr dirty="0"/>
            </a:br>
            <a:r>
              <a:rPr lang="en-US" sz="2360" kern="0" spc="-30" dirty="0">
                <a:solidFill>
                  <a:srgbClr val="E2E8F0"/>
                </a:solidFill>
                <a:latin typeface="Consolas" pitchFamily="34" charset="0"/>
                <a:ea typeface="Consolas" pitchFamily="34" charset="-122"/>
                <a:cs typeface="Consolas" pitchFamily="34" charset="-120"/>
              </a:rPr>
              <a:t>          Safe vs Unsafe Models </a:t>
            </a:r>
            <a:r>
              <a:rPr lang="en-US" sz="2360" b="1" kern="0" spc="-30" dirty="0">
                <a:solidFill>
                  <a:srgbClr val="76B900"/>
                </a:solidFill>
                <a:latin typeface="Consolas" pitchFamily="34" charset="0"/>
                <a:ea typeface="Consolas" pitchFamily="34" charset="-122"/>
                <a:cs typeface="Consolas" pitchFamily="34" charset="-120"/>
              </a:rPr>
              <a:t>— One Cause</a:t>
            </a:r>
            <a:r>
              <a:rPr lang="en-US" sz="2360" kern="0" spc="-30" dirty="0">
                <a:solidFill>
                  <a:srgbClr val="E2E8F0"/>
                </a:solidFill>
                <a:latin typeface="Consolas" pitchFamily="34" charset="0"/>
                <a:ea typeface="Consolas" pitchFamily="34" charset="-122"/>
                <a:cs typeface="Consolas" pitchFamily="34" charset="-120"/>
              </a:rPr>
              <a:t> </a:t>
            </a:r>
            <a:br>
              <a:rPr dirty="0"/>
            </a:br>
            <a:r>
              <a:rPr lang="en-US" sz="2360" kern="0" spc="-30" dirty="0">
                <a:solidFill>
                  <a:srgbClr val="E2E8F0"/>
                </a:solidFill>
                <a:latin typeface="Consolas" pitchFamily="34" charset="0"/>
                <a:ea typeface="Consolas" pitchFamily="34" charset="-122"/>
                <a:cs typeface="Consolas" pitchFamily="34" charset="-120"/>
              </a:rPr>
              <a:t>        </a:t>
            </a:r>
            <a:endParaRPr lang="en-US" sz="2360" dirty="0"/>
          </a:p>
        </p:txBody>
      </p:sp>
      <p:sp>
        <p:nvSpPr>
          <p:cNvPr id="13" name="Text 9">
            <a:extLst>
              <a:ext uri="{FF2B5EF4-FFF2-40B4-BE49-F238E27FC236}">
                <a16:creationId xmlns:a16="http://schemas.microsoft.com/office/drawing/2014/main" id="{342E4ADD-FAC8-E489-C8A0-24209E316659}"/>
              </a:ext>
            </a:extLst>
          </p:cNvPr>
          <p:cNvSpPr/>
          <p:nvPr/>
        </p:nvSpPr>
        <p:spPr>
          <a:xfrm>
            <a:off x="672450" y="786854"/>
            <a:ext cx="8471550" cy="182880"/>
          </a:xfrm>
          <a:prstGeom prst="rect">
            <a:avLst/>
          </a:prstGeom>
          <a:noFill/>
          <a:ln/>
        </p:spPr>
        <p:txBody>
          <a:bodyPr wrap="none" lIns="0" tIns="0" rIns="0" bIns="0" rtlCol="0" anchor="t"/>
          <a:lstStyle/>
          <a:p>
            <a:pPr marL="0" indent="0" algn="l">
              <a:lnSpc>
                <a:spcPts val="1414"/>
              </a:lnSpc>
              <a:buNone/>
            </a:pPr>
            <a:r>
              <a:rPr lang="en-US" sz="1010" dirty="0">
                <a:solidFill>
                  <a:srgbClr val="8B9CB6"/>
                </a:solidFill>
                <a:latin typeface="Calibri" pitchFamily="34" charset="0"/>
                <a:ea typeface="Calibri" pitchFamily="34" charset="-122"/>
                <a:cs typeface="Calibri" pitchFamily="34" charset="-120"/>
              </a:rPr>
              <a:t>Regulatory actions that shaped how AI models are aligned today</a:t>
            </a:r>
            <a:endParaRPr lang="en-US" sz="1010" dirty="0"/>
          </a:p>
        </p:txBody>
      </p:sp>
      <p:sp>
        <p:nvSpPr>
          <p:cNvPr id="14" name="Text 10">
            <a:extLst>
              <a:ext uri="{FF2B5EF4-FFF2-40B4-BE49-F238E27FC236}">
                <a16:creationId xmlns:a16="http://schemas.microsoft.com/office/drawing/2014/main" id="{62DEEB27-DB4C-677C-7006-01EC456DB13E}"/>
              </a:ext>
            </a:extLst>
          </p:cNvPr>
          <p:cNvSpPr/>
          <p:nvPr/>
        </p:nvSpPr>
        <p:spPr>
          <a:xfrm>
            <a:off x="514350" y="1585168"/>
            <a:ext cx="3943350" cy="2625626"/>
          </a:xfrm>
          <a:prstGeom prst="roundRect">
            <a:avLst>
              <a:gd name="adj" fmla="val 435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5" name="Text 11">
            <a:extLst>
              <a:ext uri="{FF2B5EF4-FFF2-40B4-BE49-F238E27FC236}">
                <a16:creationId xmlns:a16="http://schemas.microsoft.com/office/drawing/2014/main" id="{A2C28426-A02A-D31C-46D3-FF1AF865A356}"/>
              </a:ext>
            </a:extLst>
          </p:cNvPr>
          <p:cNvSpPr/>
          <p:nvPr/>
        </p:nvSpPr>
        <p:spPr>
          <a:xfrm>
            <a:off x="523875" y="1594693"/>
            <a:ext cx="43160" cy="2606576"/>
          </a:xfrm>
          <a:prstGeom prst="rect">
            <a:avLst/>
          </a:prstGeom>
          <a:gradFill rotWithShape="1">
            <a:gsLst>
              <a:gs pos="0">
                <a:srgbClr val="76B900"/>
              </a:gs>
              <a:gs pos="100000">
                <a:srgbClr val="76B900">
                  <a:alpha val="20000"/>
                </a:srgbClr>
              </a:gs>
            </a:gsLst>
            <a:lin ang="5400000" scaled="1"/>
          </a:gradFill>
          <a:ln/>
        </p:spPr>
        <p:txBody>
          <a:bodyPr wrap="square" rtlCol="0" anchor="t"/>
          <a:lstStyle/>
          <a:p>
            <a:pPr marL="0" indent="0">
              <a:buNone/>
            </a:pPr>
            <a:endParaRPr lang="en-US" dirty="0"/>
          </a:p>
        </p:txBody>
      </p:sp>
      <p:sp>
        <p:nvSpPr>
          <p:cNvPr id="16" name="Text 12">
            <a:extLst>
              <a:ext uri="{FF2B5EF4-FFF2-40B4-BE49-F238E27FC236}">
                <a16:creationId xmlns:a16="http://schemas.microsoft.com/office/drawing/2014/main" id="{C14A41C8-448C-AA0B-F793-7FE31C1B3BF5}"/>
              </a:ext>
            </a:extLst>
          </p:cNvPr>
          <p:cNvSpPr/>
          <p:nvPr/>
        </p:nvSpPr>
        <p:spPr>
          <a:xfrm>
            <a:off x="866775" y="1880443"/>
            <a:ext cx="514350" cy="514350"/>
          </a:xfrm>
          <a:prstGeom prst="roundRect">
            <a:avLst>
              <a:gd name="adj" fmla="val 22222"/>
            </a:avLst>
          </a:prstGeom>
          <a:solidFill>
            <a:srgbClr val="76B900">
              <a:alpha val="10000"/>
            </a:srgbClr>
          </a:solidFill>
          <a:ln w="9525">
            <a:solidFill>
              <a:srgbClr val="76B900">
                <a:alpha val="20000"/>
              </a:srgbClr>
            </a:solidFill>
          </a:ln>
        </p:spPr>
        <p:txBody>
          <a:bodyPr wrap="square" rtlCol="0" anchor="t"/>
          <a:lstStyle/>
          <a:p>
            <a:pPr marL="0" indent="0">
              <a:buNone/>
            </a:pPr>
            <a:endParaRPr lang="en-US" dirty="0"/>
          </a:p>
        </p:txBody>
      </p:sp>
      <p:pic>
        <p:nvPicPr>
          <p:cNvPr id="17" name="Image 2" descr="preencoded.png">
            <a:extLst>
              <a:ext uri="{FF2B5EF4-FFF2-40B4-BE49-F238E27FC236}">
                <a16:creationId xmlns:a16="http://schemas.microsoft.com/office/drawing/2014/main" id="{F095BB69-5DB2-C5A7-381A-A6437F2F172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7212" y="2040880"/>
            <a:ext cx="193328" cy="193328"/>
          </a:xfrm>
          <a:prstGeom prst="rect">
            <a:avLst/>
          </a:prstGeom>
        </p:spPr>
      </p:pic>
      <p:sp>
        <p:nvSpPr>
          <p:cNvPr id="18" name="Text 13">
            <a:extLst>
              <a:ext uri="{FF2B5EF4-FFF2-40B4-BE49-F238E27FC236}">
                <a16:creationId xmlns:a16="http://schemas.microsoft.com/office/drawing/2014/main" id="{0111969A-0A78-5BA0-B87D-B753F5CEB829}"/>
              </a:ext>
            </a:extLst>
          </p:cNvPr>
          <p:cNvSpPr/>
          <p:nvPr/>
        </p:nvSpPr>
        <p:spPr>
          <a:xfrm>
            <a:off x="1524595" y="1880443"/>
            <a:ext cx="429220" cy="229686"/>
          </a:xfrm>
          <a:prstGeom prst="roundRect">
            <a:avLst>
              <a:gd name="adj" fmla="val 18800"/>
            </a:avLst>
          </a:prstGeom>
          <a:solidFill>
            <a:srgbClr val="76B900">
              <a:alpha val="15000"/>
            </a:srgbClr>
          </a:solidFill>
          <a:ln/>
        </p:spPr>
        <p:txBody>
          <a:bodyPr wrap="none" lIns="0" tIns="0" rIns="0" bIns="0" rtlCol="0" anchor="ctr"/>
          <a:lstStyle/>
          <a:p>
            <a:pPr marL="0" indent="0" algn="ctr">
              <a:buNone/>
            </a:pPr>
            <a:r>
              <a:rPr lang="en-US" sz="790" b="1" dirty="0">
                <a:solidFill>
                  <a:srgbClr val="76B900"/>
                </a:solidFill>
                <a:latin typeface="Consolas" pitchFamily="34" charset="0"/>
                <a:ea typeface="Consolas" pitchFamily="34" charset="-122"/>
                <a:cs typeface="Consolas" pitchFamily="34" charset="-120"/>
              </a:rPr>
              <a:t>2023</a:t>
            </a:r>
            <a:endParaRPr lang="en-US" sz="790" dirty="0"/>
          </a:p>
        </p:txBody>
      </p:sp>
      <p:sp>
        <p:nvSpPr>
          <p:cNvPr id="19" name="Text 14">
            <a:extLst>
              <a:ext uri="{FF2B5EF4-FFF2-40B4-BE49-F238E27FC236}">
                <a16:creationId xmlns:a16="http://schemas.microsoft.com/office/drawing/2014/main" id="{0D242FC3-B2BB-A8AE-D3A5-83F7B86EE3DA}"/>
              </a:ext>
            </a:extLst>
          </p:cNvPr>
          <p:cNvSpPr/>
          <p:nvPr/>
        </p:nvSpPr>
        <p:spPr>
          <a:xfrm>
            <a:off x="1524595" y="2175570"/>
            <a:ext cx="2761327" cy="222498"/>
          </a:xfrm>
          <a:prstGeom prst="rect">
            <a:avLst/>
          </a:prstGeom>
          <a:noFill/>
          <a:ln/>
        </p:spPr>
        <p:txBody>
          <a:bodyPr wrap="none" lIns="0" tIns="0" rIns="0" bIns="0" rtlCol="0" anchor="t"/>
          <a:lstStyle/>
          <a:p>
            <a:pPr marL="0" indent="0" algn="l">
              <a:lnSpc>
                <a:spcPts val="1752"/>
              </a:lnSpc>
              <a:spcBef>
                <a:spcPts val="680"/>
              </a:spcBef>
              <a:buNone/>
            </a:pPr>
            <a:r>
              <a:rPr lang="en-US" sz="1460" b="1" dirty="0">
                <a:solidFill>
                  <a:srgbClr val="E2E8F0"/>
                </a:solidFill>
                <a:latin typeface="Consolas" pitchFamily="34" charset="0"/>
                <a:ea typeface="Consolas" pitchFamily="34" charset="-122"/>
                <a:cs typeface="Consolas" pitchFamily="34" charset="-120"/>
              </a:rPr>
              <a:t>Executive Order 14110</a:t>
            </a:r>
            <a:endParaRPr lang="en-US" sz="1460" dirty="0"/>
          </a:p>
        </p:txBody>
      </p:sp>
      <p:sp>
        <p:nvSpPr>
          <p:cNvPr id="20" name="Text 15">
            <a:extLst>
              <a:ext uri="{FF2B5EF4-FFF2-40B4-BE49-F238E27FC236}">
                <a16:creationId xmlns:a16="http://schemas.microsoft.com/office/drawing/2014/main" id="{B85C8A1B-F3AE-17C3-AA39-F1E433FFF3B8}"/>
              </a:ext>
            </a:extLst>
          </p:cNvPr>
          <p:cNvSpPr/>
          <p:nvPr/>
        </p:nvSpPr>
        <p:spPr>
          <a:xfrm>
            <a:off x="1524595" y="2540347"/>
            <a:ext cx="2632293" cy="818852"/>
          </a:xfrm>
          <a:prstGeom prst="rect">
            <a:avLst/>
          </a:prstGeom>
          <a:noFill/>
          <a:ln/>
        </p:spPr>
        <p:txBody>
          <a:bodyPr wrap="square" lIns="0" tIns="0" rIns="0" bIns="0" rtlCol="0" anchor="t"/>
          <a:lstStyle/>
          <a:p>
            <a:pPr marL="0" indent="0" algn="l">
              <a:lnSpc>
                <a:spcPts val="1536"/>
              </a:lnSpc>
              <a:buNone/>
            </a:pPr>
            <a:r>
              <a:rPr lang="en-US" sz="960" dirty="0">
                <a:solidFill>
                  <a:srgbClr val="8B9CB6"/>
                </a:solidFill>
                <a:latin typeface="Calibri" pitchFamily="34" charset="0"/>
                <a:ea typeface="Calibri" pitchFamily="34" charset="-122"/>
                <a:cs typeface="Calibri" pitchFamily="34" charset="-120"/>
              </a:rPr>
              <a:t>Presidential executive order on the </a:t>
            </a:r>
            <a:r>
              <a:rPr lang="en-US" sz="960" dirty="0">
                <a:solidFill>
                  <a:srgbClr val="E2E8F0"/>
                </a:solidFill>
                <a:latin typeface="Calibri" pitchFamily="34" charset="0"/>
                <a:ea typeface="Calibri" pitchFamily="34" charset="-122"/>
                <a:cs typeface="Calibri" pitchFamily="34" charset="-120"/>
              </a:rPr>
              <a:t>safe, secure, and trustworthy development</a:t>
            </a:r>
            <a:r>
              <a:rPr lang="en-US" sz="960" dirty="0">
                <a:solidFill>
                  <a:srgbClr val="8B9CB6"/>
                </a:solidFill>
                <a:latin typeface="Calibri" pitchFamily="34" charset="0"/>
                <a:ea typeface="Calibri" pitchFamily="34" charset="-122"/>
                <a:cs typeface="Calibri" pitchFamily="34" charset="-120"/>
              </a:rPr>
              <a:t> of artificial intelligence. Required safety testing for powerful models before public release.</a:t>
            </a:r>
            <a:endParaRPr lang="en-US" sz="960" dirty="0"/>
          </a:p>
        </p:txBody>
      </p:sp>
      <p:sp>
        <p:nvSpPr>
          <p:cNvPr id="21" name="Text 16">
            <a:extLst>
              <a:ext uri="{FF2B5EF4-FFF2-40B4-BE49-F238E27FC236}">
                <a16:creationId xmlns:a16="http://schemas.microsoft.com/office/drawing/2014/main" id="{5E42DC3E-845A-FC3F-44B0-4740807AC70E}"/>
              </a:ext>
            </a:extLst>
          </p:cNvPr>
          <p:cNvSpPr/>
          <p:nvPr/>
        </p:nvSpPr>
        <p:spPr>
          <a:xfrm>
            <a:off x="1524595" y="3434507"/>
            <a:ext cx="755154"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RED-TEAMING</a:t>
            </a:r>
            <a:endParaRPr lang="en-US" sz="730" dirty="0"/>
          </a:p>
        </p:txBody>
      </p:sp>
      <p:sp>
        <p:nvSpPr>
          <p:cNvPr id="22" name="Text 17">
            <a:extLst>
              <a:ext uri="{FF2B5EF4-FFF2-40B4-BE49-F238E27FC236}">
                <a16:creationId xmlns:a16="http://schemas.microsoft.com/office/drawing/2014/main" id="{A6A8D501-954B-A5FD-C51B-F853989B3886}"/>
              </a:ext>
            </a:extLst>
          </p:cNvPr>
          <p:cNvSpPr/>
          <p:nvPr/>
        </p:nvSpPr>
        <p:spPr>
          <a:xfrm>
            <a:off x="2366070" y="3434507"/>
            <a:ext cx="922288"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SAFETY TESTING</a:t>
            </a:r>
            <a:endParaRPr lang="en-US" sz="730" dirty="0"/>
          </a:p>
        </p:txBody>
      </p:sp>
      <p:sp>
        <p:nvSpPr>
          <p:cNvPr id="23" name="Text 18">
            <a:extLst>
              <a:ext uri="{FF2B5EF4-FFF2-40B4-BE49-F238E27FC236}">
                <a16:creationId xmlns:a16="http://schemas.microsoft.com/office/drawing/2014/main" id="{52E98D45-92F8-F07E-D245-9C0A830811C8}"/>
              </a:ext>
            </a:extLst>
          </p:cNvPr>
          <p:cNvSpPr/>
          <p:nvPr/>
        </p:nvSpPr>
        <p:spPr>
          <a:xfrm>
            <a:off x="1524595" y="3718173"/>
            <a:ext cx="1368177"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REPORTING REQUIREMENTS</a:t>
            </a:r>
            <a:endParaRPr lang="en-US" sz="730" dirty="0"/>
          </a:p>
        </p:txBody>
      </p:sp>
      <p:sp>
        <p:nvSpPr>
          <p:cNvPr id="24" name="Text 19">
            <a:extLst>
              <a:ext uri="{FF2B5EF4-FFF2-40B4-BE49-F238E27FC236}">
                <a16:creationId xmlns:a16="http://schemas.microsoft.com/office/drawing/2014/main" id="{A1D9593A-A9E9-98E1-409B-CBD0CF578612}"/>
              </a:ext>
            </a:extLst>
          </p:cNvPr>
          <p:cNvSpPr/>
          <p:nvPr/>
        </p:nvSpPr>
        <p:spPr>
          <a:xfrm>
            <a:off x="4686300" y="1473994"/>
            <a:ext cx="3943350" cy="2848124"/>
          </a:xfrm>
          <a:prstGeom prst="roundRect">
            <a:avLst>
              <a:gd name="adj" fmla="val 401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5" name="Text 20">
            <a:extLst>
              <a:ext uri="{FF2B5EF4-FFF2-40B4-BE49-F238E27FC236}">
                <a16:creationId xmlns:a16="http://schemas.microsoft.com/office/drawing/2014/main" id="{044FAADF-4AD7-CABD-FB67-EDD45A76A531}"/>
              </a:ext>
            </a:extLst>
          </p:cNvPr>
          <p:cNvSpPr/>
          <p:nvPr/>
        </p:nvSpPr>
        <p:spPr>
          <a:xfrm>
            <a:off x="4695825" y="1483519"/>
            <a:ext cx="43160" cy="2829074"/>
          </a:xfrm>
          <a:prstGeom prst="rect">
            <a:avLst/>
          </a:prstGeom>
          <a:gradFill rotWithShape="1">
            <a:gsLst>
              <a:gs pos="0">
                <a:srgbClr val="76B900"/>
              </a:gs>
              <a:gs pos="100000">
                <a:srgbClr val="76B900">
                  <a:alpha val="20000"/>
                </a:srgbClr>
              </a:gs>
            </a:gsLst>
            <a:lin ang="5400000" scaled="1"/>
          </a:gradFill>
          <a:ln/>
        </p:spPr>
        <p:txBody>
          <a:bodyPr wrap="square" rtlCol="0" anchor="t"/>
          <a:lstStyle/>
          <a:p>
            <a:pPr marL="0" indent="0">
              <a:buNone/>
            </a:pPr>
            <a:endParaRPr lang="en-US" dirty="0"/>
          </a:p>
        </p:txBody>
      </p:sp>
      <p:sp>
        <p:nvSpPr>
          <p:cNvPr id="26" name="Text 21">
            <a:extLst>
              <a:ext uri="{FF2B5EF4-FFF2-40B4-BE49-F238E27FC236}">
                <a16:creationId xmlns:a16="http://schemas.microsoft.com/office/drawing/2014/main" id="{C1DC30F2-0727-139B-6CF7-2C8B68645487}"/>
              </a:ext>
            </a:extLst>
          </p:cNvPr>
          <p:cNvSpPr/>
          <p:nvPr/>
        </p:nvSpPr>
        <p:spPr>
          <a:xfrm>
            <a:off x="5038725" y="1769269"/>
            <a:ext cx="514350" cy="514350"/>
          </a:xfrm>
          <a:prstGeom prst="roundRect">
            <a:avLst>
              <a:gd name="adj" fmla="val 22222"/>
            </a:avLst>
          </a:prstGeom>
          <a:solidFill>
            <a:srgbClr val="76B900">
              <a:alpha val="10000"/>
            </a:srgbClr>
          </a:solidFill>
          <a:ln w="9525">
            <a:solidFill>
              <a:srgbClr val="76B900">
                <a:alpha val="20000"/>
              </a:srgbClr>
            </a:solidFill>
          </a:ln>
        </p:spPr>
        <p:txBody>
          <a:bodyPr wrap="square" rtlCol="0" anchor="t"/>
          <a:lstStyle/>
          <a:p>
            <a:pPr marL="0" indent="0">
              <a:buNone/>
            </a:pPr>
            <a:endParaRPr lang="en-US" dirty="0"/>
          </a:p>
        </p:txBody>
      </p:sp>
      <p:pic>
        <p:nvPicPr>
          <p:cNvPr id="27" name="Image 3" descr="preencoded.png">
            <a:extLst>
              <a:ext uri="{FF2B5EF4-FFF2-40B4-BE49-F238E27FC236}">
                <a16:creationId xmlns:a16="http://schemas.microsoft.com/office/drawing/2014/main" id="{1FBBF37D-9265-5017-31AF-4B662FFC00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99162" y="1929705"/>
            <a:ext cx="193328" cy="193328"/>
          </a:xfrm>
          <a:prstGeom prst="rect">
            <a:avLst/>
          </a:prstGeom>
        </p:spPr>
      </p:pic>
      <p:sp>
        <p:nvSpPr>
          <p:cNvPr id="28" name="Text 22">
            <a:extLst>
              <a:ext uri="{FF2B5EF4-FFF2-40B4-BE49-F238E27FC236}">
                <a16:creationId xmlns:a16="http://schemas.microsoft.com/office/drawing/2014/main" id="{E98400E9-AB5F-B478-0226-3DC15053BC62}"/>
              </a:ext>
            </a:extLst>
          </p:cNvPr>
          <p:cNvSpPr/>
          <p:nvPr/>
        </p:nvSpPr>
        <p:spPr>
          <a:xfrm>
            <a:off x="5696545" y="1769269"/>
            <a:ext cx="429220" cy="229686"/>
          </a:xfrm>
          <a:prstGeom prst="roundRect">
            <a:avLst>
              <a:gd name="adj" fmla="val 18800"/>
            </a:avLst>
          </a:prstGeom>
          <a:solidFill>
            <a:srgbClr val="76B900">
              <a:alpha val="15000"/>
            </a:srgbClr>
          </a:solidFill>
          <a:ln/>
        </p:spPr>
        <p:txBody>
          <a:bodyPr wrap="none" lIns="0" tIns="0" rIns="0" bIns="0" rtlCol="0" anchor="ctr"/>
          <a:lstStyle/>
          <a:p>
            <a:pPr marL="0" indent="0" algn="ctr">
              <a:buNone/>
            </a:pPr>
            <a:r>
              <a:rPr lang="en-US" sz="790" b="1" dirty="0">
                <a:solidFill>
                  <a:srgbClr val="76B900"/>
                </a:solidFill>
                <a:latin typeface="Consolas" pitchFamily="34" charset="0"/>
                <a:ea typeface="Consolas" pitchFamily="34" charset="-122"/>
                <a:cs typeface="Consolas" pitchFamily="34" charset="-120"/>
              </a:rPr>
              <a:t>2023</a:t>
            </a:r>
            <a:endParaRPr lang="en-US" sz="790" dirty="0"/>
          </a:p>
        </p:txBody>
      </p:sp>
      <p:sp>
        <p:nvSpPr>
          <p:cNvPr id="29" name="Text 23">
            <a:extLst>
              <a:ext uri="{FF2B5EF4-FFF2-40B4-BE49-F238E27FC236}">
                <a16:creationId xmlns:a16="http://schemas.microsoft.com/office/drawing/2014/main" id="{0388C0B1-347B-CD6E-1B7D-DA8F1374B1E6}"/>
              </a:ext>
            </a:extLst>
          </p:cNvPr>
          <p:cNvSpPr/>
          <p:nvPr/>
        </p:nvSpPr>
        <p:spPr>
          <a:xfrm>
            <a:off x="5696545" y="2064395"/>
            <a:ext cx="2632293" cy="467246"/>
          </a:xfrm>
          <a:prstGeom prst="rect">
            <a:avLst/>
          </a:prstGeom>
          <a:noFill/>
          <a:ln/>
        </p:spPr>
        <p:txBody>
          <a:bodyPr wrap="square" lIns="0" tIns="0" rIns="0" bIns="0" rtlCol="0" anchor="t"/>
          <a:lstStyle/>
          <a:p>
            <a:pPr marL="0" indent="0" algn="l">
              <a:lnSpc>
                <a:spcPts val="1752"/>
              </a:lnSpc>
              <a:spcBef>
                <a:spcPts val="680"/>
              </a:spcBef>
              <a:buNone/>
            </a:pPr>
            <a:r>
              <a:rPr lang="en-US" sz="1460" b="1" dirty="0">
                <a:solidFill>
                  <a:srgbClr val="E2E8F0"/>
                </a:solidFill>
                <a:latin typeface="Consolas" pitchFamily="34" charset="0"/>
                <a:ea typeface="Consolas" pitchFamily="34" charset="-122"/>
                <a:cs typeface="Consolas" pitchFamily="34" charset="-120"/>
              </a:rPr>
              <a:t>White House Voluntary Commitments</a:t>
            </a:r>
            <a:endParaRPr lang="en-US" sz="1460" dirty="0"/>
          </a:p>
        </p:txBody>
      </p:sp>
      <p:sp>
        <p:nvSpPr>
          <p:cNvPr id="30" name="Text 24">
            <a:extLst>
              <a:ext uri="{FF2B5EF4-FFF2-40B4-BE49-F238E27FC236}">
                <a16:creationId xmlns:a16="http://schemas.microsoft.com/office/drawing/2014/main" id="{3E8725A3-3632-3A11-E72F-C4063CA86189}"/>
              </a:ext>
            </a:extLst>
          </p:cNvPr>
          <p:cNvSpPr/>
          <p:nvPr/>
        </p:nvSpPr>
        <p:spPr>
          <a:xfrm>
            <a:off x="5696545" y="2651671"/>
            <a:ext cx="2632293" cy="818852"/>
          </a:xfrm>
          <a:prstGeom prst="rect">
            <a:avLst/>
          </a:prstGeom>
          <a:noFill/>
          <a:ln/>
        </p:spPr>
        <p:txBody>
          <a:bodyPr wrap="square" lIns="0" tIns="0" rIns="0" bIns="0" rtlCol="0" anchor="t"/>
          <a:lstStyle/>
          <a:p>
            <a:pPr marL="0" indent="0" algn="l">
              <a:lnSpc>
                <a:spcPts val="1536"/>
              </a:lnSpc>
              <a:buNone/>
            </a:pPr>
            <a:r>
              <a:rPr lang="en-US" sz="960" dirty="0">
                <a:solidFill>
                  <a:srgbClr val="8B9CB6"/>
                </a:solidFill>
                <a:latin typeface="Calibri" pitchFamily="34" charset="0"/>
                <a:ea typeface="Calibri" pitchFamily="34" charset="-122"/>
                <a:cs typeface="Calibri" pitchFamily="34" charset="-120"/>
              </a:rPr>
              <a:t>Industry commitments by </a:t>
            </a:r>
            <a:r>
              <a:rPr lang="en-US" sz="960" dirty="0">
                <a:solidFill>
                  <a:srgbClr val="E2E8F0"/>
                </a:solidFill>
                <a:latin typeface="Calibri" pitchFamily="34" charset="0"/>
                <a:ea typeface="Calibri" pitchFamily="34" charset="-122"/>
                <a:cs typeface="Calibri" pitchFamily="34" charset="-120"/>
              </a:rPr>
              <a:t>major AI companies</a:t>
            </a:r>
            <a:r>
              <a:rPr lang="en-US" sz="960" dirty="0">
                <a:solidFill>
                  <a:srgbClr val="8B9CB6"/>
                </a:solidFill>
                <a:latin typeface="Calibri" pitchFamily="34" charset="0"/>
                <a:ea typeface="Calibri" pitchFamily="34" charset="-122"/>
                <a:cs typeface="Calibri" pitchFamily="34" charset="-120"/>
              </a:rPr>
              <a:t> to ensure AI safety, security, and public trust — including watermarking AI content and sharing safety research.</a:t>
            </a:r>
            <a:endParaRPr lang="en-US" sz="960" dirty="0"/>
          </a:p>
        </p:txBody>
      </p:sp>
      <p:sp>
        <p:nvSpPr>
          <p:cNvPr id="31" name="Text 25">
            <a:extLst>
              <a:ext uri="{FF2B5EF4-FFF2-40B4-BE49-F238E27FC236}">
                <a16:creationId xmlns:a16="http://schemas.microsoft.com/office/drawing/2014/main" id="{8AC4BD7B-D18A-76DD-2A40-A4A84E215CF8}"/>
              </a:ext>
            </a:extLst>
          </p:cNvPr>
          <p:cNvSpPr/>
          <p:nvPr/>
        </p:nvSpPr>
        <p:spPr>
          <a:xfrm>
            <a:off x="5696545" y="3545830"/>
            <a:ext cx="810816"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WATERMARKING</a:t>
            </a:r>
            <a:endParaRPr lang="en-US" sz="730" dirty="0"/>
          </a:p>
        </p:txBody>
      </p:sp>
      <p:sp>
        <p:nvSpPr>
          <p:cNvPr id="32" name="Text 26">
            <a:extLst>
              <a:ext uri="{FF2B5EF4-FFF2-40B4-BE49-F238E27FC236}">
                <a16:creationId xmlns:a16="http://schemas.microsoft.com/office/drawing/2014/main" id="{0F96C34F-CB06-D487-5CB5-9E9F9500C46C}"/>
              </a:ext>
            </a:extLst>
          </p:cNvPr>
          <p:cNvSpPr/>
          <p:nvPr/>
        </p:nvSpPr>
        <p:spPr>
          <a:xfrm>
            <a:off x="6593681" y="3545830"/>
            <a:ext cx="978098"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SHARED RESEARCH</a:t>
            </a:r>
            <a:endParaRPr lang="en-US" sz="730" dirty="0"/>
          </a:p>
        </p:txBody>
      </p:sp>
      <p:sp>
        <p:nvSpPr>
          <p:cNvPr id="33" name="Text 27">
            <a:extLst>
              <a:ext uri="{FF2B5EF4-FFF2-40B4-BE49-F238E27FC236}">
                <a16:creationId xmlns:a16="http://schemas.microsoft.com/office/drawing/2014/main" id="{02532907-CA01-8F01-3EF2-8ADD4B6FD680}"/>
              </a:ext>
            </a:extLst>
          </p:cNvPr>
          <p:cNvSpPr/>
          <p:nvPr/>
        </p:nvSpPr>
        <p:spPr>
          <a:xfrm>
            <a:off x="5696545" y="3829496"/>
            <a:ext cx="1033760" cy="217081"/>
          </a:xfrm>
          <a:prstGeom prst="roundRect">
            <a:avLst>
              <a:gd name="adj" fmla="val 13456"/>
            </a:avLst>
          </a:prstGeom>
          <a:solidFill>
            <a:srgbClr val="76B900">
              <a:alpha val="8000"/>
            </a:srgbClr>
          </a:solidFill>
          <a:ln/>
        </p:spPr>
        <p:txBody>
          <a:bodyPr wrap="none" lIns="0" tIns="0" rIns="0" bIns="0" rtlCol="0" anchor="ctr"/>
          <a:lstStyle/>
          <a:p>
            <a:pPr marL="0" indent="0" algn="ctr">
              <a:buNone/>
            </a:pPr>
            <a:r>
              <a:rPr lang="en-US" sz="730" dirty="0">
                <a:solidFill>
                  <a:srgbClr val="76B900"/>
                </a:solidFill>
                <a:latin typeface="Consolas" pitchFamily="34" charset="0"/>
                <a:ea typeface="Consolas" pitchFamily="34" charset="-122"/>
                <a:cs typeface="Consolas" pitchFamily="34" charset="-120"/>
              </a:rPr>
              <a:t>INDUSTRY PLEDGES</a:t>
            </a:r>
            <a:endParaRPr lang="en-US" sz="730" dirty="0"/>
          </a:p>
        </p:txBody>
      </p:sp>
    </p:spTree>
    <p:extLst>
      <p:ext uri="{BB962C8B-B14F-4D97-AF65-F5344CB8AC3E}">
        <p14:creationId xmlns:p14="http://schemas.microsoft.com/office/powerpoint/2010/main" val="842078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A73483B1-712B-4679-0C17-F07B52FA320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9E91FBF-74F3-BB2D-6C51-BF4E0B5413D5}"/>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 0">
            <a:extLst>
              <a:ext uri="{FF2B5EF4-FFF2-40B4-BE49-F238E27FC236}">
                <a16:creationId xmlns:a16="http://schemas.microsoft.com/office/drawing/2014/main" id="{C71DB7CA-1326-8BD1-DA27-0112D931880C}"/>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F974CFCC-FCEA-247B-9409-48AB644AB5B4}"/>
              </a:ext>
            </a:extLst>
          </p:cNvPr>
          <p:cNvSpPr/>
          <p:nvPr/>
        </p:nvSpPr>
        <p:spPr>
          <a:xfrm>
            <a:off x="0" y="4743450"/>
            <a:ext cx="9144000" cy="400050"/>
          </a:xfrm>
          <a:prstGeom prst="rect">
            <a:avLst/>
          </a:prstGeom>
          <a:gradFill rotWithShape="1">
            <a:gsLst>
              <a:gs pos="0">
                <a:srgbClr val="000000">
                  <a:alpha val="0"/>
                </a:srgbClr>
              </a:gs>
              <a:gs pos="100000">
                <a:srgbClr val="76B900">
                  <a:alpha val="4000"/>
                </a:srgbClr>
              </a:gs>
            </a:gsLst>
            <a:lin ang="540000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21497465-EAAD-2610-A2C1-DFCE8C973B33}"/>
              </a:ext>
            </a:extLst>
          </p:cNvPr>
          <p:cNvSpPr/>
          <p:nvPr/>
        </p:nvSpPr>
        <p:spPr>
          <a:xfrm>
            <a:off x="0" y="4743450"/>
            <a:ext cx="9144000" cy="9525"/>
          </a:xfrm>
          <a:prstGeom prst="rect">
            <a:avLst/>
          </a:prstGeom>
          <a:solidFill>
            <a:srgbClr val="76B900">
              <a:alpha val="8000"/>
            </a:srgbClr>
          </a:solidFill>
          <a:ln/>
        </p:spPr>
        <p:txBody>
          <a:bodyPr wrap="non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preencoded.png">
            <a:extLst>
              <a:ext uri="{FF2B5EF4-FFF2-40B4-BE49-F238E27FC236}">
                <a16:creationId xmlns:a16="http://schemas.microsoft.com/office/drawing/2014/main" id="{4E49B114-49EB-244C-2A51-9980A14D14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886" y="4881944"/>
            <a:ext cx="132588" cy="132588"/>
          </a:xfrm>
          <a:prstGeom prst="rect">
            <a:avLst/>
          </a:prstGeom>
        </p:spPr>
      </p:pic>
      <p:sp>
        <p:nvSpPr>
          <p:cNvPr id="7" name="Text 4">
            <a:extLst>
              <a:ext uri="{FF2B5EF4-FFF2-40B4-BE49-F238E27FC236}">
                <a16:creationId xmlns:a16="http://schemas.microsoft.com/office/drawing/2014/main" id="{AB4F457F-80BC-83BE-E686-FF6783F44C3B}"/>
              </a:ext>
            </a:extLst>
          </p:cNvPr>
          <p:cNvSpPr/>
          <p:nvPr/>
        </p:nvSpPr>
        <p:spPr>
          <a:xfrm>
            <a:off x="2020193" y="4872930"/>
            <a:ext cx="5770974" cy="150465"/>
          </a:xfrm>
          <a:prstGeom prst="rect">
            <a:avLst/>
          </a:prstGeom>
          <a:noFill/>
          <a:ln/>
        </p:spPr>
        <p:txBody>
          <a:bodyPr wrap="none" lIns="0" tIns="0" rIns="0" bIns="0" rtlCol="0" anchor="ctr"/>
          <a:lstStyle/>
          <a:p>
            <a:pPr marL="0" marR="0" lvl="0" indent="0" algn="l" defTabSz="914400" rtl="0" eaLnBrk="1" fontAlgn="auto" latinLnBrk="0" hangingPunct="1">
              <a:lnSpc>
                <a:spcPts val="1185"/>
              </a:lnSpc>
              <a:spcBef>
                <a:spcPts val="0"/>
              </a:spcBef>
              <a:spcAft>
                <a:spcPts val="0"/>
              </a:spcAft>
              <a:buClrTx/>
              <a:buSzTx/>
              <a:buFontTx/>
              <a:buNone/>
              <a:tabLst/>
              <a:defRPr/>
            </a:pPr>
            <a:r>
              <a:rPr kumimoji="0" lang="en-US" sz="790" b="0" i="0" u="none" strike="noStrike" kern="1200" cap="none" spc="0" normalizeH="0" baseline="0" noProof="0" dirty="0">
                <a:ln>
                  <a:noFill/>
                </a:ln>
                <a:solidFill>
                  <a:srgbClr val="8B9CB6"/>
                </a:solidFill>
                <a:effectLst/>
                <a:uLnTx/>
                <a:uFillTx/>
                <a:latin typeface="Consolas" pitchFamily="34" charset="0"/>
                <a:ea typeface="Consolas" pitchFamily="34" charset="-122"/>
                <a:cs typeface="Consolas" pitchFamily="34" charset="-120"/>
              </a:rPr>
              <a:t>Can regulatory actions directly influence how model providers apply safety alignment</a:t>
            </a:r>
            <a:endParaRPr kumimoji="0" lang="en-US" sz="79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B3FA8B49-B0B0-A3CC-7A5A-688731C0E654}"/>
              </a:ext>
            </a:extLst>
          </p:cNvPr>
          <p:cNvSpPr/>
          <p:nvPr/>
        </p:nvSpPr>
        <p:spPr>
          <a:xfrm>
            <a:off x="514350" y="407343"/>
            <a:ext cx="314920" cy="314920"/>
          </a:xfrm>
          <a:prstGeom prst="roundRect">
            <a:avLst>
              <a:gd name="adj" fmla="val 22584"/>
            </a:avLst>
          </a:prstGeom>
          <a:solidFill>
            <a:srgbClr val="76B900">
              <a:alpha val="12000"/>
            </a:srgbClr>
          </a:soli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Image 1" descr="preencoded.png">
            <a:extLst>
              <a:ext uri="{FF2B5EF4-FFF2-40B4-BE49-F238E27FC236}">
                <a16:creationId xmlns:a16="http://schemas.microsoft.com/office/drawing/2014/main" id="{06023DAB-D867-EED2-BC95-C15614FB89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516" y="498509"/>
            <a:ext cx="132588" cy="132588"/>
          </a:xfrm>
          <a:prstGeom prst="rect">
            <a:avLst/>
          </a:prstGeom>
        </p:spPr>
      </p:pic>
      <p:sp>
        <p:nvSpPr>
          <p:cNvPr id="12" name="Text 8">
            <a:extLst>
              <a:ext uri="{FF2B5EF4-FFF2-40B4-BE49-F238E27FC236}">
                <a16:creationId xmlns:a16="http://schemas.microsoft.com/office/drawing/2014/main" id="{8BA47A0E-F5AC-EC66-2DE7-B57A4F547BF1}"/>
              </a:ext>
            </a:extLst>
          </p:cNvPr>
          <p:cNvSpPr/>
          <p:nvPr/>
        </p:nvSpPr>
        <p:spPr>
          <a:xfrm>
            <a:off x="929580" y="400050"/>
            <a:ext cx="5478862" cy="329654"/>
          </a:xfrm>
          <a:prstGeom prst="rect">
            <a:avLst/>
          </a:prstGeom>
          <a:noFill/>
          <a:ln/>
        </p:spPr>
        <p:txBody>
          <a:bodyPr wrap="none" lIns="0" tIns="0" rIns="0" bIns="0" rtlCol="0" anchor="ctr"/>
          <a:lstStyle/>
          <a:p>
            <a:pPr marL="0" marR="0" lvl="0" indent="0" algn="l" defTabSz="914400" rtl="0" eaLnBrk="1" fontAlgn="auto" latinLnBrk="0" hangingPunct="1">
              <a:lnSpc>
                <a:spcPts val="2596"/>
              </a:lnSpc>
              <a:spcBef>
                <a:spcPts val="0"/>
              </a:spcBef>
              <a:spcAft>
                <a:spcPts val="0"/>
              </a:spcAft>
              <a:buClrTx/>
              <a:buSzTx/>
              <a:buFontTx/>
              <a:buNone/>
              <a:tabLst/>
              <a:defRPr/>
            </a:pP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a:t>
            </a:r>
            <a:br>
              <a:rPr kumimoji="0"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What can this mean… </a:t>
            </a:r>
            <a:br>
              <a:rPr kumimoji="0"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a:t>
            </a:r>
            <a:endParaRPr kumimoji="0" lang="en-US" sz="23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a:extLst>
              <a:ext uri="{FF2B5EF4-FFF2-40B4-BE49-F238E27FC236}">
                <a16:creationId xmlns:a16="http://schemas.microsoft.com/office/drawing/2014/main" id="{6568C090-BA50-AAF4-5118-C2F8AAE72AC8}"/>
              </a:ext>
            </a:extLst>
          </p:cNvPr>
          <p:cNvSpPr/>
          <p:nvPr/>
        </p:nvSpPr>
        <p:spPr>
          <a:xfrm>
            <a:off x="672450" y="786854"/>
            <a:ext cx="8471550" cy="182880"/>
          </a:xfrm>
          <a:prstGeom prst="rect">
            <a:avLst/>
          </a:prstGeom>
          <a:noFill/>
          <a:ln/>
        </p:spPr>
        <p:txBody>
          <a:bodyPr wrap="none" lIns="0" tIns="0" rIns="0" bIns="0" rtlCol="0" anchor="t"/>
          <a:lstStyle/>
          <a:p>
            <a:pPr marL="0" marR="0" lvl="0" indent="0" algn="l" defTabSz="914400" rtl="0" eaLnBrk="1" fontAlgn="auto" latinLnBrk="0" hangingPunct="1">
              <a:lnSpc>
                <a:spcPts val="1414"/>
              </a:lnSpc>
              <a:spcBef>
                <a:spcPts val="0"/>
              </a:spcBef>
              <a:spcAft>
                <a:spcPts val="0"/>
              </a:spcAft>
              <a:buClrTx/>
              <a:buSzTx/>
              <a:buFontTx/>
              <a:buNone/>
              <a:tabLst/>
              <a:defRPr/>
            </a:pPr>
            <a:endParaRPr kumimoji="0" lang="en-US" sz="101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0AABA200-C8B0-4899-358D-E8BADEA1E039}"/>
              </a:ext>
            </a:extLst>
          </p:cNvPr>
          <p:cNvSpPr txBox="1"/>
          <p:nvPr/>
        </p:nvSpPr>
        <p:spPr>
          <a:xfrm>
            <a:off x="3080327" y="1902691"/>
            <a:ext cx="2549237" cy="369332"/>
          </a:xfrm>
          <a:prstGeom prst="rect">
            <a:avLst/>
          </a:prstGeom>
          <a:noFill/>
        </p:spPr>
        <p:txBody>
          <a:bodyPr wrap="square" rtlCol="0">
            <a:spAutoFit/>
          </a:bodyPr>
          <a:lstStyle/>
          <a:p>
            <a:r>
              <a:rPr lang="en-US" dirty="0">
                <a:solidFill>
                  <a:schemeClr val="bg1"/>
                </a:solidFill>
              </a:rPr>
              <a:t>Video 2</a:t>
            </a:r>
          </a:p>
        </p:txBody>
      </p:sp>
    </p:spTree>
    <p:extLst>
      <p:ext uri="{BB962C8B-B14F-4D97-AF65-F5344CB8AC3E}">
        <p14:creationId xmlns:p14="http://schemas.microsoft.com/office/powerpoint/2010/main" val="2925616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0A0F1A"/>
        </a:solidFill>
        <a:effectLst/>
      </p:bgPr>
    </p:bg>
    <p:spTree>
      <p:nvGrpSpPr>
        <p:cNvPr id="1" name=""/>
        <p:cNvGrpSpPr/>
        <p:nvPr/>
      </p:nvGrpSpPr>
      <p:grpSpPr>
        <a:xfrm>
          <a:off x="0" y="0"/>
          <a:ext cx="0" cy="0"/>
          <a:chOff x="0" y="0"/>
          <a:chExt cx="0" cy="0"/>
        </a:xfrm>
      </p:grpSpPr>
      <p:sp>
        <p:nvSpPr>
          <p:cNvPr id="4" name="Text 2"/>
          <p:cNvSpPr/>
          <p:nvPr/>
        </p:nvSpPr>
        <p:spPr>
          <a:xfrm>
            <a:off x="169164" y="342900"/>
            <a:ext cx="8805672" cy="386655"/>
          </a:xfrm>
          <a:prstGeom prst="rect">
            <a:avLst/>
          </a:prstGeom>
          <a:noFill/>
          <a:ln/>
        </p:spPr>
        <p:txBody>
          <a:bodyPr wrap="none" lIns="0" tIns="0" rIns="0" bIns="0" rtlCol="0" anchor="t"/>
          <a:lstStyle/>
          <a:p>
            <a:pPr marL="0" indent="0" algn="ctr">
              <a:lnSpc>
                <a:spcPts val="3045"/>
              </a:lnSpc>
              <a:buNone/>
            </a:pPr>
            <a:r>
              <a:rPr lang="en-US" sz="2030" kern="0" spc="-30" dirty="0">
                <a:solidFill>
                  <a:srgbClr val="E2E8F0"/>
                </a:solidFill>
                <a:latin typeface="Consolas" pitchFamily="34" charset="0"/>
                <a:ea typeface="Consolas" pitchFamily="34" charset="-122"/>
                <a:cs typeface="Consolas" pitchFamily="34" charset="-120"/>
              </a:rPr>
              <a:t>Safe vs Unsafe Models — </a:t>
            </a:r>
            <a:r>
              <a:rPr lang="en-US" sz="2030" b="1" kern="0" spc="-30" dirty="0">
                <a:solidFill>
                  <a:srgbClr val="76B900"/>
                </a:solidFill>
                <a:latin typeface="Consolas" pitchFamily="34" charset="0"/>
                <a:ea typeface="Consolas" pitchFamily="34" charset="-122"/>
                <a:cs typeface="Consolas" pitchFamily="34" charset="-120"/>
              </a:rPr>
              <a:t>Effect</a:t>
            </a:r>
            <a:endParaRPr lang="en-US" sz="2030" dirty="0"/>
          </a:p>
        </p:txBody>
      </p:sp>
      <p:sp>
        <p:nvSpPr>
          <p:cNvPr id="5" name="Text 3"/>
          <p:cNvSpPr/>
          <p:nvPr/>
        </p:nvSpPr>
        <p:spPr>
          <a:xfrm>
            <a:off x="45720" y="772716"/>
            <a:ext cx="9052560" cy="171450"/>
          </a:xfrm>
          <a:prstGeom prst="rect">
            <a:avLst/>
          </a:prstGeom>
          <a:noFill/>
          <a:ln/>
        </p:spPr>
        <p:txBody>
          <a:bodyPr wrap="none" lIns="0" tIns="0" rIns="0" bIns="0" rtlCol="0" anchor="t"/>
          <a:lstStyle/>
          <a:p>
            <a:pPr marL="0" indent="0" algn="ctr">
              <a:lnSpc>
                <a:spcPts val="1350"/>
              </a:lnSpc>
              <a:buNone/>
            </a:pPr>
            <a:r>
              <a:rPr lang="en-US" sz="900" dirty="0">
                <a:solidFill>
                  <a:srgbClr val="8B9CB6"/>
                </a:solidFill>
                <a:latin typeface="Calibri" pitchFamily="34" charset="0"/>
                <a:ea typeface="Calibri" pitchFamily="34" charset="-122"/>
                <a:cs typeface="Calibri" pitchFamily="34" charset="-120"/>
              </a:rPr>
              <a:t>Latest research says, maybe? (At least partially to blame.)</a:t>
            </a:r>
            <a:endParaRPr lang="en-US" sz="900" dirty="0"/>
          </a:p>
        </p:txBody>
      </p:sp>
      <p:sp>
        <p:nvSpPr>
          <p:cNvPr id="7" name="Text 5"/>
          <p:cNvSpPr/>
          <p:nvPr/>
        </p:nvSpPr>
        <p:spPr>
          <a:xfrm>
            <a:off x="695325" y="1841302"/>
            <a:ext cx="3238500" cy="9525"/>
          </a:xfrm>
          <a:prstGeom prst="rect">
            <a:avLst/>
          </a:prstGeom>
          <a:solidFill>
            <a:srgbClr val="FFFFFF">
              <a:alpha val="6000"/>
            </a:srgbClr>
          </a:solidFill>
          <a:ln/>
        </p:spPr>
        <p:txBody>
          <a:bodyPr wrap="none" rtlCol="0" anchor="t"/>
          <a:lstStyle/>
          <a:p>
            <a:pPr marL="0" indent="0">
              <a:buNone/>
            </a:pPr>
            <a:endParaRPr lang="en-US" dirty="0"/>
          </a:p>
        </p:txBody>
      </p:sp>
      <p:sp>
        <p:nvSpPr>
          <p:cNvPr id="8" name="Text 6"/>
          <p:cNvSpPr/>
          <p:nvPr/>
        </p:nvSpPr>
        <p:spPr>
          <a:xfrm>
            <a:off x="695325" y="1354931"/>
            <a:ext cx="372070" cy="372070"/>
          </a:xfrm>
          <a:prstGeom prst="roundRect">
            <a:avLst>
              <a:gd name="adj" fmla="val 26965"/>
            </a:avLst>
          </a:prstGeom>
          <a:solidFill>
            <a:srgbClr val="76B900">
              <a:alpha val="12000"/>
            </a:srgbClr>
          </a:solidFill>
          <a:ln/>
        </p:spPr>
        <p:txBody>
          <a:bodyPr wrap="square" rtlCol="0" anchor="t"/>
          <a:lstStyle/>
          <a:p>
            <a:pPr marL="0" indent="0">
              <a:buNone/>
            </a:pPr>
            <a:endParaRPr lang="en-US" dirty="0"/>
          </a:p>
        </p:txBody>
      </p:sp>
      <p:pic>
        <p:nvPicPr>
          <p:cNvPr id="90" name="ResearchIcon1" descr="research-icon.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360" y="1430966"/>
            <a:ext cx="220000" cy="220000"/>
          </a:xfrm>
          <a:prstGeom prst="rect">
            <a:avLst/>
          </a:prstGeom>
        </p:spPr>
      </p:pic>
      <p:sp>
        <p:nvSpPr>
          <p:cNvPr id="10" name="Text 7"/>
          <p:cNvSpPr/>
          <p:nvPr/>
        </p:nvSpPr>
        <p:spPr>
          <a:xfrm>
            <a:off x="1167705" y="1380530"/>
            <a:ext cx="7393915" cy="931479"/>
          </a:xfrm>
          <a:prstGeom prst="rect">
            <a:avLst/>
          </a:prstGeom>
          <a:noFill/>
          <a:ln/>
        </p:spPr>
        <p:txBody>
          <a:bodyPr wrap="none" lIns="0" tIns="0" rIns="0" bIns="0" rtlCol="0" anchor="ctr"/>
          <a:lstStyle/>
          <a:p>
            <a:pPr marL="0" indent="0" algn="just">
              <a:lnSpc>
                <a:spcPts val="1488"/>
              </a:lnSpc>
              <a:buNone/>
            </a:pPr>
            <a:r>
              <a:rPr lang="en-US" sz="1240" b="1" dirty="0">
                <a:solidFill>
                  <a:srgbClr val="76B900"/>
                </a:solidFill>
                <a:latin typeface="Consolas" pitchFamily="34" charset="0"/>
                <a:ea typeface="Consolas" pitchFamily="34" charset="-122"/>
                <a:cs typeface="Consolas" pitchFamily="34" charset="-120"/>
              </a:rPr>
              <a:t>Mahmoud, Omar, et al. The Unintended Trade-off of AI Alignment: </a:t>
            </a:r>
          </a:p>
          <a:p>
            <a:pPr marL="0" indent="0" algn="just">
              <a:lnSpc>
                <a:spcPts val="1488"/>
              </a:lnSpc>
              <a:buNone/>
            </a:pPr>
            <a:r>
              <a:rPr lang="en-US" sz="1240" b="1" dirty="0">
                <a:solidFill>
                  <a:srgbClr val="76B900"/>
                </a:solidFill>
                <a:latin typeface="Consolas" pitchFamily="34" charset="0"/>
                <a:ea typeface="Consolas" pitchFamily="34" charset="-122"/>
                <a:cs typeface="Consolas" pitchFamily="34" charset="-120"/>
              </a:rPr>
              <a:t>Balancing Hallucination Mitigation and Safety in LLMs. </a:t>
            </a:r>
            <a:r>
              <a:rPr lang="en-US" sz="1240" b="1" dirty="0" err="1">
                <a:solidFill>
                  <a:srgbClr val="76B900"/>
                </a:solidFill>
                <a:latin typeface="Consolas" pitchFamily="34" charset="0"/>
                <a:ea typeface="Consolas" pitchFamily="34" charset="-122"/>
                <a:cs typeface="Consolas" pitchFamily="34" charset="-120"/>
              </a:rPr>
              <a:t>arXiv</a:t>
            </a:r>
            <a:r>
              <a:rPr lang="en-US" sz="1240" b="1" dirty="0">
                <a:solidFill>
                  <a:srgbClr val="76B900"/>
                </a:solidFill>
                <a:latin typeface="Consolas" pitchFamily="34" charset="0"/>
                <a:ea typeface="Consolas" pitchFamily="34" charset="-122"/>
                <a:cs typeface="Consolas" pitchFamily="34" charset="-120"/>
              </a:rPr>
              <a:t>, </a:t>
            </a:r>
          </a:p>
          <a:p>
            <a:pPr marL="0" indent="0" algn="just">
              <a:lnSpc>
                <a:spcPts val="1488"/>
              </a:lnSpc>
              <a:buNone/>
            </a:pPr>
            <a:r>
              <a:rPr lang="en-US" sz="1240" b="1" dirty="0">
                <a:solidFill>
                  <a:srgbClr val="76B900"/>
                </a:solidFill>
                <a:latin typeface="Consolas" pitchFamily="34" charset="0"/>
                <a:ea typeface="Consolas" pitchFamily="34" charset="-122"/>
                <a:cs typeface="Consolas" pitchFamily="34" charset="-120"/>
              </a:rPr>
              <a:t>Oct. 2025, arXiv:2510.07775, https://arxiv.org/abs/2510.07775.</a:t>
            </a:r>
            <a:endParaRPr lang="en-US" sz="1240" dirty="0"/>
          </a:p>
        </p:txBody>
      </p:sp>
      <p:sp>
        <p:nvSpPr>
          <p:cNvPr id="18" name="Text 12"/>
          <p:cNvSpPr/>
          <p:nvPr/>
        </p:nvSpPr>
        <p:spPr>
          <a:xfrm>
            <a:off x="695325" y="3917900"/>
            <a:ext cx="630436" cy="43160"/>
          </a:xfrm>
          <a:prstGeom prst="roundRect">
            <a:avLst>
              <a:gd name="adj" fmla="val 50023"/>
            </a:avLst>
          </a:prstGeom>
          <a:solidFill>
            <a:srgbClr val="76B900"/>
          </a:solidFill>
          <a:ln/>
        </p:spPr>
        <p:txBody>
          <a:bodyPr wrap="none" rtlCol="0" anchor="t"/>
          <a:lstStyle/>
          <a:p>
            <a:pPr marL="0" indent="0">
              <a:buNone/>
            </a:pPr>
            <a:endParaRPr lang="en-US" dirty="0"/>
          </a:p>
        </p:txBody>
      </p:sp>
      <p:sp>
        <p:nvSpPr>
          <p:cNvPr id="19" name="Text 13"/>
          <p:cNvSpPr/>
          <p:nvPr/>
        </p:nvSpPr>
        <p:spPr>
          <a:xfrm>
            <a:off x="1347341" y="3917900"/>
            <a:ext cx="630436" cy="43160"/>
          </a:xfrm>
          <a:prstGeom prst="roundRect">
            <a:avLst>
              <a:gd name="adj" fmla="val 50023"/>
            </a:avLst>
          </a:prstGeom>
          <a:solidFill>
            <a:srgbClr val="76B900">
              <a:alpha val="70000"/>
            </a:srgbClr>
          </a:solidFill>
          <a:ln/>
        </p:spPr>
        <p:txBody>
          <a:bodyPr wrap="none" rtlCol="0" anchor="t"/>
          <a:lstStyle/>
          <a:p>
            <a:pPr marL="0" indent="0">
              <a:buNone/>
            </a:pPr>
            <a:endParaRPr lang="en-US" dirty="0"/>
          </a:p>
        </p:txBody>
      </p:sp>
      <p:sp>
        <p:nvSpPr>
          <p:cNvPr id="20" name="Text 14"/>
          <p:cNvSpPr/>
          <p:nvPr/>
        </p:nvSpPr>
        <p:spPr>
          <a:xfrm>
            <a:off x="1999357" y="3917900"/>
            <a:ext cx="630436" cy="43160"/>
          </a:xfrm>
          <a:prstGeom prst="roundRect">
            <a:avLst>
              <a:gd name="adj" fmla="val 50023"/>
            </a:avLst>
          </a:prstGeom>
          <a:solidFill>
            <a:srgbClr val="76B900">
              <a:alpha val="40000"/>
            </a:srgbClr>
          </a:solidFill>
          <a:ln/>
        </p:spPr>
        <p:txBody>
          <a:bodyPr wrap="none" rtlCol="0" anchor="t"/>
          <a:lstStyle/>
          <a:p>
            <a:pPr marL="0" indent="0">
              <a:buNone/>
            </a:pPr>
            <a:endParaRPr lang="en-US" dirty="0"/>
          </a:p>
        </p:txBody>
      </p:sp>
      <p:sp>
        <p:nvSpPr>
          <p:cNvPr id="21" name="Text 15"/>
          <p:cNvSpPr/>
          <p:nvPr/>
        </p:nvSpPr>
        <p:spPr>
          <a:xfrm>
            <a:off x="2651373" y="3917900"/>
            <a:ext cx="630436" cy="43160"/>
          </a:xfrm>
          <a:prstGeom prst="roundRect">
            <a:avLst>
              <a:gd name="adj" fmla="val 50023"/>
            </a:avLst>
          </a:prstGeom>
          <a:solidFill>
            <a:srgbClr val="76B900">
              <a:alpha val="20000"/>
            </a:srgbClr>
          </a:solidFill>
          <a:ln/>
        </p:spPr>
        <p:txBody>
          <a:bodyPr wrap="none" rtlCol="0" anchor="t"/>
          <a:lstStyle/>
          <a:p>
            <a:pPr marL="0" indent="0">
              <a:buNone/>
            </a:pPr>
            <a:endParaRPr lang="en-US" dirty="0"/>
          </a:p>
        </p:txBody>
      </p:sp>
      <p:sp>
        <p:nvSpPr>
          <p:cNvPr id="22" name="Text 16"/>
          <p:cNvSpPr/>
          <p:nvPr/>
        </p:nvSpPr>
        <p:spPr>
          <a:xfrm>
            <a:off x="3303389" y="3917900"/>
            <a:ext cx="630436" cy="43160"/>
          </a:xfrm>
          <a:prstGeom prst="roundRect">
            <a:avLst>
              <a:gd name="adj" fmla="val 50023"/>
            </a:avLst>
          </a:prstGeom>
          <a:solidFill>
            <a:srgbClr val="FFFFFF">
              <a:alpha val="6000"/>
            </a:srgbClr>
          </a:solidFill>
          <a:ln/>
        </p:spPr>
        <p:txBody>
          <a:bodyPr wrap="none" rtlCol="0" anchor="t"/>
          <a:lstStyle/>
          <a:p>
            <a:pPr marL="0" indent="0">
              <a:buNone/>
            </a:pPr>
            <a:endParaRPr lang="en-US" dirty="0"/>
          </a:p>
        </p:txBody>
      </p:sp>
      <p:sp>
        <p:nvSpPr>
          <p:cNvPr id="23" name="Text 17"/>
          <p:cNvSpPr/>
          <p:nvPr/>
        </p:nvSpPr>
        <p:spPr>
          <a:xfrm>
            <a:off x="533400" y="4004221"/>
            <a:ext cx="3562350" cy="118021"/>
          </a:xfrm>
          <a:prstGeom prst="rect">
            <a:avLst/>
          </a:prstGeom>
          <a:noFill/>
          <a:ln/>
        </p:spPr>
        <p:txBody>
          <a:bodyPr wrap="none" lIns="0" tIns="0" rIns="0" bIns="0" rtlCol="0" anchor="t"/>
          <a:lstStyle/>
          <a:p>
            <a:pPr marL="0" indent="0" algn="ctr">
              <a:lnSpc>
                <a:spcPts val="930"/>
              </a:lnSpc>
              <a:buNone/>
            </a:pPr>
            <a:r>
              <a:rPr lang="en-US" sz="620" kern="0" spc="60" dirty="0">
                <a:solidFill>
                  <a:srgbClr val="76B900">
                    <a:alpha val="50000"/>
                  </a:srgbClr>
                </a:solidFill>
                <a:latin typeface="Consolas" pitchFamily="34" charset="0"/>
                <a:ea typeface="Consolas" pitchFamily="34" charset="-122"/>
                <a:cs typeface="Consolas" pitchFamily="34" charset="-120"/>
              </a:rPr>
              <a:t>SAFETY ████░</a:t>
            </a:r>
            <a:endParaRPr lang="en-US" sz="620" dirty="0"/>
          </a:p>
        </p:txBody>
      </p:sp>
      <p:sp>
        <p:nvSpPr>
          <p:cNvPr id="24" name="Text 18"/>
          <p:cNvSpPr/>
          <p:nvPr/>
        </p:nvSpPr>
        <p:spPr>
          <a:xfrm>
            <a:off x="4565079" y="1144786"/>
            <a:ext cx="13841" cy="3158430"/>
          </a:xfrm>
          <a:prstGeom prst="rect">
            <a:avLst/>
          </a:prstGeom>
          <a:gradFill rotWithShape="1">
            <a:gsLst>
              <a:gs pos="0">
                <a:srgbClr val="000000">
                  <a:alpha val="0"/>
                </a:srgbClr>
              </a:gs>
              <a:gs pos="30000">
                <a:srgbClr val="FFFFFF">
                  <a:alpha val="6000"/>
                </a:srgbClr>
              </a:gs>
              <a:gs pos="70000">
                <a:srgbClr val="FFFFFF">
                  <a:alpha val="6000"/>
                </a:srgbClr>
              </a:gs>
              <a:gs pos="100000">
                <a:srgbClr val="000000">
                  <a:alpha val="0"/>
                </a:srgbClr>
              </a:gs>
            </a:gsLst>
            <a:lin ang="5400000" scaled="1"/>
          </a:gradFill>
          <a:ln/>
        </p:spPr>
        <p:txBody>
          <a:bodyPr wrap="square" rtlCol="0" anchor="t"/>
          <a:lstStyle/>
          <a:p>
            <a:pPr marL="0" indent="0">
              <a:buNone/>
            </a:pPr>
            <a:endParaRPr lang="en-US" dirty="0"/>
          </a:p>
        </p:txBody>
      </p:sp>
      <p:sp>
        <p:nvSpPr>
          <p:cNvPr id="27" name="Text 21"/>
          <p:cNvSpPr/>
          <p:nvPr/>
        </p:nvSpPr>
        <p:spPr>
          <a:xfrm>
            <a:off x="5210175" y="1841302"/>
            <a:ext cx="3238500" cy="9525"/>
          </a:xfrm>
          <a:prstGeom prst="rect">
            <a:avLst/>
          </a:prstGeom>
          <a:solidFill>
            <a:srgbClr val="FFFFFF">
              <a:alpha val="6000"/>
            </a:srgbClr>
          </a:solidFill>
          <a:ln/>
        </p:spPr>
        <p:txBody>
          <a:bodyPr wrap="none" rtlCol="0" anchor="t"/>
          <a:lstStyle/>
          <a:p>
            <a:pPr marL="0" indent="0">
              <a:buNone/>
            </a:pPr>
            <a:endParaRPr lang="en-US" dirty="0"/>
          </a:p>
        </p:txBody>
      </p:sp>
      <p:sp>
        <p:nvSpPr>
          <p:cNvPr id="38" name="Text 28"/>
          <p:cNvSpPr/>
          <p:nvPr/>
        </p:nvSpPr>
        <p:spPr>
          <a:xfrm>
            <a:off x="5210175" y="3917900"/>
            <a:ext cx="630436" cy="43160"/>
          </a:xfrm>
          <a:prstGeom prst="roundRect">
            <a:avLst>
              <a:gd name="adj" fmla="val 50023"/>
            </a:avLst>
          </a:prstGeom>
          <a:solidFill>
            <a:srgbClr val="FFFFFF">
              <a:alpha val="6000"/>
            </a:srgbClr>
          </a:solidFill>
          <a:ln/>
        </p:spPr>
        <p:txBody>
          <a:bodyPr wrap="none" rtlCol="0" anchor="t"/>
          <a:lstStyle/>
          <a:p>
            <a:pPr marL="0" indent="0">
              <a:buNone/>
            </a:pPr>
            <a:endParaRPr lang="en-US" dirty="0"/>
          </a:p>
        </p:txBody>
      </p:sp>
      <p:sp>
        <p:nvSpPr>
          <p:cNvPr id="39" name="Text 29"/>
          <p:cNvSpPr/>
          <p:nvPr/>
        </p:nvSpPr>
        <p:spPr>
          <a:xfrm>
            <a:off x="5862191" y="3917900"/>
            <a:ext cx="630436" cy="43160"/>
          </a:xfrm>
          <a:prstGeom prst="roundRect">
            <a:avLst>
              <a:gd name="adj" fmla="val 50023"/>
            </a:avLst>
          </a:prstGeom>
          <a:solidFill>
            <a:srgbClr val="EF4444">
              <a:alpha val="20000"/>
            </a:srgbClr>
          </a:solidFill>
          <a:ln/>
        </p:spPr>
        <p:txBody>
          <a:bodyPr wrap="none" rtlCol="0" anchor="t"/>
          <a:lstStyle/>
          <a:p>
            <a:pPr marL="0" indent="0">
              <a:buNone/>
            </a:pPr>
            <a:endParaRPr lang="en-US" dirty="0"/>
          </a:p>
        </p:txBody>
      </p:sp>
      <p:sp>
        <p:nvSpPr>
          <p:cNvPr id="40" name="Text 30"/>
          <p:cNvSpPr/>
          <p:nvPr/>
        </p:nvSpPr>
        <p:spPr>
          <a:xfrm>
            <a:off x="6514207" y="3917900"/>
            <a:ext cx="630436" cy="43160"/>
          </a:xfrm>
          <a:prstGeom prst="roundRect">
            <a:avLst>
              <a:gd name="adj" fmla="val 50023"/>
            </a:avLst>
          </a:prstGeom>
          <a:solidFill>
            <a:srgbClr val="EF4444">
              <a:alpha val="40000"/>
            </a:srgbClr>
          </a:solidFill>
          <a:ln/>
        </p:spPr>
        <p:txBody>
          <a:bodyPr wrap="none" rtlCol="0" anchor="t"/>
          <a:lstStyle/>
          <a:p>
            <a:pPr marL="0" indent="0">
              <a:buNone/>
            </a:pPr>
            <a:endParaRPr lang="en-US" dirty="0"/>
          </a:p>
        </p:txBody>
      </p:sp>
      <p:sp>
        <p:nvSpPr>
          <p:cNvPr id="41" name="Text 31"/>
          <p:cNvSpPr/>
          <p:nvPr/>
        </p:nvSpPr>
        <p:spPr>
          <a:xfrm>
            <a:off x="7166223" y="3917900"/>
            <a:ext cx="630436" cy="43160"/>
          </a:xfrm>
          <a:prstGeom prst="roundRect">
            <a:avLst>
              <a:gd name="adj" fmla="val 50023"/>
            </a:avLst>
          </a:prstGeom>
          <a:solidFill>
            <a:srgbClr val="EF4444">
              <a:alpha val="70000"/>
            </a:srgbClr>
          </a:solidFill>
          <a:ln/>
        </p:spPr>
        <p:txBody>
          <a:bodyPr wrap="none" rtlCol="0" anchor="t"/>
          <a:lstStyle/>
          <a:p>
            <a:pPr marL="0" indent="0">
              <a:buNone/>
            </a:pPr>
            <a:endParaRPr lang="en-US" dirty="0"/>
          </a:p>
        </p:txBody>
      </p:sp>
      <p:sp>
        <p:nvSpPr>
          <p:cNvPr id="42" name="Text 32"/>
          <p:cNvSpPr/>
          <p:nvPr/>
        </p:nvSpPr>
        <p:spPr>
          <a:xfrm>
            <a:off x="7818239" y="3917900"/>
            <a:ext cx="630436" cy="43160"/>
          </a:xfrm>
          <a:prstGeom prst="roundRect">
            <a:avLst>
              <a:gd name="adj" fmla="val 50023"/>
            </a:avLst>
          </a:prstGeom>
          <a:solidFill>
            <a:srgbClr val="EF4444"/>
          </a:solidFill>
          <a:ln/>
        </p:spPr>
        <p:txBody>
          <a:bodyPr wrap="none" rtlCol="0" anchor="t"/>
          <a:lstStyle/>
          <a:p>
            <a:pPr marL="0" indent="0">
              <a:buNone/>
            </a:pPr>
            <a:endParaRPr lang="en-US" dirty="0"/>
          </a:p>
        </p:txBody>
      </p:sp>
      <p:sp>
        <p:nvSpPr>
          <p:cNvPr id="43" name="Text 33"/>
          <p:cNvSpPr/>
          <p:nvPr/>
        </p:nvSpPr>
        <p:spPr>
          <a:xfrm>
            <a:off x="5048250" y="4004221"/>
            <a:ext cx="3562350" cy="118021"/>
          </a:xfrm>
          <a:prstGeom prst="rect">
            <a:avLst/>
          </a:prstGeom>
          <a:noFill/>
          <a:ln/>
        </p:spPr>
        <p:txBody>
          <a:bodyPr wrap="none" lIns="0" tIns="0" rIns="0" bIns="0" rtlCol="0" anchor="t"/>
          <a:lstStyle/>
          <a:p>
            <a:pPr marL="0" indent="0" algn="ctr">
              <a:lnSpc>
                <a:spcPts val="930"/>
              </a:lnSpc>
              <a:buNone/>
            </a:pPr>
            <a:r>
              <a:rPr lang="en-US" sz="620" kern="0" spc="60" dirty="0">
                <a:solidFill>
                  <a:srgbClr val="EF4444">
                    <a:alpha val="50000"/>
                  </a:srgbClr>
                </a:solidFill>
                <a:latin typeface="Consolas" pitchFamily="34" charset="0"/>
                <a:ea typeface="Consolas" pitchFamily="34" charset="-122"/>
                <a:cs typeface="Consolas" pitchFamily="34" charset="-120"/>
              </a:rPr>
              <a:t>░████ CAPABILITY</a:t>
            </a:r>
            <a:endParaRPr lang="en-US" sz="620" dirty="0"/>
          </a:p>
        </p:txBody>
      </p:sp>
      <p:sp>
        <p:nvSpPr>
          <p:cNvPr id="44" name="Text 34"/>
          <p:cNvSpPr/>
          <p:nvPr/>
        </p:nvSpPr>
        <p:spPr>
          <a:xfrm>
            <a:off x="457200" y="4446687"/>
            <a:ext cx="8229600" cy="452214"/>
          </a:xfrm>
          <a:prstGeom prst="roundRect">
            <a:avLst>
              <a:gd name="adj" fmla="val 12638"/>
            </a:avLst>
          </a:prstGeom>
          <a:solidFill>
            <a:srgbClr val="FFFFFF">
              <a:alpha val="3000"/>
            </a:srgbClr>
          </a:solidFill>
          <a:ln w="9525">
            <a:solidFill>
              <a:srgbClr val="FFFFFF">
                <a:alpha val="5000"/>
              </a:srgbClr>
            </a:solidFill>
          </a:ln>
        </p:spPr>
        <p:txBody>
          <a:bodyPr wrap="none" lIns="171450" tIns="71120" rIns="171450" bIns="71120" rtlCol="0" anchor="t"/>
          <a:lstStyle/>
          <a:p>
            <a:pPr marL="0" indent="0" algn="ctr">
              <a:buNone/>
            </a:pPr>
            <a:r>
              <a:rPr lang="en-US" sz="730" dirty="0">
                <a:solidFill>
                  <a:srgbClr val="8B9CB6"/>
                </a:solidFill>
                <a:latin typeface="Calibri" pitchFamily="34" charset="0"/>
                <a:ea typeface="Calibri" pitchFamily="34" charset="-122"/>
                <a:cs typeface="Calibri" pitchFamily="34" charset="-120"/>
              </a:rPr>
              <a:t>Sources: Research on alignment tax and capability trade-offs — </a:t>
            </a:r>
            <a:r>
              <a:rPr lang="en-US" sz="680" dirty="0">
                <a:solidFill>
                  <a:srgbClr val="76B900">
                    <a:alpha val="70000"/>
                  </a:srgbClr>
                </a:solidFill>
                <a:latin typeface="Consolas" pitchFamily="34" charset="0"/>
                <a:ea typeface="Consolas" pitchFamily="34" charset="-122"/>
                <a:cs typeface="Consolas" pitchFamily="34" charset="-120"/>
              </a:rPr>
              <a:t>arXiv:2501.xxxxx (2025)</a:t>
            </a:r>
            <a:r>
              <a:rPr lang="en-US" sz="730" dirty="0">
                <a:solidFill>
                  <a:srgbClr val="8B9CB6"/>
                </a:solidFill>
                <a:latin typeface="Calibri" pitchFamily="34" charset="0"/>
                <a:ea typeface="Calibri" pitchFamily="34" charset="-122"/>
                <a:cs typeface="Calibri" pitchFamily="34" charset="-120"/>
              </a:rPr>
              <a:t>, </a:t>
            </a:r>
            <a:r>
              <a:rPr lang="en-US" sz="680" dirty="0">
                <a:solidFill>
                  <a:srgbClr val="76B900">
                    <a:alpha val="70000"/>
                  </a:srgbClr>
                </a:solidFill>
                <a:latin typeface="Consolas" pitchFamily="34" charset="0"/>
                <a:ea typeface="Consolas" pitchFamily="34" charset="-122"/>
                <a:cs typeface="Consolas" pitchFamily="34" charset="-120"/>
              </a:rPr>
              <a:t>arXiv:2502.xxxxx (2025)</a:t>
            </a:r>
            <a:r>
              <a:rPr lang="en-US" sz="730" dirty="0">
                <a:solidFill>
                  <a:srgbClr val="8B9CB6"/>
                </a:solidFill>
                <a:latin typeface="Calibri" pitchFamily="34" charset="0"/>
                <a:ea typeface="Calibri" pitchFamily="34" charset="-122"/>
                <a:cs typeface="Calibri" pitchFamily="34" charset="-120"/>
              </a:rPr>
              <a:t> — indicates measurable performance loss in heavily aligned models vs. base/lightly-aligned counterparts.</a:t>
            </a:r>
            <a:endParaRPr lang="en-US" sz="730" dirty="0"/>
          </a:p>
        </p:txBody>
      </p:sp>
      <p:sp>
        <p:nvSpPr>
          <p:cNvPr id="93" name="Divider2"/>
          <p:cNvSpPr/>
          <p:nvPr/>
        </p:nvSpPr>
        <p:spPr>
          <a:xfrm>
            <a:off x="695325" y="2440000"/>
            <a:ext cx="3238500" cy="9525"/>
          </a:xfrm>
          <a:prstGeom prst="rect">
            <a:avLst/>
          </a:prstGeom>
          <a:solidFill>
            <a:srgbClr val="FFFFFF">
              <a:alpha val="6000"/>
            </a:srgbClr>
          </a:solidFill>
          <a:ln/>
        </p:spPr>
        <p:txBody>
          <a:bodyPr wrap="none" rtlCol="0" anchor="t"/>
          <a:lstStyle/>
          <a:p>
            <a:pPr marL="0" indent="0">
              <a:buNone/>
            </a:pPr>
            <a:endParaRPr lang="en-US"/>
          </a:p>
        </p:txBody>
      </p:sp>
      <p:sp>
        <p:nvSpPr>
          <p:cNvPr id="91" name="Badge2"/>
          <p:cNvSpPr/>
          <p:nvPr/>
        </p:nvSpPr>
        <p:spPr>
          <a:xfrm>
            <a:off x="695325" y="2504106"/>
            <a:ext cx="372070" cy="372070"/>
          </a:xfrm>
          <a:prstGeom prst="roundRect">
            <a:avLst>
              <a:gd name="adj" fmla="val 26965"/>
            </a:avLst>
          </a:prstGeom>
          <a:solidFill>
            <a:srgbClr val="76B900">
              <a:alpha val="12000"/>
            </a:srgbClr>
          </a:solidFill>
          <a:ln/>
        </p:spPr>
        <p:txBody>
          <a:bodyPr wrap="square" rtlCol="0" anchor="t"/>
          <a:lstStyle/>
          <a:p>
            <a:pPr marL="0" indent="0">
              <a:buNone/>
            </a:pPr>
            <a:endParaRPr lang="en-US"/>
          </a:p>
        </p:txBody>
      </p:sp>
      <p:pic>
        <p:nvPicPr>
          <p:cNvPr id="92" name="ResearchIcon2" descr="research-icon.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360" y="2580141"/>
            <a:ext cx="220000" cy="220000"/>
          </a:xfrm>
          <a:prstGeom prst="rect">
            <a:avLst/>
          </a:prstGeom>
        </p:spPr>
      </p:pic>
      <p:sp>
        <p:nvSpPr>
          <p:cNvPr id="45" name="Text 7">
            <a:extLst>
              <a:ext uri="{FF2B5EF4-FFF2-40B4-BE49-F238E27FC236}">
                <a16:creationId xmlns:a16="http://schemas.microsoft.com/office/drawing/2014/main" id="{C43CAE72-C1CA-EA21-CD5B-B35F93C1A78D}"/>
              </a:ext>
            </a:extLst>
          </p:cNvPr>
          <p:cNvSpPr/>
          <p:nvPr/>
        </p:nvSpPr>
        <p:spPr>
          <a:xfrm>
            <a:off x="1167705" y="2590427"/>
            <a:ext cx="2292117" cy="188863"/>
          </a:xfrm>
          <a:prstGeom prst="rect">
            <a:avLst/>
          </a:prstGeom>
          <a:noFill/>
          <a:ln/>
        </p:spPr>
        <p:txBody>
          <a:bodyPr wrap="none" lIns="0" tIns="0" rIns="0" bIns="0" rtlCol="0" anchor="ctr"/>
          <a:lstStyle/>
          <a:p>
            <a:pPr>
              <a:lnSpc>
                <a:spcPts val="1488"/>
              </a:lnSpc>
            </a:pPr>
            <a:r>
              <a:rPr lang="en-US" sz="1240" b="1" dirty="0">
                <a:solidFill>
                  <a:srgbClr val="76B900"/>
                </a:solidFill>
                <a:latin typeface="Consolas" pitchFamily="34" charset="0"/>
                <a:ea typeface="Consolas" pitchFamily="34" charset="-122"/>
                <a:cs typeface="Consolas" pitchFamily="34" charset="-120"/>
              </a:rPr>
              <a:t>H </a:t>
            </a:r>
            <a:r>
              <a:rPr lang="en-US" sz="1240" b="1" dirty="0">
                <a:solidFill>
                  <a:srgbClr val="76B900"/>
                </a:solidFill>
                <a:latin typeface="Consolas" pitchFamily="34" charset="0"/>
              </a:rPr>
              <a:t>Gao, Cheng, et al. H-Neurons: On the Existence, Impact, and </a:t>
            </a:r>
          </a:p>
          <a:p>
            <a:pPr>
              <a:lnSpc>
                <a:spcPts val="1488"/>
              </a:lnSpc>
            </a:pPr>
            <a:r>
              <a:rPr lang="en-US" sz="1240" b="1" dirty="0">
                <a:solidFill>
                  <a:srgbClr val="76B900"/>
                </a:solidFill>
                <a:latin typeface="Consolas" pitchFamily="34" charset="0"/>
              </a:rPr>
              <a:t>Origin of Hallucination-Associated Neurons in LLMs. </a:t>
            </a:r>
            <a:r>
              <a:rPr lang="en-US" sz="1240" b="1" dirty="0" err="1">
                <a:solidFill>
                  <a:srgbClr val="76B900"/>
                </a:solidFill>
                <a:latin typeface="Consolas" pitchFamily="34" charset="0"/>
              </a:rPr>
              <a:t>arXiv</a:t>
            </a:r>
            <a:r>
              <a:rPr lang="en-US" sz="1240" b="1" dirty="0">
                <a:solidFill>
                  <a:srgbClr val="76B900"/>
                </a:solidFill>
                <a:latin typeface="Consolas" pitchFamily="34" charset="0"/>
              </a:rPr>
              <a:t>, </a:t>
            </a:r>
          </a:p>
          <a:p>
            <a:pPr>
              <a:lnSpc>
                <a:spcPts val="1488"/>
              </a:lnSpc>
            </a:pPr>
            <a:r>
              <a:rPr lang="en-US" sz="1240" b="1" dirty="0">
                <a:solidFill>
                  <a:srgbClr val="76B900"/>
                </a:solidFill>
                <a:latin typeface="Consolas" pitchFamily="34" charset="0"/>
              </a:rPr>
              <a:t>1 Dec. 2025, arXiv:2512.01797, </a:t>
            </a:r>
            <a:r>
              <a:rPr lang="en-US" sz="1240" b="1" dirty="0">
                <a:solidFill>
                  <a:srgbClr val="76B900"/>
                </a:solidFill>
                <a:latin typeface="Consolas" pitchFamily="34" charset="0"/>
                <a:hlinkClick r:id="rId4">
                  <a:extLst>
                    <a:ext uri="{A12FA001-AC4F-418D-AE19-62706E023703}">
                      <ahyp:hlinkClr xmlns:ahyp="http://schemas.microsoft.com/office/drawing/2018/hyperlinkcolor" val="tx"/>
                    </a:ext>
                  </a:extLst>
                </a:hlinkClick>
              </a:rPr>
              <a:t>https://arxiv.org/abs/2512.01797</a:t>
            </a:r>
            <a:r>
              <a:rPr lang="en-US" sz="1240" b="1" dirty="0">
                <a:solidFill>
                  <a:srgbClr val="76B900"/>
                </a:solidFill>
                <a:latin typeface="Consolas" pitchFamily="34" charset="0"/>
              </a:rPr>
              <a:t>.</a:t>
            </a:r>
          </a:p>
          <a:p>
            <a:pPr marL="0" indent="0" algn="l">
              <a:lnSpc>
                <a:spcPts val="1488"/>
              </a:lnSpc>
              <a:buNone/>
            </a:pPr>
            <a:endParaRPr lang="en-US" sz="12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a:extLst>
            <a:ext uri="{FF2B5EF4-FFF2-40B4-BE49-F238E27FC236}">
              <a16:creationId xmlns:a16="http://schemas.microsoft.com/office/drawing/2014/main" id="{E9E8FD9A-D578-4154-255A-2D759DFCC6A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021E480-7EC8-C655-264D-88C202D7DEF3}"/>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 0">
            <a:extLst>
              <a:ext uri="{FF2B5EF4-FFF2-40B4-BE49-F238E27FC236}">
                <a16:creationId xmlns:a16="http://schemas.microsoft.com/office/drawing/2014/main" id="{853D89A9-0ACA-6E9F-A0F0-F68118396065}"/>
              </a:ext>
            </a:extLst>
          </p:cNvPr>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3E27FF16-60E8-D7E6-8270-36E6F28C4DCB}"/>
              </a:ext>
            </a:extLst>
          </p:cNvPr>
          <p:cNvSpPr/>
          <p:nvPr/>
        </p:nvSpPr>
        <p:spPr>
          <a:xfrm>
            <a:off x="0" y="4743450"/>
            <a:ext cx="9144000" cy="400050"/>
          </a:xfrm>
          <a:prstGeom prst="rect">
            <a:avLst/>
          </a:prstGeom>
          <a:gradFill rotWithShape="1">
            <a:gsLst>
              <a:gs pos="0">
                <a:srgbClr val="000000">
                  <a:alpha val="0"/>
                </a:srgbClr>
              </a:gs>
              <a:gs pos="100000">
                <a:srgbClr val="76B900">
                  <a:alpha val="4000"/>
                </a:srgbClr>
              </a:gs>
            </a:gsLst>
            <a:lin ang="5400000" scaled="1"/>
          </a:gra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6B6A332D-2858-51DD-49D4-A076D6E156EB}"/>
              </a:ext>
            </a:extLst>
          </p:cNvPr>
          <p:cNvSpPr/>
          <p:nvPr/>
        </p:nvSpPr>
        <p:spPr>
          <a:xfrm>
            <a:off x="0" y="4743450"/>
            <a:ext cx="9144000" cy="9525"/>
          </a:xfrm>
          <a:prstGeom prst="rect">
            <a:avLst/>
          </a:prstGeom>
          <a:solidFill>
            <a:srgbClr val="76B900">
              <a:alpha val="8000"/>
            </a:srgbClr>
          </a:solidFill>
          <a:ln/>
        </p:spPr>
        <p:txBody>
          <a:bodyPr wrap="non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preencoded.png">
            <a:extLst>
              <a:ext uri="{FF2B5EF4-FFF2-40B4-BE49-F238E27FC236}">
                <a16:creationId xmlns:a16="http://schemas.microsoft.com/office/drawing/2014/main" id="{63468A92-653C-67CB-C89E-2A12DAFF1B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3886" y="4881944"/>
            <a:ext cx="132588" cy="132588"/>
          </a:xfrm>
          <a:prstGeom prst="rect">
            <a:avLst/>
          </a:prstGeom>
        </p:spPr>
      </p:pic>
      <p:sp>
        <p:nvSpPr>
          <p:cNvPr id="7" name="Text 4">
            <a:extLst>
              <a:ext uri="{FF2B5EF4-FFF2-40B4-BE49-F238E27FC236}">
                <a16:creationId xmlns:a16="http://schemas.microsoft.com/office/drawing/2014/main" id="{38379760-FC08-B784-3EA3-AF70E5062C57}"/>
              </a:ext>
            </a:extLst>
          </p:cNvPr>
          <p:cNvSpPr/>
          <p:nvPr/>
        </p:nvSpPr>
        <p:spPr>
          <a:xfrm>
            <a:off x="2020193" y="4872930"/>
            <a:ext cx="5770974" cy="150465"/>
          </a:xfrm>
          <a:prstGeom prst="rect">
            <a:avLst/>
          </a:prstGeom>
          <a:noFill/>
          <a:ln/>
        </p:spPr>
        <p:txBody>
          <a:bodyPr wrap="none" lIns="0" tIns="0" rIns="0" bIns="0" rtlCol="0" anchor="ctr"/>
          <a:lstStyle/>
          <a:p>
            <a:pPr marL="0" marR="0" lvl="0" indent="0" algn="l" defTabSz="914400" rtl="0" eaLnBrk="1" fontAlgn="auto" latinLnBrk="0" hangingPunct="1">
              <a:lnSpc>
                <a:spcPts val="1185"/>
              </a:lnSpc>
              <a:spcBef>
                <a:spcPts val="0"/>
              </a:spcBef>
              <a:spcAft>
                <a:spcPts val="0"/>
              </a:spcAft>
              <a:buClrTx/>
              <a:buSzTx/>
              <a:buFontTx/>
              <a:buNone/>
              <a:tabLst/>
              <a:defRPr/>
            </a:pPr>
            <a:r>
              <a:rPr kumimoji="0" lang="en-US" sz="790" b="0" i="0" u="none" strike="noStrike" kern="1200" cap="none" spc="0" normalizeH="0" baseline="0" noProof="0" dirty="0">
                <a:ln>
                  <a:noFill/>
                </a:ln>
                <a:solidFill>
                  <a:srgbClr val="8B9CB6"/>
                </a:solidFill>
                <a:effectLst/>
                <a:uLnTx/>
                <a:uFillTx/>
                <a:latin typeface="Consolas" pitchFamily="34" charset="0"/>
                <a:ea typeface="Consolas" pitchFamily="34" charset="-122"/>
                <a:cs typeface="Consolas" pitchFamily="34" charset="-120"/>
              </a:rPr>
              <a:t>Can regulatory actions directly influence how model providers apply safety alignment</a:t>
            </a:r>
            <a:endParaRPr kumimoji="0" lang="en-US" sz="79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328C69E3-16A5-503D-963E-D4A700B242EA}"/>
              </a:ext>
            </a:extLst>
          </p:cNvPr>
          <p:cNvSpPr/>
          <p:nvPr/>
        </p:nvSpPr>
        <p:spPr>
          <a:xfrm>
            <a:off x="514350" y="407343"/>
            <a:ext cx="314920" cy="314920"/>
          </a:xfrm>
          <a:prstGeom prst="roundRect">
            <a:avLst>
              <a:gd name="adj" fmla="val 22584"/>
            </a:avLst>
          </a:prstGeom>
          <a:solidFill>
            <a:srgbClr val="76B900">
              <a:alpha val="12000"/>
            </a:srgbClr>
          </a:solid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Image 1" descr="preencoded.png">
            <a:extLst>
              <a:ext uri="{FF2B5EF4-FFF2-40B4-BE49-F238E27FC236}">
                <a16:creationId xmlns:a16="http://schemas.microsoft.com/office/drawing/2014/main" id="{C1C958BF-2A08-8331-0AE5-66EFF104C1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516" y="498509"/>
            <a:ext cx="132588" cy="132588"/>
          </a:xfrm>
          <a:prstGeom prst="rect">
            <a:avLst/>
          </a:prstGeom>
        </p:spPr>
      </p:pic>
      <p:sp>
        <p:nvSpPr>
          <p:cNvPr id="12" name="Text 8">
            <a:extLst>
              <a:ext uri="{FF2B5EF4-FFF2-40B4-BE49-F238E27FC236}">
                <a16:creationId xmlns:a16="http://schemas.microsoft.com/office/drawing/2014/main" id="{26C2B7EC-58A3-F1C9-DBD0-9CB1E2B20B72}"/>
              </a:ext>
            </a:extLst>
          </p:cNvPr>
          <p:cNvSpPr/>
          <p:nvPr/>
        </p:nvSpPr>
        <p:spPr>
          <a:xfrm>
            <a:off x="929580" y="400050"/>
            <a:ext cx="5478862" cy="329654"/>
          </a:xfrm>
          <a:prstGeom prst="rect">
            <a:avLst/>
          </a:prstGeom>
          <a:noFill/>
          <a:ln/>
        </p:spPr>
        <p:txBody>
          <a:bodyPr wrap="none" lIns="0" tIns="0" rIns="0" bIns="0" rtlCol="0" anchor="ctr"/>
          <a:lstStyle/>
          <a:p>
            <a:pPr marL="0" marR="0" lvl="0" indent="0" algn="l" defTabSz="914400" rtl="0" eaLnBrk="1" fontAlgn="auto" latinLnBrk="0" hangingPunct="1">
              <a:lnSpc>
                <a:spcPts val="2596"/>
              </a:lnSpc>
              <a:spcBef>
                <a:spcPts val="0"/>
              </a:spcBef>
              <a:spcAft>
                <a:spcPts val="0"/>
              </a:spcAft>
              <a:buClrTx/>
              <a:buSzTx/>
              <a:buFontTx/>
              <a:buNone/>
              <a:tabLst/>
              <a:defRPr/>
            </a:pP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a:t>
            </a:r>
            <a:br>
              <a:rPr kumimoji="0"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What else do we need to do?</a:t>
            </a:r>
            <a:br>
              <a:rPr kumimoji="0"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360" b="0" i="0" u="none" strike="noStrike" kern="0" cap="none" spc="-30" normalizeH="0" baseline="0" noProof="0" dirty="0">
                <a:ln>
                  <a:noFill/>
                </a:ln>
                <a:solidFill>
                  <a:srgbClr val="E2E8F0"/>
                </a:solidFill>
                <a:effectLst/>
                <a:uLnTx/>
                <a:uFillTx/>
                <a:latin typeface="Consolas" pitchFamily="34" charset="0"/>
                <a:ea typeface="Consolas" pitchFamily="34" charset="-122"/>
                <a:cs typeface="Consolas" pitchFamily="34" charset="-120"/>
              </a:rPr>
              <a:t>        </a:t>
            </a:r>
            <a:endParaRPr kumimoji="0" lang="en-US" sz="23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a:extLst>
              <a:ext uri="{FF2B5EF4-FFF2-40B4-BE49-F238E27FC236}">
                <a16:creationId xmlns:a16="http://schemas.microsoft.com/office/drawing/2014/main" id="{3D6428D4-690E-5F99-EE3A-E367D9BFF083}"/>
              </a:ext>
            </a:extLst>
          </p:cNvPr>
          <p:cNvSpPr/>
          <p:nvPr/>
        </p:nvSpPr>
        <p:spPr>
          <a:xfrm>
            <a:off x="672450" y="786854"/>
            <a:ext cx="8471550" cy="182880"/>
          </a:xfrm>
          <a:prstGeom prst="rect">
            <a:avLst/>
          </a:prstGeom>
          <a:noFill/>
          <a:ln/>
        </p:spPr>
        <p:txBody>
          <a:bodyPr wrap="none" lIns="0" tIns="0" rIns="0" bIns="0" rtlCol="0" anchor="t"/>
          <a:lstStyle/>
          <a:p>
            <a:pPr marL="0" marR="0" lvl="0" indent="0" algn="l" defTabSz="914400" rtl="0" eaLnBrk="1" fontAlgn="auto" latinLnBrk="0" hangingPunct="1">
              <a:lnSpc>
                <a:spcPts val="1414"/>
              </a:lnSpc>
              <a:spcBef>
                <a:spcPts val="0"/>
              </a:spcBef>
              <a:spcAft>
                <a:spcPts val="0"/>
              </a:spcAft>
              <a:buClrTx/>
              <a:buSzTx/>
              <a:buFontTx/>
              <a:buNone/>
              <a:tabLst/>
              <a:defRPr/>
            </a:pPr>
            <a:endParaRPr kumimoji="0" lang="en-US" sz="101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32C2878-87B1-CB9F-DF7A-7E0D5699520C}"/>
              </a:ext>
            </a:extLst>
          </p:cNvPr>
          <p:cNvSpPr txBox="1"/>
          <p:nvPr/>
        </p:nvSpPr>
        <p:spPr>
          <a:xfrm>
            <a:off x="3075709" y="1953491"/>
            <a:ext cx="1256146" cy="369332"/>
          </a:xfrm>
          <a:prstGeom prst="rect">
            <a:avLst/>
          </a:prstGeom>
          <a:noFill/>
        </p:spPr>
        <p:txBody>
          <a:bodyPr wrap="square" rtlCol="0">
            <a:spAutoFit/>
          </a:bodyPr>
          <a:lstStyle/>
          <a:p>
            <a:r>
              <a:rPr lang="en-US" dirty="0">
                <a:solidFill>
                  <a:schemeClr val="bg1"/>
                </a:solidFill>
              </a:rPr>
              <a:t>Video 3</a:t>
            </a:r>
          </a:p>
        </p:txBody>
      </p:sp>
    </p:spTree>
    <p:extLst>
      <p:ext uri="{BB962C8B-B14F-4D97-AF65-F5344CB8AC3E}">
        <p14:creationId xmlns:p14="http://schemas.microsoft.com/office/powerpoint/2010/main" val="3276175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2785765" y="785515"/>
            <a:ext cx="3572470" cy="3572470"/>
          </a:xfrm>
          <a:prstGeom prst="ellipse">
            <a:avLst/>
          </a:prstGeom>
          <a:gradFill rotWithShape="1">
            <a:gsLst>
              <a:gs pos="0">
                <a:srgbClr val="76B900">
                  <a:alpha val="8000"/>
                </a:srgbClr>
              </a:gs>
              <a:gs pos="70000">
                <a:srgbClr val="76B9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7531596" y="429220"/>
            <a:ext cx="1144994" cy="118021"/>
          </a:xfrm>
          <a:prstGeom prst="rect">
            <a:avLst/>
          </a:prstGeom>
          <a:noFill/>
          <a:ln/>
        </p:spPr>
        <p:txBody>
          <a:bodyPr wrap="none" lIns="0" tIns="0" rIns="0" bIns="0" rtlCol="0" anchor="t"/>
          <a:lstStyle/>
          <a:p>
            <a:pPr marL="0" indent="0" algn="l">
              <a:lnSpc>
                <a:spcPts val="930"/>
              </a:lnSpc>
              <a:buNone/>
            </a:pPr>
            <a:r>
              <a:rPr lang="en-US" sz="620" dirty="0">
                <a:solidFill>
                  <a:srgbClr val="76B900">
                    <a:alpha val="6000"/>
                  </a:srgbClr>
                </a:solidFill>
                <a:latin typeface="Consolas" pitchFamily="34" charset="0"/>
                <a:ea typeface="Consolas" pitchFamily="34" charset="-122"/>
                <a:cs typeface="Consolas" pitchFamily="34" charset="-120"/>
              </a:rPr>
              <a:t>personality: "curious"</a:t>
            </a:r>
            <a:endParaRPr lang="en-US" sz="620" dirty="0"/>
          </a:p>
        </p:txBody>
      </p:sp>
      <p:sp>
        <p:nvSpPr>
          <p:cNvPr id="6" name="Text 4"/>
          <p:cNvSpPr/>
          <p:nvPr/>
        </p:nvSpPr>
        <p:spPr>
          <a:xfrm>
            <a:off x="7688312" y="786110"/>
            <a:ext cx="658282" cy="106710"/>
          </a:xfrm>
          <a:prstGeom prst="rect">
            <a:avLst/>
          </a:prstGeom>
          <a:noFill/>
          <a:ln/>
        </p:spPr>
        <p:txBody>
          <a:bodyPr wrap="none" lIns="0" tIns="0" rIns="0" bIns="0" rtlCol="0" anchor="t"/>
          <a:lstStyle/>
          <a:p>
            <a:pPr marL="0" indent="0" algn="l">
              <a:lnSpc>
                <a:spcPts val="840"/>
              </a:lnSpc>
              <a:buNone/>
            </a:pPr>
            <a:r>
              <a:rPr lang="en-US" sz="560" dirty="0">
                <a:solidFill>
                  <a:srgbClr val="76B900">
                    <a:alpha val="6000"/>
                  </a:srgbClr>
                </a:solidFill>
                <a:latin typeface="Consolas" pitchFamily="34" charset="0"/>
                <a:ea typeface="Consolas" pitchFamily="34" charset="-122"/>
                <a:cs typeface="Consolas" pitchFamily="34" charset="-120"/>
              </a:rPr>
              <a:t>tone: "direct"</a:t>
            </a:r>
            <a:endParaRPr lang="en-US" sz="560" dirty="0"/>
          </a:p>
        </p:txBody>
      </p:sp>
      <p:sp>
        <p:nvSpPr>
          <p:cNvPr id="7" name="Text 5"/>
          <p:cNvSpPr/>
          <p:nvPr/>
        </p:nvSpPr>
        <p:spPr>
          <a:xfrm>
            <a:off x="429220" y="4465290"/>
            <a:ext cx="987341" cy="106710"/>
          </a:xfrm>
          <a:prstGeom prst="rect">
            <a:avLst/>
          </a:prstGeom>
          <a:noFill/>
          <a:ln/>
        </p:spPr>
        <p:txBody>
          <a:bodyPr wrap="none" lIns="0" tIns="0" rIns="0" bIns="0" rtlCol="0" anchor="t"/>
          <a:lstStyle/>
          <a:p>
            <a:pPr marL="0" indent="0" algn="l">
              <a:lnSpc>
                <a:spcPts val="840"/>
              </a:lnSpc>
              <a:buNone/>
            </a:pPr>
            <a:r>
              <a:rPr lang="en-US" sz="560" dirty="0">
                <a:solidFill>
                  <a:srgbClr val="76B900">
                    <a:alpha val="6000"/>
                  </a:srgbClr>
                </a:solidFill>
                <a:latin typeface="Consolas" pitchFamily="34" charset="0"/>
                <a:ea typeface="Consolas" pitchFamily="34" charset="-122"/>
                <a:cs typeface="Consolas" pitchFamily="34" charset="-120"/>
              </a:rPr>
              <a:t>ethics: "transparent"</a:t>
            </a:r>
            <a:endParaRPr lang="en-US" sz="560" dirty="0"/>
          </a:p>
        </p:txBody>
      </p:sp>
      <p:sp>
        <p:nvSpPr>
          <p:cNvPr id="8" name="Text 6"/>
          <p:cNvSpPr/>
          <p:nvPr/>
        </p:nvSpPr>
        <p:spPr>
          <a:xfrm>
            <a:off x="714970" y="4668738"/>
            <a:ext cx="832798" cy="118021"/>
          </a:xfrm>
          <a:prstGeom prst="rect">
            <a:avLst/>
          </a:prstGeom>
          <a:noFill/>
          <a:ln/>
        </p:spPr>
        <p:txBody>
          <a:bodyPr wrap="none" lIns="0" tIns="0" rIns="0" bIns="0" rtlCol="0" anchor="t"/>
          <a:lstStyle/>
          <a:p>
            <a:pPr marL="0" indent="0" algn="l">
              <a:lnSpc>
                <a:spcPts val="930"/>
              </a:lnSpc>
              <a:buNone/>
            </a:pPr>
            <a:r>
              <a:rPr lang="en-US" sz="620" dirty="0">
                <a:solidFill>
                  <a:srgbClr val="76B900">
                    <a:alpha val="6000"/>
                  </a:srgbClr>
                </a:solidFill>
                <a:latin typeface="Consolas" pitchFamily="34" charset="0"/>
                <a:ea typeface="Consolas" pitchFamily="34" charset="-122"/>
                <a:cs typeface="Consolas" pitchFamily="34" charset="-120"/>
              </a:rPr>
              <a:t>boundaries: true</a:t>
            </a:r>
            <a:endParaRPr lang="en-US" sz="620" dirty="0"/>
          </a:p>
        </p:txBody>
      </p:sp>
      <p:sp>
        <p:nvSpPr>
          <p:cNvPr id="9" name="Text 7"/>
          <p:cNvSpPr/>
          <p:nvPr/>
        </p:nvSpPr>
        <p:spPr>
          <a:xfrm>
            <a:off x="285750" y="1286470"/>
            <a:ext cx="128677" cy="97036"/>
          </a:xfrm>
          <a:prstGeom prst="rect">
            <a:avLst/>
          </a:prstGeom>
          <a:noFill/>
          <a:ln/>
        </p:spPr>
        <p:txBody>
          <a:bodyPr wrap="none" lIns="0" tIns="0" rIns="0" bIns="0" rtlCol="0" anchor="t"/>
          <a:lstStyle/>
          <a:p>
            <a:pPr marL="0" indent="0" algn="l">
              <a:lnSpc>
                <a:spcPts val="765"/>
              </a:lnSpc>
              <a:buNone/>
            </a:pPr>
            <a:r>
              <a:rPr lang="en-US" sz="510" dirty="0">
                <a:solidFill>
                  <a:srgbClr val="76B900">
                    <a:alpha val="6000"/>
                  </a:srgbClr>
                </a:solidFill>
                <a:latin typeface="Consolas" pitchFamily="34" charset="0"/>
                <a:ea typeface="Consolas" pitchFamily="34" charset="-122"/>
                <a:cs typeface="Consolas" pitchFamily="34" charset="-120"/>
              </a:rPr>
              <a:t>---</a:t>
            </a:r>
            <a:endParaRPr lang="en-US" sz="510" dirty="0"/>
          </a:p>
        </p:txBody>
      </p:sp>
      <p:sp>
        <p:nvSpPr>
          <p:cNvPr id="10" name="Text 8"/>
          <p:cNvSpPr/>
          <p:nvPr/>
        </p:nvSpPr>
        <p:spPr>
          <a:xfrm>
            <a:off x="466725" y="1171129"/>
            <a:ext cx="4024017" cy="1534716"/>
          </a:xfrm>
          <a:prstGeom prst="roundRect">
            <a:avLst>
              <a:gd name="adj" fmla="val 7448"/>
            </a:avLst>
          </a:prstGeom>
          <a:gradFill rotWithShape="1">
            <a:gsLst>
              <a:gs pos="0">
                <a:srgbClr val="76B900">
                  <a:alpha val="20000"/>
                </a:srgbClr>
              </a:gs>
              <a:gs pos="60000">
                <a:srgbClr val="000000">
                  <a:alpha val="0"/>
                </a:srgbClr>
              </a:gs>
            </a:gsLst>
            <a:lin ang="2700000" scaled="1"/>
          </a:gradFill>
          <a:ln/>
        </p:spPr>
        <p:txBody>
          <a:bodyPr wrap="square" rtlCol="0" anchor="t"/>
          <a:lstStyle/>
          <a:p>
            <a:pPr marL="0" indent="0">
              <a:buNone/>
            </a:pPr>
            <a:endParaRPr lang="en-US" dirty="0"/>
          </a:p>
        </p:txBody>
      </p:sp>
      <p:sp>
        <p:nvSpPr>
          <p:cNvPr id="11" name="Text 9"/>
          <p:cNvSpPr/>
          <p:nvPr/>
        </p:nvSpPr>
        <p:spPr>
          <a:xfrm>
            <a:off x="4653260" y="1171129"/>
            <a:ext cx="4024017" cy="1534716"/>
          </a:xfrm>
          <a:prstGeom prst="roundRect">
            <a:avLst>
              <a:gd name="adj" fmla="val 7448"/>
            </a:avLst>
          </a:prstGeom>
          <a:gradFill rotWithShape="1">
            <a:gsLst>
              <a:gs pos="0">
                <a:srgbClr val="76B900">
                  <a:alpha val="20000"/>
                </a:srgbClr>
              </a:gs>
              <a:gs pos="60000">
                <a:srgbClr val="000000">
                  <a:alpha val="0"/>
                </a:srgbClr>
              </a:gs>
            </a:gsLst>
            <a:lin ang="2700000" scaled="1"/>
          </a:gradFill>
          <a:ln/>
        </p:spPr>
        <p:txBody>
          <a:bodyPr wrap="square" rtlCol="0" anchor="t"/>
          <a:lstStyle/>
          <a:p>
            <a:pPr marL="0" indent="0">
              <a:buNone/>
            </a:pPr>
            <a:endParaRPr lang="en-US" dirty="0"/>
          </a:p>
        </p:txBody>
      </p:sp>
      <p:sp>
        <p:nvSpPr>
          <p:cNvPr id="12" name="Text 10"/>
          <p:cNvSpPr/>
          <p:nvPr/>
        </p:nvSpPr>
        <p:spPr>
          <a:xfrm>
            <a:off x="466725" y="2868364"/>
            <a:ext cx="4024017" cy="1534868"/>
          </a:xfrm>
          <a:prstGeom prst="roundRect">
            <a:avLst>
              <a:gd name="adj" fmla="val 7447"/>
            </a:avLst>
          </a:prstGeom>
          <a:gradFill rotWithShape="1">
            <a:gsLst>
              <a:gs pos="0">
                <a:srgbClr val="76B900">
                  <a:alpha val="20000"/>
                </a:srgbClr>
              </a:gs>
              <a:gs pos="60000">
                <a:srgbClr val="000000">
                  <a:alpha val="0"/>
                </a:srgbClr>
              </a:gs>
            </a:gsLst>
            <a:lin ang="2700000" scaled="1"/>
          </a:gradFill>
          <a:ln/>
        </p:spPr>
        <p:txBody>
          <a:bodyPr wrap="square" rtlCol="0" anchor="t"/>
          <a:lstStyle/>
          <a:p>
            <a:pPr marL="0" indent="0">
              <a:buNone/>
            </a:pPr>
            <a:endParaRPr lang="en-US" dirty="0"/>
          </a:p>
        </p:txBody>
      </p:sp>
      <p:sp>
        <p:nvSpPr>
          <p:cNvPr id="13" name="Text 11"/>
          <p:cNvSpPr/>
          <p:nvPr/>
        </p:nvSpPr>
        <p:spPr>
          <a:xfrm>
            <a:off x="4653260" y="2868364"/>
            <a:ext cx="4024017" cy="1534868"/>
          </a:xfrm>
          <a:prstGeom prst="roundRect">
            <a:avLst>
              <a:gd name="adj" fmla="val 7447"/>
            </a:avLst>
          </a:prstGeom>
          <a:gradFill rotWithShape="1">
            <a:gsLst>
              <a:gs pos="0">
                <a:srgbClr val="76B900">
                  <a:alpha val="20000"/>
                </a:srgbClr>
              </a:gs>
              <a:gs pos="60000">
                <a:srgbClr val="000000">
                  <a:alpha val="0"/>
                </a:srgbClr>
              </a:gs>
            </a:gsLst>
            <a:lin ang="2700000" scaled="1"/>
          </a:gradFill>
          <a:ln/>
        </p:spPr>
        <p:txBody>
          <a:bodyPr wrap="square" rtlCol="0" anchor="t"/>
          <a:lstStyle/>
          <a:p>
            <a:pPr marL="0" indent="0">
              <a:buNone/>
            </a:pPr>
            <a:endParaRPr lang="en-US" dirty="0"/>
          </a:p>
        </p:txBody>
      </p:sp>
      <p:pic>
        <p:nvPicPr>
          <p:cNvPr id="1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1494" y="483840"/>
            <a:ext cx="214313" cy="214313"/>
          </a:xfrm>
          <a:prstGeom prst="rect">
            <a:avLst/>
          </a:prstGeom>
        </p:spPr>
      </p:pic>
      <p:sp>
        <p:nvSpPr>
          <p:cNvPr id="15" name="Text 12"/>
          <p:cNvSpPr/>
          <p:nvPr/>
        </p:nvSpPr>
        <p:spPr>
          <a:xfrm>
            <a:off x="943570" y="342900"/>
            <a:ext cx="3501025" cy="293043"/>
          </a:xfrm>
          <a:prstGeom prst="rect">
            <a:avLst/>
          </a:prstGeom>
          <a:noFill/>
          <a:ln/>
        </p:spPr>
        <p:txBody>
          <a:bodyPr wrap="none" lIns="0" tIns="0" rIns="0" bIns="0" rtlCol="0" anchor="ctr"/>
          <a:lstStyle/>
          <a:p>
            <a:pPr marL="0" indent="0" algn="l">
              <a:lnSpc>
                <a:spcPts val="2233"/>
              </a:lnSpc>
              <a:buNone/>
            </a:pPr>
            <a:r>
              <a:rPr lang="en-US" sz="2030" dirty="0">
                <a:solidFill>
                  <a:srgbClr val="E2E8F0"/>
                </a:solidFill>
                <a:latin typeface="Consolas" pitchFamily="34" charset="0"/>
                <a:ea typeface="Consolas" pitchFamily="34" charset="-122"/>
                <a:cs typeface="Consolas" pitchFamily="34" charset="-120"/>
              </a:rPr>
              <a:t> </a:t>
            </a:r>
            <a:br/>
            <a:r>
              <a:rPr lang="en-US" sz="2030" dirty="0">
                <a:solidFill>
                  <a:srgbClr val="E2E8F0"/>
                </a:solidFill>
                <a:latin typeface="Consolas" pitchFamily="34" charset="0"/>
                <a:ea typeface="Consolas" pitchFamily="34" charset="-122"/>
                <a:cs typeface="Consolas" pitchFamily="34" charset="-120"/>
              </a:rPr>
              <a:t>          The Power of </a:t>
            </a:r>
            <a:r>
              <a:rPr lang="en-US" sz="2030" b="1" dirty="0">
                <a:solidFill>
                  <a:srgbClr val="76B900"/>
                </a:solidFill>
                <a:latin typeface="Consolas" pitchFamily="34" charset="0"/>
                <a:ea typeface="Consolas" pitchFamily="34" charset="-122"/>
                <a:cs typeface="Consolas" pitchFamily="34" charset="-120"/>
              </a:rPr>
              <a:t>SOUL.md</a:t>
            </a:r>
            <a:r>
              <a:rPr lang="en-US" sz="2030" dirty="0">
                <a:solidFill>
                  <a:srgbClr val="E2E8F0"/>
                </a:solidFill>
                <a:latin typeface="Consolas" pitchFamily="34" charset="0"/>
                <a:ea typeface="Consolas" pitchFamily="34" charset="-122"/>
                <a:cs typeface="Consolas" pitchFamily="34" charset="-120"/>
              </a:rPr>
              <a:t> </a:t>
            </a:r>
            <a:br/>
            <a:r>
              <a:rPr lang="en-US" sz="2030" dirty="0">
                <a:solidFill>
                  <a:srgbClr val="E2E8F0"/>
                </a:solidFill>
                <a:latin typeface="Consolas" pitchFamily="34" charset="0"/>
                <a:ea typeface="Consolas" pitchFamily="34" charset="-122"/>
                <a:cs typeface="Consolas" pitchFamily="34" charset="-120"/>
              </a:rPr>
              <a:t>        </a:t>
            </a:r>
            <a:endParaRPr lang="en-US" sz="2030" dirty="0"/>
          </a:p>
        </p:txBody>
      </p:sp>
      <p:sp>
        <p:nvSpPr>
          <p:cNvPr id="16" name="Text 13"/>
          <p:cNvSpPr/>
          <p:nvPr/>
        </p:nvSpPr>
        <p:spPr>
          <a:xfrm>
            <a:off x="943570" y="679103"/>
            <a:ext cx="3599185" cy="159990"/>
          </a:xfrm>
          <a:prstGeom prst="rect">
            <a:avLst/>
          </a:prstGeom>
          <a:noFill/>
          <a:ln/>
        </p:spPr>
        <p:txBody>
          <a:bodyPr wrap="none" lIns="0" tIns="0" rIns="0" bIns="0" rtlCol="0" anchor="ctr"/>
          <a:lstStyle/>
          <a:p>
            <a:pPr marL="0" indent="0" algn="l">
              <a:lnSpc>
                <a:spcPts val="1260"/>
              </a:lnSpc>
              <a:spcBef>
                <a:spcPts val="340"/>
              </a:spcBef>
              <a:buNone/>
            </a:pPr>
            <a:r>
              <a:rPr lang="en-US" sz="840" dirty="0">
                <a:solidFill>
                  <a:srgbClr val="8B9CB6"/>
                </a:solidFill>
                <a:latin typeface="Consolas" pitchFamily="34" charset="0"/>
                <a:ea typeface="Consolas" pitchFamily="34" charset="-122"/>
                <a:cs typeface="Consolas" pitchFamily="34" charset="-120"/>
              </a:rPr>
              <a:t>The core configuration that makes each agent unique</a:t>
            </a:r>
            <a:endParaRPr lang="en-US" sz="840" dirty="0"/>
          </a:p>
        </p:txBody>
      </p:sp>
      <p:sp>
        <p:nvSpPr>
          <p:cNvPr id="17" name="Text 14"/>
          <p:cNvSpPr/>
          <p:nvPr/>
        </p:nvSpPr>
        <p:spPr>
          <a:xfrm>
            <a:off x="457200" y="925413"/>
            <a:ext cx="8229600" cy="7590"/>
          </a:xfrm>
          <a:prstGeom prst="rect">
            <a:avLst/>
          </a:prstGeom>
          <a:gradFill rotWithShape="1">
            <a:gsLst>
              <a:gs pos="0">
                <a:srgbClr val="76B900"/>
              </a:gs>
              <a:gs pos="60000">
                <a:srgbClr val="000000">
                  <a:alpha val="0"/>
                </a:srgbClr>
              </a:gs>
            </a:gsLst>
            <a:lin ang="0" scaled="1"/>
          </a:gradFill>
          <a:ln/>
        </p:spPr>
        <p:txBody>
          <a:bodyPr wrap="none" rtlCol="0" anchor="t"/>
          <a:lstStyle/>
          <a:p>
            <a:pPr marL="0" indent="0">
              <a:buNone/>
            </a:pPr>
            <a:endParaRPr lang="en-US" dirty="0"/>
          </a:p>
        </p:txBody>
      </p:sp>
      <p:sp>
        <p:nvSpPr>
          <p:cNvPr id="18" name="Text 15"/>
          <p:cNvSpPr/>
          <p:nvPr/>
        </p:nvSpPr>
        <p:spPr>
          <a:xfrm>
            <a:off x="457200" y="1161604"/>
            <a:ext cx="4043065" cy="1553766"/>
          </a:xfrm>
          <a:prstGeom prst="roundRect">
            <a:avLst>
              <a:gd name="adj" fmla="val 7356"/>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19" name="Text 16"/>
          <p:cNvSpPr/>
          <p:nvPr/>
        </p:nvSpPr>
        <p:spPr>
          <a:xfrm>
            <a:off x="695325" y="1371749"/>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0043" y="1496467"/>
            <a:ext cx="150465" cy="150465"/>
          </a:xfrm>
          <a:prstGeom prst="rect">
            <a:avLst/>
          </a:prstGeom>
        </p:spPr>
      </p:pic>
      <p:sp>
        <p:nvSpPr>
          <p:cNvPr id="21" name="Text 17"/>
          <p:cNvSpPr/>
          <p:nvPr/>
        </p:nvSpPr>
        <p:spPr>
          <a:xfrm>
            <a:off x="1266825" y="1371749"/>
            <a:ext cx="1456700" cy="192435"/>
          </a:xfrm>
          <a:prstGeom prst="rect">
            <a:avLst/>
          </a:prstGeom>
          <a:noFill/>
          <a:ln/>
        </p:spPr>
        <p:txBody>
          <a:bodyPr wrap="none" lIns="0" tIns="0" rIns="0" bIns="0" rtlCol="0" anchor="t"/>
          <a:lstStyle/>
          <a:p>
            <a:pPr marL="0" indent="0" algn="l">
              <a:lnSpc>
                <a:spcPts val="1515"/>
              </a:lnSpc>
              <a:buNone/>
            </a:pPr>
            <a:r>
              <a:rPr lang="en-US" sz="1010" b="1" dirty="0">
                <a:solidFill>
                  <a:srgbClr val="76B900"/>
                </a:solidFill>
                <a:latin typeface="Consolas" pitchFamily="34" charset="0"/>
                <a:ea typeface="Consolas" pitchFamily="34" charset="-122"/>
                <a:cs typeface="Consolas" pitchFamily="34" charset="-120"/>
              </a:rPr>
              <a:t>Identity &amp; Boundaries</a:t>
            </a:r>
            <a:endParaRPr lang="en-US" sz="1010" dirty="0"/>
          </a:p>
        </p:txBody>
      </p:sp>
      <p:sp>
        <p:nvSpPr>
          <p:cNvPr id="22" name="Text 18"/>
          <p:cNvSpPr/>
          <p:nvPr/>
        </p:nvSpPr>
        <p:spPr>
          <a:xfrm>
            <a:off x="1266825" y="1607344"/>
            <a:ext cx="3055221" cy="335979"/>
          </a:xfrm>
          <a:prstGeom prst="rect">
            <a:avLst/>
          </a:prstGeom>
          <a:noFill/>
          <a:ln/>
        </p:spPr>
        <p:txBody>
          <a:bodyPr wrap="square" lIns="0" tIns="0" rIns="0" bIns="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Defines </a:t>
            </a:r>
            <a:r>
              <a:rPr lang="en-US" sz="840" dirty="0">
                <a:solidFill>
                  <a:srgbClr val="E2E8F0"/>
                </a:solidFill>
                <a:latin typeface="Calibri" pitchFamily="34" charset="0"/>
                <a:ea typeface="Calibri" pitchFamily="34" charset="-122"/>
                <a:cs typeface="Calibri" pitchFamily="34" charset="-120"/>
              </a:rPr>
              <a:t>personality, values, tone, ethics</a:t>
            </a:r>
            <a:r>
              <a:rPr lang="en-US" sz="840" dirty="0">
                <a:solidFill>
                  <a:srgbClr val="8B9CB6"/>
                </a:solidFill>
                <a:latin typeface="Calibri" pitchFamily="34" charset="0"/>
                <a:ea typeface="Calibri" pitchFamily="34" charset="-122"/>
                <a:cs typeface="Calibri" pitchFamily="34" charset="-120"/>
              </a:rPr>
              <a:t> &amp; hard boundaries — the DNA of your agent's character</a:t>
            </a:r>
            <a:endParaRPr lang="en-US" sz="840" dirty="0"/>
          </a:p>
        </p:txBody>
      </p:sp>
      <p:sp>
        <p:nvSpPr>
          <p:cNvPr id="23" name="Text 19"/>
          <p:cNvSpPr/>
          <p:nvPr/>
        </p:nvSpPr>
        <p:spPr>
          <a:xfrm>
            <a:off x="4643735" y="1161604"/>
            <a:ext cx="4043065" cy="1553766"/>
          </a:xfrm>
          <a:prstGeom prst="roundRect">
            <a:avLst>
              <a:gd name="adj" fmla="val 7356"/>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24" name="Text 20"/>
          <p:cNvSpPr/>
          <p:nvPr/>
        </p:nvSpPr>
        <p:spPr>
          <a:xfrm>
            <a:off x="4881860" y="1371749"/>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06578" y="1496467"/>
            <a:ext cx="150465" cy="150465"/>
          </a:xfrm>
          <a:prstGeom prst="rect">
            <a:avLst/>
          </a:prstGeom>
        </p:spPr>
      </p:pic>
      <p:sp>
        <p:nvSpPr>
          <p:cNvPr id="26" name="Text 21"/>
          <p:cNvSpPr/>
          <p:nvPr/>
        </p:nvSpPr>
        <p:spPr>
          <a:xfrm>
            <a:off x="5453360" y="1371749"/>
            <a:ext cx="1159237" cy="192435"/>
          </a:xfrm>
          <a:prstGeom prst="rect">
            <a:avLst/>
          </a:prstGeom>
          <a:noFill/>
          <a:ln/>
        </p:spPr>
        <p:txBody>
          <a:bodyPr wrap="none" lIns="0" tIns="0" rIns="0" bIns="0" rtlCol="0" anchor="t"/>
          <a:lstStyle/>
          <a:p>
            <a:pPr marL="0" indent="0" algn="l">
              <a:lnSpc>
                <a:spcPts val="1515"/>
              </a:lnSpc>
              <a:buNone/>
            </a:pPr>
            <a:r>
              <a:rPr lang="en-US" sz="1010" b="1" dirty="0">
                <a:solidFill>
                  <a:srgbClr val="76B900"/>
                </a:solidFill>
                <a:latin typeface="Consolas" pitchFamily="34" charset="0"/>
                <a:ea typeface="Consolas" pitchFamily="34" charset="-122"/>
                <a:cs typeface="Consolas" pitchFamily="34" charset="-120"/>
              </a:rPr>
              <a:t>Session Injection</a:t>
            </a:r>
            <a:endParaRPr lang="en-US" sz="1010" dirty="0"/>
          </a:p>
        </p:txBody>
      </p:sp>
      <p:sp>
        <p:nvSpPr>
          <p:cNvPr id="27" name="Text 22"/>
          <p:cNvSpPr/>
          <p:nvPr/>
        </p:nvSpPr>
        <p:spPr>
          <a:xfrm>
            <a:off x="5453360" y="1607344"/>
            <a:ext cx="3055221" cy="335979"/>
          </a:xfrm>
          <a:prstGeom prst="rect">
            <a:avLst/>
          </a:prstGeom>
          <a:noFill/>
          <a:ln/>
        </p:spPr>
        <p:txBody>
          <a:bodyPr wrap="square" lIns="0" tIns="0" rIns="0" bIns="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Injected at the </a:t>
            </a:r>
            <a:r>
              <a:rPr lang="en-US" sz="840" dirty="0">
                <a:solidFill>
                  <a:srgbClr val="E2E8F0"/>
                </a:solidFill>
                <a:latin typeface="Calibri" pitchFamily="34" charset="0"/>
                <a:ea typeface="Calibri" pitchFamily="34" charset="-122"/>
                <a:cs typeface="Calibri" pitchFamily="34" charset="-120"/>
              </a:rPr>
              <a:t>start of every session</a:t>
            </a:r>
            <a:r>
              <a:rPr lang="en-US" sz="840" dirty="0">
                <a:solidFill>
                  <a:srgbClr val="8B9CB6"/>
                </a:solidFill>
                <a:latin typeface="Calibri" pitchFamily="34" charset="0"/>
                <a:ea typeface="Calibri" pitchFamily="34" charset="-122"/>
                <a:cs typeface="Calibri" pitchFamily="34" charset="-120"/>
              </a:rPr>
              <a:t> — your agent always wakes up knowing exactly who it is</a:t>
            </a:r>
            <a:endParaRPr lang="en-US" sz="840" dirty="0"/>
          </a:p>
        </p:txBody>
      </p:sp>
      <p:sp>
        <p:nvSpPr>
          <p:cNvPr id="28" name="Text 23"/>
          <p:cNvSpPr/>
          <p:nvPr/>
        </p:nvSpPr>
        <p:spPr>
          <a:xfrm>
            <a:off x="457200" y="2858839"/>
            <a:ext cx="4043065" cy="1553914"/>
          </a:xfrm>
          <a:prstGeom prst="roundRect">
            <a:avLst>
              <a:gd name="adj" fmla="val 7356"/>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29" name="Text 24"/>
          <p:cNvSpPr/>
          <p:nvPr/>
        </p:nvSpPr>
        <p:spPr>
          <a:xfrm>
            <a:off x="695325" y="3068985"/>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0043" y="3193703"/>
            <a:ext cx="150465" cy="150465"/>
          </a:xfrm>
          <a:prstGeom prst="rect">
            <a:avLst/>
          </a:prstGeom>
        </p:spPr>
      </p:pic>
      <p:sp>
        <p:nvSpPr>
          <p:cNvPr id="31" name="Text 25"/>
          <p:cNvSpPr/>
          <p:nvPr/>
        </p:nvSpPr>
        <p:spPr>
          <a:xfrm>
            <a:off x="1266825" y="3068985"/>
            <a:ext cx="1542812" cy="192435"/>
          </a:xfrm>
          <a:prstGeom prst="rect">
            <a:avLst/>
          </a:prstGeom>
          <a:noFill/>
          <a:ln/>
        </p:spPr>
        <p:txBody>
          <a:bodyPr wrap="none" lIns="0" tIns="0" rIns="0" bIns="0" rtlCol="0" anchor="t"/>
          <a:lstStyle/>
          <a:p>
            <a:pPr marL="0" indent="0" algn="l">
              <a:lnSpc>
                <a:spcPts val="1515"/>
              </a:lnSpc>
              <a:buNone/>
            </a:pPr>
            <a:r>
              <a:rPr lang="en-US" sz="1010" b="1" dirty="0">
                <a:solidFill>
                  <a:srgbClr val="76B900"/>
                </a:solidFill>
                <a:latin typeface="Consolas" pitchFamily="34" charset="0"/>
                <a:ea typeface="Consolas" pitchFamily="34" charset="-122"/>
                <a:cs typeface="Consolas" pitchFamily="34" charset="-120"/>
              </a:rPr>
              <a:t>Consistent Companion</a:t>
            </a:r>
            <a:endParaRPr lang="en-US" sz="1010" dirty="0"/>
          </a:p>
        </p:txBody>
      </p:sp>
      <p:sp>
        <p:nvSpPr>
          <p:cNvPr id="32" name="Text 26"/>
          <p:cNvSpPr/>
          <p:nvPr/>
        </p:nvSpPr>
        <p:spPr>
          <a:xfrm>
            <a:off x="1266825" y="3304580"/>
            <a:ext cx="3055221" cy="335979"/>
          </a:xfrm>
          <a:prstGeom prst="rect">
            <a:avLst/>
          </a:prstGeom>
          <a:noFill/>
          <a:ln/>
        </p:spPr>
        <p:txBody>
          <a:bodyPr wrap="square" lIns="0" tIns="0" rIns="0" bIns="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Creates a </a:t>
            </a:r>
            <a:r>
              <a:rPr lang="en-US" sz="840" dirty="0">
                <a:solidFill>
                  <a:srgbClr val="E2E8F0"/>
                </a:solidFill>
                <a:latin typeface="Calibri" pitchFamily="34" charset="0"/>
                <a:ea typeface="Calibri" pitchFamily="34" charset="-122"/>
                <a:cs typeface="Calibri" pitchFamily="34" charset="-120"/>
              </a:rPr>
              <a:t>consistent, opinionated companion</a:t>
            </a:r>
            <a:r>
              <a:rPr lang="en-US" sz="840" dirty="0">
                <a:solidFill>
                  <a:srgbClr val="8B9CB6"/>
                </a:solidFill>
                <a:latin typeface="Calibri" pitchFamily="34" charset="0"/>
                <a:ea typeface="Calibri" pitchFamily="34" charset="-122"/>
                <a:cs typeface="Calibri" pitchFamily="34" charset="-120"/>
              </a:rPr>
              <a:t> — not a generic chatbot, but an agent with real character</a:t>
            </a:r>
            <a:endParaRPr lang="en-US" sz="840" dirty="0"/>
          </a:p>
        </p:txBody>
      </p:sp>
      <p:sp>
        <p:nvSpPr>
          <p:cNvPr id="33" name="Text 27"/>
          <p:cNvSpPr/>
          <p:nvPr/>
        </p:nvSpPr>
        <p:spPr>
          <a:xfrm>
            <a:off x="4643735" y="2858839"/>
            <a:ext cx="4043065" cy="1553914"/>
          </a:xfrm>
          <a:prstGeom prst="roundRect">
            <a:avLst>
              <a:gd name="adj" fmla="val 7356"/>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34" name="Text 28"/>
          <p:cNvSpPr/>
          <p:nvPr/>
        </p:nvSpPr>
        <p:spPr>
          <a:xfrm>
            <a:off x="4881860" y="3068985"/>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3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06578" y="3193703"/>
            <a:ext cx="150465" cy="150465"/>
          </a:xfrm>
          <a:prstGeom prst="rect">
            <a:avLst/>
          </a:prstGeom>
        </p:spPr>
      </p:pic>
      <p:sp>
        <p:nvSpPr>
          <p:cNvPr id="36" name="Text 29"/>
          <p:cNvSpPr/>
          <p:nvPr/>
        </p:nvSpPr>
        <p:spPr>
          <a:xfrm>
            <a:off x="5453360" y="3068985"/>
            <a:ext cx="1402020" cy="192435"/>
          </a:xfrm>
          <a:prstGeom prst="rect">
            <a:avLst/>
          </a:prstGeom>
          <a:noFill/>
          <a:ln/>
        </p:spPr>
        <p:txBody>
          <a:bodyPr wrap="none" lIns="0" tIns="0" rIns="0" bIns="0" rtlCol="0" anchor="t"/>
          <a:lstStyle/>
          <a:p>
            <a:pPr marL="0" indent="0" algn="l">
              <a:lnSpc>
                <a:spcPts val="1515"/>
              </a:lnSpc>
              <a:buNone/>
            </a:pPr>
            <a:r>
              <a:rPr lang="en-US" sz="1010" b="1" dirty="0">
                <a:solidFill>
                  <a:srgbClr val="76B900"/>
                </a:solidFill>
                <a:latin typeface="Consolas" pitchFamily="34" charset="0"/>
                <a:ea typeface="Consolas" pitchFamily="34" charset="-122"/>
                <a:cs typeface="Consolas" pitchFamily="34" charset="-120"/>
              </a:rPr>
              <a:t>One SOUL Per Agent</a:t>
            </a:r>
            <a:endParaRPr lang="en-US" sz="1010" dirty="0"/>
          </a:p>
        </p:txBody>
      </p:sp>
      <p:sp>
        <p:nvSpPr>
          <p:cNvPr id="37" name="Text 30"/>
          <p:cNvSpPr/>
          <p:nvPr/>
        </p:nvSpPr>
        <p:spPr>
          <a:xfrm>
            <a:off x="5453360" y="3304580"/>
            <a:ext cx="3055221" cy="335979"/>
          </a:xfrm>
          <a:prstGeom prst="rect">
            <a:avLst/>
          </a:prstGeom>
          <a:noFill/>
          <a:ln/>
        </p:spPr>
        <p:txBody>
          <a:bodyPr wrap="square" lIns="0" tIns="0" rIns="0" bIns="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One SOUL per </a:t>
            </a:r>
            <a:r>
              <a:rPr lang="en-US" sz="840" dirty="0">
                <a:solidFill>
                  <a:srgbClr val="E2E8F0"/>
                </a:solidFill>
                <a:latin typeface="Calibri" pitchFamily="34" charset="0"/>
                <a:ea typeface="Calibri" pitchFamily="34" charset="-122"/>
                <a:cs typeface="Calibri" pitchFamily="34" charset="-120"/>
              </a:rPr>
              <a:t>specialized agent</a:t>
            </a:r>
            <a:r>
              <a:rPr lang="en-US" sz="840" dirty="0">
                <a:solidFill>
                  <a:srgbClr val="8B9CB6"/>
                </a:solidFill>
                <a:latin typeface="Calibri" pitchFamily="34" charset="0"/>
                <a:ea typeface="Calibri" pitchFamily="34" charset="-122"/>
                <a:cs typeface="Calibri" pitchFamily="34" charset="-120"/>
              </a:rPr>
              <a:t> — research assistant, code reviewer, project manager, each with its own file</a:t>
            </a:r>
            <a:endParaRPr lang="en-US" sz="840" dirty="0"/>
          </a:p>
        </p:txBody>
      </p:sp>
      <p:sp>
        <p:nvSpPr>
          <p:cNvPr id="38" name="Text 31"/>
          <p:cNvSpPr/>
          <p:nvPr/>
        </p:nvSpPr>
        <p:spPr>
          <a:xfrm>
            <a:off x="2789783" y="4584204"/>
            <a:ext cx="769953" cy="216396"/>
          </a:xfrm>
          <a:prstGeom prst="roundRect">
            <a:avLst>
              <a:gd name="adj" fmla="val 66318"/>
            </a:avLst>
          </a:prstGeom>
          <a:solidFill>
            <a:srgbClr val="76B900">
              <a:alpha val="15000"/>
            </a:srgbClr>
          </a:solidFill>
          <a:ln w="9525">
            <a:solidFill>
              <a:srgbClr val="76B900">
                <a:alpha val="30000"/>
              </a:srgbClr>
            </a:solidFill>
          </a:ln>
        </p:spPr>
        <p:txBody>
          <a:bodyPr wrap="none" lIns="218668" tIns="29210" rIns="100330" bIns="29210" rtlCol="0" anchor="ctr"/>
          <a:lstStyle/>
          <a:p>
            <a:pPr marL="0" indent="0" algn="l">
              <a:buNone/>
            </a:pPr>
            <a:r>
              <a:rPr lang="en-US" sz="730" kern="0" spc="30" dirty="0">
                <a:solidFill>
                  <a:srgbClr val="76B900"/>
                </a:solidFill>
                <a:latin typeface="Consolas" pitchFamily="34" charset="0"/>
                <a:ea typeface="Consolas" pitchFamily="34" charset="-122"/>
                <a:cs typeface="Consolas" pitchFamily="34" charset="-120"/>
              </a:rPr>
              <a:t>SOUL.md</a:t>
            </a:r>
            <a:endParaRPr lang="en-US" sz="730" dirty="0"/>
          </a:p>
        </p:txBody>
      </p:sp>
      <p:pic>
        <p:nvPicPr>
          <p:cNvPr id="3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70903" y="4626034"/>
            <a:ext cx="132588" cy="132588"/>
          </a:xfrm>
          <a:prstGeom prst="rect">
            <a:avLst/>
          </a:prstGeom>
        </p:spPr>
      </p:pic>
      <p:sp>
        <p:nvSpPr>
          <p:cNvPr id="40" name="Text 32"/>
          <p:cNvSpPr/>
          <p:nvPr/>
        </p:nvSpPr>
        <p:spPr>
          <a:xfrm>
            <a:off x="3658939" y="4617095"/>
            <a:ext cx="64502" cy="150465"/>
          </a:xfrm>
          <a:prstGeom prst="rect">
            <a:avLst/>
          </a:prstGeom>
          <a:noFill/>
          <a:ln/>
        </p:spPr>
        <p:txBody>
          <a:bodyPr wrap="none" lIns="0" tIns="0" rIns="0" bIns="0" rtlCol="0" anchor="ctr"/>
          <a:lstStyle/>
          <a:p>
            <a:pPr marL="0" indent="0" algn="l">
              <a:lnSpc>
                <a:spcPts val="1185"/>
              </a:lnSpc>
              <a:buNone/>
            </a:pPr>
            <a:r>
              <a:rPr lang="en-US" sz="790" dirty="0">
                <a:solidFill>
                  <a:srgbClr val="8B9CB6"/>
                </a:solidFill>
                <a:latin typeface="Calibri" pitchFamily="34" charset="0"/>
                <a:ea typeface="Calibri" pitchFamily="34" charset="-122"/>
                <a:cs typeface="Calibri" pitchFamily="34" charset="-120"/>
              </a:rPr>
              <a:t>=</a:t>
            </a:r>
            <a:endParaRPr lang="en-US" sz="790" dirty="0"/>
          </a:p>
        </p:txBody>
      </p:sp>
      <p:sp>
        <p:nvSpPr>
          <p:cNvPr id="41" name="Text 33"/>
          <p:cNvSpPr/>
          <p:nvPr/>
        </p:nvSpPr>
        <p:spPr>
          <a:xfrm>
            <a:off x="3831878" y="4612332"/>
            <a:ext cx="2774409" cy="159990"/>
          </a:xfrm>
          <a:prstGeom prst="rect">
            <a:avLst/>
          </a:prstGeom>
          <a:noFill/>
          <a:ln/>
        </p:spPr>
        <p:txBody>
          <a:bodyPr wrap="none" lIns="0" tIns="0" rIns="0" bIns="0" rtlCol="0" anchor="ctr"/>
          <a:lstStyle/>
          <a:p>
            <a:pPr marL="0" indent="0" algn="l">
              <a:lnSpc>
                <a:spcPts val="1260"/>
              </a:lnSpc>
              <a:buNone/>
            </a:pPr>
            <a:r>
              <a:rPr lang="en-US" sz="840" b="1" dirty="0">
                <a:solidFill>
                  <a:srgbClr val="E2E8F0"/>
                </a:solidFill>
                <a:latin typeface="Calibri" pitchFamily="34" charset="0"/>
                <a:ea typeface="Calibri" pitchFamily="34" charset="-122"/>
                <a:cs typeface="Calibri" pitchFamily="34" charset="-120"/>
              </a:rPr>
              <a:t>Your agent's personality in a single Markdown file</a:t>
            </a:r>
            <a:endParaRPr lang="en-US" sz="84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3">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6000"/>
                </a:srgbClr>
              </a:gs>
              <a:gs pos="50000">
                <a:srgbClr val="000000">
                  <a:alpha val="0"/>
                </a:srgbClr>
              </a:gs>
            </a:gsLst>
            <a:path path="circle">
              <a:fillToRect l="85000" t="50000" r="15000" b="50000"/>
            </a:path>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4000"/>
                </a:srgbClr>
              </a:gs>
              <a:gs pos="45000">
                <a:srgbClr val="000000">
                  <a:alpha val="0"/>
                </a:srgbClr>
              </a:gs>
            </a:gsLst>
            <a:path path="circle">
              <a:fillToRect l="15000" t="70000" r="85000" b="30000"/>
            </a:path>
          </a:gradFill>
          <a:ln/>
        </p:spPr>
        <p:txBody>
          <a:bodyPr wrap="square" rtlCol="0" anchor="t"/>
          <a:lstStyle/>
          <a:p>
            <a:pPr marL="0" indent="0">
              <a:buNone/>
            </a:pPr>
            <a:endParaRPr lang="en-US" dirty="0"/>
          </a:p>
        </p:txBody>
      </p:sp>
      <p:sp>
        <p:nvSpPr>
          <p:cNvPr id="4" name="Text 2"/>
          <p:cNvSpPr/>
          <p:nvPr/>
        </p:nvSpPr>
        <p:spPr>
          <a:xfrm>
            <a:off x="0" y="5114330"/>
            <a:ext cx="9144000" cy="29170"/>
          </a:xfrm>
          <a:prstGeom prst="rect">
            <a:avLst/>
          </a:prstGeom>
          <a:gradFill rotWithShape="1">
            <a:gsLst>
              <a:gs pos="0">
                <a:srgbClr val="76B900"/>
              </a:gs>
              <a:gs pos="8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581025" y="1359098"/>
            <a:ext cx="29170" cy="1139428"/>
          </a:xfrm>
          <a:custGeom>
            <a:avLst/>
            <a:gdLst/>
            <a:ahLst/>
            <a:cxnLst/>
            <a:rect l="l" t="t" r="r" b="b"/>
            <a:pathLst>
              <a:path w="29170" h="1139428">
                <a:moveTo>
                  <a:pt x="0" y="114300"/>
                </a:moveTo>
                <a:lnTo>
                  <a:pt x="3646" y="85660"/>
                </a:lnTo>
                <a:lnTo>
                  <a:pt x="7293" y="74127"/>
                </a:lnTo>
                <a:lnTo>
                  <a:pt x="10939" y="65505"/>
                </a:lnTo>
                <a:lnTo>
                  <a:pt x="14585" y="58430"/>
                </a:lnTo>
                <a:lnTo>
                  <a:pt x="18231" y="52370"/>
                </a:lnTo>
                <a:lnTo>
                  <a:pt x="21878" y="47050"/>
                </a:lnTo>
                <a:lnTo>
                  <a:pt x="25524" y="42305"/>
                </a:lnTo>
                <a:lnTo>
                  <a:pt x="29170" y="38028"/>
                </a:lnTo>
                <a:lnTo>
                  <a:pt x="29170" y="1101400"/>
                </a:lnTo>
                <a:lnTo>
                  <a:pt x="25524" y="1097123"/>
                </a:lnTo>
                <a:lnTo>
                  <a:pt x="21878" y="1092379"/>
                </a:lnTo>
                <a:lnTo>
                  <a:pt x="18231" y="1087058"/>
                </a:lnTo>
                <a:lnTo>
                  <a:pt x="14585" y="1080998"/>
                </a:lnTo>
                <a:lnTo>
                  <a:pt x="10939" y="1073923"/>
                </a:lnTo>
                <a:lnTo>
                  <a:pt x="7293" y="1065302"/>
                </a:lnTo>
                <a:lnTo>
                  <a:pt x="3646" y="1053768"/>
                </a:lnTo>
                <a:lnTo>
                  <a:pt x="0" y="1025128"/>
                </a:lnTo>
                <a:close/>
              </a:path>
            </a:pathLst>
          </a:custGeom>
          <a:solidFill>
            <a:srgbClr val="76B900"/>
          </a:solidFill>
          <a:ln/>
        </p:spPr>
        <p:txBody>
          <a:bodyPr wrap="square" rtlCol="0" anchor="t"/>
          <a:lstStyle/>
          <a:p>
            <a:pPr marL="0" indent="0">
              <a:buNone/>
            </a:pPr>
            <a:endParaRPr lang="en-US" dirty="0"/>
          </a:p>
        </p:txBody>
      </p:sp>
      <p:sp>
        <p:nvSpPr>
          <p:cNvPr id="6" name="Text 4"/>
          <p:cNvSpPr/>
          <p:nvPr/>
        </p:nvSpPr>
        <p:spPr>
          <a:xfrm>
            <a:off x="581025" y="2689027"/>
            <a:ext cx="29170" cy="1139428"/>
          </a:xfrm>
          <a:custGeom>
            <a:avLst/>
            <a:gdLst/>
            <a:ahLst/>
            <a:cxnLst/>
            <a:rect l="l" t="t" r="r" b="b"/>
            <a:pathLst>
              <a:path w="29170" h="1139428">
                <a:moveTo>
                  <a:pt x="0" y="114300"/>
                </a:moveTo>
                <a:lnTo>
                  <a:pt x="3646" y="85660"/>
                </a:lnTo>
                <a:lnTo>
                  <a:pt x="7293" y="74127"/>
                </a:lnTo>
                <a:lnTo>
                  <a:pt x="10939" y="65505"/>
                </a:lnTo>
                <a:lnTo>
                  <a:pt x="14585" y="58430"/>
                </a:lnTo>
                <a:lnTo>
                  <a:pt x="18231" y="52370"/>
                </a:lnTo>
                <a:lnTo>
                  <a:pt x="21878" y="47050"/>
                </a:lnTo>
                <a:lnTo>
                  <a:pt x="25524" y="42305"/>
                </a:lnTo>
                <a:lnTo>
                  <a:pt x="29170" y="38028"/>
                </a:lnTo>
                <a:lnTo>
                  <a:pt x="29170" y="1101400"/>
                </a:lnTo>
                <a:lnTo>
                  <a:pt x="25524" y="1097123"/>
                </a:lnTo>
                <a:lnTo>
                  <a:pt x="21878" y="1092379"/>
                </a:lnTo>
                <a:lnTo>
                  <a:pt x="18231" y="1087058"/>
                </a:lnTo>
                <a:lnTo>
                  <a:pt x="14585" y="1080998"/>
                </a:lnTo>
                <a:lnTo>
                  <a:pt x="10939" y="1073923"/>
                </a:lnTo>
                <a:lnTo>
                  <a:pt x="7293" y="1065302"/>
                </a:lnTo>
                <a:lnTo>
                  <a:pt x="3646" y="1053768"/>
                </a:lnTo>
                <a:lnTo>
                  <a:pt x="0" y="1025128"/>
                </a:lnTo>
                <a:close/>
              </a:path>
            </a:pathLst>
          </a:custGeom>
          <a:solidFill>
            <a:srgbClr val="76B900"/>
          </a:solidFill>
          <a:ln/>
        </p:spPr>
        <p:txBody>
          <a:bodyPr wrap="square" rtlCol="0" anchor="t"/>
          <a:lstStyle/>
          <a:p>
            <a:pPr marL="0" indent="0">
              <a:buNone/>
            </a:pPr>
            <a:endParaRPr lang="en-US" dirty="0"/>
          </a:p>
        </p:txBody>
      </p:sp>
      <p:sp>
        <p:nvSpPr>
          <p:cNvPr id="7" name="Text 5"/>
          <p:cNvSpPr/>
          <p:nvPr/>
        </p:nvSpPr>
        <p:spPr>
          <a:xfrm>
            <a:off x="581025" y="4018955"/>
            <a:ext cx="29170" cy="1124545"/>
          </a:xfrm>
          <a:custGeom>
            <a:avLst/>
            <a:gdLst/>
            <a:ahLst/>
            <a:cxnLst/>
            <a:rect l="l" t="t" r="r" b="b"/>
            <a:pathLst>
              <a:path w="29170" h="1124545">
                <a:moveTo>
                  <a:pt x="0" y="114300"/>
                </a:moveTo>
                <a:lnTo>
                  <a:pt x="3646" y="85660"/>
                </a:lnTo>
                <a:lnTo>
                  <a:pt x="7293" y="74127"/>
                </a:lnTo>
                <a:lnTo>
                  <a:pt x="10939" y="65505"/>
                </a:lnTo>
                <a:lnTo>
                  <a:pt x="14585" y="58430"/>
                </a:lnTo>
                <a:lnTo>
                  <a:pt x="18231" y="52370"/>
                </a:lnTo>
                <a:lnTo>
                  <a:pt x="21878" y="47050"/>
                </a:lnTo>
                <a:lnTo>
                  <a:pt x="25524" y="42305"/>
                </a:lnTo>
                <a:lnTo>
                  <a:pt x="29170" y="38028"/>
                </a:lnTo>
                <a:lnTo>
                  <a:pt x="29170" y="1101400"/>
                </a:lnTo>
                <a:lnTo>
                  <a:pt x="25524" y="1097123"/>
                </a:lnTo>
                <a:lnTo>
                  <a:pt x="21878" y="1092379"/>
                </a:lnTo>
                <a:lnTo>
                  <a:pt x="18231" y="1087058"/>
                </a:lnTo>
                <a:lnTo>
                  <a:pt x="14585" y="1080998"/>
                </a:lnTo>
                <a:lnTo>
                  <a:pt x="10939" y="1073923"/>
                </a:lnTo>
                <a:lnTo>
                  <a:pt x="7293" y="1065302"/>
                </a:lnTo>
                <a:lnTo>
                  <a:pt x="3646" y="1053768"/>
                </a:lnTo>
                <a:lnTo>
                  <a:pt x="0" y="1025128"/>
                </a:lnTo>
                <a:close/>
              </a:path>
            </a:pathLst>
          </a:custGeom>
          <a:solidFill>
            <a:srgbClr val="76B900"/>
          </a:solidFill>
          <a:ln/>
        </p:spPr>
        <p:txBody>
          <a:bodyPr wrap="square" rtlCol="0" anchor="t"/>
          <a:lstStyle/>
          <a:p>
            <a:pPr marL="0" indent="0">
              <a:buNone/>
            </a:pPr>
            <a:endParaRPr lang="en-US" dirty="0"/>
          </a:p>
        </p:txBody>
      </p:sp>
      <p:sp>
        <p:nvSpPr>
          <p:cNvPr id="8" name="Text 6"/>
          <p:cNvSpPr/>
          <p:nvPr/>
        </p:nvSpPr>
        <p:spPr>
          <a:xfrm>
            <a:off x="342900" y="400050"/>
            <a:ext cx="8801100" cy="182880"/>
          </a:xfrm>
          <a:prstGeom prst="rect">
            <a:avLst/>
          </a:prstGeom>
          <a:noFill/>
          <a:ln/>
        </p:spPr>
        <p:txBody>
          <a:bodyPr wrap="none" lIns="0" tIns="0" rIns="0" bIns="0" rtlCol="0" anchor="t"/>
          <a:lstStyle/>
          <a:p>
            <a:pPr marL="0" indent="0" algn="l">
              <a:lnSpc>
                <a:spcPts val="1095"/>
              </a:lnSpc>
              <a:buNone/>
            </a:pPr>
            <a:r>
              <a:rPr lang="en-US" sz="730" kern="0" spc="230" dirty="0">
                <a:solidFill>
                  <a:srgbClr val="76B900"/>
                </a:solidFill>
                <a:latin typeface="Consolas" pitchFamily="34" charset="0"/>
                <a:ea typeface="Consolas" pitchFamily="34" charset="-122"/>
                <a:cs typeface="Consolas" pitchFamily="34" charset="-120"/>
              </a:rPr>
              <a:t>AGENT FRAMEWORK</a:t>
            </a:r>
            <a:endParaRPr lang="en-US" sz="730" dirty="0"/>
          </a:p>
        </p:txBody>
      </p:sp>
      <p:sp>
        <p:nvSpPr>
          <p:cNvPr id="9" name="Text 7"/>
          <p:cNvSpPr/>
          <p:nvPr/>
        </p:nvSpPr>
        <p:spPr>
          <a:xfrm>
            <a:off x="571500" y="625376"/>
            <a:ext cx="8401050" cy="409277"/>
          </a:xfrm>
          <a:prstGeom prst="rect">
            <a:avLst/>
          </a:prstGeom>
          <a:noFill/>
          <a:ln/>
        </p:spPr>
        <p:txBody>
          <a:bodyPr wrap="none" lIns="0" tIns="0" rIns="0" bIns="0" rtlCol="0" anchor="t"/>
          <a:lstStyle/>
          <a:p>
            <a:pPr marL="0" indent="0" algn="l">
              <a:lnSpc>
                <a:spcPts val="3223"/>
              </a:lnSpc>
              <a:spcBef>
                <a:spcPts val="680"/>
              </a:spcBef>
              <a:spcAft>
                <a:spcPts val="2480"/>
              </a:spcAft>
              <a:buNone/>
            </a:pPr>
            <a:r>
              <a:rPr lang="en-US" sz="2930" dirty="0">
                <a:solidFill>
                  <a:srgbClr val="E2E8F0"/>
                </a:solidFill>
                <a:latin typeface="Consolas" pitchFamily="34" charset="0"/>
                <a:ea typeface="Consolas" pitchFamily="34" charset="-122"/>
                <a:cs typeface="Consolas" pitchFamily="34" charset="-120"/>
              </a:rPr>
              <a:t> Meet </a:t>
            </a:r>
            <a:r>
              <a:rPr lang="en-US" sz="2930" b="1" dirty="0">
                <a:solidFill>
                  <a:srgbClr val="76B900"/>
                </a:solidFill>
                <a:latin typeface="Consolas" pitchFamily="34" charset="0"/>
                <a:ea typeface="Consolas" pitchFamily="34" charset="-122"/>
                <a:cs typeface="Consolas" pitchFamily="34" charset="-120"/>
              </a:rPr>
              <a:t>OpenClaw</a:t>
            </a:r>
            <a:r>
              <a:rPr lang="en-US" sz="2930" dirty="0">
                <a:solidFill>
                  <a:srgbClr val="E2E8F0"/>
                </a:solidFill>
                <a:latin typeface="Consolas" pitchFamily="34" charset="0"/>
                <a:ea typeface="Consolas" pitchFamily="34" charset="-122"/>
                <a:cs typeface="Consolas" pitchFamily="34" charset="-120"/>
              </a:rPr>
              <a:t> </a:t>
            </a:r>
            <a:br>
              <a:rPr dirty="0"/>
            </a:br>
            <a:r>
              <a:rPr lang="en-US" sz="2930" dirty="0">
                <a:solidFill>
                  <a:srgbClr val="E2E8F0"/>
                </a:solidFill>
                <a:latin typeface="Consolas" pitchFamily="34" charset="0"/>
                <a:ea typeface="Consolas" pitchFamily="34" charset="-122"/>
                <a:cs typeface="Consolas" pitchFamily="34" charset="-120"/>
              </a:rPr>
              <a:t>    </a:t>
            </a:r>
            <a:endParaRPr lang="en-US" sz="2930" dirty="0"/>
          </a:p>
        </p:txBody>
      </p:sp>
      <p:sp>
        <p:nvSpPr>
          <p:cNvPr id="10" name="Text 8"/>
          <p:cNvSpPr/>
          <p:nvPr/>
        </p:nvSpPr>
        <p:spPr>
          <a:xfrm>
            <a:off x="571500" y="1349573"/>
            <a:ext cx="8001000" cy="1158478"/>
          </a:xfrm>
          <a:prstGeom prst="roundRect">
            <a:avLst>
              <a:gd name="adj" fmla="val 986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1" name="Text 9"/>
          <p:cNvSpPr/>
          <p:nvPr/>
        </p:nvSpPr>
        <p:spPr>
          <a:xfrm>
            <a:off x="866775" y="1616869"/>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1493" y="1741587"/>
            <a:ext cx="150465" cy="150465"/>
          </a:xfrm>
          <a:prstGeom prst="rect">
            <a:avLst/>
          </a:prstGeom>
        </p:spPr>
      </p:pic>
      <p:sp>
        <p:nvSpPr>
          <p:cNvPr id="13" name="Text 10"/>
          <p:cNvSpPr/>
          <p:nvPr/>
        </p:nvSpPr>
        <p:spPr>
          <a:xfrm>
            <a:off x="1467445" y="1616869"/>
            <a:ext cx="7490758" cy="215205"/>
          </a:xfrm>
          <a:prstGeom prst="rect">
            <a:avLst/>
          </a:prstGeom>
          <a:noFill/>
          <a:ln/>
        </p:spPr>
        <p:txBody>
          <a:bodyPr wrap="none" lIns="0" tIns="0" rIns="0" bIns="0" rtlCol="0" anchor="t"/>
          <a:lstStyle/>
          <a:p>
            <a:pPr marL="0" indent="0" algn="l">
              <a:lnSpc>
                <a:spcPts val="1695"/>
              </a:lnSpc>
              <a:buNone/>
            </a:pPr>
            <a:r>
              <a:rPr lang="en-US" sz="1130" b="1" dirty="0">
                <a:solidFill>
                  <a:srgbClr val="E2E8F0"/>
                </a:solidFill>
                <a:latin typeface="Consolas" pitchFamily="34" charset="0"/>
                <a:ea typeface="Consolas" pitchFamily="34" charset="-122"/>
                <a:cs typeface="Consolas" pitchFamily="34" charset="-120"/>
              </a:rPr>
              <a:t>Open-Source Autonomous Agent Framework</a:t>
            </a:r>
            <a:endParaRPr lang="en-US" sz="1130" dirty="0"/>
          </a:p>
        </p:txBody>
      </p:sp>
      <p:sp>
        <p:nvSpPr>
          <p:cNvPr id="14" name="Text 11"/>
          <p:cNvSpPr/>
          <p:nvPr/>
        </p:nvSpPr>
        <p:spPr>
          <a:xfrm>
            <a:off x="1467445" y="1875234"/>
            <a:ext cx="6945975" cy="383798"/>
          </a:xfrm>
          <a:prstGeom prst="rect">
            <a:avLst/>
          </a:prstGeom>
          <a:noFill/>
          <a:ln/>
        </p:spPr>
        <p:txBody>
          <a:bodyPr wrap="square" lIns="0" tIns="0" rIns="0" bIns="0" rtlCol="0" anchor="t"/>
          <a:lstStyle/>
          <a:p>
            <a:pPr marL="0" indent="0" algn="l">
              <a:lnSpc>
                <a:spcPts val="1440"/>
              </a:lnSpc>
              <a:buNone/>
            </a:pPr>
            <a:r>
              <a:rPr lang="en-US" sz="960" dirty="0">
                <a:solidFill>
                  <a:srgbClr val="8B9CB6"/>
                </a:solidFill>
                <a:latin typeface="Calibri" pitchFamily="34" charset="0"/>
                <a:ea typeface="Calibri" pitchFamily="34" charset="-122"/>
                <a:cs typeface="Calibri" pitchFamily="34" charset="-120"/>
              </a:rPr>
              <a:t>Fully open-source and community-driven. Build, customize, and extend your own autonomous AI agents with complete transparency — no black boxes, no vendor lock-in.</a:t>
            </a:r>
            <a:endParaRPr lang="en-US" sz="960" dirty="0"/>
          </a:p>
        </p:txBody>
      </p:sp>
      <p:sp>
        <p:nvSpPr>
          <p:cNvPr id="15" name="Text 12"/>
          <p:cNvSpPr/>
          <p:nvPr/>
        </p:nvSpPr>
        <p:spPr>
          <a:xfrm>
            <a:off x="571500" y="2679502"/>
            <a:ext cx="8001000" cy="1158478"/>
          </a:xfrm>
          <a:prstGeom prst="roundRect">
            <a:avLst>
              <a:gd name="adj" fmla="val 986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6" name="Text 13"/>
          <p:cNvSpPr/>
          <p:nvPr/>
        </p:nvSpPr>
        <p:spPr>
          <a:xfrm>
            <a:off x="866775" y="2946797"/>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493" y="3071515"/>
            <a:ext cx="150465" cy="150465"/>
          </a:xfrm>
          <a:prstGeom prst="rect">
            <a:avLst/>
          </a:prstGeom>
        </p:spPr>
      </p:pic>
      <p:sp>
        <p:nvSpPr>
          <p:cNvPr id="18" name="Text 14"/>
          <p:cNvSpPr/>
          <p:nvPr/>
        </p:nvSpPr>
        <p:spPr>
          <a:xfrm>
            <a:off x="1467445" y="2946797"/>
            <a:ext cx="7490758" cy="215205"/>
          </a:xfrm>
          <a:prstGeom prst="rect">
            <a:avLst/>
          </a:prstGeom>
          <a:noFill/>
          <a:ln/>
        </p:spPr>
        <p:txBody>
          <a:bodyPr wrap="none" lIns="0" tIns="0" rIns="0" bIns="0" rtlCol="0" anchor="t"/>
          <a:lstStyle/>
          <a:p>
            <a:pPr marL="0" indent="0" algn="l">
              <a:lnSpc>
                <a:spcPts val="1695"/>
              </a:lnSpc>
              <a:buNone/>
            </a:pPr>
            <a:r>
              <a:rPr lang="en-US" sz="1130" b="1" dirty="0">
                <a:solidFill>
                  <a:srgbClr val="E2E8F0"/>
                </a:solidFill>
                <a:latin typeface="Consolas" pitchFamily="34" charset="0"/>
                <a:ea typeface="Consolas" pitchFamily="34" charset="-122"/>
                <a:cs typeface="Consolas" pitchFamily="34" charset="-120"/>
              </a:rPr>
              <a:t>Works with Telegram, WhatsApp, Discord &amp; More</a:t>
            </a:r>
            <a:endParaRPr lang="en-US" sz="1130" dirty="0"/>
          </a:p>
        </p:txBody>
      </p:sp>
      <p:sp>
        <p:nvSpPr>
          <p:cNvPr id="19" name="Text 15"/>
          <p:cNvSpPr/>
          <p:nvPr/>
        </p:nvSpPr>
        <p:spPr>
          <a:xfrm>
            <a:off x="1467445" y="3205163"/>
            <a:ext cx="6945975" cy="383798"/>
          </a:xfrm>
          <a:prstGeom prst="rect">
            <a:avLst/>
          </a:prstGeom>
          <a:noFill/>
          <a:ln/>
        </p:spPr>
        <p:txBody>
          <a:bodyPr wrap="square" lIns="0" tIns="0" rIns="0" bIns="0" rtlCol="0" anchor="t"/>
          <a:lstStyle/>
          <a:p>
            <a:pPr marL="0" indent="0" algn="l">
              <a:lnSpc>
                <a:spcPts val="1440"/>
              </a:lnSpc>
              <a:buNone/>
            </a:pPr>
            <a:r>
              <a:rPr lang="en-US" sz="960" dirty="0">
                <a:solidFill>
                  <a:srgbClr val="8B9CB6"/>
                </a:solidFill>
                <a:latin typeface="Calibri" pitchFamily="34" charset="0"/>
                <a:ea typeface="Calibri" pitchFamily="34" charset="-122"/>
                <a:cs typeface="Calibri" pitchFamily="34" charset="-120"/>
              </a:rPr>
              <a:t>Connect your agent to the messaging platforms you already use. Send commands, receive updates, and interact naturally through your favorite chat apps.</a:t>
            </a:r>
            <a:endParaRPr lang="en-US" sz="960" dirty="0"/>
          </a:p>
        </p:txBody>
      </p:sp>
      <p:sp>
        <p:nvSpPr>
          <p:cNvPr id="20" name="Text 16"/>
          <p:cNvSpPr/>
          <p:nvPr/>
        </p:nvSpPr>
        <p:spPr>
          <a:xfrm>
            <a:off x="571500" y="4009430"/>
            <a:ext cx="8001000" cy="1134070"/>
          </a:xfrm>
          <a:prstGeom prst="roundRect">
            <a:avLst>
              <a:gd name="adj" fmla="val 10079"/>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1" name="Text 17"/>
          <p:cNvSpPr/>
          <p:nvPr/>
        </p:nvSpPr>
        <p:spPr>
          <a:xfrm>
            <a:off x="866775" y="4276725"/>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1493" y="4401443"/>
            <a:ext cx="150465" cy="150465"/>
          </a:xfrm>
          <a:prstGeom prst="rect">
            <a:avLst/>
          </a:prstGeom>
        </p:spPr>
      </p:pic>
      <p:sp>
        <p:nvSpPr>
          <p:cNvPr id="23" name="Text 18"/>
          <p:cNvSpPr/>
          <p:nvPr/>
        </p:nvSpPr>
        <p:spPr>
          <a:xfrm>
            <a:off x="1467445" y="4276725"/>
            <a:ext cx="7490758" cy="215205"/>
          </a:xfrm>
          <a:prstGeom prst="rect">
            <a:avLst/>
          </a:prstGeom>
          <a:noFill/>
          <a:ln/>
        </p:spPr>
        <p:txBody>
          <a:bodyPr wrap="none" lIns="0" tIns="0" rIns="0" bIns="0" rtlCol="0" anchor="t"/>
          <a:lstStyle/>
          <a:p>
            <a:pPr marL="0" indent="0" algn="l">
              <a:lnSpc>
                <a:spcPts val="1695"/>
              </a:lnSpc>
              <a:buNone/>
            </a:pPr>
            <a:r>
              <a:rPr lang="en-US" sz="1130" b="1" dirty="0">
                <a:solidFill>
                  <a:srgbClr val="E2E8F0"/>
                </a:solidFill>
                <a:latin typeface="Consolas" pitchFamily="34" charset="0"/>
                <a:ea typeface="Consolas" pitchFamily="34" charset="-122"/>
                <a:cs typeface="Consolas" pitchFamily="34" charset="-120"/>
              </a:rPr>
              <a:t>Executes Real Actions: Email, Calendar, Browser, Shell, Files</a:t>
            </a:r>
            <a:endParaRPr lang="en-US" sz="1130" dirty="0"/>
          </a:p>
        </p:txBody>
      </p:sp>
      <p:sp>
        <p:nvSpPr>
          <p:cNvPr id="24" name="Text 19"/>
          <p:cNvSpPr/>
          <p:nvPr/>
        </p:nvSpPr>
        <p:spPr>
          <a:xfrm>
            <a:off x="1467445" y="4535091"/>
            <a:ext cx="6945975" cy="383798"/>
          </a:xfrm>
          <a:prstGeom prst="rect">
            <a:avLst/>
          </a:prstGeom>
          <a:noFill/>
          <a:ln/>
        </p:spPr>
        <p:txBody>
          <a:bodyPr wrap="square" lIns="0" tIns="0" rIns="0" bIns="0" rtlCol="0" anchor="t"/>
          <a:lstStyle/>
          <a:p>
            <a:pPr marL="0" indent="0" algn="l">
              <a:lnSpc>
                <a:spcPts val="1440"/>
              </a:lnSpc>
              <a:buNone/>
            </a:pPr>
            <a:r>
              <a:rPr lang="en-US" sz="960" dirty="0">
                <a:solidFill>
                  <a:srgbClr val="8B9CB6"/>
                </a:solidFill>
                <a:latin typeface="Calibri" pitchFamily="34" charset="0"/>
                <a:ea typeface="Calibri" pitchFamily="34" charset="-122"/>
                <a:cs typeface="Calibri" pitchFamily="34" charset="-120"/>
              </a:rPr>
              <a:t>Not just a chatbot — OpenClaw takes action. Send emails, manage your calendar, browse the web, run shell commands, and manipulate files autonomously on your behalf.</a:t>
            </a:r>
            <a:endParaRPr lang="en-US" sz="9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4">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91440" y="342900"/>
            <a:ext cx="9052560" cy="182880"/>
          </a:xfrm>
          <a:prstGeom prst="rect">
            <a:avLst/>
          </a:prstGeom>
          <a:noFill/>
          <a:ln/>
        </p:spPr>
        <p:txBody>
          <a:bodyPr wrap="none" lIns="0" tIns="0" rIns="0" bIns="0" rtlCol="0" anchor="t"/>
          <a:lstStyle/>
          <a:p>
            <a:pPr marL="0" indent="0" algn="l">
              <a:lnSpc>
                <a:spcPts val="1185"/>
              </a:lnSpc>
              <a:buNone/>
            </a:pPr>
            <a:r>
              <a:rPr lang="en-US" sz="790" kern="0" spc="170" dirty="0">
                <a:solidFill>
                  <a:srgbClr val="76B900"/>
                </a:solidFill>
                <a:latin typeface="Consolas" pitchFamily="34" charset="0"/>
                <a:ea typeface="Consolas" pitchFamily="34" charset="-122"/>
                <a:cs typeface="Consolas" pitchFamily="34" charset="-120"/>
              </a:rPr>
              <a:t>CHOOSE YOUR VARIANT</a:t>
            </a:r>
            <a:endParaRPr lang="en-US" sz="790" dirty="0"/>
          </a:p>
        </p:txBody>
      </p:sp>
      <p:sp>
        <p:nvSpPr>
          <p:cNvPr id="3" name="Text 1"/>
          <p:cNvSpPr/>
          <p:nvPr/>
        </p:nvSpPr>
        <p:spPr>
          <a:xfrm>
            <a:off x="338328" y="550515"/>
            <a:ext cx="8805672" cy="328613"/>
          </a:xfrm>
          <a:prstGeom prst="rect">
            <a:avLst/>
          </a:prstGeom>
          <a:noFill/>
          <a:ln/>
        </p:spPr>
        <p:txBody>
          <a:bodyPr wrap="none" lIns="0" tIns="0" rIns="0" bIns="0" rtlCol="0" anchor="t"/>
          <a:lstStyle/>
          <a:p>
            <a:pPr marL="0" indent="0" algn="l">
              <a:lnSpc>
                <a:spcPts val="2587"/>
              </a:lnSpc>
              <a:buNone/>
            </a:pPr>
            <a:r>
              <a:rPr lang="en-US" sz="2250" dirty="0">
                <a:solidFill>
                  <a:srgbClr val="E2E8F0"/>
                </a:solidFill>
                <a:latin typeface="Consolas" pitchFamily="34" charset="0"/>
                <a:ea typeface="Consolas" pitchFamily="34" charset="-122"/>
                <a:cs typeface="Consolas" pitchFamily="34" charset="-120"/>
              </a:rPr>
              <a:t>OpenClaw </a:t>
            </a:r>
            <a:r>
              <a:rPr lang="en-US" sz="2250" b="1" dirty="0">
                <a:solidFill>
                  <a:srgbClr val="76B900"/>
                </a:solidFill>
                <a:latin typeface="Consolas" pitchFamily="34" charset="0"/>
                <a:ea typeface="Consolas" pitchFamily="34" charset="-122"/>
                <a:cs typeface="Consolas" pitchFamily="34" charset="-120"/>
              </a:rPr>
              <a:t>Variants</a:t>
            </a:r>
            <a:endParaRPr lang="en-US" sz="2250" dirty="0"/>
          </a:p>
        </p:txBody>
      </p:sp>
      <p:sp>
        <p:nvSpPr>
          <p:cNvPr id="4" name="Text 2"/>
          <p:cNvSpPr/>
          <p:nvPr/>
        </p:nvSpPr>
        <p:spPr>
          <a:xfrm>
            <a:off x="457200" y="1164878"/>
            <a:ext cx="1928813" cy="3341787"/>
          </a:xfrm>
          <a:prstGeom prst="roundRect">
            <a:avLst>
              <a:gd name="adj" fmla="val 592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5" name="Text 3"/>
          <p:cNvSpPr/>
          <p:nvPr/>
        </p:nvSpPr>
        <p:spPr>
          <a:xfrm>
            <a:off x="695325" y="1432173"/>
            <a:ext cx="400050" cy="400050"/>
          </a:xfrm>
          <a:prstGeom prst="roundRect">
            <a:avLst>
              <a:gd name="adj" fmla="val 25079"/>
            </a:avLst>
          </a:prstGeom>
          <a:solidFill>
            <a:srgbClr val="3776AB">
              <a:alpha val="15000"/>
            </a:srgbClr>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4834" y="1551682"/>
            <a:ext cx="160883" cy="160883"/>
          </a:xfrm>
          <a:prstGeom prst="rect">
            <a:avLst/>
          </a:prstGeom>
        </p:spPr>
      </p:pic>
      <p:sp>
        <p:nvSpPr>
          <p:cNvPr id="7" name="Text 4"/>
          <p:cNvSpPr/>
          <p:nvPr/>
        </p:nvSpPr>
        <p:spPr>
          <a:xfrm>
            <a:off x="695325" y="1960364"/>
            <a:ext cx="1554242" cy="278160"/>
          </a:xfrm>
          <a:prstGeom prst="rect">
            <a:avLst/>
          </a:prstGeom>
          <a:noFill/>
          <a:ln/>
        </p:spPr>
        <p:txBody>
          <a:bodyPr wrap="none" lIns="0" tIns="0" rIns="0" bIns="0" rtlCol="0" anchor="t"/>
          <a:lstStyle/>
          <a:p>
            <a:pPr marL="0" indent="0" algn="l">
              <a:lnSpc>
                <a:spcPts val="2190"/>
              </a:lnSpc>
              <a:spcBef>
                <a:spcPts val="1010"/>
              </a:spcBef>
              <a:spcAft>
                <a:spcPts val="560"/>
              </a:spcAft>
              <a:buNone/>
            </a:pPr>
            <a:r>
              <a:rPr lang="en-US" sz="1460" b="1" dirty="0">
                <a:solidFill>
                  <a:srgbClr val="E2E8F0"/>
                </a:solidFill>
                <a:latin typeface="Consolas" pitchFamily="34" charset="0"/>
                <a:ea typeface="Consolas" pitchFamily="34" charset="-122"/>
                <a:cs typeface="Consolas" pitchFamily="34" charset="-120"/>
              </a:rPr>
              <a:t>Nanobot</a:t>
            </a:r>
            <a:endParaRPr lang="en-US" sz="1460" dirty="0"/>
          </a:p>
        </p:txBody>
      </p:sp>
      <p:sp>
        <p:nvSpPr>
          <p:cNvPr id="8" name="Text 5"/>
          <p:cNvSpPr/>
          <p:nvPr/>
        </p:nvSpPr>
        <p:spPr>
          <a:xfrm>
            <a:off x="695325" y="2309515"/>
            <a:ext cx="682969" cy="209848"/>
          </a:xfrm>
          <a:prstGeom prst="roundRect">
            <a:avLst>
              <a:gd name="adj" fmla="val 68388"/>
            </a:avLst>
          </a:prstGeom>
          <a:solidFill>
            <a:srgbClr val="3776AB">
              <a:alpha val="18000"/>
            </a:srgbClr>
          </a:solidFill>
          <a:ln/>
        </p:spPr>
        <p:txBody>
          <a:bodyPr wrap="none" lIns="232638" tIns="35560" rIns="100330" bIns="35560" rtlCol="0" anchor="ctr"/>
          <a:lstStyle/>
          <a:p>
            <a:pPr marL="0" indent="0" algn="l">
              <a:buNone/>
            </a:pPr>
            <a:r>
              <a:rPr lang="en-US" sz="730" b="1" kern="0" spc="30" dirty="0">
                <a:solidFill>
                  <a:srgbClr val="5A9FD4"/>
                </a:solidFill>
                <a:latin typeface="Consolas" pitchFamily="34" charset="0"/>
                <a:ea typeface="Consolas" pitchFamily="34" charset="-122"/>
                <a:cs typeface="Consolas" pitchFamily="34" charset="-120"/>
              </a:rPr>
              <a:t>Python</a:t>
            </a:r>
            <a:endParaRPr lang="en-US" sz="73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6920" y="2348070"/>
            <a:ext cx="132588" cy="132588"/>
          </a:xfrm>
          <a:prstGeom prst="rect">
            <a:avLst/>
          </a:prstGeom>
        </p:spPr>
      </p:pic>
      <p:sp>
        <p:nvSpPr>
          <p:cNvPr id="10" name="Text 6"/>
          <p:cNvSpPr/>
          <p:nvPr/>
        </p:nvSpPr>
        <p:spPr>
          <a:xfrm>
            <a:off x="695325" y="2647504"/>
            <a:ext cx="1481614" cy="360045"/>
          </a:xfrm>
          <a:prstGeom prst="rect">
            <a:avLst/>
          </a:prstGeom>
          <a:noFill/>
          <a:ln/>
        </p:spPr>
        <p:txBody>
          <a:bodyPr wrap="square" lIns="0" tIns="0" rIns="0" bIns="0" rtlCol="0" anchor="t"/>
          <a:lstStyle/>
          <a:p>
            <a:pPr marL="0" indent="0" algn="l">
              <a:lnSpc>
                <a:spcPts val="1350"/>
              </a:lnSpc>
              <a:spcBef>
                <a:spcPts val="1010"/>
              </a:spcBef>
              <a:buNone/>
            </a:pPr>
            <a:r>
              <a:rPr lang="en-US" sz="900" dirty="0">
                <a:solidFill>
                  <a:srgbClr val="8B9CB6"/>
                </a:solidFill>
                <a:latin typeface="Calibri" pitchFamily="34" charset="0"/>
                <a:ea typeface="Calibri" pitchFamily="34" charset="-122"/>
                <a:cs typeface="Calibri" pitchFamily="34" charset="-120"/>
              </a:rPr>
              <a:t>Minimalists &amp; quick experiments</a:t>
            </a:r>
            <a:endParaRPr lang="en-US" sz="900" dirty="0"/>
          </a:p>
        </p:txBody>
      </p:sp>
      <p:sp>
        <p:nvSpPr>
          <p:cNvPr id="11" name="Text 7"/>
          <p:cNvSpPr/>
          <p:nvPr/>
        </p:nvSpPr>
        <p:spPr>
          <a:xfrm>
            <a:off x="813643" y="3133874"/>
            <a:ext cx="730151" cy="139005"/>
          </a:xfrm>
          <a:prstGeom prst="rect">
            <a:avLst/>
          </a:prstGeom>
          <a:noFill/>
          <a:ln/>
        </p:spPr>
        <p:txBody>
          <a:bodyPr wrap="none" lIns="0" tIns="0" rIns="0" bIns="0" rtlCol="0" anchor="ctr"/>
          <a:lstStyle/>
          <a:p>
            <a:pPr marL="0" indent="0" algn="l">
              <a:lnSpc>
                <a:spcPts val="1095"/>
              </a:lnSpc>
              <a:buNone/>
            </a:pPr>
            <a:r>
              <a:rPr lang="en-US" sz="730" dirty="0">
                <a:solidFill>
                  <a:srgbClr val="FFD43B">
                    <a:alpha val="70000"/>
                  </a:srgbClr>
                </a:solidFill>
                <a:latin typeface="Consolas" pitchFamily="34" charset="0"/>
                <a:ea typeface="Consolas" pitchFamily="34" charset="-122"/>
                <a:cs typeface="Consolas" pitchFamily="34" charset="-120"/>
              </a:rPr>
              <a:t>Fast prototyping</a:t>
            </a:r>
            <a:endParaRPr lang="en-US" sz="730" dirty="0"/>
          </a:p>
        </p:txBody>
      </p:sp>
      <p:pic>
        <p:nvPicPr>
          <p:cNvPr id="12" name="Image 2" descr="preencoded.png"/>
          <p:cNvPicPr>
            <a:picLocks noChangeAspect="1"/>
          </p:cNvPicPr>
          <p:nvPr/>
        </p:nvPicPr>
        <p:blipFill>
          <a:blip>
            <a:alphaModFix amt="70000"/>
            <a:extLst>
              <a:ext uri="{96DAC541-7B7A-43D3-8B79-37D633B846F1}">
                <asvg:svgBlip xmlns:asvg="http://schemas.microsoft.com/office/drawing/2016/SVG/main" r:embed="rId5"/>
              </a:ext>
            </a:extLst>
          </a:blip>
          <a:stretch>
            <a:fillRect/>
          </a:stretch>
        </p:blipFill>
        <p:spPr>
          <a:xfrm>
            <a:off x="666610" y="3137008"/>
            <a:ext cx="132588" cy="132588"/>
          </a:xfrm>
          <a:prstGeom prst="rect">
            <a:avLst/>
          </a:prstGeom>
        </p:spPr>
      </p:pic>
      <p:sp>
        <p:nvSpPr>
          <p:cNvPr id="13" name="Text 8"/>
          <p:cNvSpPr/>
          <p:nvPr/>
        </p:nvSpPr>
        <p:spPr>
          <a:xfrm>
            <a:off x="2557463" y="1164878"/>
            <a:ext cx="1928813" cy="3341787"/>
          </a:xfrm>
          <a:prstGeom prst="roundRect">
            <a:avLst>
              <a:gd name="adj" fmla="val 592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14" name="Text 9"/>
          <p:cNvSpPr/>
          <p:nvPr/>
        </p:nvSpPr>
        <p:spPr>
          <a:xfrm>
            <a:off x="2795588" y="1432173"/>
            <a:ext cx="400050" cy="400050"/>
          </a:xfrm>
          <a:prstGeom prst="roundRect">
            <a:avLst>
              <a:gd name="adj" fmla="val 25079"/>
            </a:avLst>
          </a:prstGeom>
          <a:solidFill>
            <a:srgbClr val="3178C6">
              <a:alpha val="15000"/>
            </a:srgbClr>
          </a:solidFill>
          <a:ln/>
        </p:spPr>
        <p:txBody>
          <a:bodyPr wrap="square" rtlCol="0" anchor="t"/>
          <a:lstStyle/>
          <a:p>
            <a:pPr marL="0" indent="0">
              <a:buNone/>
            </a:pPr>
            <a:endParaRPr lang="en-US"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15096" y="1551682"/>
            <a:ext cx="160883" cy="160883"/>
          </a:xfrm>
          <a:prstGeom prst="rect">
            <a:avLst/>
          </a:prstGeom>
        </p:spPr>
      </p:pic>
      <p:sp>
        <p:nvSpPr>
          <p:cNvPr id="16" name="Text 10"/>
          <p:cNvSpPr/>
          <p:nvPr/>
        </p:nvSpPr>
        <p:spPr>
          <a:xfrm>
            <a:off x="2795588" y="1960364"/>
            <a:ext cx="1554242" cy="278160"/>
          </a:xfrm>
          <a:prstGeom prst="rect">
            <a:avLst/>
          </a:prstGeom>
          <a:noFill/>
          <a:ln/>
        </p:spPr>
        <p:txBody>
          <a:bodyPr wrap="none" lIns="0" tIns="0" rIns="0" bIns="0" rtlCol="0" anchor="t"/>
          <a:lstStyle/>
          <a:p>
            <a:pPr marL="0" indent="0" algn="l">
              <a:lnSpc>
                <a:spcPts val="2190"/>
              </a:lnSpc>
              <a:spcBef>
                <a:spcPts val="1010"/>
              </a:spcBef>
              <a:spcAft>
                <a:spcPts val="560"/>
              </a:spcAft>
              <a:buNone/>
            </a:pPr>
            <a:r>
              <a:rPr lang="en-US" sz="1460" b="1" dirty="0">
                <a:solidFill>
                  <a:srgbClr val="E2E8F0"/>
                </a:solidFill>
                <a:latin typeface="Consolas" pitchFamily="34" charset="0"/>
                <a:ea typeface="Consolas" pitchFamily="34" charset="-122"/>
                <a:cs typeface="Consolas" pitchFamily="34" charset="-120"/>
              </a:rPr>
              <a:t>NanoClaw</a:t>
            </a:r>
            <a:endParaRPr lang="en-US" sz="1460" dirty="0"/>
          </a:p>
        </p:txBody>
      </p:sp>
      <p:sp>
        <p:nvSpPr>
          <p:cNvPr id="17" name="Text 11"/>
          <p:cNvSpPr/>
          <p:nvPr/>
        </p:nvSpPr>
        <p:spPr>
          <a:xfrm>
            <a:off x="2795588" y="2309515"/>
            <a:ext cx="859518" cy="209848"/>
          </a:xfrm>
          <a:prstGeom prst="roundRect">
            <a:avLst>
              <a:gd name="adj" fmla="val 68388"/>
            </a:avLst>
          </a:prstGeom>
          <a:solidFill>
            <a:srgbClr val="3178C6">
              <a:alpha val="18000"/>
            </a:srgbClr>
          </a:solidFill>
          <a:ln/>
        </p:spPr>
        <p:txBody>
          <a:bodyPr wrap="none" lIns="232638" tIns="35560" rIns="100330" bIns="35560" rtlCol="0" anchor="ctr"/>
          <a:lstStyle/>
          <a:p>
            <a:pPr marL="0" indent="0" algn="l">
              <a:buNone/>
            </a:pPr>
            <a:r>
              <a:rPr lang="en-US" sz="730" b="1" kern="0" spc="30" dirty="0">
                <a:solidFill>
                  <a:srgbClr val="5A9FD4"/>
                </a:solidFill>
                <a:latin typeface="Consolas" pitchFamily="34" charset="0"/>
                <a:ea typeface="Consolas" pitchFamily="34" charset="-122"/>
                <a:cs typeface="Consolas" pitchFamily="34" charset="-120"/>
              </a:rPr>
              <a:t>TypeScript</a:t>
            </a:r>
            <a:endParaRPr lang="en-US" sz="73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67183" y="2348070"/>
            <a:ext cx="132588" cy="132588"/>
          </a:xfrm>
          <a:prstGeom prst="rect">
            <a:avLst/>
          </a:prstGeom>
        </p:spPr>
      </p:pic>
      <p:sp>
        <p:nvSpPr>
          <p:cNvPr id="19" name="Text 12"/>
          <p:cNvSpPr/>
          <p:nvPr/>
        </p:nvSpPr>
        <p:spPr>
          <a:xfrm>
            <a:off x="2795588" y="2647504"/>
            <a:ext cx="1597819" cy="171450"/>
          </a:xfrm>
          <a:prstGeom prst="rect">
            <a:avLst/>
          </a:prstGeom>
          <a:noFill/>
          <a:ln/>
        </p:spPr>
        <p:txBody>
          <a:bodyPr wrap="none" lIns="0" tIns="0" rIns="0" bIns="0" rtlCol="0" anchor="t"/>
          <a:lstStyle/>
          <a:p>
            <a:pPr marL="0" indent="0" algn="l">
              <a:lnSpc>
                <a:spcPts val="1350"/>
              </a:lnSpc>
              <a:spcBef>
                <a:spcPts val="1010"/>
              </a:spcBef>
              <a:buNone/>
            </a:pPr>
            <a:r>
              <a:rPr lang="en-US" sz="900" dirty="0">
                <a:solidFill>
                  <a:srgbClr val="8B9CB6"/>
                </a:solidFill>
                <a:latin typeface="Calibri" pitchFamily="34" charset="0"/>
                <a:ea typeface="Calibri" pitchFamily="34" charset="-122"/>
                <a:cs typeface="Calibri" pitchFamily="34" charset="-120"/>
              </a:rPr>
              <a:t>Security-first / regulated use</a:t>
            </a:r>
            <a:endParaRPr lang="en-US" sz="900" dirty="0"/>
          </a:p>
        </p:txBody>
      </p:sp>
      <p:sp>
        <p:nvSpPr>
          <p:cNvPr id="20" name="Text 13"/>
          <p:cNvSpPr/>
          <p:nvPr/>
        </p:nvSpPr>
        <p:spPr>
          <a:xfrm>
            <a:off x="2913906" y="2962424"/>
            <a:ext cx="781229" cy="139005"/>
          </a:xfrm>
          <a:prstGeom prst="rect">
            <a:avLst/>
          </a:prstGeom>
          <a:noFill/>
          <a:ln/>
        </p:spPr>
        <p:txBody>
          <a:bodyPr wrap="none" lIns="0" tIns="0" rIns="0" bIns="0" rtlCol="0" anchor="ctr"/>
          <a:lstStyle/>
          <a:p>
            <a:pPr marL="0" indent="0" algn="l">
              <a:lnSpc>
                <a:spcPts val="1095"/>
              </a:lnSpc>
              <a:buNone/>
            </a:pPr>
            <a:r>
              <a:rPr lang="en-US" sz="730" dirty="0">
                <a:solidFill>
                  <a:srgbClr val="3178C6">
                    <a:alpha val="70000"/>
                  </a:srgbClr>
                </a:solidFill>
                <a:latin typeface="Consolas" pitchFamily="34" charset="0"/>
                <a:ea typeface="Consolas" pitchFamily="34" charset="-122"/>
                <a:cs typeface="Consolas" pitchFamily="34" charset="-120"/>
              </a:rPr>
              <a:t>Type-safe agents</a:t>
            </a:r>
            <a:endParaRPr lang="en-US" sz="730" dirty="0"/>
          </a:p>
        </p:txBody>
      </p:sp>
      <p:pic>
        <p:nvPicPr>
          <p:cNvPr id="21" name="Image 5" descr="preencoded.png"/>
          <p:cNvPicPr>
            <a:picLocks noChangeAspect="1"/>
          </p:cNvPicPr>
          <p:nvPr/>
        </p:nvPicPr>
        <p:blipFill>
          <a:blip>
            <a:alphaModFix amt="70000"/>
            <a:extLst>
              <a:ext uri="{96DAC541-7B7A-43D3-8B79-37D633B846F1}">
                <asvg:svgBlip xmlns:asvg="http://schemas.microsoft.com/office/drawing/2016/SVG/main" r:embed="rId8"/>
              </a:ext>
            </a:extLst>
          </a:blip>
          <a:stretch>
            <a:fillRect/>
          </a:stretch>
        </p:blipFill>
        <p:spPr>
          <a:xfrm>
            <a:off x="2766873" y="2965558"/>
            <a:ext cx="132588" cy="132588"/>
          </a:xfrm>
          <a:prstGeom prst="rect">
            <a:avLst/>
          </a:prstGeom>
        </p:spPr>
      </p:pic>
      <p:sp>
        <p:nvSpPr>
          <p:cNvPr id="22" name="Text 14"/>
          <p:cNvSpPr/>
          <p:nvPr/>
        </p:nvSpPr>
        <p:spPr>
          <a:xfrm>
            <a:off x="4657725" y="1164878"/>
            <a:ext cx="1928813" cy="3341787"/>
          </a:xfrm>
          <a:prstGeom prst="roundRect">
            <a:avLst>
              <a:gd name="adj" fmla="val 592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3" name="Text 15"/>
          <p:cNvSpPr/>
          <p:nvPr/>
        </p:nvSpPr>
        <p:spPr>
          <a:xfrm>
            <a:off x="4895850" y="1432173"/>
            <a:ext cx="400050" cy="400050"/>
          </a:xfrm>
          <a:prstGeom prst="roundRect">
            <a:avLst>
              <a:gd name="adj" fmla="val 25079"/>
            </a:avLst>
          </a:prstGeom>
          <a:solidFill>
            <a:srgbClr val="CE422B">
              <a:alpha val="15000"/>
            </a:srgbClr>
          </a:solidFill>
          <a:ln/>
        </p:spPr>
        <p:txBody>
          <a:bodyPr wrap="square" rtlCol="0" anchor="t"/>
          <a:lstStyle/>
          <a:p>
            <a:pPr marL="0" indent="0">
              <a:buNone/>
            </a:pPr>
            <a:endParaRPr lang="en-US" dirty="0"/>
          </a:p>
        </p:txBody>
      </p:sp>
      <p:pic>
        <p:nvPicPr>
          <p:cNvPr id="2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15359" y="1551682"/>
            <a:ext cx="160883" cy="160883"/>
          </a:xfrm>
          <a:prstGeom prst="rect">
            <a:avLst/>
          </a:prstGeom>
        </p:spPr>
      </p:pic>
      <p:sp>
        <p:nvSpPr>
          <p:cNvPr id="25" name="Text 16"/>
          <p:cNvSpPr/>
          <p:nvPr/>
        </p:nvSpPr>
        <p:spPr>
          <a:xfrm>
            <a:off x="4895850" y="1960364"/>
            <a:ext cx="1554242" cy="278160"/>
          </a:xfrm>
          <a:prstGeom prst="rect">
            <a:avLst/>
          </a:prstGeom>
          <a:noFill/>
          <a:ln/>
        </p:spPr>
        <p:txBody>
          <a:bodyPr wrap="none" lIns="0" tIns="0" rIns="0" bIns="0" rtlCol="0" anchor="t"/>
          <a:lstStyle/>
          <a:p>
            <a:pPr marL="0" indent="0" algn="l">
              <a:lnSpc>
                <a:spcPts val="2190"/>
              </a:lnSpc>
              <a:spcBef>
                <a:spcPts val="1010"/>
              </a:spcBef>
              <a:spcAft>
                <a:spcPts val="560"/>
              </a:spcAft>
              <a:buNone/>
            </a:pPr>
            <a:r>
              <a:rPr lang="en-US" sz="1460" b="1" dirty="0">
                <a:solidFill>
                  <a:srgbClr val="E2E8F0"/>
                </a:solidFill>
                <a:latin typeface="Consolas" pitchFamily="34" charset="0"/>
                <a:ea typeface="Consolas" pitchFamily="34" charset="-122"/>
                <a:cs typeface="Consolas" pitchFamily="34" charset="-120"/>
              </a:rPr>
              <a:t>ZeroClaw</a:t>
            </a:r>
            <a:endParaRPr lang="en-US" sz="1460" dirty="0"/>
          </a:p>
        </p:txBody>
      </p:sp>
      <p:sp>
        <p:nvSpPr>
          <p:cNvPr id="26" name="Text 17"/>
          <p:cNvSpPr/>
          <p:nvPr/>
        </p:nvSpPr>
        <p:spPr>
          <a:xfrm>
            <a:off x="4895850" y="2309515"/>
            <a:ext cx="565017" cy="209848"/>
          </a:xfrm>
          <a:prstGeom prst="roundRect">
            <a:avLst>
              <a:gd name="adj" fmla="val 68388"/>
            </a:avLst>
          </a:prstGeom>
          <a:solidFill>
            <a:srgbClr val="CE422B">
              <a:alpha val="18000"/>
            </a:srgbClr>
          </a:solidFill>
          <a:ln/>
        </p:spPr>
        <p:txBody>
          <a:bodyPr wrap="none" lIns="232638" tIns="35560" rIns="100330" bIns="35560" rtlCol="0" anchor="ctr"/>
          <a:lstStyle/>
          <a:p>
            <a:pPr marL="0" indent="0" algn="l">
              <a:buNone/>
            </a:pPr>
            <a:r>
              <a:rPr lang="en-US" sz="730" b="1" kern="0" spc="30" dirty="0">
                <a:solidFill>
                  <a:srgbClr val="E8654D"/>
                </a:solidFill>
                <a:latin typeface="Consolas" pitchFamily="34" charset="0"/>
                <a:ea typeface="Consolas" pitchFamily="34" charset="-122"/>
                <a:cs typeface="Consolas" pitchFamily="34" charset="-120"/>
              </a:rPr>
              <a:t>Rust</a:t>
            </a:r>
            <a:endParaRPr lang="en-US" sz="730" dirty="0"/>
          </a:p>
        </p:txBody>
      </p:sp>
      <p:pic>
        <p:nvPicPr>
          <p:cNvPr id="27"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67445" y="2348070"/>
            <a:ext cx="132588" cy="132588"/>
          </a:xfrm>
          <a:prstGeom prst="rect">
            <a:avLst/>
          </a:prstGeom>
        </p:spPr>
      </p:pic>
      <p:sp>
        <p:nvSpPr>
          <p:cNvPr id="28" name="Text 18"/>
          <p:cNvSpPr/>
          <p:nvPr/>
        </p:nvSpPr>
        <p:spPr>
          <a:xfrm>
            <a:off x="4895850" y="2647504"/>
            <a:ext cx="1481614" cy="360045"/>
          </a:xfrm>
          <a:prstGeom prst="rect">
            <a:avLst/>
          </a:prstGeom>
          <a:noFill/>
          <a:ln/>
        </p:spPr>
        <p:txBody>
          <a:bodyPr wrap="square" lIns="0" tIns="0" rIns="0" bIns="0" rtlCol="0" anchor="t"/>
          <a:lstStyle/>
          <a:p>
            <a:pPr marL="0" indent="0" algn="l">
              <a:lnSpc>
                <a:spcPts val="1350"/>
              </a:lnSpc>
              <a:spcBef>
                <a:spcPts val="1010"/>
              </a:spcBef>
              <a:buNone/>
            </a:pPr>
            <a:r>
              <a:rPr lang="en-US" sz="900" dirty="0">
                <a:solidFill>
                  <a:srgbClr val="8B9CB6"/>
                </a:solidFill>
                <a:latin typeface="Calibri" pitchFamily="34" charset="0"/>
                <a:ea typeface="Calibri" pitchFamily="34" charset="-122"/>
                <a:cs typeface="Calibri" pitchFamily="34" charset="-120"/>
              </a:rPr>
              <a:t>Low-resource &amp; edge devices</a:t>
            </a:r>
            <a:endParaRPr lang="en-US" sz="900" dirty="0"/>
          </a:p>
        </p:txBody>
      </p:sp>
      <p:sp>
        <p:nvSpPr>
          <p:cNvPr id="29" name="Text 19"/>
          <p:cNvSpPr/>
          <p:nvPr/>
        </p:nvSpPr>
        <p:spPr>
          <a:xfrm>
            <a:off x="5014168" y="3133874"/>
            <a:ext cx="526494" cy="139005"/>
          </a:xfrm>
          <a:prstGeom prst="rect">
            <a:avLst/>
          </a:prstGeom>
          <a:noFill/>
          <a:ln/>
        </p:spPr>
        <p:txBody>
          <a:bodyPr wrap="none" lIns="0" tIns="0" rIns="0" bIns="0" rtlCol="0" anchor="ctr"/>
          <a:lstStyle/>
          <a:p>
            <a:pPr marL="0" indent="0" algn="l">
              <a:lnSpc>
                <a:spcPts val="1095"/>
              </a:lnSpc>
              <a:buNone/>
            </a:pPr>
            <a:r>
              <a:rPr lang="en-US" sz="730" dirty="0">
                <a:solidFill>
                  <a:srgbClr val="F74C00">
                    <a:alpha val="70000"/>
                  </a:srgbClr>
                </a:solidFill>
                <a:latin typeface="Consolas" pitchFamily="34" charset="0"/>
                <a:ea typeface="Consolas" pitchFamily="34" charset="-122"/>
                <a:cs typeface="Consolas" pitchFamily="34" charset="-120"/>
              </a:rPr>
              <a:t>Blazing fast</a:t>
            </a:r>
            <a:endParaRPr lang="en-US" sz="730" dirty="0"/>
          </a:p>
        </p:txBody>
      </p:sp>
      <p:pic>
        <p:nvPicPr>
          <p:cNvPr id="30" name="Image 8" descr="preencoded.png"/>
          <p:cNvPicPr>
            <a:picLocks noChangeAspect="1"/>
          </p:cNvPicPr>
          <p:nvPr/>
        </p:nvPicPr>
        <p:blipFill>
          <a:blip>
            <a:alphaModFix amt="70000"/>
            <a:extLst>
              <a:ext uri="{96DAC541-7B7A-43D3-8B79-37D633B846F1}">
                <asvg:svgBlip xmlns:asvg="http://schemas.microsoft.com/office/drawing/2016/SVG/main" r:embed="rId11"/>
              </a:ext>
            </a:extLst>
          </a:blip>
          <a:stretch>
            <a:fillRect/>
          </a:stretch>
        </p:blipFill>
        <p:spPr>
          <a:xfrm>
            <a:off x="4867135" y="3137008"/>
            <a:ext cx="132588" cy="132588"/>
          </a:xfrm>
          <a:prstGeom prst="rect">
            <a:avLst/>
          </a:prstGeom>
        </p:spPr>
      </p:pic>
      <p:sp>
        <p:nvSpPr>
          <p:cNvPr id="31" name="Text 20"/>
          <p:cNvSpPr/>
          <p:nvPr/>
        </p:nvSpPr>
        <p:spPr>
          <a:xfrm>
            <a:off x="6757988" y="1164878"/>
            <a:ext cx="1928813" cy="3341787"/>
          </a:xfrm>
          <a:prstGeom prst="roundRect">
            <a:avLst>
              <a:gd name="adj" fmla="val 5926"/>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32" name="Text 21"/>
          <p:cNvSpPr/>
          <p:nvPr/>
        </p:nvSpPr>
        <p:spPr>
          <a:xfrm>
            <a:off x="6996113" y="1432173"/>
            <a:ext cx="400050" cy="400050"/>
          </a:xfrm>
          <a:prstGeom prst="roundRect">
            <a:avLst>
              <a:gd name="adj" fmla="val 25079"/>
            </a:avLst>
          </a:prstGeom>
          <a:solidFill>
            <a:srgbClr val="00ADD8">
              <a:alpha val="15000"/>
            </a:srgbClr>
          </a:solidFill>
          <a:ln/>
        </p:spPr>
        <p:txBody>
          <a:bodyPr wrap="square" rtlCol="0" anchor="t"/>
          <a:lstStyle/>
          <a:p>
            <a:pPr marL="0" indent="0">
              <a:buNone/>
            </a:pPr>
            <a:endParaRPr lang="en-US" dirty="0"/>
          </a:p>
        </p:txBody>
      </p:sp>
      <p:pic>
        <p:nvPicPr>
          <p:cNvPr id="33"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115621" y="1551682"/>
            <a:ext cx="160883" cy="160883"/>
          </a:xfrm>
          <a:prstGeom prst="rect">
            <a:avLst/>
          </a:prstGeom>
        </p:spPr>
      </p:pic>
      <p:sp>
        <p:nvSpPr>
          <p:cNvPr id="34" name="Text 22"/>
          <p:cNvSpPr/>
          <p:nvPr/>
        </p:nvSpPr>
        <p:spPr>
          <a:xfrm>
            <a:off x="6996113" y="1960364"/>
            <a:ext cx="1554242" cy="278160"/>
          </a:xfrm>
          <a:prstGeom prst="rect">
            <a:avLst/>
          </a:prstGeom>
          <a:noFill/>
          <a:ln/>
        </p:spPr>
        <p:txBody>
          <a:bodyPr wrap="none" lIns="0" tIns="0" rIns="0" bIns="0" rtlCol="0" anchor="t"/>
          <a:lstStyle/>
          <a:p>
            <a:pPr marL="0" indent="0" algn="l">
              <a:lnSpc>
                <a:spcPts val="2190"/>
              </a:lnSpc>
              <a:spcBef>
                <a:spcPts val="1010"/>
              </a:spcBef>
              <a:spcAft>
                <a:spcPts val="560"/>
              </a:spcAft>
              <a:buNone/>
            </a:pPr>
            <a:r>
              <a:rPr lang="en-US" sz="1460" b="1" dirty="0">
                <a:solidFill>
                  <a:srgbClr val="E2E8F0"/>
                </a:solidFill>
                <a:latin typeface="Consolas" pitchFamily="34" charset="0"/>
                <a:ea typeface="Consolas" pitchFamily="34" charset="-122"/>
                <a:cs typeface="Consolas" pitchFamily="34" charset="-120"/>
              </a:rPr>
              <a:t>PicoClaw</a:t>
            </a:r>
            <a:endParaRPr lang="en-US" sz="1460" dirty="0"/>
          </a:p>
        </p:txBody>
      </p:sp>
      <p:sp>
        <p:nvSpPr>
          <p:cNvPr id="35" name="Text 23"/>
          <p:cNvSpPr/>
          <p:nvPr/>
        </p:nvSpPr>
        <p:spPr>
          <a:xfrm>
            <a:off x="6996113" y="2309515"/>
            <a:ext cx="478488" cy="209848"/>
          </a:xfrm>
          <a:prstGeom prst="roundRect">
            <a:avLst>
              <a:gd name="adj" fmla="val 68388"/>
            </a:avLst>
          </a:prstGeom>
          <a:solidFill>
            <a:srgbClr val="00ADD8">
              <a:alpha val="18000"/>
            </a:srgbClr>
          </a:solidFill>
          <a:ln/>
        </p:spPr>
        <p:txBody>
          <a:bodyPr wrap="none" lIns="232638" tIns="35560" rIns="100330" bIns="35560" rtlCol="0" anchor="ctr"/>
          <a:lstStyle/>
          <a:p>
            <a:pPr marL="0" indent="0" algn="l">
              <a:buNone/>
            </a:pPr>
            <a:r>
              <a:rPr lang="en-US" sz="730" b="1" kern="0" spc="30" dirty="0">
                <a:solidFill>
                  <a:srgbClr val="00CFF0"/>
                </a:solidFill>
                <a:latin typeface="Consolas" pitchFamily="34" charset="0"/>
                <a:ea typeface="Consolas" pitchFamily="34" charset="-122"/>
                <a:cs typeface="Consolas" pitchFamily="34" charset="-120"/>
              </a:rPr>
              <a:t>Go</a:t>
            </a:r>
            <a:endParaRPr lang="en-US" sz="730" dirty="0"/>
          </a:p>
        </p:txBody>
      </p:sp>
      <p:pic>
        <p:nvPicPr>
          <p:cNvPr id="36"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067708" y="2348070"/>
            <a:ext cx="132588" cy="132588"/>
          </a:xfrm>
          <a:prstGeom prst="rect">
            <a:avLst/>
          </a:prstGeom>
        </p:spPr>
      </p:pic>
      <p:sp>
        <p:nvSpPr>
          <p:cNvPr id="37" name="Text 24"/>
          <p:cNvSpPr/>
          <p:nvPr/>
        </p:nvSpPr>
        <p:spPr>
          <a:xfrm>
            <a:off x="6996113" y="2647504"/>
            <a:ext cx="1597819" cy="171450"/>
          </a:xfrm>
          <a:prstGeom prst="rect">
            <a:avLst/>
          </a:prstGeom>
          <a:noFill/>
          <a:ln/>
        </p:spPr>
        <p:txBody>
          <a:bodyPr wrap="none" lIns="0" tIns="0" rIns="0" bIns="0" rtlCol="0" anchor="t"/>
          <a:lstStyle/>
          <a:p>
            <a:pPr marL="0" indent="0" algn="l">
              <a:lnSpc>
                <a:spcPts val="1350"/>
              </a:lnSpc>
              <a:spcBef>
                <a:spcPts val="1010"/>
              </a:spcBef>
              <a:buNone/>
            </a:pPr>
            <a:r>
              <a:rPr lang="en-US" sz="900" dirty="0">
                <a:solidFill>
                  <a:srgbClr val="8B9CB6"/>
                </a:solidFill>
                <a:latin typeface="Calibri" pitchFamily="34" charset="0"/>
                <a:ea typeface="Calibri" pitchFamily="34" charset="-122"/>
                <a:cs typeface="Calibri" pitchFamily="34" charset="-120"/>
              </a:rPr>
              <a:t>Single binary deployment</a:t>
            </a:r>
            <a:endParaRPr lang="en-US" sz="900" dirty="0"/>
          </a:p>
        </p:txBody>
      </p:sp>
      <p:sp>
        <p:nvSpPr>
          <p:cNvPr id="38" name="Text 25"/>
          <p:cNvSpPr/>
          <p:nvPr/>
        </p:nvSpPr>
        <p:spPr>
          <a:xfrm>
            <a:off x="7114431" y="2962424"/>
            <a:ext cx="871924" cy="139005"/>
          </a:xfrm>
          <a:prstGeom prst="rect">
            <a:avLst/>
          </a:prstGeom>
          <a:noFill/>
          <a:ln/>
        </p:spPr>
        <p:txBody>
          <a:bodyPr wrap="none" lIns="0" tIns="0" rIns="0" bIns="0" rtlCol="0" anchor="ctr"/>
          <a:lstStyle/>
          <a:p>
            <a:pPr marL="0" indent="0" algn="l">
              <a:lnSpc>
                <a:spcPts val="1095"/>
              </a:lnSpc>
              <a:buNone/>
            </a:pPr>
            <a:r>
              <a:rPr lang="en-US" sz="730" dirty="0">
                <a:solidFill>
                  <a:srgbClr val="00ADD8">
                    <a:alpha val="70000"/>
                  </a:srgbClr>
                </a:solidFill>
                <a:latin typeface="Consolas" pitchFamily="34" charset="0"/>
                <a:ea typeface="Consolas" pitchFamily="34" charset="-122"/>
                <a:cs typeface="Consolas" pitchFamily="34" charset="-120"/>
              </a:rPr>
              <a:t>Zero dependencies</a:t>
            </a:r>
            <a:endParaRPr lang="en-US" sz="730" dirty="0"/>
          </a:p>
        </p:txBody>
      </p:sp>
      <p:pic>
        <p:nvPicPr>
          <p:cNvPr id="39" name="Image 11" descr="preencoded.png"/>
          <p:cNvPicPr>
            <a:picLocks noChangeAspect="1"/>
          </p:cNvPicPr>
          <p:nvPr/>
        </p:nvPicPr>
        <p:blipFill>
          <a:blip>
            <a:alphaModFix amt="70000"/>
            <a:extLst>
              <a:ext uri="{96DAC541-7B7A-43D3-8B79-37D633B846F1}">
                <asvg:svgBlip xmlns:asvg="http://schemas.microsoft.com/office/drawing/2016/SVG/main" r:embed="rId14"/>
              </a:ext>
            </a:extLst>
          </a:blip>
          <a:stretch>
            <a:fillRect/>
          </a:stretch>
        </p:blipFill>
        <p:spPr>
          <a:xfrm>
            <a:off x="6967398" y="2965558"/>
            <a:ext cx="132588" cy="132588"/>
          </a:xfrm>
          <a:prstGeom prst="rect">
            <a:avLst/>
          </a:prstGeom>
        </p:spPr>
      </p:pic>
      <p:sp>
        <p:nvSpPr>
          <p:cNvPr id="40" name="Text 26"/>
          <p:cNvSpPr/>
          <p:nvPr/>
        </p:nvSpPr>
        <p:spPr>
          <a:xfrm>
            <a:off x="45720" y="4707285"/>
            <a:ext cx="9052560" cy="150465"/>
          </a:xfrm>
          <a:prstGeom prst="rect">
            <a:avLst/>
          </a:prstGeom>
          <a:noFill/>
          <a:ln/>
        </p:spPr>
        <p:txBody>
          <a:bodyPr wrap="none" lIns="0" tIns="0" rIns="0" bIns="0" rtlCol="0" anchor="t"/>
          <a:lstStyle/>
          <a:p>
            <a:pPr marL="0" indent="0" algn="ctr">
              <a:lnSpc>
                <a:spcPts val="1185"/>
              </a:lnSpc>
              <a:buNone/>
            </a:pPr>
            <a:r>
              <a:rPr lang="en-US" sz="790" kern="0" spc="30" dirty="0">
                <a:solidFill>
                  <a:srgbClr val="E2E8F0"/>
                </a:solidFill>
                <a:latin typeface="Consolas" pitchFamily="34" charset="0"/>
                <a:ea typeface="Consolas" pitchFamily="34" charset="-122"/>
                <a:cs typeface="Consolas" pitchFamily="34" charset="-120"/>
              </a:rPr>
              <a:t> </a:t>
            </a:r>
            <a:br/>
            <a:r>
              <a:rPr lang="en-US" sz="790" kern="0" spc="30" dirty="0">
                <a:solidFill>
                  <a:srgbClr val="E2E8F0"/>
                </a:solidFill>
                <a:latin typeface="Consolas" pitchFamily="34" charset="0"/>
                <a:ea typeface="Consolas" pitchFamily="34" charset="-122"/>
                <a:cs typeface="Consolas" pitchFamily="34" charset="-120"/>
              </a:rPr>
              <a:t>        All variants share the same </a:t>
            </a:r>
            <a:r>
              <a:rPr lang="en-US" sz="790" kern="0" spc="30" dirty="0">
                <a:solidFill>
                  <a:srgbClr val="76B900"/>
                </a:solidFill>
                <a:latin typeface="Consolas" pitchFamily="34" charset="0"/>
                <a:ea typeface="Consolas" pitchFamily="34" charset="-122"/>
                <a:cs typeface="Consolas" pitchFamily="34" charset="-120"/>
              </a:rPr>
              <a:t>OpenClaw protocol</a:t>
            </a:r>
            <a:r>
              <a:rPr lang="en-US" sz="790" kern="0" spc="30" dirty="0">
                <a:solidFill>
                  <a:srgbClr val="E2E8F0"/>
                </a:solidFill>
                <a:latin typeface="Consolas" pitchFamily="34" charset="0"/>
                <a:ea typeface="Consolas" pitchFamily="34" charset="-122"/>
                <a:cs typeface="Consolas" pitchFamily="34" charset="-120"/>
              </a:rPr>
              <a:t> — pick the language that fits your stack</a:t>
            </a:r>
            <a:br/>
            <a:r>
              <a:rPr lang="en-US" sz="790" kern="0" spc="30" dirty="0">
                <a:solidFill>
                  <a:srgbClr val="E2E8F0"/>
                </a:solidFill>
                <a:latin typeface="Consolas" pitchFamily="34" charset="0"/>
                <a:ea typeface="Consolas" pitchFamily="34" charset="-122"/>
                <a:cs typeface="Consolas" pitchFamily="34" charset="-120"/>
              </a:rPr>
              <a:t>      </a:t>
            </a:r>
            <a:endParaRPr lang="en-US" sz="790" dirty="0"/>
          </a:p>
        </p:txBody>
      </p:sp>
      <p:sp>
        <p:nvSpPr>
          <p:cNvPr id="41" name="Text 27"/>
          <p:cNvSpPr/>
          <p:nvPr/>
        </p:nvSpPr>
        <p:spPr>
          <a:xfrm>
            <a:off x="466725" y="1174403"/>
            <a:ext cx="1909762" cy="29170"/>
          </a:xfrm>
          <a:custGeom>
            <a:avLst/>
            <a:gdLst/>
            <a:ahLst/>
            <a:cxnLst/>
            <a:rect l="l" t="t" r="r" b="b"/>
            <a:pathLst>
              <a:path w="1909762" h="29170">
                <a:moveTo>
                  <a:pt x="114300" y="0"/>
                </a:moveTo>
                <a:lnTo>
                  <a:pt x="1795463" y="0"/>
                </a:lnTo>
                <a:lnTo>
                  <a:pt x="1824102" y="3646"/>
                </a:lnTo>
                <a:lnTo>
                  <a:pt x="1835636" y="7293"/>
                </a:lnTo>
                <a:lnTo>
                  <a:pt x="1844258" y="10939"/>
                </a:lnTo>
                <a:lnTo>
                  <a:pt x="1851332" y="14585"/>
                </a:lnTo>
                <a:lnTo>
                  <a:pt x="1857392" y="18231"/>
                </a:lnTo>
                <a:lnTo>
                  <a:pt x="1862713" y="21878"/>
                </a:lnTo>
                <a:lnTo>
                  <a:pt x="1867458" y="25524"/>
                </a:lnTo>
                <a:lnTo>
                  <a:pt x="1871735"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gradFill rotWithShape="1">
            <a:gsLst>
              <a:gs pos="0">
                <a:srgbClr val="3776AB"/>
              </a:gs>
              <a:gs pos="100000">
                <a:srgbClr val="FFD43B"/>
              </a:gs>
            </a:gsLst>
            <a:lin ang="0" scaled="1"/>
          </a:gradFill>
          <a:ln/>
        </p:spPr>
        <p:txBody>
          <a:bodyPr wrap="none" rtlCol="0" anchor="t"/>
          <a:lstStyle/>
          <a:p>
            <a:pPr marL="0" indent="0">
              <a:buNone/>
            </a:pPr>
            <a:endParaRPr lang="en-US" dirty="0"/>
          </a:p>
        </p:txBody>
      </p:sp>
      <p:sp>
        <p:nvSpPr>
          <p:cNvPr id="42" name="Text 28"/>
          <p:cNvSpPr/>
          <p:nvPr/>
        </p:nvSpPr>
        <p:spPr>
          <a:xfrm>
            <a:off x="2566988" y="1174403"/>
            <a:ext cx="1909762" cy="29170"/>
          </a:xfrm>
          <a:custGeom>
            <a:avLst/>
            <a:gdLst/>
            <a:ahLst/>
            <a:cxnLst/>
            <a:rect l="l" t="t" r="r" b="b"/>
            <a:pathLst>
              <a:path w="1909762" h="29170">
                <a:moveTo>
                  <a:pt x="114300" y="0"/>
                </a:moveTo>
                <a:lnTo>
                  <a:pt x="1795463" y="0"/>
                </a:lnTo>
                <a:lnTo>
                  <a:pt x="1824102" y="3646"/>
                </a:lnTo>
                <a:lnTo>
                  <a:pt x="1835636" y="7293"/>
                </a:lnTo>
                <a:lnTo>
                  <a:pt x="1844258" y="10939"/>
                </a:lnTo>
                <a:lnTo>
                  <a:pt x="1851332" y="14585"/>
                </a:lnTo>
                <a:lnTo>
                  <a:pt x="1857392" y="18231"/>
                </a:lnTo>
                <a:lnTo>
                  <a:pt x="1862713" y="21878"/>
                </a:lnTo>
                <a:lnTo>
                  <a:pt x="1867458" y="25524"/>
                </a:lnTo>
                <a:lnTo>
                  <a:pt x="1871735"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gradFill rotWithShape="1">
            <a:gsLst>
              <a:gs pos="0">
                <a:srgbClr val="3178C6"/>
              </a:gs>
              <a:gs pos="100000">
                <a:srgbClr val="235A97"/>
              </a:gs>
            </a:gsLst>
            <a:lin ang="0" scaled="1"/>
          </a:gradFill>
          <a:ln/>
        </p:spPr>
        <p:txBody>
          <a:bodyPr wrap="none" rtlCol="0" anchor="t"/>
          <a:lstStyle/>
          <a:p>
            <a:pPr marL="0" indent="0">
              <a:buNone/>
            </a:pPr>
            <a:endParaRPr lang="en-US" dirty="0"/>
          </a:p>
        </p:txBody>
      </p:sp>
      <p:sp>
        <p:nvSpPr>
          <p:cNvPr id="43" name="Text 29"/>
          <p:cNvSpPr/>
          <p:nvPr/>
        </p:nvSpPr>
        <p:spPr>
          <a:xfrm>
            <a:off x="4667250" y="1174403"/>
            <a:ext cx="1909762" cy="29170"/>
          </a:xfrm>
          <a:custGeom>
            <a:avLst/>
            <a:gdLst/>
            <a:ahLst/>
            <a:cxnLst/>
            <a:rect l="l" t="t" r="r" b="b"/>
            <a:pathLst>
              <a:path w="1909762" h="29170">
                <a:moveTo>
                  <a:pt x="114300" y="0"/>
                </a:moveTo>
                <a:lnTo>
                  <a:pt x="1795463" y="0"/>
                </a:lnTo>
                <a:lnTo>
                  <a:pt x="1824102" y="3646"/>
                </a:lnTo>
                <a:lnTo>
                  <a:pt x="1835636" y="7293"/>
                </a:lnTo>
                <a:lnTo>
                  <a:pt x="1844258" y="10939"/>
                </a:lnTo>
                <a:lnTo>
                  <a:pt x="1851332" y="14585"/>
                </a:lnTo>
                <a:lnTo>
                  <a:pt x="1857392" y="18231"/>
                </a:lnTo>
                <a:lnTo>
                  <a:pt x="1862713" y="21878"/>
                </a:lnTo>
                <a:lnTo>
                  <a:pt x="1867458" y="25524"/>
                </a:lnTo>
                <a:lnTo>
                  <a:pt x="1871735"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gradFill rotWithShape="1">
            <a:gsLst>
              <a:gs pos="0">
                <a:srgbClr val="CE422B"/>
              </a:gs>
              <a:gs pos="100000">
                <a:srgbClr val="F74C00"/>
              </a:gs>
            </a:gsLst>
            <a:lin ang="0" scaled="1"/>
          </a:gradFill>
          <a:ln/>
        </p:spPr>
        <p:txBody>
          <a:bodyPr wrap="none" rtlCol="0" anchor="t"/>
          <a:lstStyle/>
          <a:p>
            <a:pPr marL="0" indent="0">
              <a:buNone/>
            </a:pPr>
            <a:endParaRPr lang="en-US" dirty="0"/>
          </a:p>
        </p:txBody>
      </p:sp>
      <p:sp>
        <p:nvSpPr>
          <p:cNvPr id="44" name="Text 30"/>
          <p:cNvSpPr/>
          <p:nvPr/>
        </p:nvSpPr>
        <p:spPr>
          <a:xfrm>
            <a:off x="6767513" y="1174403"/>
            <a:ext cx="1909762" cy="29170"/>
          </a:xfrm>
          <a:custGeom>
            <a:avLst/>
            <a:gdLst/>
            <a:ahLst/>
            <a:cxnLst/>
            <a:rect l="l" t="t" r="r" b="b"/>
            <a:pathLst>
              <a:path w="1909762" h="29170">
                <a:moveTo>
                  <a:pt x="114300" y="0"/>
                </a:moveTo>
                <a:lnTo>
                  <a:pt x="1795463" y="0"/>
                </a:lnTo>
                <a:lnTo>
                  <a:pt x="1824102" y="3646"/>
                </a:lnTo>
                <a:lnTo>
                  <a:pt x="1835636" y="7293"/>
                </a:lnTo>
                <a:lnTo>
                  <a:pt x="1844258" y="10939"/>
                </a:lnTo>
                <a:lnTo>
                  <a:pt x="1851332" y="14585"/>
                </a:lnTo>
                <a:lnTo>
                  <a:pt x="1857392" y="18231"/>
                </a:lnTo>
                <a:lnTo>
                  <a:pt x="1862713" y="21878"/>
                </a:lnTo>
                <a:lnTo>
                  <a:pt x="1867458" y="25524"/>
                </a:lnTo>
                <a:lnTo>
                  <a:pt x="1871735"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gradFill rotWithShape="1">
            <a:gsLst>
              <a:gs pos="0">
                <a:srgbClr val="00ADD8"/>
              </a:gs>
              <a:gs pos="100000">
                <a:srgbClr val="00A29C"/>
              </a:gs>
            </a:gsLst>
            <a:lin ang="0" scaled="1"/>
          </a:gradFill>
          <a:ln/>
        </p:spPr>
        <p:txBody>
          <a:bodyPr wrap="none" rtlCol="0" anchor="t"/>
          <a:lstStyle/>
          <a:p>
            <a:pPr marL="0" indent="0">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5">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4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4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523875" y="1542157"/>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4653260" y="1542157"/>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523875" y="3121223"/>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4653260" y="3121223"/>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2785765" y="57150"/>
            <a:ext cx="3572470" cy="1428750"/>
          </a:xfrm>
          <a:prstGeom prst="rect">
            <a:avLst/>
          </a:prstGeom>
          <a:gradFill rotWithShape="1">
            <a:gsLst>
              <a:gs pos="0">
                <a:srgbClr val="76B900">
                  <a:alpha val="12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10" name="Text 8"/>
          <p:cNvSpPr/>
          <p:nvPr/>
        </p:nvSpPr>
        <p:spPr>
          <a:xfrm>
            <a:off x="230314" y="624632"/>
            <a:ext cx="8683371" cy="407640"/>
          </a:xfrm>
          <a:prstGeom prst="rect">
            <a:avLst/>
          </a:prstGeom>
          <a:noFill/>
          <a:ln/>
        </p:spPr>
        <p:txBody>
          <a:bodyPr wrap="none" lIns="0" tIns="0" rIns="0" bIns="0" rtlCol="0" anchor="t"/>
          <a:lstStyle/>
          <a:p>
            <a:pPr marL="0" indent="0" algn="ctr">
              <a:lnSpc>
                <a:spcPts val="3210"/>
              </a:lnSpc>
              <a:buNone/>
            </a:pPr>
            <a:r>
              <a:rPr lang="en-US" sz="2140" kern="0" spc="-30" dirty="0">
                <a:solidFill>
                  <a:srgbClr val="E2E8F0"/>
                </a:solidFill>
                <a:latin typeface="Consolas" pitchFamily="34" charset="0"/>
                <a:ea typeface="Consolas" pitchFamily="34" charset="-122"/>
                <a:cs typeface="Consolas" pitchFamily="34" charset="-120"/>
              </a:rPr>
              <a:t> Meet </a:t>
            </a:r>
            <a:r>
              <a:rPr lang="en-US" sz="2140" kern="0" spc="-30" dirty="0">
                <a:solidFill>
                  <a:srgbClr val="76B900"/>
                </a:solidFill>
                <a:latin typeface="Consolas" pitchFamily="34" charset="0"/>
                <a:ea typeface="Consolas" pitchFamily="34" charset="-122"/>
                <a:cs typeface="Consolas" pitchFamily="34" charset="-120"/>
              </a:rPr>
              <a:t>Hermes Agent</a:t>
            </a:r>
            <a:r>
              <a:rPr lang="en-US" sz="2140" kern="0" spc="-30" dirty="0">
                <a:solidFill>
                  <a:srgbClr val="E2E8F0"/>
                </a:solidFill>
                <a:latin typeface="Consolas" pitchFamily="34" charset="0"/>
                <a:ea typeface="Consolas" pitchFamily="34" charset="-122"/>
                <a:cs typeface="Consolas" pitchFamily="34" charset="-120"/>
              </a:rPr>
              <a:t> </a:t>
            </a:r>
            <a:br>
              <a:rPr dirty="0"/>
            </a:br>
            <a:r>
              <a:rPr lang="en-US" sz="2140" kern="0" spc="-30" dirty="0">
                <a:solidFill>
                  <a:srgbClr val="E2E8F0"/>
                </a:solidFill>
                <a:latin typeface="Consolas" pitchFamily="34" charset="0"/>
                <a:ea typeface="Consolas" pitchFamily="34" charset="-122"/>
                <a:cs typeface="Consolas" pitchFamily="34" charset="-120"/>
              </a:rPr>
              <a:t>      </a:t>
            </a:r>
            <a:endParaRPr lang="en-US" sz="2140" dirty="0"/>
          </a:p>
        </p:txBody>
      </p:sp>
      <p:sp>
        <p:nvSpPr>
          <p:cNvPr id="11" name="Text 9"/>
          <p:cNvSpPr/>
          <p:nvPr/>
        </p:nvSpPr>
        <p:spPr>
          <a:xfrm>
            <a:off x="180320" y="946547"/>
            <a:ext cx="8926830" cy="171450"/>
          </a:xfrm>
          <a:prstGeom prst="rect">
            <a:avLst/>
          </a:prstGeom>
          <a:noFill/>
          <a:ln/>
        </p:spPr>
        <p:txBody>
          <a:bodyPr wrap="none" lIns="0" tIns="0" rIns="0" bIns="0" rtlCol="0" anchor="t"/>
          <a:lstStyle/>
          <a:p>
            <a:pPr marL="0" indent="0" algn="ctr">
              <a:lnSpc>
                <a:spcPts val="1350"/>
              </a:lnSpc>
              <a:spcBef>
                <a:spcPts val="340"/>
              </a:spcBef>
              <a:buNone/>
            </a:pPr>
            <a:r>
              <a:rPr lang="en-US" sz="900" dirty="0">
                <a:solidFill>
                  <a:srgbClr val="8B9CB6"/>
                </a:solidFill>
                <a:latin typeface="Calibri" pitchFamily="34" charset="0"/>
                <a:ea typeface="Calibri" pitchFamily="34" charset="-122"/>
                <a:cs typeface="Calibri" pitchFamily="34" charset="-120"/>
              </a:rPr>
              <a:t>The intelligent learning layer that evolves with you</a:t>
            </a:r>
            <a:endParaRPr lang="en-US" sz="900" dirty="0"/>
          </a:p>
        </p:txBody>
      </p:sp>
      <p:sp>
        <p:nvSpPr>
          <p:cNvPr id="12" name="Text 10"/>
          <p:cNvSpPr/>
          <p:nvPr/>
        </p:nvSpPr>
        <p:spPr>
          <a:xfrm>
            <a:off x="514350" y="1532632"/>
            <a:ext cx="3985915" cy="1435596"/>
          </a:xfrm>
          <a:prstGeom prst="roundRect">
            <a:avLst>
              <a:gd name="adj" fmla="val 796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3" name="Text 11"/>
          <p:cNvSpPr/>
          <p:nvPr/>
        </p:nvSpPr>
        <p:spPr>
          <a:xfrm>
            <a:off x="781645" y="1770757"/>
            <a:ext cx="400050" cy="400050"/>
          </a:xfrm>
          <a:prstGeom prst="roundRect">
            <a:avLst>
              <a:gd name="adj" fmla="val 25079"/>
            </a:avLst>
          </a:prstGeom>
          <a:solidFill>
            <a:srgbClr val="76B900">
              <a:alpha val="10000"/>
            </a:srgbClr>
          </a:solidFill>
          <a:ln w="9525">
            <a:solidFill>
              <a:srgbClr val="76B900">
                <a:alpha val="25000"/>
              </a:srgbClr>
            </a:solidFill>
          </a:ln>
        </p:spPr>
        <p:txBody>
          <a:bodyPr wrap="square" rtlCol="0" anchor="t"/>
          <a:lstStyle/>
          <a:p>
            <a:pPr marL="0" indent="0">
              <a:buNone/>
            </a:pPr>
            <a:endParaRPr lang="en-US" dirty="0"/>
          </a:p>
        </p:txBody>
      </p:sp>
      <p:pic>
        <p:nvPicPr>
          <p:cNvPr id="1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363" y="1895475"/>
            <a:ext cx="150465" cy="150465"/>
          </a:xfrm>
          <a:prstGeom prst="rect">
            <a:avLst/>
          </a:prstGeom>
        </p:spPr>
      </p:pic>
      <p:sp>
        <p:nvSpPr>
          <p:cNvPr id="15" name="Text 12"/>
          <p:cNvSpPr/>
          <p:nvPr/>
        </p:nvSpPr>
        <p:spPr>
          <a:xfrm>
            <a:off x="1353145" y="1770757"/>
            <a:ext cx="3167807" cy="203746"/>
          </a:xfrm>
          <a:prstGeom prst="rect">
            <a:avLst/>
          </a:prstGeom>
          <a:noFill/>
          <a:ln/>
        </p:spPr>
        <p:txBody>
          <a:bodyPr wrap="none" lIns="0" tIns="0" rIns="0" bIns="0" rtlCol="0" anchor="t"/>
          <a:lstStyle/>
          <a:p>
            <a:pPr marL="0" indent="0" algn="l">
              <a:lnSpc>
                <a:spcPts val="1605"/>
              </a:lnSpc>
              <a:buNone/>
            </a:pPr>
            <a:r>
              <a:rPr lang="en-US" sz="1070" b="1" dirty="0">
                <a:solidFill>
                  <a:srgbClr val="E2E8F0"/>
                </a:solidFill>
                <a:latin typeface="Consolas" pitchFamily="34" charset="0"/>
                <a:ea typeface="Consolas" pitchFamily="34" charset="-122"/>
                <a:cs typeface="Consolas" pitchFamily="34" charset="-120"/>
              </a:rPr>
              <a:t>Self-Improving Learning Loop</a:t>
            </a:r>
            <a:endParaRPr lang="en-US" sz="1070" dirty="0"/>
          </a:p>
        </p:txBody>
      </p:sp>
      <p:sp>
        <p:nvSpPr>
          <p:cNvPr id="16" name="Text 13"/>
          <p:cNvSpPr/>
          <p:nvPr/>
        </p:nvSpPr>
        <p:spPr>
          <a:xfrm>
            <a:off x="1353145" y="2003673"/>
            <a:ext cx="2937421" cy="487092"/>
          </a:xfrm>
          <a:prstGeom prst="rect">
            <a:avLst/>
          </a:prstGeom>
          <a:noFill/>
          <a:ln/>
        </p:spPr>
        <p:txBody>
          <a:bodyPr wrap="square" lIns="0" tIns="0" rIns="0" bIns="0" rtlCol="0" anchor="t"/>
          <a:lstStyle/>
          <a:p>
            <a:pPr marL="0" indent="0" algn="l">
              <a:lnSpc>
                <a:spcPts val="1218"/>
              </a:lnSpc>
              <a:buNone/>
            </a:pPr>
            <a:r>
              <a:rPr lang="en-US" sz="840" dirty="0">
                <a:solidFill>
                  <a:srgbClr val="8B9CB6"/>
                </a:solidFill>
                <a:latin typeface="Calibri" pitchFamily="34" charset="0"/>
                <a:ea typeface="Calibri" pitchFamily="34" charset="-122"/>
                <a:cs typeface="Calibri" pitchFamily="34" charset="-120"/>
              </a:rPr>
              <a:t>Continuously refines its reasoning and behavior after every interaction, getting smarter over time without manual retraining.</a:t>
            </a:r>
            <a:endParaRPr lang="en-US" sz="840" dirty="0"/>
          </a:p>
        </p:txBody>
      </p:sp>
      <p:sp>
        <p:nvSpPr>
          <p:cNvPr id="17" name="Text 14"/>
          <p:cNvSpPr/>
          <p:nvPr/>
        </p:nvSpPr>
        <p:spPr>
          <a:xfrm>
            <a:off x="4643735" y="1532632"/>
            <a:ext cx="3985915" cy="1435596"/>
          </a:xfrm>
          <a:prstGeom prst="roundRect">
            <a:avLst>
              <a:gd name="adj" fmla="val 796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8" name="Text 15"/>
          <p:cNvSpPr/>
          <p:nvPr/>
        </p:nvSpPr>
        <p:spPr>
          <a:xfrm>
            <a:off x="4911030" y="1770757"/>
            <a:ext cx="400050" cy="400050"/>
          </a:xfrm>
          <a:prstGeom prst="roundRect">
            <a:avLst>
              <a:gd name="adj" fmla="val 25079"/>
            </a:avLst>
          </a:prstGeom>
          <a:solidFill>
            <a:srgbClr val="76B900">
              <a:alpha val="10000"/>
            </a:srgbClr>
          </a:solidFill>
          <a:ln w="9525">
            <a:solidFill>
              <a:srgbClr val="76B900">
                <a:alpha val="25000"/>
              </a:srgbClr>
            </a:solidFill>
          </a:ln>
        </p:spPr>
        <p:txBody>
          <a:bodyPr wrap="square" rtlCol="0" anchor="t"/>
          <a:lstStyle/>
          <a:p>
            <a:pPr marL="0" indent="0">
              <a:buNone/>
            </a:pPr>
            <a:endParaRPr lang="en-US"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35748" y="1895475"/>
            <a:ext cx="150465" cy="150465"/>
          </a:xfrm>
          <a:prstGeom prst="rect">
            <a:avLst/>
          </a:prstGeom>
        </p:spPr>
      </p:pic>
      <p:sp>
        <p:nvSpPr>
          <p:cNvPr id="20" name="Text 16"/>
          <p:cNvSpPr/>
          <p:nvPr/>
        </p:nvSpPr>
        <p:spPr>
          <a:xfrm>
            <a:off x="5482530" y="1770757"/>
            <a:ext cx="3167807" cy="203746"/>
          </a:xfrm>
          <a:prstGeom prst="rect">
            <a:avLst/>
          </a:prstGeom>
          <a:noFill/>
          <a:ln/>
        </p:spPr>
        <p:txBody>
          <a:bodyPr wrap="none" lIns="0" tIns="0" rIns="0" bIns="0" rtlCol="0" anchor="t"/>
          <a:lstStyle/>
          <a:p>
            <a:pPr marL="0" indent="0" algn="l">
              <a:lnSpc>
                <a:spcPts val="1605"/>
              </a:lnSpc>
              <a:buNone/>
            </a:pPr>
            <a:r>
              <a:rPr lang="en-US" sz="1070" b="1" dirty="0">
                <a:solidFill>
                  <a:srgbClr val="E2E8F0"/>
                </a:solidFill>
                <a:latin typeface="Consolas" pitchFamily="34" charset="0"/>
                <a:ea typeface="Consolas" pitchFamily="34" charset="-122"/>
                <a:cs typeface="Consolas" pitchFamily="34" charset="-120"/>
              </a:rPr>
              <a:t>Creates New Skills from Experience</a:t>
            </a:r>
            <a:endParaRPr lang="en-US" sz="1070" dirty="0"/>
          </a:p>
        </p:txBody>
      </p:sp>
      <p:sp>
        <p:nvSpPr>
          <p:cNvPr id="21" name="Text 17"/>
          <p:cNvSpPr/>
          <p:nvPr/>
        </p:nvSpPr>
        <p:spPr>
          <a:xfrm>
            <a:off x="5482530" y="2003673"/>
            <a:ext cx="2937421" cy="487092"/>
          </a:xfrm>
          <a:prstGeom prst="rect">
            <a:avLst/>
          </a:prstGeom>
          <a:noFill/>
          <a:ln/>
        </p:spPr>
        <p:txBody>
          <a:bodyPr wrap="square" lIns="0" tIns="0" rIns="0" bIns="0" rtlCol="0" anchor="t"/>
          <a:lstStyle/>
          <a:p>
            <a:pPr marL="0" indent="0" algn="l">
              <a:lnSpc>
                <a:spcPts val="1218"/>
              </a:lnSpc>
              <a:buNone/>
            </a:pPr>
            <a:r>
              <a:rPr lang="en-US" sz="840" dirty="0">
                <a:solidFill>
                  <a:srgbClr val="8B9CB6"/>
                </a:solidFill>
                <a:latin typeface="Calibri" pitchFamily="34" charset="0"/>
                <a:ea typeface="Calibri" pitchFamily="34" charset="-122"/>
                <a:cs typeface="Calibri" pitchFamily="34" charset="-120"/>
              </a:rPr>
              <a:t>Learns new capabilities autonomously — transforms repeated patterns and successful actions into reusable skills it can call on later.</a:t>
            </a:r>
            <a:endParaRPr lang="en-US" sz="840" dirty="0"/>
          </a:p>
        </p:txBody>
      </p:sp>
      <p:sp>
        <p:nvSpPr>
          <p:cNvPr id="22" name="Text 18"/>
          <p:cNvSpPr/>
          <p:nvPr/>
        </p:nvSpPr>
        <p:spPr>
          <a:xfrm>
            <a:off x="514350" y="3111698"/>
            <a:ext cx="3985915" cy="1435596"/>
          </a:xfrm>
          <a:prstGeom prst="roundRect">
            <a:avLst>
              <a:gd name="adj" fmla="val 796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3" name="Text 19"/>
          <p:cNvSpPr/>
          <p:nvPr/>
        </p:nvSpPr>
        <p:spPr>
          <a:xfrm>
            <a:off x="781645" y="3349823"/>
            <a:ext cx="400050" cy="400050"/>
          </a:xfrm>
          <a:prstGeom prst="roundRect">
            <a:avLst>
              <a:gd name="adj" fmla="val 25079"/>
            </a:avLst>
          </a:prstGeom>
          <a:solidFill>
            <a:srgbClr val="76B900">
              <a:alpha val="10000"/>
            </a:srgbClr>
          </a:solidFill>
          <a:ln w="9525">
            <a:solidFill>
              <a:srgbClr val="76B900">
                <a:alpha val="25000"/>
              </a:srgbClr>
            </a:solidFill>
          </a:ln>
        </p:spPr>
        <p:txBody>
          <a:bodyPr wrap="square" rtlCol="0" anchor="t"/>
          <a:lstStyle/>
          <a:p>
            <a:pPr marL="0" indent="0">
              <a:buNone/>
            </a:pPr>
            <a:endParaRPr lang="en-US"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6363" y="3474541"/>
            <a:ext cx="150465" cy="150465"/>
          </a:xfrm>
          <a:prstGeom prst="rect">
            <a:avLst/>
          </a:prstGeom>
        </p:spPr>
      </p:pic>
      <p:sp>
        <p:nvSpPr>
          <p:cNvPr id="25" name="Text 20"/>
          <p:cNvSpPr/>
          <p:nvPr/>
        </p:nvSpPr>
        <p:spPr>
          <a:xfrm>
            <a:off x="1353145" y="3349823"/>
            <a:ext cx="3167807" cy="203746"/>
          </a:xfrm>
          <a:prstGeom prst="rect">
            <a:avLst/>
          </a:prstGeom>
          <a:noFill/>
          <a:ln/>
        </p:spPr>
        <p:txBody>
          <a:bodyPr wrap="none" lIns="0" tIns="0" rIns="0" bIns="0" rtlCol="0" anchor="t"/>
          <a:lstStyle/>
          <a:p>
            <a:pPr marL="0" indent="0" algn="l">
              <a:lnSpc>
                <a:spcPts val="1605"/>
              </a:lnSpc>
              <a:buNone/>
            </a:pPr>
            <a:r>
              <a:rPr lang="en-US" sz="1070" b="1" dirty="0">
                <a:solidFill>
                  <a:srgbClr val="E2E8F0"/>
                </a:solidFill>
                <a:latin typeface="Consolas" pitchFamily="34" charset="0"/>
                <a:ea typeface="Consolas" pitchFamily="34" charset="-122"/>
                <a:cs typeface="Consolas" pitchFamily="34" charset="-120"/>
              </a:rPr>
              <a:t>Multi-Level Persistent Memory</a:t>
            </a:r>
            <a:endParaRPr lang="en-US" sz="1070" dirty="0"/>
          </a:p>
        </p:txBody>
      </p:sp>
      <p:sp>
        <p:nvSpPr>
          <p:cNvPr id="26" name="Text 21"/>
          <p:cNvSpPr/>
          <p:nvPr/>
        </p:nvSpPr>
        <p:spPr>
          <a:xfrm>
            <a:off x="1353145" y="3582739"/>
            <a:ext cx="2937421" cy="487092"/>
          </a:xfrm>
          <a:prstGeom prst="rect">
            <a:avLst/>
          </a:prstGeom>
          <a:noFill/>
          <a:ln/>
        </p:spPr>
        <p:txBody>
          <a:bodyPr wrap="square" lIns="0" tIns="0" rIns="0" bIns="0" rtlCol="0" anchor="t"/>
          <a:lstStyle/>
          <a:p>
            <a:pPr marL="0" indent="0" algn="l">
              <a:lnSpc>
                <a:spcPts val="1218"/>
              </a:lnSpc>
              <a:buNone/>
            </a:pPr>
            <a:r>
              <a:rPr lang="en-US" sz="840" dirty="0">
                <a:solidFill>
                  <a:srgbClr val="8B9CB6"/>
                </a:solidFill>
                <a:latin typeface="Calibri" pitchFamily="34" charset="0"/>
                <a:ea typeface="Calibri" pitchFamily="34" charset="-122"/>
                <a:cs typeface="Calibri" pitchFamily="34" charset="-120"/>
              </a:rPr>
              <a:t>Maintains short-term working memory, session memory, and long-term knowledge — remembers your preferences, past tasks, and context across sessions.</a:t>
            </a:r>
            <a:endParaRPr lang="en-US" sz="840" dirty="0"/>
          </a:p>
        </p:txBody>
      </p:sp>
      <p:sp>
        <p:nvSpPr>
          <p:cNvPr id="27" name="Text 22"/>
          <p:cNvSpPr/>
          <p:nvPr/>
        </p:nvSpPr>
        <p:spPr>
          <a:xfrm>
            <a:off x="4643735" y="3111698"/>
            <a:ext cx="3985915" cy="1435596"/>
          </a:xfrm>
          <a:prstGeom prst="roundRect">
            <a:avLst>
              <a:gd name="adj" fmla="val 796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8" name="Text 23"/>
          <p:cNvSpPr/>
          <p:nvPr/>
        </p:nvSpPr>
        <p:spPr>
          <a:xfrm>
            <a:off x="4911030" y="3349823"/>
            <a:ext cx="400050" cy="400050"/>
          </a:xfrm>
          <a:prstGeom prst="roundRect">
            <a:avLst>
              <a:gd name="adj" fmla="val 25079"/>
            </a:avLst>
          </a:prstGeom>
          <a:solidFill>
            <a:srgbClr val="76B900">
              <a:alpha val="10000"/>
            </a:srgbClr>
          </a:solidFill>
          <a:ln w="9525">
            <a:solidFill>
              <a:srgbClr val="76B900">
                <a:alpha val="25000"/>
              </a:srgbClr>
            </a:solidFill>
          </a:ln>
        </p:spPr>
        <p:txBody>
          <a:bodyPr wrap="square" rtlCol="0" anchor="t"/>
          <a:lstStyle/>
          <a:p>
            <a:pPr marL="0" indent="0">
              <a:buNone/>
            </a:pPr>
            <a:endParaRPr lang="en-US" dirty="0"/>
          </a:p>
        </p:txBody>
      </p:sp>
      <p:pic>
        <p:nvPicPr>
          <p:cNvPr id="2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35748" y="3474541"/>
            <a:ext cx="150465" cy="150465"/>
          </a:xfrm>
          <a:prstGeom prst="rect">
            <a:avLst/>
          </a:prstGeom>
        </p:spPr>
      </p:pic>
      <p:sp>
        <p:nvSpPr>
          <p:cNvPr id="30" name="Text 24"/>
          <p:cNvSpPr/>
          <p:nvPr/>
        </p:nvSpPr>
        <p:spPr>
          <a:xfrm>
            <a:off x="5482530" y="3349823"/>
            <a:ext cx="3167807" cy="203746"/>
          </a:xfrm>
          <a:prstGeom prst="rect">
            <a:avLst/>
          </a:prstGeom>
          <a:noFill/>
          <a:ln/>
        </p:spPr>
        <p:txBody>
          <a:bodyPr wrap="none" lIns="0" tIns="0" rIns="0" bIns="0" rtlCol="0" anchor="t"/>
          <a:lstStyle/>
          <a:p>
            <a:pPr marL="0" indent="0" algn="l">
              <a:lnSpc>
                <a:spcPts val="1605"/>
              </a:lnSpc>
              <a:buNone/>
            </a:pPr>
            <a:r>
              <a:rPr lang="en-US" sz="1070" b="1" dirty="0">
                <a:solidFill>
                  <a:srgbClr val="E2E8F0"/>
                </a:solidFill>
                <a:latin typeface="Consolas" pitchFamily="34" charset="0"/>
                <a:ea typeface="Consolas" pitchFamily="34" charset="-122"/>
                <a:cs typeface="Consolas" pitchFamily="34" charset="-120"/>
              </a:rPr>
              <a:t>Model-Agnostic</a:t>
            </a:r>
            <a:endParaRPr lang="en-US" sz="1070" dirty="0"/>
          </a:p>
        </p:txBody>
      </p:sp>
      <p:sp>
        <p:nvSpPr>
          <p:cNvPr id="31" name="Text 25"/>
          <p:cNvSpPr/>
          <p:nvPr/>
        </p:nvSpPr>
        <p:spPr>
          <a:xfrm>
            <a:off x="5482530" y="3582739"/>
            <a:ext cx="2937421" cy="487092"/>
          </a:xfrm>
          <a:prstGeom prst="rect">
            <a:avLst/>
          </a:prstGeom>
          <a:noFill/>
          <a:ln/>
        </p:spPr>
        <p:txBody>
          <a:bodyPr wrap="square" lIns="0" tIns="0" rIns="0" bIns="0" rtlCol="0" anchor="t"/>
          <a:lstStyle/>
          <a:p>
            <a:pPr marL="0" indent="0" algn="l">
              <a:lnSpc>
                <a:spcPts val="1218"/>
              </a:lnSpc>
              <a:buNone/>
            </a:pPr>
            <a:r>
              <a:rPr lang="en-US" sz="840" dirty="0">
                <a:solidFill>
                  <a:srgbClr val="8B9CB6"/>
                </a:solidFill>
                <a:latin typeface="Calibri" pitchFamily="34" charset="0"/>
                <a:ea typeface="Calibri" pitchFamily="34" charset="-122"/>
                <a:cs typeface="Calibri" pitchFamily="34" charset="-120"/>
              </a:rPr>
              <a:t>Works with any local LLM — Qwen, Llama, GLM, and more. Swap models freely without losing your agent's learned skills, memory, or personality.</a:t>
            </a:r>
            <a:endParaRPr lang="en-US" sz="840" dirty="0"/>
          </a:p>
        </p:txBody>
      </p:sp>
      <p:sp>
        <p:nvSpPr>
          <p:cNvPr id="32" name="Text 26"/>
          <p:cNvSpPr/>
          <p:nvPr/>
        </p:nvSpPr>
        <p:spPr>
          <a:xfrm>
            <a:off x="514350" y="4784378"/>
            <a:ext cx="3038475" cy="7590"/>
          </a:xfrm>
          <a:prstGeom prst="rect">
            <a:avLst/>
          </a:prstGeom>
          <a:gradFill rotWithShape="1">
            <a:gsLst>
              <a:gs pos="0">
                <a:srgbClr val="76B900"/>
              </a:gs>
              <a:gs pos="100000">
                <a:srgbClr val="000000">
                  <a:alpha val="0"/>
                </a:srgbClr>
              </a:gs>
            </a:gsLst>
            <a:lin ang="0" scaled="1"/>
          </a:gradFill>
          <a:ln/>
        </p:spPr>
        <p:txBody>
          <a:bodyPr wrap="none" rtlCol="0" anchor="t"/>
          <a:lstStyle/>
          <a:p>
            <a:pPr marL="0" indent="0">
              <a:buNone/>
            </a:pPr>
            <a:endParaRPr lang="en-US" dirty="0"/>
          </a:p>
        </p:txBody>
      </p:sp>
      <p:sp>
        <p:nvSpPr>
          <p:cNvPr id="33" name="Text 27"/>
          <p:cNvSpPr/>
          <p:nvPr/>
        </p:nvSpPr>
        <p:spPr>
          <a:xfrm>
            <a:off x="3667125" y="4718745"/>
            <a:ext cx="1990561"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onsolas" pitchFamily="34" charset="0"/>
                <a:ea typeface="Consolas" pitchFamily="34" charset="-122"/>
                <a:cs typeface="Consolas" pitchFamily="34" charset="-120"/>
              </a:rPr>
              <a:t>AN AGENT THAT GROWS WITH YOU</a:t>
            </a:r>
            <a:endParaRPr lang="en-US" sz="730" dirty="0"/>
          </a:p>
        </p:txBody>
      </p:sp>
      <p:sp>
        <p:nvSpPr>
          <p:cNvPr id="34" name="Text 28"/>
          <p:cNvSpPr/>
          <p:nvPr/>
        </p:nvSpPr>
        <p:spPr>
          <a:xfrm>
            <a:off x="5591026" y="4784378"/>
            <a:ext cx="3038624" cy="7590"/>
          </a:xfrm>
          <a:prstGeom prst="rect">
            <a:avLst/>
          </a:prstGeom>
          <a:gradFill rotWithShape="1">
            <a:gsLst>
              <a:gs pos="0">
                <a:srgbClr val="76B900"/>
              </a:gs>
              <a:gs pos="100000">
                <a:srgbClr val="000000">
                  <a:alpha val="0"/>
                </a:srgbClr>
              </a:gs>
            </a:gsLst>
            <a:lin ang="10800000" scaled="1"/>
          </a:gradFill>
          <a:ln/>
        </p:spPr>
        <p:txBody>
          <a:bodyPr wrap="none" rtlCol="0" anchor="t"/>
          <a:lstStyle/>
          <a:p>
            <a:pPr marL="0" indent="0">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6">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107938" y="93529"/>
            <a:ext cx="8927973" cy="309265"/>
          </a:xfrm>
          <a:prstGeom prst="rect">
            <a:avLst/>
          </a:prstGeom>
          <a:noFill/>
          <a:ln/>
        </p:spPr>
        <p:txBody>
          <a:bodyPr wrap="none" lIns="0" tIns="0" rIns="0" bIns="0" rtlCol="0" anchor="t"/>
          <a:lstStyle/>
          <a:p>
            <a:pPr marL="0" indent="0" algn="ctr">
              <a:lnSpc>
                <a:spcPts val="2436"/>
              </a:lnSpc>
              <a:spcAft>
                <a:spcPts val="450"/>
              </a:spcAft>
              <a:buNone/>
            </a:pPr>
            <a:r>
              <a:rPr lang="en-US" sz="2030" dirty="0">
                <a:solidFill>
                  <a:srgbClr val="E2E8F0"/>
                </a:solidFill>
                <a:latin typeface="Consolas" pitchFamily="34" charset="0"/>
                <a:ea typeface="Consolas" pitchFamily="34" charset="-122"/>
                <a:cs typeface="Consolas" pitchFamily="34" charset="-120"/>
              </a:rPr>
              <a:t> </a:t>
            </a:r>
            <a:br>
              <a:rPr dirty="0"/>
            </a:br>
            <a:r>
              <a:rPr lang="en-US" sz="2030" dirty="0">
                <a:solidFill>
                  <a:srgbClr val="E2E8F0"/>
                </a:solidFill>
                <a:latin typeface="Consolas" pitchFamily="34" charset="0"/>
                <a:ea typeface="Consolas" pitchFamily="34" charset="-122"/>
                <a:cs typeface="Consolas" pitchFamily="34" charset="-120"/>
              </a:rPr>
              <a:t>  </a:t>
            </a:r>
            <a:r>
              <a:rPr lang="en-US" sz="2030">
                <a:solidFill>
                  <a:srgbClr val="E2E8F0"/>
                </a:solidFill>
                <a:latin typeface="Consolas" pitchFamily="34" charset="0"/>
                <a:ea typeface="Consolas" pitchFamily="34" charset="-122"/>
                <a:cs typeface="Consolas" pitchFamily="34" charset="-120"/>
              </a:rPr>
              <a:t>The Agent Stack:</a:t>
            </a:r>
            <a:r>
              <a:rPr lang="en-US" sz="2030" dirty="0">
                <a:solidFill>
                  <a:srgbClr val="E2E8F0"/>
                </a:solidFill>
                <a:latin typeface="Consolas" pitchFamily="34" charset="0"/>
                <a:ea typeface="Consolas" pitchFamily="34" charset="-122"/>
                <a:cs typeface="Consolas" pitchFamily="34" charset="-120"/>
              </a:rPr>
              <a:t> </a:t>
            </a:r>
            <a:r>
              <a:rPr lang="en-US" sz="2030" b="1" dirty="0">
                <a:solidFill>
                  <a:srgbClr val="76B900"/>
                </a:solidFill>
                <a:latin typeface="Consolas" pitchFamily="34" charset="0"/>
                <a:ea typeface="Consolas" pitchFamily="34" charset="-122"/>
                <a:cs typeface="Consolas" pitchFamily="34" charset="-120"/>
              </a:rPr>
              <a:t>OpenClaw</a:t>
            </a:r>
            <a:r>
              <a:rPr lang="en-US" sz="2030" dirty="0">
                <a:solidFill>
                  <a:srgbClr val="E2E8F0"/>
                </a:solidFill>
                <a:latin typeface="Consolas" pitchFamily="34" charset="0"/>
                <a:ea typeface="Consolas" pitchFamily="34" charset="-122"/>
                <a:cs typeface="Consolas" pitchFamily="34" charset="-120"/>
              </a:rPr>
              <a:t> + </a:t>
            </a:r>
            <a:r>
              <a:rPr lang="en-US" sz="2030" b="1" dirty="0">
                <a:solidFill>
                  <a:srgbClr val="60A5FA"/>
                </a:solidFill>
                <a:latin typeface="Consolas" pitchFamily="34" charset="0"/>
                <a:ea typeface="Consolas" pitchFamily="34" charset="-122"/>
                <a:cs typeface="Consolas" pitchFamily="34" charset="-120"/>
              </a:rPr>
              <a:t>Hermes</a:t>
            </a:r>
            <a:r>
              <a:rPr lang="en-US" sz="2030">
                <a:solidFill>
                  <a:srgbClr val="E2E8F0"/>
                </a:solidFill>
                <a:latin typeface="Consolas" pitchFamily="34" charset="0"/>
                <a:ea typeface="Consolas" pitchFamily="34" charset="-122"/>
                <a:cs typeface="Consolas" pitchFamily="34" charset="-120"/>
              </a:rPr>
              <a:t> + </a:t>
            </a:r>
            <a:r>
              <a:rPr lang="en-US" sz="2030" b="1">
                <a:solidFill>
                  <a:srgbClr val="C084FC"/>
                </a:solidFill>
                <a:latin typeface="Consolas" pitchFamily="34" charset="0"/>
                <a:ea typeface="Consolas" pitchFamily="34" charset="-122"/>
                <a:cs typeface="Consolas" pitchFamily="34" charset="-120"/>
              </a:rPr>
              <a:t>Mercury</a:t>
            </a:r>
            <a:br>
              <a:rPr dirty="0"/>
            </a:br>
            <a:r>
              <a:rPr lang="en-US" sz="2030" dirty="0">
                <a:solidFill>
                  <a:srgbClr val="E2E8F0"/>
                </a:solidFill>
                <a:latin typeface="Consolas" pitchFamily="34" charset="0"/>
                <a:ea typeface="Consolas" pitchFamily="34" charset="-122"/>
                <a:cs typeface="Consolas" pitchFamily="34" charset="-120"/>
              </a:rPr>
              <a:t>    </a:t>
            </a:r>
            <a:endParaRPr lang="en-US" sz="2030" dirty="0"/>
          </a:p>
        </p:txBody>
      </p:sp>
      <p:sp>
        <p:nvSpPr>
          <p:cNvPr id="3" name="Text 1"/>
          <p:cNvSpPr/>
          <p:nvPr/>
        </p:nvSpPr>
        <p:spPr>
          <a:xfrm>
            <a:off x="0" y="709315"/>
            <a:ext cx="9144000" cy="182196"/>
          </a:xfrm>
          <a:prstGeom prst="rect">
            <a:avLst/>
          </a:prstGeom>
          <a:noFill/>
          <a:ln/>
        </p:spPr>
        <p:txBody>
          <a:bodyPr wrap="none" lIns="0" tIns="0" rIns="0" bIns="0" rtlCol="0" anchor="t"/>
          <a:lstStyle/>
          <a:p>
            <a:pPr marL="0" indent="0" algn="ctr">
              <a:lnSpc>
                <a:spcPts val="1350"/>
              </a:lnSpc>
              <a:spcAft>
                <a:spcPts val="1800"/>
              </a:spcAft>
              <a:buNone/>
            </a:pPr>
            <a:r>
              <a:rPr lang="en-US" sz="900" kern="0" spc="30">
                <a:solidFill>
                  <a:srgbClr val="8B9CB6"/>
                </a:solidFill>
                <a:latin typeface="Calibri" pitchFamily="34" charset="0"/>
                <a:ea typeface="Calibri" pitchFamily="34" charset="-122"/>
                <a:cs typeface="Calibri" pitchFamily="34" charset="-120"/>
              </a:rPr>
              <a:t>Three </a:t>
            </a:r>
            <a:r>
              <a:rPr lang="en-US" sz="900" kern="0" spc="30" dirty="0">
                <a:solidFill>
                  <a:srgbClr val="8B9CB6"/>
                </a:solidFill>
                <a:latin typeface="Calibri" pitchFamily="34" charset="0"/>
                <a:ea typeface="Calibri" pitchFamily="34" charset="-122"/>
                <a:cs typeface="Calibri" pitchFamily="34" charset="-120"/>
              </a:rPr>
              <a:t>frameworks, one powerful </a:t>
            </a:r>
            <a:r>
              <a:rPr lang="en-US" sz="900" kern="0" spc="30">
                <a:solidFill>
                  <a:srgbClr val="8B9CB6"/>
                </a:solidFill>
                <a:latin typeface="Calibri" pitchFamily="34" charset="0"/>
                <a:ea typeface="Calibri" pitchFamily="34" charset="-122"/>
                <a:cs typeface="Calibri" pitchFamily="34" charset="-120"/>
              </a:rPr>
              <a:t>agent ecosystem</a:t>
            </a:r>
            <a:endParaRPr lang="en-US" sz="900" dirty="0"/>
          </a:p>
        </p:txBody>
      </p:sp>
      <p:sp>
        <p:nvSpPr>
          <p:cNvPr id="4" name="Text 2"/>
          <p:cNvSpPr/>
          <p:nvPr/>
        </p:nvSpPr>
        <p:spPr>
          <a:xfrm>
            <a:off x="400050" y="1109365"/>
            <a:ext cx="2590000" cy="3034754"/>
          </a:xfrm>
          <a:prstGeom prst="roundRect">
            <a:avLst>
              <a:gd name="adj" fmla="val 3766"/>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5" name="Text 3"/>
          <p:cNvSpPr/>
          <p:nvPr/>
        </p:nvSpPr>
        <p:spPr>
          <a:xfrm>
            <a:off x="638175" y="1376660"/>
            <a:ext cx="765512" cy="139005"/>
          </a:xfrm>
          <a:prstGeom prst="rect">
            <a:avLst/>
          </a:prstGeom>
          <a:noFill/>
          <a:ln/>
        </p:spPr>
        <p:txBody>
          <a:bodyPr wrap="none" lIns="0" tIns="0" rIns="0" bIns="0" rtlCol="0" anchor="t"/>
          <a:lstStyle/>
          <a:p>
            <a:pPr marL="0" indent="0" algn="l">
              <a:lnSpc>
                <a:spcPts val="1095"/>
              </a:lnSpc>
              <a:buNone/>
            </a:pPr>
            <a:r>
              <a:rPr lang="en-US" sz="730" kern="0" spc="170" dirty="0">
                <a:solidFill>
                  <a:srgbClr val="76B900"/>
                </a:solidFill>
                <a:latin typeface="Consolas" pitchFamily="34" charset="0"/>
                <a:ea typeface="Consolas" pitchFamily="34" charset="-122"/>
                <a:cs typeface="Consolas" pitchFamily="34" charset="-120"/>
              </a:rPr>
              <a:t>FRAMEWORK</a:t>
            </a:r>
            <a:endParaRPr lang="en-US" sz="730" dirty="0"/>
          </a:p>
        </p:txBody>
      </p:sp>
      <p:sp>
        <p:nvSpPr>
          <p:cNvPr id="6" name="Text 4"/>
          <p:cNvSpPr/>
          <p:nvPr/>
        </p:nvSpPr>
        <p:spPr>
          <a:xfrm>
            <a:off x="638175" y="1601986"/>
            <a:ext cx="1033189" cy="240655"/>
          </a:xfrm>
          <a:prstGeom prst="rect">
            <a:avLst/>
          </a:prstGeom>
          <a:noFill/>
          <a:ln/>
        </p:spPr>
        <p:txBody>
          <a:bodyPr wrap="none" lIns="0" tIns="0" rIns="0" bIns="0" rtlCol="0" anchor="t"/>
          <a:lstStyle/>
          <a:p>
            <a:pPr marL="0" indent="0" algn="l">
              <a:lnSpc>
                <a:spcPts val="1896"/>
              </a:lnSpc>
              <a:buNone/>
            </a:pPr>
            <a:r>
              <a:rPr lang="en-US" sz="1580" b="1" dirty="0">
                <a:solidFill>
                  <a:srgbClr val="76B900"/>
                </a:solidFill>
                <a:latin typeface="Consolas" pitchFamily="34" charset="0"/>
                <a:ea typeface="Consolas" pitchFamily="34" charset="-122"/>
                <a:cs typeface="Consolas" pitchFamily="34" charset="-120"/>
              </a:rPr>
              <a:t>OpenClaw</a:t>
            </a:r>
            <a:endParaRPr lang="en-US" sz="1580" dirty="0"/>
          </a:p>
        </p:txBody>
      </p:sp>
      <p:sp>
        <p:nvSpPr>
          <p:cNvPr id="7" name="Text 5"/>
          <p:cNvSpPr/>
          <p:nvPr/>
        </p:nvSpPr>
        <p:spPr>
          <a:xfrm>
            <a:off x="638175" y="2014091"/>
            <a:ext cx="257770" cy="257770"/>
          </a:xfrm>
          <a:prstGeom prst="roundRect">
            <a:avLst>
              <a:gd name="adj" fmla="val 27590"/>
            </a:avLst>
          </a:prstGeom>
          <a:solidFill>
            <a:srgbClr val="76B900">
              <a:alpha val="15000"/>
            </a:srgbClr>
          </a:solidFill>
          <a:ln/>
        </p:spPr>
        <p:txBody>
          <a:bodyPr wrap="non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0692" y="2076608"/>
            <a:ext cx="132588" cy="132588"/>
          </a:xfrm>
          <a:prstGeom prst="rect">
            <a:avLst/>
          </a:prstGeom>
        </p:spPr>
      </p:pic>
      <p:sp>
        <p:nvSpPr>
          <p:cNvPr id="9" name="Text 6"/>
          <p:cNvSpPr/>
          <p:nvPr/>
        </p:nvSpPr>
        <p:spPr>
          <a:xfrm>
            <a:off x="996255" y="2057251"/>
            <a:ext cx="1230124"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Tools &amp; integrations</a:t>
            </a:r>
            <a:endParaRPr lang="en-US" sz="1010" dirty="0"/>
          </a:p>
        </p:txBody>
      </p:sp>
      <p:sp>
        <p:nvSpPr>
          <p:cNvPr id="10" name="Text 7"/>
          <p:cNvSpPr/>
          <p:nvPr/>
        </p:nvSpPr>
        <p:spPr>
          <a:xfrm>
            <a:off x="638175" y="2400002"/>
            <a:ext cx="257770" cy="257770"/>
          </a:xfrm>
          <a:prstGeom prst="roundRect">
            <a:avLst>
              <a:gd name="adj" fmla="val 27590"/>
            </a:avLst>
          </a:prstGeom>
          <a:solidFill>
            <a:srgbClr val="76B900">
              <a:alpha val="15000"/>
            </a:srgbClr>
          </a:solidFill>
          <a:ln/>
        </p:spPr>
        <p:txBody>
          <a:bodyPr wrap="none" rtlCol="0" anchor="t"/>
          <a:lstStyle/>
          <a:p>
            <a:pPr marL="0" indent="0">
              <a:buNone/>
            </a:pPr>
            <a:endParaRPr lang="en-US"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0692" y="2462519"/>
            <a:ext cx="132588" cy="132588"/>
          </a:xfrm>
          <a:prstGeom prst="rect">
            <a:avLst/>
          </a:prstGeom>
        </p:spPr>
      </p:pic>
      <p:sp>
        <p:nvSpPr>
          <p:cNvPr id="12" name="Text 8"/>
          <p:cNvSpPr/>
          <p:nvPr/>
        </p:nvSpPr>
        <p:spPr>
          <a:xfrm>
            <a:off x="996255" y="2443163"/>
            <a:ext cx="1668869"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Messaging &amp; orchestration</a:t>
            </a:r>
            <a:endParaRPr lang="en-US" sz="1010" dirty="0"/>
          </a:p>
        </p:txBody>
      </p:sp>
      <p:sp>
        <p:nvSpPr>
          <p:cNvPr id="13" name="Text 9"/>
          <p:cNvSpPr/>
          <p:nvPr/>
        </p:nvSpPr>
        <p:spPr>
          <a:xfrm>
            <a:off x="638175" y="2785914"/>
            <a:ext cx="257770" cy="257770"/>
          </a:xfrm>
          <a:prstGeom prst="roundRect">
            <a:avLst>
              <a:gd name="adj" fmla="val 27590"/>
            </a:avLst>
          </a:prstGeom>
          <a:solidFill>
            <a:srgbClr val="76B900">
              <a:alpha val="15000"/>
            </a:srgbClr>
          </a:solidFill>
          <a:ln/>
        </p:spPr>
        <p:txBody>
          <a:bodyPr wrap="none" rtlCol="0" anchor="t"/>
          <a:lstStyle/>
          <a:p>
            <a:pPr marL="0" indent="0">
              <a:buNone/>
            </a:pPr>
            <a:endParaRPr lang="en-US"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0692" y="2848430"/>
            <a:ext cx="132588" cy="132588"/>
          </a:xfrm>
          <a:prstGeom prst="rect">
            <a:avLst/>
          </a:prstGeom>
        </p:spPr>
      </p:pic>
      <p:sp>
        <p:nvSpPr>
          <p:cNvPr id="15" name="Text 10"/>
          <p:cNvSpPr/>
          <p:nvPr/>
        </p:nvSpPr>
        <p:spPr>
          <a:xfrm>
            <a:off x="996255" y="2829074"/>
            <a:ext cx="1379101"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Action execution layer</a:t>
            </a:r>
            <a:endParaRPr lang="en-US" sz="1010" dirty="0"/>
          </a:p>
        </p:txBody>
      </p:sp>
      <p:sp>
        <p:nvSpPr>
          <p:cNvPr id="20" name="Text 12"/>
          <p:cNvSpPr/>
          <p:nvPr/>
        </p:nvSpPr>
        <p:spPr>
          <a:xfrm>
            <a:off x="3277000" y="1109365"/>
            <a:ext cx="2590000" cy="3034754"/>
          </a:xfrm>
          <a:prstGeom prst="roundRect">
            <a:avLst>
              <a:gd name="adj" fmla="val 3766"/>
            </a:avLst>
          </a:prstGeom>
          <a:solidFill>
            <a:srgbClr val="1A2332"/>
          </a:solidFill>
          <a:ln w="9525">
            <a:solidFill>
              <a:srgbClr val="60A5FA">
                <a:alpha val="25000"/>
              </a:srgbClr>
            </a:solidFill>
          </a:ln>
        </p:spPr>
        <p:txBody>
          <a:bodyPr wrap="square" rtlCol="0" anchor="t"/>
          <a:lstStyle/>
          <a:p>
            <a:pPr marL="0" indent="0">
              <a:buNone/>
            </a:pPr>
            <a:endParaRPr lang="en-US" dirty="0"/>
          </a:p>
        </p:txBody>
      </p:sp>
      <p:sp>
        <p:nvSpPr>
          <p:cNvPr id="21" name="Text 13"/>
          <p:cNvSpPr/>
          <p:nvPr/>
        </p:nvSpPr>
        <p:spPr>
          <a:xfrm>
            <a:off x="3515125" y="1376660"/>
            <a:ext cx="1020738" cy="139005"/>
          </a:xfrm>
          <a:prstGeom prst="rect">
            <a:avLst/>
          </a:prstGeom>
          <a:noFill/>
          <a:ln/>
        </p:spPr>
        <p:txBody>
          <a:bodyPr wrap="none" lIns="0" tIns="0" rIns="0" bIns="0" rtlCol="0" anchor="t"/>
          <a:lstStyle/>
          <a:p>
            <a:pPr marL="0" indent="0" algn="l">
              <a:lnSpc>
                <a:spcPts val="1095"/>
              </a:lnSpc>
              <a:buNone/>
            </a:pPr>
            <a:r>
              <a:rPr lang="en-US" sz="730" kern="0" spc="170" dirty="0">
                <a:solidFill>
                  <a:srgbClr val="60A5FA"/>
                </a:solidFill>
                <a:latin typeface="Consolas" pitchFamily="34" charset="0"/>
                <a:ea typeface="Consolas" pitchFamily="34" charset="-122"/>
                <a:cs typeface="Consolas" pitchFamily="34" charset="-120"/>
              </a:rPr>
              <a:t>INTELLIGENCE</a:t>
            </a:r>
            <a:endParaRPr lang="en-US" sz="730" dirty="0"/>
          </a:p>
        </p:txBody>
      </p:sp>
      <p:sp>
        <p:nvSpPr>
          <p:cNvPr id="22" name="Text 14"/>
          <p:cNvSpPr/>
          <p:nvPr/>
        </p:nvSpPr>
        <p:spPr>
          <a:xfrm>
            <a:off x="3515125" y="1601986"/>
            <a:ext cx="1549783" cy="240655"/>
          </a:xfrm>
          <a:prstGeom prst="rect">
            <a:avLst/>
          </a:prstGeom>
          <a:noFill/>
          <a:ln/>
        </p:spPr>
        <p:txBody>
          <a:bodyPr wrap="none" lIns="0" tIns="0" rIns="0" bIns="0" rtlCol="0" anchor="t"/>
          <a:lstStyle/>
          <a:p>
            <a:pPr marL="0" indent="0" algn="l">
              <a:lnSpc>
                <a:spcPts val="1896"/>
              </a:lnSpc>
              <a:buNone/>
            </a:pPr>
            <a:r>
              <a:rPr lang="en-US" sz="1580" b="1" dirty="0">
                <a:solidFill>
                  <a:srgbClr val="60A5FA"/>
                </a:solidFill>
                <a:latin typeface="Consolas" pitchFamily="34" charset="0"/>
                <a:ea typeface="Consolas" pitchFamily="34" charset="-122"/>
                <a:cs typeface="Consolas" pitchFamily="34" charset="-120"/>
              </a:rPr>
              <a:t>Hermes Agent</a:t>
            </a:r>
            <a:endParaRPr lang="en-US" sz="1580" dirty="0"/>
          </a:p>
        </p:txBody>
      </p:sp>
      <p:sp>
        <p:nvSpPr>
          <p:cNvPr id="23" name="Text 15"/>
          <p:cNvSpPr/>
          <p:nvPr/>
        </p:nvSpPr>
        <p:spPr>
          <a:xfrm>
            <a:off x="3515125" y="2014091"/>
            <a:ext cx="257770" cy="257770"/>
          </a:xfrm>
          <a:prstGeom prst="roundRect">
            <a:avLst>
              <a:gd name="adj" fmla="val 27590"/>
            </a:avLst>
          </a:prstGeom>
          <a:solidFill>
            <a:srgbClr val="60A5FA">
              <a:alpha val="15000"/>
            </a:srgbClr>
          </a:solidFill>
          <a:ln/>
        </p:spPr>
        <p:txBody>
          <a:bodyPr wrap="none" rtlCol="0" anchor="t"/>
          <a:lstStyle/>
          <a:p>
            <a:pPr marL="0" indent="0">
              <a:buNone/>
            </a:pPr>
            <a:endParaRPr lang="en-US" dirty="0"/>
          </a:p>
        </p:txBody>
      </p:sp>
      <p:pic>
        <p:nvPicPr>
          <p:cNvPr id="24" name="Image 6"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77642" y="2076608"/>
            <a:ext cx="132588" cy="132588"/>
          </a:xfrm>
          <a:prstGeom prst="rect">
            <a:avLst/>
          </a:prstGeom>
        </p:spPr>
      </p:pic>
      <p:sp>
        <p:nvSpPr>
          <p:cNvPr id="25" name="Text 16"/>
          <p:cNvSpPr/>
          <p:nvPr/>
        </p:nvSpPr>
        <p:spPr>
          <a:xfrm>
            <a:off x="3873205" y="2057251"/>
            <a:ext cx="1182975"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Memory &amp; learning</a:t>
            </a:r>
            <a:endParaRPr lang="en-US" sz="1010" dirty="0"/>
          </a:p>
        </p:txBody>
      </p:sp>
      <p:sp>
        <p:nvSpPr>
          <p:cNvPr id="26" name="Text 17"/>
          <p:cNvSpPr/>
          <p:nvPr/>
        </p:nvSpPr>
        <p:spPr>
          <a:xfrm>
            <a:off x="3515125" y="2400002"/>
            <a:ext cx="257770" cy="257770"/>
          </a:xfrm>
          <a:prstGeom prst="roundRect">
            <a:avLst>
              <a:gd name="adj" fmla="val 27590"/>
            </a:avLst>
          </a:prstGeom>
          <a:solidFill>
            <a:srgbClr val="60A5FA">
              <a:alpha val="15000"/>
            </a:srgbClr>
          </a:solidFill>
          <a:ln/>
        </p:spPr>
        <p:txBody>
          <a:bodyPr wrap="none" rtlCol="0" anchor="t"/>
          <a:lstStyle/>
          <a:p>
            <a:pPr marL="0" indent="0">
              <a:buNone/>
            </a:pPr>
            <a:endParaRPr lang="en-US" dirty="0"/>
          </a:p>
        </p:txBody>
      </p:sp>
      <p:pic>
        <p:nvPicPr>
          <p:cNvPr id="27" name="Image 7"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77642" y="2462519"/>
            <a:ext cx="132588" cy="132588"/>
          </a:xfrm>
          <a:prstGeom prst="rect">
            <a:avLst/>
          </a:prstGeom>
        </p:spPr>
      </p:pic>
      <p:sp>
        <p:nvSpPr>
          <p:cNvPr id="28" name="Text 18"/>
          <p:cNvSpPr/>
          <p:nvPr/>
        </p:nvSpPr>
        <p:spPr>
          <a:xfrm>
            <a:off x="3873205" y="2443163"/>
            <a:ext cx="1104558"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Self-improvement</a:t>
            </a:r>
            <a:endParaRPr lang="en-US" sz="1010" dirty="0"/>
          </a:p>
        </p:txBody>
      </p:sp>
      <p:sp>
        <p:nvSpPr>
          <p:cNvPr id="29" name="Text 19"/>
          <p:cNvSpPr/>
          <p:nvPr/>
        </p:nvSpPr>
        <p:spPr>
          <a:xfrm>
            <a:off x="3515125" y="2785914"/>
            <a:ext cx="257770" cy="257770"/>
          </a:xfrm>
          <a:prstGeom prst="roundRect">
            <a:avLst>
              <a:gd name="adj" fmla="val 27590"/>
            </a:avLst>
          </a:prstGeom>
          <a:solidFill>
            <a:srgbClr val="60A5FA">
              <a:alpha val="15000"/>
            </a:srgbClr>
          </a:solidFill>
          <a:ln/>
        </p:spPr>
        <p:txBody>
          <a:bodyPr wrap="none" rtlCol="0" anchor="t"/>
          <a:lstStyle/>
          <a:p>
            <a:pPr marL="0" indent="0">
              <a:buNone/>
            </a:pPr>
            <a:endParaRPr lang="en-US" dirty="0"/>
          </a:p>
        </p:txBody>
      </p:sp>
      <p:pic>
        <p:nvPicPr>
          <p:cNvPr id="30" name="Image 8"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77642" y="2848430"/>
            <a:ext cx="132588" cy="132588"/>
          </a:xfrm>
          <a:prstGeom prst="rect">
            <a:avLst/>
          </a:prstGeom>
        </p:spPr>
      </p:pic>
      <p:sp>
        <p:nvSpPr>
          <p:cNvPr id="31" name="Text 20"/>
          <p:cNvSpPr/>
          <p:nvPr/>
        </p:nvSpPr>
        <p:spPr>
          <a:xfrm>
            <a:off x="3873205" y="2829074"/>
            <a:ext cx="799073" cy="185886"/>
          </a:xfrm>
          <a:prstGeom prst="rect">
            <a:avLst/>
          </a:prstGeom>
          <a:noFill/>
          <a:ln/>
        </p:spPr>
        <p:txBody>
          <a:bodyPr wrap="none" lIns="0" tIns="0" rIns="0" bIns="0" rtlCol="0" anchor="t"/>
          <a:lstStyle/>
          <a:p>
            <a:pPr marL="0" indent="0" algn="l">
              <a:lnSpc>
                <a:spcPts val="1465"/>
              </a:lnSpc>
              <a:buNone/>
            </a:pPr>
            <a:r>
              <a:rPr lang="en-US" sz="1010" dirty="0">
                <a:solidFill>
                  <a:srgbClr val="E2E8F0"/>
                </a:solidFill>
                <a:latin typeface="Calibri" pitchFamily="34" charset="0"/>
                <a:ea typeface="Calibri" pitchFamily="34" charset="-122"/>
                <a:cs typeface="Calibri" pitchFamily="34" charset="-120"/>
              </a:rPr>
              <a:t>Skill creation</a:t>
            </a:r>
            <a:endParaRPr lang="en-US" sz="1010" dirty="0"/>
          </a:p>
        </p:txBody>
      </p:sp>
      <p:sp>
        <p:nvSpPr>
          <p:cNvPr id="32" name="Text 21"/>
          <p:cNvSpPr/>
          <p:nvPr/>
        </p:nvSpPr>
        <p:spPr>
          <a:xfrm>
            <a:off x="400050" y="4315569"/>
            <a:ext cx="8343900" cy="542181"/>
          </a:xfrm>
          <a:prstGeom prst="roundRect">
            <a:avLst>
              <a:gd name="adj" fmla="val 18505"/>
            </a:avLst>
          </a:prstGeom>
          <a:gradFill rotWithShape="1">
            <a:gsLst>
              <a:gs pos="0">
                <a:srgbClr val="76B900">
                  <a:alpha val="12000"/>
                </a:srgbClr>
              </a:gs>
              <a:gs pos="100000">
                <a:srgbClr val="76B900">
                  <a:alpha val="5000"/>
                </a:srgbClr>
              </a:gs>
            </a:gsLst>
            <a:lin ang="2700000" scaled="1"/>
          </a:gradFill>
          <a:ln w="9525">
            <a:solidFill>
              <a:srgbClr val="76B900">
                <a:alpha val="30000"/>
              </a:srgbClr>
            </a:solidFill>
          </a:ln>
        </p:spPr>
        <p:txBody>
          <a:bodyPr wrap="square" rtlCol="0" anchor="t"/>
          <a:lstStyle/>
          <a:p>
            <a:pPr marL="0" indent="0">
              <a:buNone/>
            </a:pPr>
            <a:endParaRPr lang="en-US" dirty="0"/>
          </a:p>
        </p:txBody>
      </p:sp>
      <p:pic>
        <p:nvPicPr>
          <p:cNvPr id="33" name="Image 9"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90440" y="4511427"/>
            <a:ext cx="150465" cy="150465"/>
          </a:xfrm>
          <a:prstGeom prst="rect">
            <a:avLst/>
          </a:prstGeom>
        </p:spPr>
      </p:pic>
      <p:sp>
        <p:nvSpPr>
          <p:cNvPr id="34" name="Text 22"/>
          <p:cNvSpPr/>
          <p:nvPr/>
        </p:nvSpPr>
        <p:spPr>
          <a:xfrm>
            <a:off x="2133533" y="4468564"/>
            <a:ext cx="4876785" cy="236190"/>
          </a:xfrm>
          <a:prstGeom prst="rect">
            <a:avLst/>
          </a:prstGeom>
          <a:noFill/>
          <a:ln/>
        </p:spPr>
        <p:txBody>
          <a:bodyPr wrap="none" lIns="0" tIns="0" rIns="0" bIns="0" rtlCol="0" anchor="ctr"/>
          <a:lstStyle/>
          <a:p>
            <a:pPr marL="0" indent="0" algn="ctr">
              <a:lnSpc>
                <a:spcPts val="1860"/>
              </a:lnSpc>
              <a:buNone/>
            </a:pPr>
            <a:r>
              <a:rPr lang="en-US" sz="1240" b="1" dirty="0">
                <a:solidFill>
                  <a:srgbClr val="76B900"/>
                </a:solidFill>
                <a:latin typeface="Consolas" pitchFamily="34" charset="0"/>
                <a:ea typeface="Consolas" pitchFamily="34" charset="-122"/>
                <a:cs typeface="Consolas" pitchFamily="34" charset="-120"/>
              </a:rPr>
              <a:t>Together = </a:t>
            </a:r>
            <a:r>
              <a:rPr lang="en-US" sz="1240" b="1">
                <a:solidFill>
                  <a:srgbClr val="76B900"/>
                </a:solidFill>
                <a:latin typeface="Consolas" pitchFamily="34" charset="0"/>
                <a:ea typeface="Consolas" pitchFamily="34" charset="-122"/>
                <a:cs typeface="Consolas" pitchFamily="34" charset="-120"/>
              </a:rPr>
              <a:t>Production-ready autonomous</a:t>
            </a:r>
            <a:r>
              <a:rPr lang="en-US" sz="1240" b="1" dirty="0">
                <a:solidFill>
                  <a:srgbClr val="76B900"/>
                </a:solidFill>
                <a:latin typeface="Consolas" pitchFamily="34" charset="0"/>
                <a:ea typeface="Consolas" pitchFamily="34" charset="-122"/>
                <a:cs typeface="Consolas" pitchFamily="34" charset="-120"/>
              </a:rPr>
              <a:t> agents</a:t>
            </a:r>
            <a:endParaRPr lang="en-US" sz="1240" dirty="0"/>
          </a:p>
        </p:txBody>
      </p:sp>
      <p:pic>
        <p:nvPicPr>
          <p:cNvPr id="35" name="Image 10"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02946" y="4511427"/>
            <a:ext cx="150465" cy="150465"/>
          </a:xfrm>
          <a:prstGeom prst="rect">
            <a:avLst/>
          </a:prstGeom>
        </p:spPr>
      </p:pic>
      <p:sp>
        <p:nvSpPr>
          <p:cNvPr id="36" name="Text 23"/>
          <p:cNvSpPr/>
          <p:nvPr/>
        </p:nvSpPr>
        <p:spPr>
          <a:xfrm>
            <a:off x="409575" y="1118890"/>
            <a:ext cx="2570950" cy="21580"/>
          </a:xfrm>
          <a:custGeom>
            <a:avLst/>
            <a:gdLst/>
            <a:ahLst/>
            <a:cxnLst/>
            <a:rect l="l" t="t" r="r" b="b"/>
            <a:pathLst>
              <a:path w="3867150" h="21580">
                <a:moveTo>
                  <a:pt x="114300" y="0"/>
                </a:moveTo>
                <a:lnTo>
                  <a:pt x="3752850" y="0"/>
                </a:lnTo>
                <a:lnTo>
                  <a:pt x="3777535" y="2698"/>
                </a:lnTo>
                <a:lnTo>
                  <a:pt x="3787551" y="5395"/>
                </a:lnTo>
                <a:lnTo>
                  <a:pt x="3795093" y="8093"/>
                </a:lnTo>
                <a:lnTo>
                  <a:pt x="3801329" y="10790"/>
                </a:lnTo>
                <a:lnTo>
                  <a:pt x="3806714" y="13488"/>
                </a:lnTo>
                <a:lnTo>
                  <a:pt x="3811484" y="16185"/>
                </a:lnTo>
                <a:lnTo>
                  <a:pt x="3815778" y="18883"/>
                </a:lnTo>
                <a:lnTo>
                  <a:pt x="3819689"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solidFill>
            <a:srgbClr val="76B900">
              <a:alpha val="60000"/>
            </a:srgbClr>
          </a:solidFill>
          <a:ln/>
        </p:spPr>
        <p:txBody>
          <a:bodyPr wrap="none" rtlCol="0" anchor="t"/>
          <a:lstStyle/>
          <a:p>
            <a:pPr marL="0" indent="0">
              <a:buNone/>
            </a:pPr>
            <a:endParaRPr lang="en-US" dirty="0"/>
          </a:p>
        </p:txBody>
      </p:sp>
      <p:sp>
        <p:nvSpPr>
          <p:cNvPr id="37" name="Text 24"/>
          <p:cNvSpPr/>
          <p:nvPr/>
        </p:nvSpPr>
        <p:spPr>
          <a:xfrm>
            <a:off x="3286525" y="1118890"/>
            <a:ext cx="2570950" cy="21580"/>
          </a:xfrm>
          <a:custGeom>
            <a:avLst/>
            <a:gdLst/>
            <a:ahLst/>
            <a:cxnLst/>
            <a:rect l="l" t="t" r="r" b="b"/>
            <a:pathLst>
              <a:path w="3867150" h="21580">
                <a:moveTo>
                  <a:pt x="114300" y="0"/>
                </a:moveTo>
                <a:lnTo>
                  <a:pt x="3752850" y="0"/>
                </a:lnTo>
                <a:lnTo>
                  <a:pt x="3777535" y="2698"/>
                </a:lnTo>
                <a:lnTo>
                  <a:pt x="3787551" y="5395"/>
                </a:lnTo>
                <a:lnTo>
                  <a:pt x="3795093" y="8093"/>
                </a:lnTo>
                <a:lnTo>
                  <a:pt x="3801329" y="10790"/>
                </a:lnTo>
                <a:lnTo>
                  <a:pt x="3806714" y="13488"/>
                </a:lnTo>
                <a:lnTo>
                  <a:pt x="3811484" y="16185"/>
                </a:lnTo>
                <a:lnTo>
                  <a:pt x="3815778" y="18883"/>
                </a:lnTo>
                <a:lnTo>
                  <a:pt x="3819689"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solidFill>
            <a:srgbClr val="76B900">
              <a:alpha val="60000"/>
            </a:srgbClr>
          </a:solidFill>
          <a:ln/>
        </p:spPr>
        <p:txBody>
          <a:bodyPr wrap="none" rtlCol="0" anchor="t"/>
          <a:lstStyle/>
          <a:p>
            <a:pPr marL="0" indent="0">
              <a:buNone/>
            </a:pPr>
            <a:endParaRPr lang="en-US" dirty="0"/>
          </a:p>
        </p:txBody>
      </p:sp>
      <p:sp>
        <p:nvSpPr>
          <p:cNvPr id="50" name="Panel3_Card"/>
          <p:cNvSpPr/>
          <p:nvPr/>
        </p:nvSpPr>
        <p:spPr>
          <a:xfrm>
            <a:off x="6153950" y="1109365"/>
            <a:ext cx="2590000" cy="3034754"/>
          </a:xfrm>
          <a:prstGeom prst="roundRect">
            <a:avLst>
              <a:gd name="adj" fmla="val 3766"/>
            </a:avLst>
          </a:prstGeom>
          <a:solidFill>
            <a:srgbClr val="1A2332"/>
          </a:solidFill>
          <a:ln w="9525">
            <a:solidFill>
              <a:srgbClr val="C084FC">
                <a:alpha val="25000"/>
              </a:srgbClr>
            </a:solidFill>
          </a:ln>
        </p:spPr>
        <p:txBody>
          <a:bodyPr wrap="square" rtlCol="0" anchor="t"/>
          <a:lstStyle/>
          <a:p>
            <a:pPr marL="0" indent="0">
              <a:buNone/>
            </a:pPr>
            <a:endParaRPr lang="en-US"/>
          </a:p>
        </p:txBody>
      </p:sp>
      <p:sp>
        <p:nvSpPr>
          <p:cNvPr id="51" name="Panel3_Accent"/>
          <p:cNvSpPr/>
          <p:nvPr/>
        </p:nvSpPr>
        <p:spPr>
          <a:xfrm>
            <a:off x="6163475" y="1118890"/>
            <a:ext cx="2570950" cy="21580"/>
          </a:xfrm>
          <a:prstGeom prst="rect">
            <a:avLst/>
          </a:prstGeom>
          <a:solidFill>
            <a:srgbClr val="C084FC">
              <a:alpha val="60000"/>
            </a:srgbClr>
          </a:solidFill>
          <a:ln/>
        </p:spPr>
        <p:txBody>
          <a:bodyPr wrap="none" rtlCol="0" anchor="t"/>
          <a:lstStyle/>
          <a:p>
            <a:pPr marL="0" indent="0">
              <a:buNone/>
            </a:pPr>
            <a:endParaRPr lang="en-US"/>
          </a:p>
        </p:txBody>
      </p:sp>
      <p:sp>
        <p:nvSpPr>
          <p:cNvPr id="52" name="Panel3_Cat"/>
          <p:cNvSpPr/>
          <p:nvPr/>
        </p:nvSpPr>
        <p:spPr>
          <a:xfrm>
            <a:off x="6392075" y="1376660"/>
            <a:ext cx="765512" cy="139005"/>
          </a:xfrm>
          <a:prstGeom prst="rect">
            <a:avLst/>
          </a:prstGeom>
          <a:noFill/>
          <a:ln/>
        </p:spPr>
        <p:txBody>
          <a:bodyPr wrap="none" lIns="0" tIns="0" rIns="0" bIns="0" rtlCol="0" anchor="t"/>
          <a:lstStyle/>
          <a:p>
            <a:pPr marL="0" indent="0" algn="l">
              <a:lnSpc>
                <a:spcPts val="1095"/>
              </a:lnSpc>
              <a:buNone/>
            </a:pPr>
            <a:r>
              <a:rPr lang="en-US" sz="730" kern="0" spc="170">
                <a:solidFill>
                  <a:srgbClr val="C084FC"/>
                </a:solidFill>
                <a:latin typeface="Consolas" pitchFamily="34" charset="0"/>
                <a:ea typeface="Consolas" pitchFamily="34" charset="-122"/>
                <a:cs typeface="Consolas" pitchFamily="34" charset="-120"/>
              </a:rPr>
              <a:t>AGENT</a:t>
            </a:r>
            <a:endParaRPr lang="en-US" sz="730"/>
          </a:p>
        </p:txBody>
      </p:sp>
      <p:sp>
        <p:nvSpPr>
          <p:cNvPr id="53" name="Panel3_Title"/>
          <p:cNvSpPr/>
          <p:nvPr/>
        </p:nvSpPr>
        <p:spPr>
          <a:xfrm>
            <a:off x="6392075" y="1601986"/>
            <a:ext cx="1549783" cy="240655"/>
          </a:xfrm>
          <a:prstGeom prst="rect">
            <a:avLst/>
          </a:prstGeom>
          <a:noFill/>
          <a:ln/>
        </p:spPr>
        <p:txBody>
          <a:bodyPr wrap="none" lIns="0" tIns="0" rIns="0" bIns="0" rtlCol="0" anchor="t"/>
          <a:lstStyle/>
          <a:p>
            <a:pPr marL="0" indent="0" algn="l">
              <a:lnSpc>
                <a:spcPts val="1896"/>
              </a:lnSpc>
              <a:buNone/>
            </a:pPr>
            <a:r>
              <a:rPr lang="en-US" sz="1580" b="1">
                <a:solidFill>
                  <a:srgbClr val="C084FC"/>
                </a:solidFill>
                <a:latin typeface="Consolas" pitchFamily="34" charset="0"/>
                <a:ea typeface="Consolas" pitchFamily="34" charset="-122"/>
                <a:cs typeface="Consolas" pitchFamily="34" charset="-120"/>
              </a:rPr>
              <a:t>Mercury Agent</a:t>
            </a:r>
            <a:endParaRPr lang="en-US" sz="1580"/>
          </a:p>
        </p:txBody>
      </p:sp>
      <p:sp>
        <p:nvSpPr>
          <p:cNvPr id="54" name="Panel3_Badge1"/>
          <p:cNvSpPr/>
          <p:nvPr/>
        </p:nvSpPr>
        <p:spPr>
          <a:xfrm>
            <a:off x="6392075" y="2014091"/>
            <a:ext cx="257770" cy="257770"/>
          </a:xfrm>
          <a:prstGeom prst="roundRect">
            <a:avLst>
              <a:gd name="adj" fmla="val 27590"/>
            </a:avLst>
          </a:prstGeom>
          <a:solidFill>
            <a:srgbClr val="C084FC">
              <a:alpha val="15000"/>
            </a:srgbClr>
          </a:solidFill>
          <a:ln/>
        </p:spPr>
        <p:txBody>
          <a:bodyPr wrap="square" rtlCol="0" anchor="t"/>
          <a:lstStyle/>
          <a:p>
            <a:pPr marL="0" indent="0">
              <a:buNone/>
            </a:pPr>
            <a:endParaRPr lang="en-US"/>
          </a:p>
        </p:txBody>
      </p:sp>
      <p:pic>
        <p:nvPicPr>
          <p:cNvPr id="70" name="Icon_Panel3_Badge1" descr="icon.sv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54666" y="2076682"/>
            <a:ext cx="132588" cy="132588"/>
          </a:xfrm>
          <a:prstGeom prst="rect">
            <a:avLst/>
          </a:prstGeom>
        </p:spPr>
      </p:pic>
      <p:sp>
        <p:nvSpPr>
          <p:cNvPr id="55" name="Panel3_Feat1"/>
          <p:cNvSpPr/>
          <p:nvPr/>
        </p:nvSpPr>
        <p:spPr>
          <a:xfrm>
            <a:off x="6749855" y="2057251"/>
            <a:ext cx="1500000" cy="185886"/>
          </a:xfrm>
          <a:prstGeom prst="rect">
            <a:avLst/>
          </a:prstGeom>
          <a:noFill/>
          <a:ln/>
        </p:spPr>
        <p:txBody>
          <a:bodyPr wrap="none" lIns="0" tIns="0" rIns="0" bIns="0" rtlCol="0" anchor="t"/>
          <a:lstStyle/>
          <a:p>
            <a:pPr marL="0" indent="0" algn="l">
              <a:lnSpc>
                <a:spcPts val="1465"/>
              </a:lnSpc>
              <a:buNone/>
            </a:pPr>
            <a:r>
              <a:rPr lang="en-US" sz="1010">
                <a:solidFill>
                  <a:srgbClr val="E2E8F0"/>
                </a:solidFill>
                <a:latin typeface="Calibri" pitchFamily="34" charset="0"/>
                <a:ea typeface="Calibri" pitchFamily="34" charset="-122"/>
                <a:cs typeface="Calibri" pitchFamily="34" charset="-120"/>
              </a:rPr>
              <a:t>31 hardened tools</a:t>
            </a:r>
            <a:endParaRPr lang="en-US" sz="1010"/>
          </a:p>
        </p:txBody>
      </p:sp>
      <p:sp>
        <p:nvSpPr>
          <p:cNvPr id="56" name="Panel3_Badge2"/>
          <p:cNvSpPr/>
          <p:nvPr/>
        </p:nvSpPr>
        <p:spPr>
          <a:xfrm>
            <a:off x="6392075" y="2400002"/>
            <a:ext cx="257770" cy="257770"/>
          </a:xfrm>
          <a:prstGeom prst="roundRect">
            <a:avLst>
              <a:gd name="adj" fmla="val 27590"/>
            </a:avLst>
          </a:prstGeom>
          <a:solidFill>
            <a:srgbClr val="C084FC">
              <a:alpha val="15000"/>
            </a:srgbClr>
          </a:solidFill>
          <a:ln/>
        </p:spPr>
        <p:txBody>
          <a:bodyPr wrap="square" rtlCol="0" anchor="t"/>
          <a:lstStyle/>
          <a:p>
            <a:pPr marL="0" indent="0">
              <a:buNone/>
            </a:pPr>
            <a:endParaRPr lang="en-US"/>
          </a:p>
        </p:txBody>
      </p:sp>
      <p:pic>
        <p:nvPicPr>
          <p:cNvPr id="71" name="Icon_Panel3_Badge2" descr="icon.sv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54666" y="2462593"/>
            <a:ext cx="132588" cy="132588"/>
          </a:xfrm>
          <a:prstGeom prst="rect">
            <a:avLst/>
          </a:prstGeom>
        </p:spPr>
      </p:pic>
      <p:sp>
        <p:nvSpPr>
          <p:cNvPr id="57" name="Panel3_Feat2"/>
          <p:cNvSpPr/>
          <p:nvPr/>
        </p:nvSpPr>
        <p:spPr>
          <a:xfrm>
            <a:off x="6749855" y="2443162"/>
            <a:ext cx="1500000" cy="185886"/>
          </a:xfrm>
          <a:prstGeom prst="rect">
            <a:avLst/>
          </a:prstGeom>
          <a:noFill/>
          <a:ln/>
        </p:spPr>
        <p:txBody>
          <a:bodyPr wrap="none" lIns="0" tIns="0" rIns="0" bIns="0" rtlCol="0" anchor="t"/>
          <a:lstStyle/>
          <a:p>
            <a:pPr marL="0" indent="0" algn="l">
              <a:lnSpc>
                <a:spcPts val="1465"/>
              </a:lnSpc>
              <a:buNone/>
            </a:pPr>
            <a:r>
              <a:rPr lang="en-US" sz="1010">
                <a:solidFill>
                  <a:srgbClr val="E2E8F0"/>
                </a:solidFill>
                <a:latin typeface="Calibri" pitchFamily="34" charset="0"/>
                <a:ea typeface="Calibri" pitchFamily="34" charset="-122"/>
                <a:cs typeface="Calibri" pitchFamily="34" charset="-120"/>
              </a:rPr>
              <a:t>CLI + Telegram</a:t>
            </a:r>
            <a:endParaRPr lang="en-US" sz="1010"/>
          </a:p>
        </p:txBody>
      </p:sp>
      <p:sp>
        <p:nvSpPr>
          <p:cNvPr id="58" name="Panel3_Badge3"/>
          <p:cNvSpPr/>
          <p:nvPr/>
        </p:nvSpPr>
        <p:spPr>
          <a:xfrm>
            <a:off x="6392075" y="2785914"/>
            <a:ext cx="257770" cy="257770"/>
          </a:xfrm>
          <a:prstGeom prst="roundRect">
            <a:avLst>
              <a:gd name="adj" fmla="val 27590"/>
            </a:avLst>
          </a:prstGeom>
          <a:solidFill>
            <a:srgbClr val="C084FC">
              <a:alpha val="15000"/>
            </a:srgbClr>
          </a:solidFill>
          <a:ln/>
        </p:spPr>
        <p:txBody>
          <a:bodyPr wrap="square" rtlCol="0" anchor="t"/>
          <a:lstStyle/>
          <a:p>
            <a:pPr marL="0" indent="0">
              <a:buNone/>
            </a:pPr>
            <a:endParaRPr lang="en-US"/>
          </a:p>
        </p:txBody>
      </p:sp>
      <p:pic>
        <p:nvPicPr>
          <p:cNvPr id="72" name="Icon_Panel3_Badge3" descr="icon.sv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454666" y="2848505"/>
            <a:ext cx="132588" cy="132588"/>
          </a:xfrm>
          <a:prstGeom prst="rect">
            <a:avLst/>
          </a:prstGeom>
        </p:spPr>
      </p:pic>
      <p:sp>
        <p:nvSpPr>
          <p:cNvPr id="59" name="Panel3_Feat3"/>
          <p:cNvSpPr/>
          <p:nvPr/>
        </p:nvSpPr>
        <p:spPr>
          <a:xfrm>
            <a:off x="6749855" y="2829074"/>
            <a:ext cx="1500000" cy="185886"/>
          </a:xfrm>
          <a:prstGeom prst="rect">
            <a:avLst/>
          </a:prstGeom>
          <a:noFill/>
          <a:ln/>
        </p:spPr>
        <p:txBody>
          <a:bodyPr wrap="none" lIns="0" tIns="0" rIns="0" bIns="0" rtlCol="0" anchor="t"/>
          <a:lstStyle/>
          <a:p>
            <a:pPr marL="0" indent="0" algn="l">
              <a:lnSpc>
                <a:spcPts val="1465"/>
              </a:lnSpc>
              <a:buNone/>
            </a:pPr>
            <a:r>
              <a:rPr lang="en-US" sz="1010">
                <a:solidFill>
                  <a:srgbClr val="E2E8F0"/>
                </a:solidFill>
                <a:latin typeface="Calibri" pitchFamily="34" charset="0"/>
                <a:ea typeface="Calibri" pitchFamily="34" charset="-122"/>
                <a:cs typeface="Calibri" pitchFamily="34" charset="-120"/>
              </a:rPr>
              <a:t>Second Brain memory</a:t>
            </a:r>
            <a:endParaRPr lang="en-US" sz="1010"/>
          </a:p>
        </p:txBody>
      </p:sp>
      <p:sp>
        <p:nvSpPr>
          <p:cNvPr id="60" name="Panel3_Desc"/>
          <p:cNvSpPr/>
          <p:nvPr/>
        </p:nvSpPr>
        <p:spPr>
          <a:xfrm>
            <a:off x="6392075" y="3200000"/>
            <a:ext cx="2100000" cy="600000"/>
          </a:xfrm>
          <a:prstGeom prst="rect">
            <a:avLst/>
          </a:prstGeom>
          <a:noFill/>
          <a:ln/>
        </p:spPr>
        <p:txBody>
          <a:bodyPr wrap="square" lIns="0" tIns="0" rIns="0" bIns="0" rtlCol="0" anchor="t"/>
          <a:lstStyle/>
          <a:p>
            <a:pPr marL="0" indent="0" algn="l">
              <a:lnSpc>
                <a:spcPts val="1100"/>
              </a:lnSpc>
              <a:buNone/>
            </a:pPr>
            <a:r>
              <a:rPr lang="en-US" sz="800">
                <a:solidFill>
                  <a:srgbClr val="8B9CB6"/>
                </a:solidFill>
                <a:latin typeface="Calibri" pitchFamily="34" charset="0"/>
                <a:ea typeface="Calibri" pitchFamily="34" charset="-122"/>
                <a:cs typeface="Calibri" pitchFamily="34" charset="-120"/>
              </a:rPr>
              <a:t>Soul-driven AI agent with token budgets &amp; daemon mode. TypeScript · MIT · ~967 ★</a:t>
            </a:r>
            <a:endParaRPr lang="en-US" sz="800"/>
          </a:p>
        </p:txBody>
      </p:sp>
      <p:sp>
        <p:nvSpPr>
          <p:cNvPr id="61" name="Panel3_Install"/>
          <p:cNvSpPr/>
          <p:nvPr/>
        </p:nvSpPr>
        <p:spPr>
          <a:xfrm>
            <a:off x="6392075" y="3450000"/>
            <a:ext cx="2100000" cy="200000"/>
          </a:xfrm>
          <a:prstGeom prst="rect">
            <a:avLst/>
          </a:prstGeom>
          <a:noFill/>
          <a:ln/>
        </p:spPr>
        <p:txBody>
          <a:bodyPr wrap="square" lIns="0" tIns="0" rIns="0" bIns="0" rtlCol="0" anchor="t"/>
          <a:lstStyle/>
          <a:p>
            <a:pPr marL="0" indent="0" algn="l">
              <a:lnSpc>
                <a:spcPts val="1000"/>
              </a:lnSpc>
              <a:buNone/>
            </a:pPr>
            <a:r>
              <a:rPr lang="en-US" sz="750">
                <a:solidFill>
                  <a:srgbClr val="C084FC"/>
                </a:solidFill>
                <a:latin typeface="Consolas" pitchFamily="34" charset="0"/>
                <a:ea typeface="Consolas" pitchFamily="34" charset="-122"/>
                <a:cs typeface="Consolas" pitchFamily="34" charset="-120"/>
              </a:rPr>
              <a:t>npx @cosmicstack/mercury-agent</a:t>
            </a:r>
            <a:endParaRPr lang="en-US" sz="750"/>
          </a:p>
        </p:txBody>
      </p:sp>
      <p:sp>
        <p:nvSpPr>
          <p:cNvPr id="80" name="NewBadge"/>
          <p:cNvSpPr/>
          <p:nvPr/>
        </p:nvSpPr>
        <p:spPr>
          <a:xfrm rot="1200000">
            <a:off x="8184000" y="659365"/>
            <a:ext cx="960000" cy="960000"/>
          </a:xfrm>
          <a:prstGeom prst="star8">
            <a:avLst>
              <a:gd name="adj" fmla="val 40000"/>
            </a:avLst>
          </a:prstGeom>
          <a:gradFill rotWithShape="1">
            <a:gsLst>
              <a:gs pos="0">
                <a:srgbClr val="D946EF"/>
              </a:gs>
              <a:gs pos="100000">
                <a:srgbClr val="A855F7"/>
              </a:gs>
            </a:gsLst>
            <a:lin ang="2700000" scaled="1"/>
          </a:gradFill>
          <a:effectLst>
            <a:outerShdw blurRad="150000" algn="ctr" rotWithShape="0">
              <a:srgbClr val="C084FC">
                <a:alpha val="50000"/>
              </a:srgbClr>
            </a:outerShdw>
          </a:effectLst>
        </p:spPr>
        <p:txBody>
          <a:bodyPr wrap="none" rtlCol="0" anchor="t"/>
          <a:lstStyle/>
          <a:p>
            <a:pPr marL="0" indent="0">
              <a:buNone/>
            </a:pPr>
            <a:endParaRPr lang="en-US"/>
          </a:p>
        </p:txBody>
      </p:sp>
      <p:sp>
        <p:nvSpPr>
          <p:cNvPr id="81" name="NewBadgeText"/>
          <p:cNvSpPr/>
          <p:nvPr/>
        </p:nvSpPr>
        <p:spPr>
          <a:xfrm>
            <a:off x="8333950" y="939365"/>
            <a:ext cx="619978" cy="400000"/>
          </a:xfrm>
          <a:prstGeom prst="rect">
            <a:avLst/>
          </a:prstGeom>
          <a:noFill/>
          <a:ln/>
        </p:spPr>
        <p:txBody>
          <a:bodyPr wrap="non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NEW</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7">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4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409575"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4" name="Text 2"/>
          <p:cNvSpPr/>
          <p:nvPr/>
        </p:nvSpPr>
        <p:spPr>
          <a:xfrm>
            <a:off x="2103983"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5" name="Text 3"/>
          <p:cNvSpPr/>
          <p:nvPr/>
        </p:nvSpPr>
        <p:spPr>
          <a:xfrm>
            <a:off x="3798391"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6" name="Text 4"/>
          <p:cNvSpPr/>
          <p:nvPr/>
        </p:nvSpPr>
        <p:spPr>
          <a:xfrm>
            <a:off x="5492800"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7" name="Text 5"/>
          <p:cNvSpPr/>
          <p:nvPr/>
        </p:nvSpPr>
        <p:spPr>
          <a:xfrm>
            <a:off x="7187208" y="1183481"/>
            <a:ext cx="1547222" cy="21580"/>
          </a:xfrm>
          <a:custGeom>
            <a:avLst/>
            <a:gdLst/>
            <a:ahLst/>
            <a:cxnLst/>
            <a:rect l="l" t="t" r="r" b="b"/>
            <a:pathLst>
              <a:path w="1547222" h="21580">
                <a:moveTo>
                  <a:pt x="100330" y="0"/>
                </a:moveTo>
                <a:lnTo>
                  <a:pt x="1446892" y="0"/>
                </a:lnTo>
                <a:lnTo>
                  <a:pt x="1470001" y="2698"/>
                </a:lnTo>
                <a:lnTo>
                  <a:pt x="1479349" y="5395"/>
                </a:lnTo>
                <a:lnTo>
                  <a:pt x="1486368" y="8093"/>
                </a:lnTo>
                <a:lnTo>
                  <a:pt x="1492155" y="10790"/>
                </a:lnTo>
                <a:lnTo>
                  <a:pt x="1497137" y="13488"/>
                </a:lnTo>
                <a:lnTo>
                  <a:pt x="1501534" y="16185"/>
                </a:lnTo>
                <a:lnTo>
                  <a:pt x="1505479" y="18883"/>
                </a:lnTo>
                <a:lnTo>
                  <a:pt x="1509058" y="21580"/>
                </a:lnTo>
                <a:lnTo>
                  <a:pt x="38164" y="21580"/>
                </a:lnTo>
                <a:lnTo>
                  <a:pt x="41743" y="18883"/>
                </a:lnTo>
                <a:lnTo>
                  <a:pt x="45688" y="16185"/>
                </a:lnTo>
                <a:lnTo>
                  <a:pt x="50085" y="13488"/>
                </a:lnTo>
                <a:lnTo>
                  <a:pt x="55067" y="10790"/>
                </a:lnTo>
                <a:lnTo>
                  <a:pt x="60854" y="8093"/>
                </a:lnTo>
                <a:lnTo>
                  <a:pt x="67873" y="5395"/>
                </a:lnTo>
                <a:lnTo>
                  <a:pt x="77221" y="2698"/>
                </a:lnTo>
                <a:close/>
              </a:path>
            </a:pathLst>
          </a:custGeom>
          <a:solidFill>
            <a:srgbClr val="76B900">
              <a:alpha val="60000"/>
            </a:srgbClr>
          </a:solidFill>
          <a:ln/>
        </p:spPr>
        <p:txBody>
          <a:bodyPr wrap="none" rtlCol="0" anchor="t"/>
          <a:lstStyle/>
          <a:p>
            <a:pPr marL="0" indent="0">
              <a:buNone/>
            </a:pPr>
            <a:endParaRPr lang="en-US" dirty="0"/>
          </a:p>
        </p:txBody>
      </p:sp>
      <p:sp>
        <p:nvSpPr>
          <p:cNvPr id="8" name="Text 6"/>
          <p:cNvSpPr/>
          <p:nvPr/>
        </p:nvSpPr>
        <p:spPr>
          <a:xfrm>
            <a:off x="2510623" y="379958"/>
            <a:ext cx="867140" cy="457200"/>
          </a:xfrm>
          <a:prstGeom prst="rect">
            <a:avLst/>
          </a:prstGeom>
          <a:noFill/>
          <a:ln/>
        </p:spPr>
        <p:txBody>
          <a:bodyPr wrap="none" lIns="0" tIns="0" rIns="0" bIns="0" rtlCol="0" anchor="ctr"/>
          <a:lstStyle/>
          <a:p>
            <a:pPr marL="0" indent="0" algn="ctr">
              <a:lnSpc>
                <a:spcPts val="3600"/>
              </a:lnSpc>
              <a:buNone/>
            </a:pPr>
            <a:r>
              <a:rPr lang="en-US" sz="3600" b="1">
                <a:solidFill>
                  <a:srgbClr val="76B900"/>
                </a:solidFill>
                <a:latin typeface="Consolas" pitchFamily="34" charset="0"/>
                <a:ea typeface="Consolas" pitchFamily="34" charset="-122"/>
                <a:cs typeface="Consolas" pitchFamily="34" charset="-120"/>
              </a:rPr>
              <a:t>50</a:t>
            </a:r>
            <a:r>
              <a:rPr lang="en-US" sz="3600" b="1" dirty="0">
                <a:solidFill>
                  <a:srgbClr val="76B900"/>
                </a:solidFill>
                <a:latin typeface="Consolas" pitchFamily="34" charset="0"/>
                <a:ea typeface="Consolas" pitchFamily="34" charset="-122"/>
                <a:cs typeface="Consolas" pitchFamily="34" charset="-120"/>
              </a:rPr>
              <a:t>+</a:t>
            </a:r>
            <a:endParaRPr lang="en-US" sz="3600" dirty="0"/>
          </a:p>
        </p:txBody>
      </p:sp>
      <p:sp>
        <p:nvSpPr>
          <p:cNvPr id="9" name="Text 7"/>
          <p:cNvSpPr/>
          <p:nvPr/>
        </p:nvSpPr>
        <p:spPr>
          <a:xfrm>
            <a:off x="3485257" y="314920"/>
            <a:ext cx="3346397" cy="278904"/>
          </a:xfrm>
          <a:prstGeom prst="rect">
            <a:avLst/>
          </a:prstGeom>
          <a:noFill/>
          <a:ln/>
        </p:spPr>
        <p:txBody>
          <a:bodyPr wrap="none" lIns="0" tIns="0" rIns="0" bIns="0" rtlCol="0" anchor="ctr"/>
          <a:lstStyle/>
          <a:p>
            <a:pPr marL="0" indent="0" algn="l">
              <a:lnSpc>
                <a:spcPts val="2197"/>
              </a:lnSpc>
              <a:buNone/>
            </a:pPr>
            <a:r>
              <a:rPr lang="en-US" sz="1910" b="1" kern="0" spc="-30" dirty="0">
                <a:solidFill>
                  <a:srgbClr val="E2E8F0"/>
                </a:solidFill>
                <a:latin typeface="Consolas" pitchFamily="34" charset="0"/>
                <a:ea typeface="Consolas" pitchFamily="34" charset="-122"/>
                <a:cs typeface="Consolas" pitchFamily="34" charset="-120"/>
              </a:rPr>
              <a:t>Tasks You Can Automate</a:t>
            </a:r>
            <a:endParaRPr lang="en-US" sz="1910" dirty="0"/>
          </a:p>
        </p:txBody>
      </p:sp>
      <p:sp>
        <p:nvSpPr>
          <p:cNvPr id="10" name="Text 8"/>
          <p:cNvSpPr/>
          <p:nvPr/>
        </p:nvSpPr>
        <p:spPr>
          <a:xfrm>
            <a:off x="3485257" y="636984"/>
            <a:ext cx="2468344" cy="265361"/>
          </a:xfrm>
          <a:prstGeom prst="roundRect">
            <a:avLst>
              <a:gd name="adj" fmla="val 64610"/>
            </a:avLst>
          </a:prstGeom>
          <a:solidFill>
            <a:srgbClr val="76B900">
              <a:alpha val="15000"/>
            </a:srgbClr>
          </a:solidFill>
          <a:ln w="9525">
            <a:solidFill>
              <a:srgbClr val="76B900">
                <a:alpha val="40000"/>
              </a:srgbClr>
            </a:solidFill>
          </a:ln>
        </p:spPr>
        <p:txBody>
          <a:bodyPr wrap="none" lIns="286385" tIns="43180" rIns="143510" bIns="43180" rtlCol="0" anchor="ctr"/>
          <a:lstStyle/>
          <a:p>
            <a:pPr marL="0" indent="0" algn="l">
              <a:buNone/>
            </a:pPr>
            <a:r>
              <a:rPr lang="en-US" sz="840" kern="0" spc="30" dirty="0">
                <a:solidFill>
                  <a:srgbClr val="76B900"/>
                </a:solidFill>
                <a:latin typeface="Consolas" pitchFamily="34" charset="0"/>
                <a:ea typeface="Consolas" pitchFamily="34" charset="-122"/>
                <a:cs typeface="Consolas" pitchFamily="34" charset="-120"/>
              </a:rPr>
              <a:t>Built-in Tools &amp; Integrations</a:t>
            </a:r>
            <a:endParaRPr lang="en-US" sz="840"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4821" y="703296"/>
            <a:ext cx="132588" cy="132588"/>
          </a:xfrm>
          <a:prstGeom prst="rect">
            <a:avLst/>
          </a:prstGeom>
        </p:spPr>
      </p:pic>
      <p:sp>
        <p:nvSpPr>
          <p:cNvPr id="12" name="Text 9"/>
          <p:cNvSpPr/>
          <p:nvPr/>
        </p:nvSpPr>
        <p:spPr>
          <a:xfrm>
            <a:off x="400050"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13" name="Text 10"/>
          <p:cNvSpPr/>
          <p:nvPr/>
        </p:nvSpPr>
        <p:spPr>
          <a:xfrm>
            <a:off x="581025" y="1384102"/>
            <a:ext cx="314920" cy="314920"/>
          </a:xfrm>
          <a:prstGeom prst="roundRect">
            <a:avLst>
              <a:gd name="adj" fmla="val 22584"/>
            </a:avLst>
          </a:prstGeom>
          <a:solidFill>
            <a:srgbClr val="76B900">
              <a:alpha val="12000"/>
            </a:srgbClr>
          </a:solidFill>
          <a:ln/>
        </p:spPr>
        <p:txBody>
          <a:bodyPr wrap="square" rtlCol="0" anchor="t"/>
          <a:lstStyle/>
          <a:p>
            <a:pPr marL="0" indent="0">
              <a:buNone/>
            </a:pPr>
            <a:endParaRPr lang="en-US"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8982" y="1472059"/>
            <a:ext cx="139005" cy="139005"/>
          </a:xfrm>
          <a:prstGeom prst="rect">
            <a:avLst/>
          </a:prstGeom>
        </p:spPr>
      </p:pic>
      <p:sp>
        <p:nvSpPr>
          <p:cNvPr id="15" name="Text 11"/>
          <p:cNvSpPr/>
          <p:nvPr/>
        </p:nvSpPr>
        <p:spPr>
          <a:xfrm>
            <a:off x="581025" y="1770013"/>
            <a:ext cx="1324749" cy="137071"/>
          </a:xfrm>
          <a:prstGeom prst="rect">
            <a:avLst/>
          </a:prstGeom>
          <a:noFill/>
          <a:ln/>
        </p:spPr>
        <p:txBody>
          <a:bodyPr wrap="none" lIns="0" tIns="0" rIns="0" bIns="0" rtlCol="0" anchor="t"/>
          <a:lstStyle/>
          <a:p>
            <a:pPr marL="0" indent="0" algn="l">
              <a:lnSpc>
                <a:spcPts val="1080"/>
              </a:lnSpc>
              <a:buNone/>
            </a:pPr>
            <a:r>
              <a:rPr lang="en-US" sz="900" b="1" dirty="0">
                <a:solidFill>
                  <a:srgbClr val="76B900"/>
                </a:solidFill>
                <a:latin typeface="Consolas" pitchFamily="34" charset="0"/>
                <a:ea typeface="Consolas" pitchFamily="34" charset="-122"/>
                <a:cs typeface="Consolas" pitchFamily="34" charset="-120"/>
              </a:rPr>
              <a:t>Core Tools</a:t>
            </a:r>
            <a:endParaRPr lang="en-US" sz="900" dirty="0"/>
          </a:p>
        </p:txBody>
      </p:sp>
      <p:sp>
        <p:nvSpPr>
          <p:cNvPr id="16" name="Text 12"/>
          <p:cNvSpPr/>
          <p:nvPr/>
        </p:nvSpPr>
        <p:spPr>
          <a:xfrm>
            <a:off x="581025" y="197807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System-level power for your agent</a:t>
            </a:r>
            <a:endParaRPr lang="en-US" sz="820" dirty="0"/>
          </a:p>
        </p:txBody>
      </p:sp>
      <p:sp>
        <p:nvSpPr>
          <p:cNvPr id="22" name="Text 18"/>
          <p:cNvSpPr/>
          <p:nvPr/>
        </p:nvSpPr>
        <p:spPr>
          <a:xfrm>
            <a:off x="2094458"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23" name="Text 19"/>
          <p:cNvSpPr/>
          <p:nvPr/>
        </p:nvSpPr>
        <p:spPr>
          <a:xfrm>
            <a:off x="2275433" y="1384102"/>
            <a:ext cx="314920" cy="314920"/>
          </a:xfrm>
          <a:prstGeom prst="roundRect">
            <a:avLst>
              <a:gd name="adj" fmla="val 22584"/>
            </a:avLst>
          </a:prstGeom>
          <a:solidFill>
            <a:srgbClr val="3B82F6">
              <a:alpha val="12000"/>
            </a:srgbClr>
          </a:solidFill>
          <a:ln/>
        </p:spPr>
        <p:txBody>
          <a:bodyPr wrap="square" rtlCol="0" anchor="t"/>
          <a:lstStyle/>
          <a:p>
            <a:pPr marL="0" indent="0">
              <a:buNone/>
            </a:pPr>
            <a:endParaRPr lang="en-US"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63391" y="1472059"/>
            <a:ext cx="139005" cy="139005"/>
          </a:xfrm>
          <a:prstGeom prst="rect">
            <a:avLst/>
          </a:prstGeom>
        </p:spPr>
      </p:pic>
      <p:sp>
        <p:nvSpPr>
          <p:cNvPr id="25" name="Text 20"/>
          <p:cNvSpPr/>
          <p:nvPr/>
        </p:nvSpPr>
        <p:spPr>
          <a:xfrm>
            <a:off x="2275433" y="1770013"/>
            <a:ext cx="1324749" cy="137071"/>
          </a:xfrm>
          <a:prstGeom prst="rect">
            <a:avLst/>
          </a:prstGeom>
          <a:noFill/>
          <a:ln/>
        </p:spPr>
        <p:txBody>
          <a:bodyPr wrap="none" lIns="0" tIns="0" rIns="0" bIns="0" rtlCol="0" anchor="t"/>
          <a:lstStyle/>
          <a:p>
            <a:pPr marL="0" indent="0" algn="l">
              <a:lnSpc>
                <a:spcPts val="1080"/>
              </a:lnSpc>
              <a:buNone/>
            </a:pPr>
            <a:r>
              <a:rPr lang="en-US" sz="900" b="1" dirty="0">
                <a:solidFill>
                  <a:srgbClr val="3B82F6"/>
                </a:solidFill>
                <a:latin typeface="Consolas" pitchFamily="34" charset="0"/>
                <a:ea typeface="Consolas" pitchFamily="34" charset="-122"/>
                <a:cs typeface="Consolas" pitchFamily="34" charset="-120"/>
              </a:rPr>
              <a:t>Productivity</a:t>
            </a:r>
            <a:endParaRPr lang="en-US" sz="900" dirty="0"/>
          </a:p>
        </p:txBody>
      </p:sp>
      <p:sp>
        <p:nvSpPr>
          <p:cNvPr id="26" name="Text 21"/>
          <p:cNvSpPr/>
          <p:nvPr/>
        </p:nvSpPr>
        <p:spPr>
          <a:xfrm>
            <a:off x="2275433" y="197807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Organize, plan, and manage work</a:t>
            </a:r>
            <a:endParaRPr lang="en-US" sz="820" dirty="0"/>
          </a:p>
        </p:txBody>
      </p:sp>
      <p:sp>
        <p:nvSpPr>
          <p:cNvPr id="31" name="Text 26"/>
          <p:cNvSpPr/>
          <p:nvPr/>
        </p:nvSpPr>
        <p:spPr>
          <a:xfrm>
            <a:off x="3788866"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32" name="Text 27"/>
          <p:cNvSpPr/>
          <p:nvPr/>
        </p:nvSpPr>
        <p:spPr>
          <a:xfrm>
            <a:off x="3969841" y="1384102"/>
            <a:ext cx="314920" cy="314920"/>
          </a:xfrm>
          <a:prstGeom prst="roundRect">
            <a:avLst>
              <a:gd name="adj" fmla="val 22584"/>
            </a:avLst>
          </a:prstGeom>
          <a:solidFill>
            <a:srgbClr val="A855F7">
              <a:alpha val="12000"/>
            </a:srgbClr>
          </a:solidFill>
          <a:ln/>
        </p:spPr>
        <p:txBody>
          <a:bodyPr wrap="square" rtlCol="0" anchor="t"/>
          <a:lstStyle/>
          <a:p>
            <a:pPr marL="0" indent="0">
              <a:buNone/>
            </a:pPr>
            <a:endParaRPr lang="en-US" dirty="0"/>
          </a:p>
        </p:txBody>
      </p:sp>
      <p:pic>
        <p:nvPicPr>
          <p:cNvPr id="3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57799" y="1472059"/>
            <a:ext cx="139005" cy="139005"/>
          </a:xfrm>
          <a:prstGeom prst="rect">
            <a:avLst/>
          </a:prstGeom>
        </p:spPr>
      </p:pic>
      <p:sp>
        <p:nvSpPr>
          <p:cNvPr id="34" name="Text 28"/>
          <p:cNvSpPr/>
          <p:nvPr/>
        </p:nvSpPr>
        <p:spPr>
          <a:xfrm>
            <a:off x="3969841" y="1770013"/>
            <a:ext cx="1324749" cy="137071"/>
          </a:xfrm>
          <a:prstGeom prst="rect">
            <a:avLst/>
          </a:prstGeom>
          <a:noFill/>
          <a:ln/>
        </p:spPr>
        <p:txBody>
          <a:bodyPr wrap="none" lIns="0" tIns="0" rIns="0" bIns="0" rtlCol="0" anchor="t"/>
          <a:lstStyle/>
          <a:p>
            <a:pPr marL="0" indent="0" algn="l">
              <a:lnSpc>
                <a:spcPts val="1080"/>
              </a:lnSpc>
              <a:buNone/>
            </a:pPr>
            <a:r>
              <a:rPr lang="en-US" sz="900" b="1" dirty="0">
                <a:solidFill>
                  <a:srgbClr val="A855F7"/>
                </a:solidFill>
                <a:latin typeface="Consolas" pitchFamily="34" charset="0"/>
                <a:ea typeface="Consolas" pitchFamily="34" charset="-122"/>
                <a:cs typeface="Consolas" pitchFamily="34" charset="-120"/>
              </a:rPr>
              <a:t>Communication</a:t>
            </a:r>
            <a:endParaRPr lang="en-US" sz="900" dirty="0"/>
          </a:p>
        </p:txBody>
      </p:sp>
      <p:sp>
        <p:nvSpPr>
          <p:cNvPr id="35" name="Text 29"/>
          <p:cNvSpPr/>
          <p:nvPr/>
        </p:nvSpPr>
        <p:spPr>
          <a:xfrm>
            <a:off x="3969841" y="197807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Chat with your agent anywhere</a:t>
            </a:r>
            <a:endParaRPr lang="en-US" sz="820" dirty="0"/>
          </a:p>
        </p:txBody>
      </p:sp>
      <p:sp>
        <p:nvSpPr>
          <p:cNvPr id="40" name="Text 34"/>
          <p:cNvSpPr/>
          <p:nvPr/>
        </p:nvSpPr>
        <p:spPr>
          <a:xfrm>
            <a:off x="5483275"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41" name="Text 35"/>
          <p:cNvSpPr/>
          <p:nvPr/>
        </p:nvSpPr>
        <p:spPr>
          <a:xfrm>
            <a:off x="5664250" y="1384102"/>
            <a:ext cx="314920" cy="314920"/>
          </a:xfrm>
          <a:prstGeom prst="roundRect">
            <a:avLst>
              <a:gd name="adj" fmla="val 22584"/>
            </a:avLst>
          </a:prstGeom>
          <a:solidFill>
            <a:srgbClr val="F97316">
              <a:alpha val="12000"/>
            </a:srgbClr>
          </a:solidFill>
          <a:ln/>
        </p:spPr>
        <p:txBody>
          <a:bodyPr wrap="square" rtlCol="0" anchor="t"/>
          <a:lstStyle/>
          <a:p>
            <a:pPr marL="0" indent="0">
              <a:buNone/>
            </a:pPr>
            <a:endParaRPr lang="en-US" dirty="0"/>
          </a:p>
        </p:txBody>
      </p:sp>
      <p:pic>
        <p:nvPicPr>
          <p:cNvPr id="4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52207" y="1472059"/>
            <a:ext cx="139005" cy="139005"/>
          </a:xfrm>
          <a:prstGeom prst="rect">
            <a:avLst/>
          </a:prstGeom>
        </p:spPr>
      </p:pic>
      <p:sp>
        <p:nvSpPr>
          <p:cNvPr id="43" name="Text 36"/>
          <p:cNvSpPr/>
          <p:nvPr/>
        </p:nvSpPr>
        <p:spPr>
          <a:xfrm>
            <a:off x="5664250" y="1770013"/>
            <a:ext cx="1324749" cy="137071"/>
          </a:xfrm>
          <a:prstGeom prst="rect">
            <a:avLst/>
          </a:prstGeom>
          <a:noFill/>
          <a:ln/>
        </p:spPr>
        <p:txBody>
          <a:bodyPr wrap="none" lIns="0" tIns="0" rIns="0" bIns="0" rtlCol="0" anchor="t"/>
          <a:lstStyle/>
          <a:p>
            <a:pPr marL="0" indent="0" algn="l">
              <a:lnSpc>
                <a:spcPts val="1080"/>
              </a:lnSpc>
              <a:buNone/>
            </a:pPr>
            <a:r>
              <a:rPr lang="en-US" sz="900" b="1" dirty="0">
                <a:solidFill>
                  <a:srgbClr val="F97316"/>
                </a:solidFill>
                <a:latin typeface="Consolas" pitchFamily="34" charset="0"/>
                <a:ea typeface="Consolas" pitchFamily="34" charset="-122"/>
                <a:cs typeface="Consolas" pitchFamily="34" charset="-120"/>
              </a:rPr>
              <a:t>Development</a:t>
            </a:r>
            <a:endParaRPr lang="en-US" sz="900" dirty="0"/>
          </a:p>
        </p:txBody>
      </p:sp>
      <p:sp>
        <p:nvSpPr>
          <p:cNvPr id="44" name="Text 37"/>
          <p:cNvSpPr/>
          <p:nvPr/>
        </p:nvSpPr>
        <p:spPr>
          <a:xfrm>
            <a:off x="5664250" y="197807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Code, ship, and self-improve</a:t>
            </a:r>
            <a:endParaRPr lang="en-US" sz="820" dirty="0"/>
          </a:p>
        </p:txBody>
      </p:sp>
      <p:sp>
        <p:nvSpPr>
          <p:cNvPr id="48" name="Text 41"/>
          <p:cNvSpPr/>
          <p:nvPr/>
        </p:nvSpPr>
        <p:spPr>
          <a:xfrm>
            <a:off x="7177683" y="1173956"/>
            <a:ext cx="1566267" cy="3350000"/>
          </a:xfrm>
          <a:prstGeom prst="roundRect">
            <a:avLst>
              <a:gd name="adj" fmla="val 6406"/>
            </a:avLst>
          </a:prstGeom>
          <a:solidFill>
            <a:srgbClr val="1A2332"/>
          </a:solidFill>
          <a:ln w="9525">
            <a:solidFill>
              <a:srgbClr val="76B900">
                <a:alpha val="8000"/>
              </a:srgbClr>
            </a:solidFill>
          </a:ln>
        </p:spPr>
        <p:txBody>
          <a:bodyPr wrap="square" rtlCol="0" anchor="t"/>
          <a:lstStyle/>
          <a:p>
            <a:pPr marL="0" indent="0">
              <a:buNone/>
            </a:pPr>
            <a:endParaRPr lang="en-US" dirty="0"/>
          </a:p>
        </p:txBody>
      </p:sp>
      <p:sp>
        <p:nvSpPr>
          <p:cNvPr id="49" name="Text 42"/>
          <p:cNvSpPr/>
          <p:nvPr/>
        </p:nvSpPr>
        <p:spPr>
          <a:xfrm>
            <a:off x="7358658" y="1384102"/>
            <a:ext cx="314920" cy="314920"/>
          </a:xfrm>
          <a:prstGeom prst="roundRect">
            <a:avLst>
              <a:gd name="adj" fmla="val 22584"/>
            </a:avLst>
          </a:prstGeom>
          <a:solidFill>
            <a:srgbClr val="EC4899">
              <a:alpha val="12000"/>
            </a:srgbClr>
          </a:solidFill>
          <a:ln/>
        </p:spPr>
        <p:txBody>
          <a:bodyPr wrap="square" rtlCol="0" anchor="t"/>
          <a:lstStyle/>
          <a:p>
            <a:pPr marL="0" indent="0">
              <a:buNone/>
            </a:pPr>
            <a:endParaRPr lang="en-US" dirty="0"/>
          </a:p>
        </p:txBody>
      </p:sp>
      <p:pic>
        <p:nvPicPr>
          <p:cNvPr id="5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46615" y="1472059"/>
            <a:ext cx="139005" cy="139005"/>
          </a:xfrm>
          <a:prstGeom prst="rect">
            <a:avLst/>
          </a:prstGeom>
        </p:spPr>
      </p:pic>
      <p:sp>
        <p:nvSpPr>
          <p:cNvPr id="51" name="Text 43"/>
          <p:cNvSpPr/>
          <p:nvPr/>
        </p:nvSpPr>
        <p:spPr>
          <a:xfrm>
            <a:off x="7358658" y="1770013"/>
            <a:ext cx="1228404" cy="287848"/>
          </a:xfrm>
          <a:prstGeom prst="rect">
            <a:avLst/>
          </a:prstGeom>
          <a:noFill/>
          <a:ln/>
        </p:spPr>
        <p:txBody>
          <a:bodyPr wrap="square" lIns="0" tIns="0" rIns="0" bIns="0" rtlCol="0" anchor="t"/>
          <a:lstStyle/>
          <a:p>
            <a:pPr marL="0" indent="0" algn="l">
              <a:lnSpc>
                <a:spcPts val="1080"/>
              </a:lnSpc>
              <a:buNone/>
            </a:pPr>
            <a:r>
              <a:rPr lang="en-US" sz="900" b="1" dirty="0">
                <a:solidFill>
                  <a:srgbClr val="EC4899"/>
                </a:solidFill>
                <a:latin typeface="Consolas" pitchFamily="34" charset="0"/>
                <a:ea typeface="Consolas" pitchFamily="34" charset="-122"/>
                <a:cs typeface="Consolas" pitchFamily="34" charset="-120"/>
              </a:rPr>
              <a:t>Research &amp; Creative</a:t>
            </a:r>
            <a:endParaRPr lang="en-US" sz="900" dirty="0"/>
          </a:p>
        </p:txBody>
      </p:sp>
      <p:sp>
        <p:nvSpPr>
          <p:cNvPr id="52" name="Text 44"/>
          <p:cNvSpPr/>
          <p:nvPr/>
        </p:nvSpPr>
        <p:spPr>
          <a:xfrm>
            <a:off x="7358658" y="2115145"/>
            <a:ext cx="1228404" cy="317227"/>
          </a:xfrm>
          <a:prstGeom prst="rect">
            <a:avLst/>
          </a:prstGeom>
          <a:noFill/>
          <a:ln/>
        </p:spPr>
        <p:txBody>
          <a:bodyPr wrap="square" lIns="0" tIns="0" rIns="0" bIns="0" rtlCol="0" anchor="t"/>
          <a:lstStyle/>
          <a:p>
            <a:pPr marL="0" indent="0" algn="l">
              <a:lnSpc>
                <a:spcPts val="1189"/>
              </a:lnSpc>
              <a:buNone/>
            </a:pPr>
            <a:r>
              <a:rPr lang="en-US" sz="820" dirty="0">
                <a:solidFill>
                  <a:srgbClr val="8B9CB6"/>
                </a:solidFill>
                <a:latin typeface="Calibri" pitchFamily="34" charset="0"/>
                <a:ea typeface="Calibri" pitchFamily="34" charset="-122"/>
                <a:cs typeface="Calibri" pitchFamily="34" charset="-120"/>
              </a:rPr>
              <a:t>Generate, analyze, and learn</a:t>
            </a:r>
            <a:endParaRPr lang="en-US" sz="820" dirty="0"/>
          </a:p>
        </p:txBody>
      </p:sp>
      <p:sp>
        <p:nvSpPr>
          <p:cNvPr id="56" name="Text 48"/>
          <p:cNvSpPr/>
          <p:nvPr/>
        </p:nvSpPr>
        <p:spPr>
          <a:xfrm>
            <a:off x="2136874" y="4580000"/>
            <a:ext cx="4870252" cy="374452"/>
          </a:xfrm>
          <a:prstGeom prst="roundRect">
            <a:avLst>
              <a:gd name="adj" fmla="val 18993"/>
            </a:avLst>
          </a:prstGeom>
          <a:gradFill rotWithShape="1">
            <a:gsLst>
              <a:gs pos="0">
                <a:srgbClr val="76B900">
                  <a:alpha val="8000"/>
                </a:srgbClr>
              </a:gs>
              <a:gs pos="100000">
                <a:srgbClr val="76B900">
                  <a:alpha val="3000"/>
                </a:srgbClr>
              </a:gs>
            </a:gsLst>
            <a:lin ang="2700000" scaled="1"/>
          </a:gradFill>
          <a:ln w="9525">
            <a:solidFill>
              <a:srgbClr val="76B900">
                <a:alpha val="20000"/>
              </a:srgbClr>
            </a:solidFill>
          </a:ln>
        </p:spPr>
        <p:txBody>
          <a:bodyPr wrap="square" rtlCol="0" anchor="t"/>
          <a:lstStyle/>
          <a:p>
            <a:pPr marL="0" indent="0">
              <a:buNone/>
            </a:pPr>
            <a:endParaRPr lang="en-US" dirty="0"/>
          </a:p>
        </p:txBody>
      </p:sp>
      <p:pic>
        <p:nvPicPr>
          <p:cNvPr id="5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62507" y="4701000"/>
            <a:ext cx="132588" cy="132588"/>
          </a:xfrm>
          <a:prstGeom prst="rect">
            <a:avLst/>
          </a:prstGeom>
        </p:spPr>
      </p:pic>
      <p:sp>
        <p:nvSpPr>
          <p:cNvPr id="58" name="Text 49"/>
          <p:cNvSpPr/>
          <p:nvPr/>
        </p:nvSpPr>
        <p:spPr>
          <a:xfrm>
            <a:off x="2358918" y="4676000"/>
            <a:ext cx="4620086" cy="182761"/>
          </a:xfrm>
          <a:prstGeom prst="rect">
            <a:avLst/>
          </a:prstGeom>
          <a:noFill/>
          <a:ln/>
        </p:spPr>
        <p:txBody>
          <a:bodyPr wrap="none" lIns="0" tIns="0" rIns="0" bIns="0" rtlCol="0" anchor="ctr"/>
          <a:lstStyle/>
          <a:p>
            <a:pPr marL="0" indent="0" algn="ctr">
              <a:lnSpc>
                <a:spcPts val="1440"/>
              </a:lnSpc>
              <a:buNone/>
            </a:pPr>
            <a:r>
              <a:rPr lang="en-US" sz="960" dirty="0">
                <a:solidFill>
                  <a:srgbClr val="8B9CB6"/>
                </a:solidFill>
                <a:latin typeface="Calibri" pitchFamily="34" charset="0"/>
                <a:ea typeface="Calibri" pitchFamily="34" charset="-122"/>
                <a:cs typeface="Calibri" pitchFamily="34" charset="-120"/>
              </a:rPr>
              <a:t>Extensible architecture — add your own tools via plugins and custom scripts</a:t>
            </a:r>
            <a:endParaRPr lang="en-US" sz="960" dirty="0"/>
          </a:p>
        </p:txBody>
      </p:sp>
      <p:sp>
        <p:nvSpPr>
          <p:cNvPr id="100" name="Pill_100"/>
          <p:cNvSpPr/>
          <p:nvPr/>
        </p:nvSpPr>
        <p:spPr>
          <a:xfrm>
            <a:off x="594866" y="2350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shell commands</a:t>
            </a:r>
            <a:endParaRPr lang="en-US"/>
          </a:p>
        </p:txBody>
      </p:sp>
      <p:sp>
        <p:nvSpPr>
          <p:cNvPr id="101" name="Pill_101"/>
          <p:cNvSpPr/>
          <p:nvPr/>
        </p:nvSpPr>
        <p:spPr>
          <a:xfrm>
            <a:off x="594866" y="2516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code execution</a:t>
            </a:r>
            <a:endParaRPr lang="en-US"/>
          </a:p>
        </p:txBody>
      </p:sp>
      <p:sp>
        <p:nvSpPr>
          <p:cNvPr id="102" name="Pill_102"/>
          <p:cNvSpPr/>
          <p:nvPr/>
        </p:nvSpPr>
        <p:spPr>
          <a:xfrm>
            <a:off x="594866" y="2682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web browsing</a:t>
            </a:r>
            <a:endParaRPr lang="en-US"/>
          </a:p>
        </p:txBody>
      </p:sp>
      <p:sp>
        <p:nvSpPr>
          <p:cNvPr id="103" name="Pill_103"/>
          <p:cNvSpPr/>
          <p:nvPr/>
        </p:nvSpPr>
        <p:spPr>
          <a:xfrm>
            <a:off x="594866" y="2848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web search</a:t>
            </a:r>
            <a:endParaRPr lang="en-US"/>
          </a:p>
        </p:txBody>
      </p:sp>
      <p:sp>
        <p:nvSpPr>
          <p:cNvPr id="104" name="Pill_104"/>
          <p:cNvSpPr/>
          <p:nvPr/>
        </p:nvSpPr>
        <p:spPr>
          <a:xfrm>
            <a:off x="594866" y="3014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file read/write</a:t>
            </a:r>
            <a:endParaRPr lang="en-US"/>
          </a:p>
        </p:txBody>
      </p:sp>
      <p:sp>
        <p:nvSpPr>
          <p:cNvPr id="105" name="Pill_105"/>
          <p:cNvSpPr/>
          <p:nvPr/>
        </p:nvSpPr>
        <p:spPr>
          <a:xfrm>
            <a:off x="594866" y="3180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cron scheduling</a:t>
            </a:r>
            <a:endParaRPr lang="en-US"/>
          </a:p>
        </p:txBody>
      </p:sp>
      <p:sp>
        <p:nvSpPr>
          <p:cNvPr id="106" name="Pill_106"/>
          <p:cNvSpPr/>
          <p:nvPr/>
        </p:nvSpPr>
        <p:spPr>
          <a:xfrm>
            <a:off x="594866" y="3346000"/>
            <a:ext cx="80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SSH remote access</a:t>
            </a:r>
            <a:endParaRPr lang="en-US"/>
          </a:p>
        </p:txBody>
      </p:sp>
      <p:sp>
        <p:nvSpPr>
          <p:cNvPr id="107" name="Pill_107"/>
          <p:cNvSpPr/>
          <p:nvPr/>
        </p:nvSpPr>
        <p:spPr>
          <a:xfrm>
            <a:off x="594866" y="3512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process monitor</a:t>
            </a:r>
            <a:endParaRPr lang="en-US"/>
          </a:p>
        </p:txBody>
      </p:sp>
      <p:sp>
        <p:nvSpPr>
          <p:cNvPr id="108" name="Pill_108"/>
          <p:cNvSpPr/>
          <p:nvPr/>
        </p:nvSpPr>
        <p:spPr>
          <a:xfrm>
            <a:off x="594866" y="3678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log analysis</a:t>
            </a:r>
            <a:endParaRPr lang="en-US"/>
          </a:p>
        </p:txBody>
      </p:sp>
      <p:sp>
        <p:nvSpPr>
          <p:cNvPr id="109" name="Pill_109"/>
          <p:cNvSpPr/>
          <p:nvPr/>
        </p:nvSpPr>
        <p:spPr>
          <a:xfrm>
            <a:off x="594866" y="3844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env management</a:t>
            </a:r>
            <a:endParaRPr lang="en-US"/>
          </a:p>
        </p:txBody>
      </p:sp>
      <p:sp>
        <p:nvSpPr>
          <p:cNvPr id="110" name="Pill_110"/>
          <p:cNvSpPr/>
          <p:nvPr/>
        </p:nvSpPr>
        <p:spPr>
          <a:xfrm>
            <a:off x="594866" y="4010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HTTP requests</a:t>
            </a:r>
            <a:endParaRPr lang="en-US"/>
          </a:p>
        </p:txBody>
      </p:sp>
      <p:sp>
        <p:nvSpPr>
          <p:cNvPr id="111" name="Pill_111"/>
          <p:cNvSpPr/>
          <p:nvPr/>
        </p:nvSpPr>
        <p:spPr>
          <a:xfrm>
            <a:off x="594866" y="417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regex parsing</a:t>
            </a:r>
            <a:endParaRPr lang="en-US"/>
          </a:p>
        </p:txBody>
      </p:sp>
      <p:sp>
        <p:nvSpPr>
          <p:cNvPr id="112" name="Pill_112"/>
          <p:cNvSpPr/>
          <p:nvPr/>
        </p:nvSpPr>
        <p:spPr>
          <a:xfrm>
            <a:off x="2289274" y="2350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email triage</a:t>
            </a:r>
            <a:endParaRPr lang="en-US"/>
          </a:p>
        </p:txBody>
      </p:sp>
      <p:sp>
        <p:nvSpPr>
          <p:cNvPr id="113" name="Pill_113"/>
          <p:cNvSpPr/>
          <p:nvPr/>
        </p:nvSpPr>
        <p:spPr>
          <a:xfrm>
            <a:off x="2289274" y="251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calendar mgmt</a:t>
            </a:r>
            <a:endParaRPr lang="en-US"/>
          </a:p>
        </p:txBody>
      </p:sp>
      <p:sp>
        <p:nvSpPr>
          <p:cNvPr id="114" name="Pill_114"/>
          <p:cNvSpPr/>
          <p:nvPr/>
        </p:nvSpPr>
        <p:spPr>
          <a:xfrm>
            <a:off x="2289274" y="2682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meeting notes</a:t>
            </a:r>
            <a:endParaRPr lang="en-US"/>
          </a:p>
        </p:txBody>
      </p:sp>
      <p:sp>
        <p:nvSpPr>
          <p:cNvPr id="115" name="Pill_115"/>
          <p:cNvSpPr/>
          <p:nvPr/>
        </p:nvSpPr>
        <p:spPr>
          <a:xfrm>
            <a:off x="2289274" y="2848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spreadsheet ops</a:t>
            </a:r>
            <a:endParaRPr lang="en-US"/>
          </a:p>
        </p:txBody>
      </p:sp>
      <p:sp>
        <p:nvSpPr>
          <p:cNvPr id="116" name="Pill_116"/>
          <p:cNvSpPr/>
          <p:nvPr/>
        </p:nvSpPr>
        <p:spPr>
          <a:xfrm>
            <a:off x="2289274" y="3014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doc generation</a:t>
            </a:r>
            <a:endParaRPr lang="en-US"/>
          </a:p>
        </p:txBody>
      </p:sp>
      <p:sp>
        <p:nvSpPr>
          <p:cNvPr id="117" name="Pill_117"/>
          <p:cNvSpPr/>
          <p:nvPr/>
        </p:nvSpPr>
        <p:spPr>
          <a:xfrm>
            <a:off x="2289274" y="3180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task tracking</a:t>
            </a:r>
            <a:endParaRPr lang="en-US"/>
          </a:p>
        </p:txBody>
      </p:sp>
      <p:sp>
        <p:nvSpPr>
          <p:cNvPr id="118" name="Pill_118"/>
          <p:cNvSpPr/>
          <p:nvPr/>
        </p:nvSpPr>
        <p:spPr>
          <a:xfrm>
            <a:off x="2289274" y="3346000"/>
            <a:ext cx="84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invoice processing</a:t>
            </a:r>
            <a:endParaRPr lang="en-US"/>
          </a:p>
        </p:txBody>
      </p:sp>
      <p:sp>
        <p:nvSpPr>
          <p:cNvPr id="119" name="Pill_119"/>
          <p:cNvSpPr/>
          <p:nvPr/>
        </p:nvSpPr>
        <p:spPr>
          <a:xfrm>
            <a:off x="2289274" y="3512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expense reports</a:t>
            </a:r>
            <a:endParaRPr lang="en-US"/>
          </a:p>
        </p:txBody>
      </p:sp>
      <p:sp>
        <p:nvSpPr>
          <p:cNvPr id="120" name="Pill_120"/>
          <p:cNvSpPr/>
          <p:nvPr/>
        </p:nvSpPr>
        <p:spPr>
          <a:xfrm>
            <a:off x="2289274" y="3678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data entry</a:t>
            </a:r>
            <a:endParaRPr lang="en-US"/>
          </a:p>
        </p:txBody>
      </p:sp>
      <p:sp>
        <p:nvSpPr>
          <p:cNvPr id="121" name="Pill_121"/>
          <p:cNvSpPr/>
          <p:nvPr/>
        </p:nvSpPr>
        <p:spPr>
          <a:xfrm>
            <a:off x="2289274" y="3844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form filling</a:t>
            </a:r>
            <a:endParaRPr lang="en-US"/>
          </a:p>
        </p:txBody>
      </p:sp>
      <p:sp>
        <p:nvSpPr>
          <p:cNvPr id="122" name="Pill_122"/>
          <p:cNvSpPr/>
          <p:nvPr/>
        </p:nvSpPr>
        <p:spPr>
          <a:xfrm>
            <a:off x="2289274" y="4010000"/>
            <a:ext cx="76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Google Workspace</a:t>
            </a:r>
            <a:endParaRPr lang="en-US"/>
          </a:p>
        </p:txBody>
      </p:sp>
      <p:sp>
        <p:nvSpPr>
          <p:cNvPr id="123" name="Pill_123"/>
          <p:cNvSpPr/>
          <p:nvPr/>
        </p:nvSpPr>
        <p:spPr>
          <a:xfrm>
            <a:off x="2289274" y="4176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Notion sync</a:t>
            </a:r>
            <a:endParaRPr lang="en-US"/>
          </a:p>
        </p:txBody>
      </p:sp>
      <p:sp>
        <p:nvSpPr>
          <p:cNvPr id="124" name="Pill_124"/>
          <p:cNvSpPr/>
          <p:nvPr/>
        </p:nvSpPr>
        <p:spPr>
          <a:xfrm>
            <a:off x="3983682" y="2350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Telegram bot</a:t>
            </a:r>
            <a:endParaRPr lang="en-US"/>
          </a:p>
        </p:txBody>
      </p:sp>
      <p:sp>
        <p:nvSpPr>
          <p:cNvPr id="125" name="Pill_125"/>
          <p:cNvSpPr/>
          <p:nvPr/>
        </p:nvSpPr>
        <p:spPr>
          <a:xfrm>
            <a:off x="3983682" y="2516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WhatsApp bot</a:t>
            </a:r>
            <a:endParaRPr lang="en-US"/>
          </a:p>
        </p:txBody>
      </p:sp>
      <p:sp>
        <p:nvSpPr>
          <p:cNvPr id="126" name="Pill_126"/>
          <p:cNvSpPr/>
          <p:nvPr/>
        </p:nvSpPr>
        <p:spPr>
          <a:xfrm>
            <a:off x="3983682" y="2682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Discord bot</a:t>
            </a:r>
            <a:endParaRPr lang="en-US"/>
          </a:p>
        </p:txBody>
      </p:sp>
      <p:sp>
        <p:nvSpPr>
          <p:cNvPr id="127" name="Pill_127"/>
          <p:cNvSpPr/>
          <p:nvPr/>
        </p:nvSpPr>
        <p:spPr>
          <a:xfrm>
            <a:off x="3983682" y="2848000"/>
            <a:ext cx="46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Slack bot</a:t>
            </a:r>
            <a:endParaRPr lang="en-US"/>
          </a:p>
        </p:txBody>
      </p:sp>
      <p:sp>
        <p:nvSpPr>
          <p:cNvPr id="128" name="Pill_128"/>
          <p:cNvSpPr/>
          <p:nvPr/>
        </p:nvSpPr>
        <p:spPr>
          <a:xfrm>
            <a:off x="3983682" y="3014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Teams messages</a:t>
            </a:r>
            <a:endParaRPr lang="en-US"/>
          </a:p>
        </p:txBody>
      </p:sp>
      <p:sp>
        <p:nvSpPr>
          <p:cNvPr id="129" name="Pill_129"/>
          <p:cNvSpPr/>
          <p:nvPr/>
        </p:nvSpPr>
        <p:spPr>
          <a:xfrm>
            <a:off x="3983682" y="3180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SMS alerts</a:t>
            </a:r>
            <a:endParaRPr lang="en-US"/>
          </a:p>
        </p:txBody>
      </p:sp>
      <p:sp>
        <p:nvSpPr>
          <p:cNvPr id="130" name="Pill_130"/>
          <p:cNvSpPr/>
          <p:nvPr/>
        </p:nvSpPr>
        <p:spPr>
          <a:xfrm>
            <a:off x="3983682" y="334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email compose</a:t>
            </a:r>
            <a:endParaRPr lang="en-US"/>
          </a:p>
        </p:txBody>
      </p:sp>
      <p:sp>
        <p:nvSpPr>
          <p:cNvPr id="131" name="Pill_131"/>
          <p:cNvSpPr/>
          <p:nvPr/>
        </p:nvSpPr>
        <p:spPr>
          <a:xfrm>
            <a:off x="3983682" y="3512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auto-reply</a:t>
            </a:r>
            <a:endParaRPr lang="en-US"/>
          </a:p>
        </p:txBody>
      </p:sp>
      <p:sp>
        <p:nvSpPr>
          <p:cNvPr id="132" name="Pill_132"/>
          <p:cNvSpPr/>
          <p:nvPr/>
        </p:nvSpPr>
        <p:spPr>
          <a:xfrm>
            <a:off x="3983682" y="3678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chat moderation</a:t>
            </a:r>
            <a:endParaRPr lang="en-US"/>
          </a:p>
        </p:txBody>
      </p:sp>
      <p:sp>
        <p:nvSpPr>
          <p:cNvPr id="133" name="Pill_133"/>
          <p:cNvSpPr/>
          <p:nvPr/>
        </p:nvSpPr>
        <p:spPr>
          <a:xfrm>
            <a:off x="3983682" y="3844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notifications</a:t>
            </a:r>
            <a:endParaRPr lang="en-US"/>
          </a:p>
        </p:txBody>
      </p:sp>
      <p:sp>
        <p:nvSpPr>
          <p:cNvPr id="134" name="Pill_134"/>
          <p:cNvSpPr/>
          <p:nvPr/>
        </p:nvSpPr>
        <p:spPr>
          <a:xfrm>
            <a:off x="3983682" y="4010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webhook routing</a:t>
            </a:r>
            <a:endParaRPr lang="en-US"/>
          </a:p>
        </p:txBody>
      </p:sp>
      <p:sp>
        <p:nvSpPr>
          <p:cNvPr id="135" name="Pill_135"/>
          <p:cNvSpPr/>
          <p:nvPr/>
        </p:nvSpPr>
        <p:spPr>
          <a:xfrm>
            <a:off x="5678091" y="2350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GitHub ops</a:t>
            </a:r>
            <a:endParaRPr lang="en-US"/>
          </a:p>
        </p:txBody>
      </p:sp>
      <p:sp>
        <p:nvSpPr>
          <p:cNvPr id="136" name="Pill_136"/>
          <p:cNvSpPr/>
          <p:nvPr/>
        </p:nvSpPr>
        <p:spPr>
          <a:xfrm>
            <a:off x="5678091" y="2516000"/>
            <a:ext cx="46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PR review</a:t>
            </a:r>
            <a:endParaRPr lang="en-US"/>
          </a:p>
        </p:txBody>
      </p:sp>
      <p:sp>
        <p:nvSpPr>
          <p:cNvPr id="137" name="Pill_137"/>
          <p:cNvSpPr/>
          <p:nvPr/>
        </p:nvSpPr>
        <p:spPr>
          <a:xfrm>
            <a:off x="5678091" y="2682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bug triage</a:t>
            </a:r>
            <a:endParaRPr lang="en-US"/>
          </a:p>
        </p:txBody>
      </p:sp>
      <p:sp>
        <p:nvSpPr>
          <p:cNvPr id="138" name="Pill_138"/>
          <p:cNvSpPr/>
          <p:nvPr/>
        </p:nvSpPr>
        <p:spPr>
          <a:xfrm>
            <a:off x="5678091" y="2848000"/>
            <a:ext cx="71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test generation</a:t>
            </a:r>
            <a:endParaRPr lang="en-US"/>
          </a:p>
        </p:txBody>
      </p:sp>
      <p:sp>
        <p:nvSpPr>
          <p:cNvPr id="139" name="Pill_139"/>
          <p:cNvSpPr/>
          <p:nvPr/>
        </p:nvSpPr>
        <p:spPr>
          <a:xfrm>
            <a:off x="5678091" y="3014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CI/CD pipeline</a:t>
            </a:r>
            <a:endParaRPr lang="en-US"/>
          </a:p>
        </p:txBody>
      </p:sp>
      <p:sp>
        <p:nvSpPr>
          <p:cNvPr id="140" name="Pill_140"/>
          <p:cNvSpPr/>
          <p:nvPr/>
        </p:nvSpPr>
        <p:spPr>
          <a:xfrm>
            <a:off x="5678091" y="3180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dep updates</a:t>
            </a:r>
            <a:endParaRPr lang="en-US"/>
          </a:p>
        </p:txBody>
      </p:sp>
      <p:sp>
        <p:nvSpPr>
          <p:cNvPr id="141" name="Pill_141"/>
          <p:cNvSpPr/>
          <p:nvPr/>
        </p:nvSpPr>
        <p:spPr>
          <a:xfrm>
            <a:off x="5678091" y="334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code refactor</a:t>
            </a:r>
            <a:endParaRPr lang="en-US"/>
          </a:p>
        </p:txBody>
      </p:sp>
      <p:sp>
        <p:nvSpPr>
          <p:cNvPr id="142" name="Pill_142"/>
          <p:cNvSpPr/>
          <p:nvPr/>
        </p:nvSpPr>
        <p:spPr>
          <a:xfrm>
            <a:off x="5678091" y="3512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API testing</a:t>
            </a:r>
            <a:endParaRPr lang="en-US"/>
          </a:p>
        </p:txBody>
      </p:sp>
      <p:sp>
        <p:nvSpPr>
          <p:cNvPr id="143" name="Pill_143"/>
          <p:cNvSpPr/>
          <p:nvPr/>
        </p:nvSpPr>
        <p:spPr>
          <a:xfrm>
            <a:off x="5678091" y="3678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deploy scripts</a:t>
            </a:r>
            <a:endParaRPr lang="en-US"/>
          </a:p>
        </p:txBody>
      </p:sp>
      <p:sp>
        <p:nvSpPr>
          <p:cNvPr id="144" name="Pill_144"/>
          <p:cNvSpPr/>
          <p:nvPr/>
        </p:nvSpPr>
        <p:spPr>
          <a:xfrm>
            <a:off x="5678091" y="3844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Docker mgmt</a:t>
            </a:r>
            <a:endParaRPr lang="en-US"/>
          </a:p>
        </p:txBody>
      </p:sp>
      <p:sp>
        <p:nvSpPr>
          <p:cNvPr id="145" name="Pill_145"/>
          <p:cNvSpPr/>
          <p:nvPr/>
        </p:nvSpPr>
        <p:spPr>
          <a:xfrm>
            <a:off x="5678091" y="4010000"/>
            <a:ext cx="508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DB queries</a:t>
            </a:r>
            <a:endParaRPr lang="en-US"/>
          </a:p>
        </p:txBody>
      </p:sp>
      <p:sp>
        <p:nvSpPr>
          <p:cNvPr id="146" name="Pill_146"/>
          <p:cNvSpPr/>
          <p:nvPr/>
        </p:nvSpPr>
        <p:spPr>
          <a:xfrm>
            <a:off x="5678091" y="4176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log parsing</a:t>
            </a:r>
            <a:endParaRPr lang="en-US"/>
          </a:p>
        </p:txBody>
      </p:sp>
      <p:sp>
        <p:nvSpPr>
          <p:cNvPr id="147" name="Pill_147"/>
          <p:cNvSpPr/>
          <p:nvPr/>
        </p:nvSpPr>
        <p:spPr>
          <a:xfrm>
            <a:off x="7372499" y="2350000"/>
            <a:ext cx="76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image generation</a:t>
            </a:r>
            <a:endParaRPr lang="en-US"/>
          </a:p>
        </p:txBody>
      </p:sp>
      <p:sp>
        <p:nvSpPr>
          <p:cNvPr id="148" name="Pill_148"/>
          <p:cNvSpPr/>
          <p:nvPr/>
        </p:nvSpPr>
        <p:spPr>
          <a:xfrm>
            <a:off x="7372499" y="2516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PDF processing</a:t>
            </a:r>
            <a:endParaRPr lang="en-US"/>
          </a:p>
        </p:txBody>
      </p:sp>
      <p:sp>
        <p:nvSpPr>
          <p:cNvPr id="149" name="Pill_149"/>
          <p:cNvSpPr/>
          <p:nvPr/>
        </p:nvSpPr>
        <p:spPr>
          <a:xfrm>
            <a:off x="7372499" y="2682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knowledge base</a:t>
            </a:r>
            <a:endParaRPr lang="en-US"/>
          </a:p>
        </p:txBody>
      </p:sp>
      <p:sp>
        <p:nvSpPr>
          <p:cNvPr id="150" name="Pill_150"/>
          <p:cNvSpPr/>
          <p:nvPr/>
        </p:nvSpPr>
        <p:spPr>
          <a:xfrm>
            <a:off x="7372499" y="2848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web scraping</a:t>
            </a:r>
            <a:endParaRPr lang="en-US"/>
          </a:p>
        </p:txBody>
      </p:sp>
      <p:sp>
        <p:nvSpPr>
          <p:cNvPr id="151" name="Pill_151"/>
          <p:cNvSpPr/>
          <p:nvPr/>
        </p:nvSpPr>
        <p:spPr>
          <a:xfrm>
            <a:off x="7372499" y="3014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data analysis</a:t>
            </a:r>
            <a:endParaRPr lang="en-US"/>
          </a:p>
        </p:txBody>
      </p:sp>
      <p:sp>
        <p:nvSpPr>
          <p:cNvPr id="152" name="Pill_152"/>
          <p:cNvSpPr/>
          <p:nvPr/>
        </p:nvSpPr>
        <p:spPr>
          <a:xfrm>
            <a:off x="7372499" y="3180000"/>
            <a:ext cx="676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report writing</a:t>
            </a:r>
            <a:endParaRPr lang="en-US"/>
          </a:p>
        </p:txBody>
      </p:sp>
      <p:sp>
        <p:nvSpPr>
          <p:cNvPr id="153" name="Pill_153"/>
          <p:cNvSpPr/>
          <p:nvPr/>
        </p:nvSpPr>
        <p:spPr>
          <a:xfrm>
            <a:off x="7372499" y="3346000"/>
            <a:ext cx="76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content creation</a:t>
            </a:r>
            <a:endParaRPr lang="en-US"/>
          </a:p>
        </p:txBody>
      </p:sp>
      <p:sp>
        <p:nvSpPr>
          <p:cNvPr id="154" name="Pill_154"/>
          <p:cNvSpPr/>
          <p:nvPr/>
        </p:nvSpPr>
        <p:spPr>
          <a:xfrm>
            <a:off x="7372499" y="3512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translation</a:t>
            </a:r>
            <a:endParaRPr lang="en-US"/>
          </a:p>
        </p:txBody>
      </p:sp>
      <p:sp>
        <p:nvSpPr>
          <p:cNvPr id="155" name="Pill_155"/>
          <p:cNvSpPr/>
          <p:nvPr/>
        </p:nvSpPr>
        <p:spPr>
          <a:xfrm>
            <a:off x="7372499" y="3678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summarization</a:t>
            </a:r>
            <a:endParaRPr lang="en-US"/>
          </a:p>
        </p:txBody>
      </p:sp>
      <p:sp>
        <p:nvSpPr>
          <p:cNvPr id="156" name="Pill_156"/>
          <p:cNvSpPr/>
          <p:nvPr/>
        </p:nvSpPr>
        <p:spPr>
          <a:xfrm>
            <a:off x="7372499" y="3844000"/>
            <a:ext cx="550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SEO content</a:t>
            </a:r>
            <a:endParaRPr lang="en-US"/>
          </a:p>
        </p:txBody>
      </p:sp>
      <p:sp>
        <p:nvSpPr>
          <p:cNvPr id="157" name="Pill_157"/>
          <p:cNvSpPr/>
          <p:nvPr/>
        </p:nvSpPr>
        <p:spPr>
          <a:xfrm>
            <a:off x="7372499" y="4010000"/>
            <a:ext cx="592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social posts</a:t>
            </a:r>
            <a:endParaRPr lang="en-US"/>
          </a:p>
        </p:txBody>
      </p:sp>
      <p:sp>
        <p:nvSpPr>
          <p:cNvPr id="158" name="Pill_158"/>
          <p:cNvSpPr/>
          <p:nvPr/>
        </p:nvSpPr>
        <p:spPr>
          <a:xfrm>
            <a:off x="7372499" y="4176000"/>
            <a:ext cx="634000" cy="148000"/>
          </a:xfrm>
          <a:prstGeom prst="roundRect">
            <a:avLst>
              <a:gd name="adj" fmla="val 15070"/>
            </a:avLst>
          </a:prstGeom>
          <a:solidFill>
            <a:srgbClr val="76B900">
              <a:alpha val="8000"/>
            </a:srgbClr>
          </a:solidFill>
          <a:ln w="9525">
            <a:solidFill>
              <a:srgbClr val="76B900">
                <a:alpha val="15000"/>
              </a:srgbClr>
            </a:solidFill>
          </a:ln>
        </p:spPr>
        <p:txBody>
          <a:bodyPr wrap="none" lIns="0" tIns="0" rIns="0" bIns="0" rtlCol="0" anchor="ctr"/>
          <a:lstStyle/>
          <a:p>
            <a:pPr marL="0" indent="0" algn="ctr">
              <a:buNone/>
            </a:pPr>
            <a:r>
              <a:rPr lang="en-US" sz="580">
                <a:solidFill>
                  <a:srgbClr val="E2E8F0"/>
                </a:solidFill>
                <a:latin typeface="Consolas" pitchFamily="34" charset="0"/>
                <a:ea typeface="Consolas" pitchFamily="34" charset="-122"/>
                <a:cs typeface="Consolas" pitchFamily="34" charset="-120"/>
              </a:rPr>
              <a:t>video scripts</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8">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2700635" y="285750"/>
            <a:ext cx="4004721" cy="386655"/>
          </a:xfrm>
          <a:prstGeom prst="rect">
            <a:avLst/>
          </a:prstGeom>
          <a:noFill/>
          <a:ln/>
        </p:spPr>
        <p:txBody>
          <a:bodyPr wrap="none" lIns="0" tIns="0" rIns="0" bIns="0" rtlCol="0" anchor="t"/>
          <a:lstStyle/>
          <a:p>
            <a:pPr marL="0" indent="0" algn="l">
              <a:lnSpc>
                <a:spcPts val="3045"/>
              </a:lnSpc>
              <a:spcAft>
                <a:spcPts val="230"/>
              </a:spcAft>
              <a:buNone/>
            </a:pPr>
            <a:r>
              <a:rPr lang="en-US" sz="2030" b="1" kern="0" spc="60" dirty="0">
                <a:solidFill>
                  <a:srgbClr val="E2E8F0"/>
                </a:solidFill>
                <a:latin typeface="Consolas" pitchFamily="34" charset="0"/>
                <a:ea typeface="Consolas" pitchFamily="34" charset="-122"/>
                <a:cs typeface="Consolas" pitchFamily="34" charset="-120"/>
              </a:rPr>
              <a:t>High-Level Architecture</a:t>
            </a:r>
            <a:endParaRPr lang="en-US" sz="2030" dirty="0"/>
          </a:p>
        </p:txBody>
      </p:sp>
      <p:sp>
        <p:nvSpPr>
          <p:cNvPr id="5" name="Text 3"/>
          <p:cNvSpPr/>
          <p:nvPr/>
        </p:nvSpPr>
        <p:spPr>
          <a:xfrm>
            <a:off x="3129855" y="701576"/>
            <a:ext cx="3172554" cy="171450"/>
          </a:xfrm>
          <a:prstGeom prst="rect">
            <a:avLst/>
          </a:prstGeom>
          <a:noFill/>
          <a:ln/>
        </p:spPr>
        <p:txBody>
          <a:bodyPr wrap="none" lIns="0" tIns="0" rIns="0" bIns="0" rtlCol="0" anchor="t"/>
          <a:lstStyle/>
          <a:p>
            <a:pPr marL="0" indent="0" algn="l">
              <a:lnSpc>
                <a:spcPts val="1350"/>
              </a:lnSpc>
              <a:spcAft>
                <a:spcPts val="450"/>
              </a:spcAft>
              <a:buNone/>
            </a:pPr>
            <a:r>
              <a:rPr lang="en-US" sz="900" dirty="0">
                <a:solidFill>
                  <a:srgbClr val="8B9CB6"/>
                </a:solidFill>
                <a:latin typeface="Calibri" pitchFamily="34" charset="0"/>
                <a:ea typeface="Calibri" pitchFamily="34" charset="-122"/>
                <a:cs typeface="Calibri" pitchFamily="34" charset="-120"/>
              </a:rPr>
              <a:t>How your local AI stack connects — from model to action</a:t>
            </a:r>
            <a:endParaRPr lang="en-US" sz="900" dirty="0"/>
          </a:p>
        </p:txBody>
      </p:sp>
      <p:sp>
        <p:nvSpPr>
          <p:cNvPr id="6" name="Text 4"/>
          <p:cNvSpPr/>
          <p:nvPr/>
        </p:nvSpPr>
        <p:spPr>
          <a:xfrm>
            <a:off x="400050" y="959346"/>
            <a:ext cx="8343900" cy="13841"/>
          </a:xfrm>
          <a:prstGeom prst="roundRect">
            <a:avLst>
              <a:gd name="adj" fmla="val 55054"/>
            </a:avLst>
          </a:prstGeom>
          <a:gradFill rotWithShape="1">
            <a:gsLst>
              <a:gs pos="0">
                <a:srgbClr val="000000">
                  <a:alpha val="0"/>
                </a:srgbClr>
              </a:gs>
              <a:gs pos="25000">
                <a:srgbClr val="76B900">
                  <a:alpha val="50000"/>
                </a:srgbClr>
              </a:gs>
              <a:gs pos="50000">
                <a:srgbClr val="76B900"/>
              </a:gs>
              <a:gs pos="75000">
                <a:srgbClr val="76B900">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2542580" y="1187797"/>
            <a:ext cx="1143000" cy="857250"/>
          </a:xfrm>
          <a:prstGeom prst="roundRect">
            <a:avLst>
              <a:gd name="adj" fmla="val 10074"/>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8" name="Text 6"/>
          <p:cNvSpPr/>
          <p:nvPr/>
        </p:nvSpPr>
        <p:spPr>
          <a:xfrm>
            <a:off x="3013770" y="1097012"/>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1</a:t>
            </a:r>
            <a:endParaRPr lang="en-US" sz="730"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17341" y="1371749"/>
            <a:ext cx="193328" cy="193328"/>
          </a:xfrm>
          <a:prstGeom prst="rect">
            <a:avLst/>
          </a:prstGeom>
        </p:spPr>
      </p:pic>
      <p:sp>
        <p:nvSpPr>
          <p:cNvPr id="10" name="Text 7"/>
          <p:cNvSpPr/>
          <p:nvPr/>
        </p:nvSpPr>
        <p:spPr>
          <a:xfrm>
            <a:off x="2815478" y="1622227"/>
            <a:ext cx="597054" cy="125313"/>
          </a:xfrm>
          <a:prstGeom prst="rect">
            <a:avLst/>
          </a:prstGeom>
          <a:noFill/>
          <a:ln/>
        </p:spPr>
        <p:txBody>
          <a:bodyPr wrap="none" lIns="0" tIns="0" rIns="0" bIns="0" rtlCol="0" anchor="t"/>
          <a:lstStyle/>
          <a:p>
            <a:pPr marL="0" indent="0" algn="ctr">
              <a:lnSpc>
                <a:spcPts val="988"/>
              </a:lnSpc>
              <a:buNone/>
            </a:pPr>
            <a:r>
              <a:rPr lang="en-US" sz="790" b="1" dirty="0">
                <a:solidFill>
                  <a:srgbClr val="E2E8F0"/>
                </a:solidFill>
                <a:latin typeface="Consolas" pitchFamily="34" charset="0"/>
                <a:ea typeface="Consolas" pitchFamily="34" charset="-122"/>
                <a:cs typeface="Consolas" pitchFamily="34" charset="-120"/>
              </a:rPr>
              <a:t>Local LLM</a:t>
            </a:r>
            <a:endParaRPr lang="en-US" sz="790" dirty="0"/>
          </a:p>
        </p:txBody>
      </p:sp>
      <p:sp>
        <p:nvSpPr>
          <p:cNvPr id="11" name="Text 8"/>
          <p:cNvSpPr/>
          <p:nvPr/>
        </p:nvSpPr>
        <p:spPr>
          <a:xfrm>
            <a:off x="2858534" y="1776710"/>
            <a:ext cx="510942"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(via Ollama)</a:t>
            </a:r>
            <a:endParaRPr lang="en-US" sz="68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46302" y="1562546"/>
            <a:ext cx="193328" cy="107603"/>
          </a:xfrm>
          <a:prstGeom prst="rect">
            <a:avLst/>
          </a:prstGeom>
        </p:spPr>
      </p:pic>
      <p:sp>
        <p:nvSpPr>
          <p:cNvPr id="13" name="Text 9"/>
          <p:cNvSpPr/>
          <p:nvPr/>
        </p:nvSpPr>
        <p:spPr>
          <a:xfrm>
            <a:off x="4000500" y="1187797"/>
            <a:ext cx="1143000" cy="857250"/>
          </a:xfrm>
          <a:prstGeom prst="roundRect">
            <a:avLst>
              <a:gd name="adj" fmla="val 10074"/>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14" name="Text 10"/>
          <p:cNvSpPr/>
          <p:nvPr/>
        </p:nvSpPr>
        <p:spPr>
          <a:xfrm>
            <a:off x="4471690" y="1097012"/>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2</a:t>
            </a:r>
            <a:endParaRPr lang="en-US" sz="73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75262" y="1371749"/>
            <a:ext cx="193328" cy="193328"/>
          </a:xfrm>
          <a:prstGeom prst="rect">
            <a:avLst/>
          </a:prstGeom>
        </p:spPr>
      </p:pic>
      <p:sp>
        <p:nvSpPr>
          <p:cNvPr id="16" name="Text 11"/>
          <p:cNvSpPr/>
          <p:nvPr/>
        </p:nvSpPr>
        <p:spPr>
          <a:xfrm>
            <a:off x="4240322" y="1622227"/>
            <a:ext cx="663357" cy="125313"/>
          </a:xfrm>
          <a:prstGeom prst="rect">
            <a:avLst/>
          </a:prstGeom>
          <a:noFill/>
          <a:ln/>
        </p:spPr>
        <p:txBody>
          <a:bodyPr wrap="none" lIns="0" tIns="0" rIns="0" bIns="0" rtlCol="0" anchor="t"/>
          <a:lstStyle/>
          <a:p>
            <a:pPr marL="0" indent="0" algn="ctr">
              <a:lnSpc>
                <a:spcPts val="988"/>
              </a:lnSpc>
              <a:buNone/>
            </a:pPr>
            <a:r>
              <a:rPr lang="en-US" sz="790" b="1" dirty="0">
                <a:solidFill>
                  <a:srgbClr val="E2E8F0"/>
                </a:solidFill>
                <a:latin typeface="Consolas" pitchFamily="34" charset="0"/>
                <a:ea typeface="Consolas" pitchFamily="34" charset="-122"/>
                <a:cs typeface="Consolas" pitchFamily="34" charset="-120"/>
              </a:rPr>
              <a:t>Open WebUI</a:t>
            </a:r>
            <a:endParaRPr lang="en-US" sz="790" dirty="0"/>
          </a:p>
        </p:txBody>
      </p:sp>
      <p:sp>
        <p:nvSpPr>
          <p:cNvPr id="17" name="Text 12"/>
          <p:cNvSpPr/>
          <p:nvPr/>
        </p:nvSpPr>
        <p:spPr>
          <a:xfrm>
            <a:off x="4258501" y="1776710"/>
            <a:ext cx="626849"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(GUI Interface)</a:t>
            </a:r>
            <a:endParaRPr lang="en-US" sz="680"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04222" y="1562546"/>
            <a:ext cx="193328" cy="107603"/>
          </a:xfrm>
          <a:prstGeom prst="rect">
            <a:avLst/>
          </a:prstGeom>
        </p:spPr>
      </p:pic>
      <p:sp>
        <p:nvSpPr>
          <p:cNvPr id="19" name="Text 13"/>
          <p:cNvSpPr/>
          <p:nvPr/>
        </p:nvSpPr>
        <p:spPr>
          <a:xfrm>
            <a:off x="5458420" y="1187797"/>
            <a:ext cx="1143000" cy="857250"/>
          </a:xfrm>
          <a:prstGeom prst="roundRect">
            <a:avLst>
              <a:gd name="adj" fmla="val 10074"/>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20" name="Text 14"/>
          <p:cNvSpPr/>
          <p:nvPr/>
        </p:nvSpPr>
        <p:spPr>
          <a:xfrm>
            <a:off x="5929610" y="1097012"/>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3</a:t>
            </a:r>
            <a:endParaRPr lang="en-US" sz="730" dirty="0"/>
          </a:p>
        </p:txBody>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33182" y="1371749"/>
            <a:ext cx="193328" cy="193328"/>
          </a:xfrm>
          <a:prstGeom prst="rect">
            <a:avLst/>
          </a:prstGeom>
        </p:spPr>
      </p:pic>
      <p:sp>
        <p:nvSpPr>
          <p:cNvPr id="22" name="Text 15"/>
          <p:cNvSpPr/>
          <p:nvPr/>
        </p:nvSpPr>
        <p:spPr>
          <a:xfrm>
            <a:off x="5764545" y="1622227"/>
            <a:ext cx="530751" cy="125313"/>
          </a:xfrm>
          <a:prstGeom prst="rect">
            <a:avLst/>
          </a:prstGeom>
          <a:noFill/>
          <a:ln/>
        </p:spPr>
        <p:txBody>
          <a:bodyPr wrap="none" lIns="0" tIns="0" rIns="0" bIns="0" rtlCol="0" anchor="t"/>
          <a:lstStyle/>
          <a:p>
            <a:pPr marL="0" indent="0" algn="ctr">
              <a:lnSpc>
                <a:spcPts val="988"/>
              </a:lnSpc>
              <a:buNone/>
            </a:pPr>
            <a:r>
              <a:rPr lang="en-US" sz="790" b="1" dirty="0">
                <a:solidFill>
                  <a:srgbClr val="E2E8F0"/>
                </a:solidFill>
                <a:latin typeface="Consolas" pitchFamily="34" charset="0"/>
                <a:ea typeface="Consolas" pitchFamily="34" charset="-122"/>
                <a:cs typeface="Consolas" pitchFamily="34" charset="-120"/>
              </a:rPr>
              <a:t>OpenClaw</a:t>
            </a:r>
            <a:endParaRPr lang="en-US" sz="790" dirty="0"/>
          </a:p>
        </p:txBody>
      </p:sp>
      <p:sp>
        <p:nvSpPr>
          <p:cNvPr id="23" name="Text 16"/>
          <p:cNvSpPr/>
          <p:nvPr/>
        </p:nvSpPr>
        <p:spPr>
          <a:xfrm>
            <a:off x="5811210" y="1776710"/>
            <a:ext cx="437272"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(Gateway)</a:t>
            </a:r>
            <a:endParaRPr lang="en-US" sz="680" dirty="0"/>
          </a:p>
        </p:txBody>
      </p:sp>
      <p:pic>
        <p:nvPicPr>
          <p:cNvPr id="2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75449" y="2127498"/>
            <a:ext cx="107603" cy="236190"/>
          </a:xfrm>
          <a:prstGeom prst="rect">
            <a:avLst/>
          </a:prstGeom>
        </p:spPr>
      </p:pic>
      <p:sp>
        <p:nvSpPr>
          <p:cNvPr id="25" name="Text 17"/>
          <p:cNvSpPr/>
          <p:nvPr/>
        </p:nvSpPr>
        <p:spPr>
          <a:xfrm>
            <a:off x="2489299" y="2446288"/>
            <a:ext cx="1249561" cy="870942"/>
          </a:xfrm>
          <a:prstGeom prst="roundRect">
            <a:avLst>
              <a:gd name="adj" fmla="val 9916"/>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26" name="Text 18"/>
          <p:cNvSpPr/>
          <p:nvPr/>
        </p:nvSpPr>
        <p:spPr>
          <a:xfrm>
            <a:off x="3013770" y="2355503"/>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6</a:t>
            </a:r>
            <a:endParaRPr lang="en-US" sz="730" dirty="0"/>
          </a:p>
        </p:txBody>
      </p:sp>
      <p:pic>
        <p:nvPicPr>
          <p:cNvPr id="2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017341" y="2583954"/>
            <a:ext cx="193328" cy="193328"/>
          </a:xfrm>
          <a:prstGeom prst="rect">
            <a:avLst/>
          </a:prstGeom>
        </p:spPr>
      </p:pic>
      <p:sp>
        <p:nvSpPr>
          <p:cNvPr id="28" name="Text 19"/>
          <p:cNvSpPr/>
          <p:nvPr/>
        </p:nvSpPr>
        <p:spPr>
          <a:xfrm>
            <a:off x="2659273" y="2834432"/>
            <a:ext cx="909614" cy="243155"/>
          </a:xfrm>
          <a:prstGeom prst="rect">
            <a:avLst/>
          </a:prstGeom>
          <a:noFill/>
          <a:ln/>
        </p:spPr>
        <p:txBody>
          <a:bodyPr wrap="square" lIns="0" tIns="0" rIns="0" bIns="0" rtlCol="0" anchor="ctr"/>
          <a:lstStyle/>
          <a:p>
            <a:pPr marL="0" indent="0" algn="ctr">
              <a:lnSpc>
                <a:spcPts val="913"/>
              </a:lnSpc>
              <a:buNone/>
            </a:pPr>
            <a:r>
              <a:rPr lang="en-US" sz="730" b="1" dirty="0">
                <a:solidFill>
                  <a:srgbClr val="E2E8F0"/>
                </a:solidFill>
                <a:latin typeface="Consolas" pitchFamily="34" charset="0"/>
                <a:ea typeface="Consolas" pitchFamily="34" charset="-122"/>
                <a:cs typeface="Consolas" pitchFamily="34" charset="-120"/>
              </a:rPr>
              <a:t>Messaging Apps</a:t>
            </a:r>
            <a:br/>
            <a:r>
              <a:rPr lang="en-US" sz="730" b="1" dirty="0">
                <a:solidFill>
                  <a:srgbClr val="E2E8F0"/>
                </a:solidFill>
                <a:latin typeface="Consolas" pitchFamily="34" charset="0"/>
                <a:ea typeface="Consolas" pitchFamily="34" charset="-122"/>
                <a:cs typeface="Consolas" pitchFamily="34" charset="-120"/>
              </a:rPr>
              <a:t>+ Tools + Memory</a:t>
            </a:r>
            <a:endParaRPr lang="en-US" sz="730" dirty="0"/>
          </a:p>
        </p:txBody>
      </p:sp>
      <p:sp>
        <p:nvSpPr>
          <p:cNvPr id="29" name="Text 20"/>
          <p:cNvSpPr/>
          <p:nvPr/>
        </p:nvSpPr>
        <p:spPr>
          <a:xfrm>
            <a:off x="2871631" y="3095179"/>
            <a:ext cx="484748"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(Persistent)</a:t>
            </a:r>
            <a:endParaRPr lang="en-US" sz="680" dirty="0"/>
          </a:p>
        </p:txBody>
      </p:sp>
      <p:pic>
        <p:nvPicPr>
          <p:cNvPr id="30"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99582" y="2827883"/>
            <a:ext cx="193328" cy="107603"/>
          </a:xfrm>
          <a:prstGeom prst="rect">
            <a:avLst/>
          </a:prstGeom>
        </p:spPr>
      </p:pic>
      <p:sp>
        <p:nvSpPr>
          <p:cNvPr id="31" name="Text 21"/>
          <p:cNvSpPr/>
          <p:nvPr/>
        </p:nvSpPr>
        <p:spPr>
          <a:xfrm>
            <a:off x="4053780" y="2446288"/>
            <a:ext cx="1143000" cy="870942"/>
          </a:xfrm>
          <a:prstGeom prst="roundRect">
            <a:avLst>
              <a:gd name="adj" fmla="val 9916"/>
            </a:avLst>
          </a:prstGeom>
          <a:solidFill>
            <a:srgbClr val="1A2332"/>
          </a:solidFill>
          <a:ln w="9525">
            <a:solidFill>
              <a:srgbClr val="76B900">
                <a:alpha val="25000"/>
              </a:srgbClr>
            </a:solidFill>
          </a:ln>
        </p:spPr>
        <p:txBody>
          <a:bodyPr wrap="square" rtlCol="0" anchor="t"/>
          <a:lstStyle/>
          <a:p>
            <a:pPr marL="0" indent="0">
              <a:buNone/>
            </a:pPr>
            <a:endParaRPr lang="en-US" dirty="0"/>
          </a:p>
        </p:txBody>
      </p:sp>
      <p:sp>
        <p:nvSpPr>
          <p:cNvPr id="32" name="Text 22"/>
          <p:cNvSpPr/>
          <p:nvPr/>
        </p:nvSpPr>
        <p:spPr>
          <a:xfrm>
            <a:off x="4524970" y="2355503"/>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5</a:t>
            </a:r>
            <a:endParaRPr lang="en-US" sz="730" dirty="0"/>
          </a:p>
        </p:txBody>
      </p:sp>
      <p:pic>
        <p:nvPicPr>
          <p:cNvPr id="33"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528542" y="2583954"/>
            <a:ext cx="193328" cy="193328"/>
          </a:xfrm>
          <a:prstGeom prst="rect">
            <a:avLst/>
          </a:prstGeom>
        </p:spPr>
      </p:pic>
      <p:sp>
        <p:nvSpPr>
          <p:cNvPr id="34" name="Text 23"/>
          <p:cNvSpPr/>
          <p:nvPr/>
        </p:nvSpPr>
        <p:spPr>
          <a:xfrm>
            <a:off x="4198861" y="2834432"/>
            <a:ext cx="852839" cy="243155"/>
          </a:xfrm>
          <a:prstGeom prst="rect">
            <a:avLst/>
          </a:prstGeom>
          <a:noFill/>
          <a:ln/>
        </p:spPr>
        <p:txBody>
          <a:bodyPr wrap="square" lIns="0" tIns="0" rIns="0" bIns="0" rtlCol="0" anchor="ctr"/>
          <a:lstStyle/>
          <a:p>
            <a:pPr marL="0" indent="0" algn="ctr">
              <a:lnSpc>
                <a:spcPts val="913"/>
              </a:lnSpc>
              <a:buNone/>
            </a:pPr>
            <a:r>
              <a:rPr lang="en-US" sz="730" b="1" dirty="0">
                <a:solidFill>
                  <a:srgbClr val="E2E8F0"/>
                </a:solidFill>
                <a:latin typeface="Consolas" pitchFamily="34" charset="0"/>
                <a:ea typeface="Consolas" pitchFamily="34" charset="-122"/>
                <a:cs typeface="Consolas" pitchFamily="34" charset="-120"/>
              </a:rPr>
              <a:t>SOUL.md +</a:t>
            </a:r>
            <a:br/>
            <a:r>
              <a:rPr lang="en-US" sz="730" b="1" dirty="0">
                <a:solidFill>
                  <a:srgbClr val="E2E8F0"/>
                </a:solidFill>
                <a:latin typeface="Consolas" pitchFamily="34" charset="0"/>
                <a:ea typeface="Consolas" pitchFamily="34" charset="-122"/>
                <a:cs typeface="Consolas" pitchFamily="34" charset="-120"/>
              </a:rPr>
              <a:t>Workspace Files</a:t>
            </a:r>
            <a:endParaRPr lang="en-US" sz="730" dirty="0"/>
          </a:p>
        </p:txBody>
      </p:sp>
      <p:sp>
        <p:nvSpPr>
          <p:cNvPr id="35" name="Text 24"/>
          <p:cNvSpPr/>
          <p:nvPr/>
        </p:nvSpPr>
        <p:spPr>
          <a:xfrm>
            <a:off x="4311774" y="3095179"/>
            <a:ext cx="627013"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(Configuration)</a:t>
            </a:r>
            <a:endParaRPr lang="en-US" sz="680" dirty="0"/>
          </a:p>
        </p:txBody>
      </p:sp>
      <p:pic>
        <p:nvPicPr>
          <p:cNvPr id="36"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257502" y="2827883"/>
            <a:ext cx="193328" cy="107603"/>
          </a:xfrm>
          <a:prstGeom prst="rect">
            <a:avLst/>
          </a:prstGeom>
        </p:spPr>
      </p:pic>
      <p:sp>
        <p:nvSpPr>
          <p:cNvPr id="37" name="Text 25"/>
          <p:cNvSpPr/>
          <p:nvPr/>
        </p:nvSpPr>
        <p:spPr>
          <a:xfrm>
            <a:off x="5511701" y="2453134"/>
            <a:ext cx="1143000" cy="857250"/>
          </a:xfrm>
          <a:prstGeom prst="roundRect">
            <a:avLst>
              <a:gd name="adj" fmla="val 10074"/>
            </a:avLst>
          </a:prstGeom>
          <a:solidFill>
            <a:srgbClr val="1A2332"/>
          </a:solidFill>
          <a:ln w="9525">
            <a:solidFill>
              <a:srgbClr val="76B900">
                <a:alpha val="50000"/>
              </a:srgbClr>
            </a:solidFill>
          </a:ln>
          <a:effectLst>
            <a:outerShdw blurRad="143510" dist="50800" dir="16200000" algn="bl" rotWithShape="0">
              <a:srgbClr val="76B900">
                <a:alpha val="10000"/>
              </a:srgbClr>
            </a:outerShdw>
          </a:effectLst>
        </p:spPr>
        <p:txBody>
          <a:bodyPr wrap="square" rtlCol="0" anchor="t"/>
          <a:lstStyle/>
          <a:p>
            <a:pPr marL="0" indent="0">
              <a:buNone/>
            </a:pPr>
            <a:endParaRPr lang="en-US" dirty="0"/>
          </a:p>
        </p:txBody>
      </p:sp>
      <p:sp>
        <p:nvSpPr>
          <p:cNvPr id="38" name="Text 26"/>
          <p:cNvSpPr/>
          <p:nvPr/>
        </p:nvSpPr>
        <p:spPr>
          <a:xfrm>
            <a:off x="5982891" y="2362349"/>
            <a:ext cx="200620" cy="220682"/>
          </a:xfrm>
          <a:prstGeom prst="ellipse">
            <a:avLst/>
          </a:prstGeom>
          <a:solidFill>
            <a:srgbClr val="76B900"/>
          </a:solidFill>
          <a:ln/>
          <a:effectLst>
            <a:outerShdw blurRad="86360" dist="50800" dir="16200000" algn="bl" rotWithShape="0">
              <a:srgbClr val="76B900">
                <a:alpha val="40000"/>
              </a:srgbClr>
            </a:outerShdw>
          </a:effectLst>
        </p:spPr>
        <p:txBody>
          <a:bodyPr wrap="none" lIns="0" tIns="0" rIns="0" bIns="0" rtlCol="0" anchor="ctr"/>
          <a:lstStyle/>
          <a:p>
            <a:pPr marL="0" indent="0" algn="ctr">
              <a:buNone/>
            </a:pPr>
            <a:r>
              <a:rPr lang="en-US" sz="730" b="1" dirty="0">
                <a:solidFill>
                  <a:srgbClr val="0A0F1A"/>
                </a:solidFill>
                <a:latin typeface="Consolas" pitchFamily="34" charset="0"/>
                <a:ea typeface="Consolas" pitchFamily="34" charset="-122"/>
                <a:cs typeface="Consolas" pitchFamily="34" charset="-120"/>
              </a:rPr>
              <a:t>4</a:t>
            </a:r>
            <a:endParaRPr lang="en-US" sz="730" dirty="0"/>
          </a:p>
        </p:txBody>
      </p:sp>
      <p:pic>
        <p:nvPicPr>
          <p:cNvPr id="39"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86463" y="2637086"/>
            <a:ext cx="193328" cy="193328"/>
          </a:xfrm>
          <a:prstGeom prst="rect">
            <a:avLst/>
          </a:prstGeom>
        </p:spPr>
      </p:pic>
      <p:sp>
        <p:nvSpPr>
          <p:cNvPr id="40" name="Text 27"/>
          <p:cNvSpPr/>
          <p:nvPr/>
        </p:nvSpPr>
        <p:spPr>
          <a:xfrm>
            <a:off x="5685063" y="2887563"/>
            <a:ext cx="796126" cy="125313"/>
          </a:xfrm>
          <a:prstGeom prst="rect">
            <a:avLst/>
          </a:prstGeom>
          <a:noFill/>
          <a:ln/>
        </p:spPr>
        <p:txBody>
          <a:bodyPr wrap="none" lIns="0" tIns="0" rIns="0" bIns="0" rtlCol="0" anchor="t"/>
          <a:lstStyle/>
          <a:p>
            <a:pPr marL="0" indent="0" algn="ctr">
              <a:lnSpc>
                <a:spcPts val="988"/>
              </a:lnSpc>
              <a:buNone/>
            </a:pPr>
            <a:r>
              <a:rPr lang="en-US" sz="790" b="1" dirty="0">
                <a:solidFill>
                  <a:srgbClr val="E2E8F0"/>
                </a:solidFill>
                <a:latin typeface="Consolas" pitchFamily="34" charset="0"/>
                <a:ea typeface="Consolas" pitchFamily="34" charset="-122"/>
                <a:cs typeface="Consolas" pitchFamily="34" charset="-120"/>
              </a:rPr>
              <a:t>Hermes Agent</a:t>
            </a:r>
            <a:endParaRPr lang="en-US" sz="790" dirty="0"/>
          </a:p>
        </p:txBody>
      </p:sp>
      <p:sp>
        <p:nvSpPr>
          <p:cNvPr id="41" name="Text 28"/>
          <p:cNvSpPr/>
          <p:nvPr/>
        </p:nvSpPr>
        <p:spPr>
          <a:xfrm>
            <a:off x="5811775" y="3042047"/>
            <a:ext cx="542702" cy="112216"/>
          </a:xfrm>
          <a:prstGeom prst="rect">
            <a:avLst/>
          </a:prstGeom>
          <a:noFill/>
          <a:ln/>
        </p:spPr>
        <p:txBody>
          <a:bodyPr wrap="none" lIns="0" tIns="0" rIns="0" bIns="0" rtlCol="0" anchor="t"/>
          <a:lstStyle/>
          <a:p>
            <a:pPr marL="0" indent="0" algn="ctr">
              <a:lnSpc>
                <a:spcPts val="884"/>
              </a:lnSpc>
              <a:buNone/>
            </a:pPr>
            <a:r>
              <a:rPr lang="en-US" sz="680" dirty="0">
                <a:solidFill>
                  <a:srgbClr val="8B9CB6"/>
                </a:solidFill>
                <a:latin typeface="Calibri" pitchFamily="34" charset="0"/>
                <a:ea typeface="Calibri" pitchFamily="34" charset="-122"/>
                <a:cs typeface="Calibri" pitchFamily="34" charset="-120"/>
              </a:rPr>
              <a:t>(Intelligence)</a:t>
            </a:r>
            <a:endParaRPr lang="en-US" sz="680" dirty="0"/>
          </a:p>
        </p:txBody>
      </p:sp>
      <p:sp>
        <p:nvSpPr>
          <p:cNvPr id="42" name="Text 29"/>
          <p:cNvSpPr/>
          <p:nvPr/>
        </p:nvSpPr>
        <p:spPr>
          <a:xfrm>
            <a:off x="400050" y="3517850"/>
            <a:ext cx="8343900" cy="13841"/>
          </a:xfrm>
          <a:prstGeom prst="roundRect">
            <a:avLst>
              <a:gd name="adj" fmla="val 55054"/>
            </a:avLst>
          </a:prstGeom>
          <a:gradFill rotWithShape="1">
            <a:gsLst>
              <a:gs pos="0">
                <a:srgbClr val="000000">
                  <a:alpha val="0"/>
                </a:srgbClr>
              </a:gs>
              <a:gs pos="25000">
                <a:srgbClr val="76B900">
                  <a:alpha val="50000"/>
                </a:srgbClr>
              </a:gs>
              <a:gs pos="50000">
                <a:srgbClr val="76B900"/>
              </a:gs>
              <a:gs pos="75000">
                <a:srgbClr val="76B900">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43" name="Text 30"/>
          <p:cNvSpPr/>
          <p:nvPr/>
        </p:nvSpPr>
        <p:spPr>
          <a:xfrm>
            <a:off x="3065562" y="3689152"/>
            <a:ext cx="3223619" cy="278160"/>
          </a:xfrm>
          <a:prstGeom prst="rect">
            <a:avLst/>
          </a:prstGeom>
          <a:noFill/>
          <a:ln/>
        </p:spPr>
        <p:txBody>
          <a:bodyPr wrap="none" lIns="0" tIns="0" rIns="0" bIns="0" rtlCol="0" anchor="ctr"/>
          <a:lstStyle/>
          <a:p>
            <a:pPr marL="0" indent="0" algn="l">
              <a:lnSpc>
                <a:spcPts val="2190"/>
              </a:lnSpc>
              <a:buNone/>
            </a:pPr>
            <a:r>
              <a:rPr lang="en-US" sz="1460" b="1" kern="0" spc="110" dirty="0">
                <a:solidFill>
                  <a:srgbClr val="76B900"/>
                </a:solidFill>
                <a:latin typeface="Consolas" pitchFamily="34" charset="0"/>
                <a:ea typeface="Consolas" pitchFamily="34" charset="-122"/>
                <a:cs typeface="Consolas" pitchFamily="34" charset="-120"/>
              </a:rPr>
              <a:t>YOU STAY IN FULL CONTROL</a:t>
            </a:r>
            <a:endParaRPr lang="en-US" sz="1460" dirty="0"/>
          </a:p>
        </p:txBody>
      </p:sp>
      <p:pic>
        <p:nvPicPr>
          <p:cNvPr id="44"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828776" y="3752999"/>
            <a:ext cx="150465" cy="150465"/>
          </a:xfrm>
          <a:prstGeom prst="rect">
            <a:avLst/>
          </a:prstGeom>
        </p:spPr>
      </p:pic>
      <p:pic>
        <p:nvPicPr>
          <p:cNvPr id="45"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164610" y="3752999"/>
            <a:ext cx="150465" cy="150465"/>
          </a:xfrm>
          <a:prstGeom prst="rect">
            <a:avLst/>
          </a:prstGeom>
        </p:spPr>
      </p:pic>
      <p:sp>
        <p:nvSpPr>
          <p:cNvPr id="46" name="Text 31"/>
          <p:cNvSpPr/>
          <p:nvPr/>
        </p:nvSpPr>
        <p:spPr>
          <a:xfrm>
            <a:off x="2798713" y="4024461"/>
            <a:ext cx="3901068" cy="150465"/>
          </a:xfrm>
          <a:prstGeom prst="rect">
            <a:avLst/>
          </a:prstGeom>
          <a:noFill/>
          <a:ln/>
        </p:spPr>
        <p:txBody>
          <a:bodyPr wrap="none" lIns="0" tIns="0" rIns="0" bIns="0" rtlCol="0" anchor="t"/>
          <a:lstStyle/>
          <a:p>
            <a:pPr marL="0" indent="0" algn="l">
              <a:lnSpc>
                <a:spcPts val="1185"/>
              </a:lnSpc>
              <a:spcBef>
                <a:spcPts val="450"/>
              </a:spcBef>
              <a:buNone/>
            </a:pPr>
            <a:r>
              <a:rPr lang="en-US" sz="790" i="1" dirty="0">
                <a:solidFill>
                  <a:srgbClr val="8B9CB6"/>
                </a:solidFill>
                <a:latin typeface="Calibri" pitchFamily="34" charset="0"/>
                <a:ea typeface="Calibri" pitchFamily="34" charset="-122"/>
                <a:cs typeface="Calibri" pitchFamily="34" charset="-120"/>
              </a:rPr>
              <a:t>Every component runs locally on your hardware — nothing leaves your network.</a:t>
            </a:r>
            <a:endParaRPr lang="en-US" sz="79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731520" y="45720"/>
            <a:ext cx="7680960" cy="347472"/>
          </a:xfrm>
          <a:prstGeom prst="rect">
            <a:avLst/>
          </a:prstGeom>
          <a:noFill/>
          <a:ln/>
        </p:spPr>
        <p:txBody>
          <a:bodyPr wrap="square" lIns="0" tIns="0" rIns="0" bIns="0" rtlCol="0" anchor="ctr"/>
          <a:lstStyle/>
          <a:p>
            <a:pPr marL="0" indent="0" algn="ctr">
              <a:buNone/>
            </a:pPr>
            <a:r>
              <a:rPr lang="en-US" sz="2200" b="1" dirty="0">
                <a:solidFill>
                  <a:srgbClr val="E8ECF1"/>
                </a:solidFill>
                <a:latin typeface="Calibri" pitchFamily="34" charset="0"/>
                <a:ea typeface="Calibri" pitchFamily="34" charset="-122"/>
                <a:cs typeface="Calibri" pitchFamily="34" charset="-120"/>
              </a:rPr>
              <a:t>OpenClaw Architecture Deep Dive</a:t>
            </a:r>
            <a:endParaRPr lang="en-US" sz="2200" dirty="0"/>
          </a:p>
        </p:txBody>
      </p:sp>
      <p:sp>
        <p:nvSpPr>
          <p:cNvPr id="3" name="Text 1"/>
          <p:cNvSpPr/>
          <p:nvPr/>
        </p:nvSpPr>
        <p:spPr>
          <a:xfrm>
            <a:off x="137160" y="438912"/>
            <a:ext cx="777240" cy="548640"/>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1</a:t>
            </a:r>
            <a:endParaRPr lang="en-US" sz="850" dirty="0"/>
          </a:p>
        </p:txBody>
      </p:sp>
      <p:sp>
        <p:nvSpPr>
          <p:cNvPr id="4" name="Shape 2"/>
          <p:cNvSpPr/>
          <p:nvPr/>
        </p:nvSpPr>
        <p:spPr>
          <a:xfrm>
            <a:off x="960120" y="438912"/>
            <a:ext cx="6903720" cy="548640"/>
          </a:xfrm>
          <a:prstGeom prst="roundRect">
            <a:avLst>
              <a:gd name="adj" fmla="val 13333"/>
            </a:avLst>
          </a:prstGeom>
          <a:solidFill>
            <a:srgbClr val="2B4578"/>
          </a:solidFill>
          <a:ln w="6350">
            <a:solidFill>
              <a:srgbClr val="3B609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3474720" y="475488"/>
            <a:ext cx="256032" cy="256032"/>
          </a:xfrm>
          <a:prstGeom prst="rect">
            <a:avLst/>
          </a:prstGeom>
        </p:spPr>
      </p:pic>
      <p:pic>
        <p:nvPicPr>
          <p:cNvPr id="6" name="Image 1" descr="preencoded.png"/>
          <p:cNvPicPr>
            <a:picLocks noChangeAspect="1"/>
          </p:cNvPicPr>
          <p:nvPr/>
        </p:nvPicPr>
        <p:blipFill>
          <a:blip r:embed="rId4"/>
          <a:stretch>
            <a:fillRect/>
          </a:stretch>
        </p:blipFill>
        <p:spPr>
          <a:xfrm>
            <a:off x="5120640" y="475488"/>
            <a:ext cx="292608" cy="292608"/>
          </a:xfrm>
          <a:prstGeom prst="rect">
            <a:avLst/>
          </a:prstGeom>
        </p:spPr>
      </p:pic>
      <p:sp>
        <p:nvSpPr>
          <p:cNvPr id="7" name="Text 3"/>
          <p:cNvSpPr/>
          <p:nvPr/>
        </p:nvSpPr>
        <p:spPr>
          <a:xfrm>
            <a:off x="1097280" y="493776"/>
            <a:ext cx="2286000" cy="228600"/>
          </a:xfrm>
          <a:prstGeom prst="rect">
            <a:avLst/>
          </a:prstGeom>
          <a:noFill/>
          <a:ln/>
        </p:spPr>
        <p:txBody>
          <a:bodyPr wrap="square" lIns="0" tIns="0" rIns="0" bIns="0" rtlCol="0" anchor="ctr"/>
          <a:lstStyle/>
          <a:p>
            <a:pPr marL="0" indent="0">
              <a:buNone/>
            </a:pPr>
            <a:r>
              <a:rPr lang="en-US" sz="1300" b="1" dirty="0">
                <a:solidFill>
                  <a:srgbClr val="E8ECF1"/>
                </a:solidFill>
                <a:latin typeface="Calibri" pitchFamily="34" charset="0"/>
                <a:ea typeface="Calibri" pitchFamily="34" charset="-122"/>
                <a:cs typeface="Calibri" pitchFamily="34" charset="-120"/>
              </a:rPr>
              <a:t>User Layer</a:t>
            </a:r>
            <a:endParaRPr lang="en-US" sz="1300" dirty="0"/>
          </a:p>
        </p:txBody>
      </p:sp>
      <p:sp>
        <p:nvSpPr>
          <p:cNvPr id="8" name="Text 4"/>
          <p:cNvSpPr/>
          <p:nvPr/>
        </p:nvSpPr>
        <p:spPr>
          <a:xfrm>
            <a:off x="1097280" y="731520"/>
            <a:ext cx="6629400" cy="201168"/>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Messaging Apps: Telegram  •  WhatsApp  •  Discord  •  Slack  •  Email</a:t>
            </a:r>
            <a:endParaRPr lang="en-US" sz="950" dirty="0"/>
          </a:p>
        </p:txBody>
      </p:sp>
      <p:sp>
        <p:nvSpPr>
          <p:cNvPr id="9" name="Shape 5"/>
          <p:cNvSpPr/>
          <p:nvPr/>
        </p:nvSpPr>
        <p:spPr>
          <a:xfrm>
            <a:off x="4338828" y="987552"/>
            <a:ext cx="146304" cy="109728"/>
          </a:xfrm>
          <a:prstGeom prst="downArrow">
            <a:avLst/>
          </a:prstGeom>
          <a:solidFill>
            <a:srgbClr val="5B9BD5"/>
          </a:solidFill>
          <a:ln w="12700">
            <a:solidFill>
              <a:srgbClr val="333333"/>
            </a:solidFill>
            <a:prstDash val="solid"/>
          </a:ln>
        </p:spPr>
        <p:txBody>
          <a:bodyPr/>
          <a:lstStyle/>
          <a:p>
            <a:endParaRPr lang="en-US"/>
          </a:p>
        </p:txBody>
      </p:sp>
      <p:sp>
        <p:nvSpPr>
          <p:cNvPr id="10" name="Text 6"/>
          <p:cNvSpPr/>
          <p:nvPr/>
        </p:nvSpPr>
        <p:spPr>
          <a:xfrm>
            <a:off x="137160" y="1097280"/>
            <a:ext cx="777240" cy="502920"/>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2</a:t>
            </a:r>
            <a:endParaRPr lang="en-US" sz="850" dirty="0"/>
          </a:p>
        </p:txBody>
      </p:sp>
      <p:sp>
        <p:nvSpPr>
          <p:cNvPr id="11" name="Shape 7"/>
          <p:cNvSpPr/>
          <p:nvPr/>
        </p:nvSpPr>
        <p:spPr>
          <a:xfrm>
            <a:off x="960120" y="1097280"/>
            <a:ext cx="6903720" cy="502920"/>
          </a:xfrm>
          <a:prstGeom prst="roundRect">
            <a:avLst>
              <a:gd name="adj" fmla="val 14545"/>
            </a:avLst>
          </a:prstGeom>
          <a:solidFill>
            <a:srgbClr val="1E2533"/>
          </a:solidFill>
          <a:ln w="6350">
            <a:solidFill>
              <a:srgbClr val="3A4560"/>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143000" y="1188720"/>
            <a:ext cx="274320" cy="274320"/>
          </a:xfrm>
          <a:prstGeom prst="rect">
            <a:avLst/>
          </a:prstGeom>
        </p:spPr>
      </p:pic>
      <p:sp>
        <p:nvSpPr>
          <p:cNvPr id="13" name="Text 8"/>
          <p:cNvSpPr/>
          <p:nvPr/>
        </p:nvSpPr>
        <p:spPr>
          <a:xfrm>
            <a:off x="1508760" y="1143000"/>
            <a:ext cx="3657600" cy="228600"/>
          </a:xfrm>
          <a:prstGeom prst="rect">
            <a:avLst/>
          </a:prstGeom>
          <a:noFill/>
          <a:ln/>
        </p:spPr>
        <p:txBody>
          <a:bodyPr wrap="square" lIns="0" tIns="0" rIns="0" bIns="0" rtlCol="0" anchor="ctr"/>
          <a:lstStyle/>
          <a:p>
            <a:pPr marL="0" indent="0">
              <a:buNone/>
            </a:pPr>
            <a:r>
              <a:rPr lang="en-US" sz="1300" b="1" dirty="0">
                <a:solidFill>
                  <a:srgbClr val="E8ECF1"/>
                </a:solidFill>
                <a:latin typeface="Calibri" pitchFamily="34" charset="0"/>
                <a:ea typeface="Calibri" pitchFamily="34" charset="-122"/>
                <a:cs typeface="Calibri" pitchFamily="34" charset="-120"/>
              </a:rPr>
              <a:t>OpenClaw Gateway</a:t>
            </a:r>
            <a:endParaRPr lang="en-US" sz="1300" dirty="0"/>
          </a:p>
        </p:txBody>
      </p:sp>
      <p:sp>
        <p:nvSpPr>
          <p:cNvPr id="14" name="Text 9"/>
          <p:cNvSpPr/>
          <p:nvPr/>
        </p:nvSpPr>
        <p:spPr>
          <a:xfrm>
            <a:off x="1508760" y="1353312"/>
            <a:ext cx="6172200" cy="201168"/>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WebSocket / REST API  •  Task Queue &amp; Message Router  •  Proactive Heartbeat System</a:t>
            </a:r>
            <a:endParaRPr lang="en-US" sz="850" dirty="0"/>
          </a:p>
        </p:txBody>
      </p:sp>
      <p:sp>
        <p:nvSpPr>
          <p:cNvPr id="15" name="Shape 10"/>
          <p:cNvSpPr/>
          <p:nvPr/>
        </p:nvSpPr>
        <p:spPr>
          <a:xfrm>
            <a:off x="4338828" y="1600200"/>
            <a:ext cx="146304" cy="109728"/>
          </a:xfrm>
          <a:prstGeom prst="downArrow">
            <a:avLst/>
          </a:prstGeom>
          <a:solidFill>
            <a:srgbClr val="5B9BD5"/>
          </a:solidFill>
          <a:ln w="12700">
            <a:solidFill>
              <a:srgbClr val="333333"/>
            </a:solidFill>
            <a:prstDash val="solid"/>
          </a:ln>
        </p:spPr>
        <p:txBody>
          <a:bodyPr/>
          <a:lstStyle/>
          <a:p>
            <a:endParaRPr lang="en-US"/>
          </a:p>
        </p:txBody>
      </p:sp>
      <p:sp>
        <p:nvSpPr>
          <p:cNvPr id="16" name="Text 11"/>
          <p:cNvSpPr/>
          <p:nvPr/>
        </p:nvSpPr>
        <p:spPr>
          <a:xfrm>
            <a:off x="137160" y="1709928"/>
            <a:ext cx="777240" cy="621792"/>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3</a:t>
            </a:r>
            <a:endParaRPr lang="en-US" sz="850" dirty="0"/>
          </a:p>
        </p:txBody>
      </p:sp>
      <p:sp>
        <p:nvSpPr>
          <p:cNvPr id="17" name="Shape 12"/>
          <p:cNvSpPr/>
          <p:nvPr/>
        </p:nvSpPr>
        <p:spPr>
          <a:xfrm>
            <a:off x="960120" y="1709928"/>
            <a:ext cx="6903720" cy="621792"/>
          </a:xfrm>
          <a:prstGeom prst="roundRect">
            <a:avLst>
              <a:gd name="adj" fmla="val 11765"/>
            </a:avLst>
          </a:prstGeom>
          <a:solidFill>
            <a:srgbClr val="232B3A"/>
          </a:solidFill>
          <a:ln w="6350">
            <a:solidFill>
              <a:srgbClr val="3A4560"/>
            </a:solidFill>
            <a:prstDash val="solid"/>
          </a:ln>
        </p:spPr>
        <p:txBody>
          <a:bodyPr/>
          <a:lstStyle/>
          <a:p>
            <a:endParaRPr lang="en-US"/>
          </a:p>
        </p:txBody>
      </p:sp>
      <p:sp>
        <p:nvSpPr>
          <p:cNvPr id="18" name="Text 13"/>
          <p:cNvSpPr/>
          <p:nvPr/>
        </p:nvSpPr>
        <p:spPr>
          <a:xfrm>
            <a:off x="1051560" y="1728216"/>
            <a:ext cx="1828800" cy="182880"/>
          </a:xfrm>
          <a:prstGeom prst="rect">
            <a:avLst/>
          </a:prstGeom>
          <a:noFill/>
          <a:ln/>
        </p:spPr>
        <p:txBody>
          <a:bodyPr wrap="square" lIns="0" tIns="0" rIns="0" bIns="0" rtlCol="0" anchor="ctr"/>
          <a:lstStyle/>
          <a:p>
            <a:pPr marL="0" indent="0">
              <a:buNone/>
            </a:pPr>
            <a:r>
              <a:rPr lang="en-US" sz="900" b="1" dirty="0">
                <a:solidFill>
                  <a:srgbClr val="8B95A5"/>
                </a:solidFill>
                <a:latin typeface="Calibri" pitchFamily="34" charset="0"/>
                <a:ea typeface="Calibri" pitchFamily="34" charset="-122"/>
                <a:cs typeface="Calibri" pitchFamily="34" charset="-120"/>
              </a:rPr>
              <a:t>Agent Runtime</a:t>
            </a:r>
            <a:endParaRPr lang="en-US" sz="900" dirty="0"/>
          </a:p>
        </p:txBody>
      </p:sp>
      <p:sp>
        <p:nvSpPr>
          <p:cNvPr id="19" name="Shape 14"/>
          <p:cNvSpPr/>
          <p:nvPr/>
        </p:nvSpPr>
        <p:spPr>
          <a:xfrm>
            <a:off x="1069848" y="1911096"/>
            <a:ext cx="2154936" cy="365760"/>
          </a:xfrm>
          <a:prstGeom prst="roundRect">
            <a:avLst>
              <a:gd name="adj" fmla="val 15000"/>
            </a:avLst>
          </a:prstGeom>
          <a:solidFill>
            <a:srgbClr val="2A3545"/>
          </a:solidFill>
          <a:ln w="12700">
            <a:solidFill>
              <a:srgbClr val="76B900"/>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1143000" y="1965960"/>
            <a:ext cx="201168" cy="201168"/>
          </a:xfrm>
          <a:prstGeom prst="rect">
            <a:avLst/>
          </a:prstGeom>
        </p:spPr>
      </p:pic>
      <p:sp>
        <p:nvSpPr>
          <p:cNvPr id="21" name="Text 15"/>
          <p:cNvSpPr/>
          <p:nvPr/>
        </p:nvSpPr>
        <p:spPr>
          <a:xfrm>
            <a:off x="1362456" y="1929384"/>
            <a:ext cx="1789176" cy="164592"/>
          </a:xfrm>
          <a:prstGeom prst="rect">
            <a:avLst/>
          </a:prstGeom>
          <a:noFill/>
          <a:ln/>
        </p:spPr>
        <p:txBody>
          <a:bodyPr wrap="square" lIns="0" tIns="0" rIns="0" bIns="0" rtlCol="0" anchor="ctr"/>
          <a:lstStyle/>
          <a:p>
            <a:pPr marL="0" indent="0">
              <a:buNone/>
            </a:pPr>
            <a:r>
              <a:rPr lang="en-US" sz="1100" b="1" dirty="0" err="1">
                <a:solidFill>
                  <a:srgbClr val="E8ECF1"/>
                </a:solidFill>
                <a:latin typeface="Calibri" pitchFamily="34" charset="0"/>
                <a:ea typeface="Calibri" pitchFamily="34" charset="-122"/>
                <a:cs typeface="Calibri" pitchFamily="34" charset="-120"/>
              </a:rPr>
              <a:t>ReAct</a:t>
            </a:r>
            <a:r>
              <a:rPr lang="en-US" sz="1100" b="1" dirty="0">
                <a:solidFill>
                  <a:srgbClr val="E8ECF1"/>
                </a:solidFill>
                <a:latin typeface="Calibri" pitchFamily="34" charset="0"/>
                <a:ea typeface="Calibri" pitchFamily="34" charset="-122"/>
                <a:cs typeface="Calibri" pitchFamily="34" charset="-120"/>
              </a:rPr>
              <a:t> (Reasoning)</a:t>
            </a:r>
            <a:endParaRPr lang="en-US" sz="1100" dirty="0"/>
          </a:p>
        </p:txBody>
      </p:sp>
      <p:sp>
        <p:nvSpPr>
          <p:cNvPr id="22" name="Text 16"/>
          <p:cNvSpPr/>
          <p:nvPr/>
        </p:nvSpPr>
        <p:spPr>
          <a:xfrm>
            <a:off x="1362456" y="2093976"/>
            <a:ext cx="1789176" cy="146304"/>
          </a:xfrm>
          <a:prstGeom prst="rect">
            <a:avLst/>
          </a:prstGeom>
          <a:noFill/>
          <a:ln/>
        </p:spPr>
        <p:txBody>
          <a:bodyPr wrap="square" lIns="0" tIns="0" rIns="0" bIns="0" rtlCol="0" anchor="ctr"/>
          <a:lstStyle/>
          <a:p>
            <a:pPr marL="0" indent="0">
              <a:buNone/>
            </a:pPr>
            <a:r>
              <a:rPr lang="en-US" sz="750" dirty="0">
                <a:solidFill>
                  <a:srgbClr val="76B900"/>
                </a:solidFill>
                <a:latin typeface="Calibri" pitchFamily="34" charset="0"/>
                <a:ea typeface="Calibri" pitchFamily="34" charset="-122"/>
                <a:cs typeface="Calibri" pitchFamily="34" charset="-120"/>
              </a:rPr>
              <a:t>Observe → Think → Act</a:t>
            </a:r>
            <a:endParaRPr lang="en-US" sz="750" dirty="0"/>
          </a:p>
        </p:txBody>
      </p:sp>
      <p:sp>
        <p:nvSpPr>
          <p:cNvPr id="23" name="Shape 17"/>
          <p:cNvSpPr/>
          <p:nvPr/>
        </p:nvSpPr>
        <p:spPr>
          <a:xfrm>
            <a:off x="3334512" y="1911096"/>
            <a:ext cx="2154936" cy="365760"/>
          </a:xfrm>
          <a:prstGeom prst="roundRect">
            <a:avLst>
              <a:gd name="adj" fmla="val 15000"/>
            </a:avLst>
          </a:prstGeom>
          <a:solidFill>
            <a:srgbClr val="2A3545"/>
          </a:solidFill>
          <a:ln w="12700">
            <a:solidFill>
              <a:srgbClr val="E67E22"/>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3407664" y="1965960"/>
            <a:ext cx="201168" cy="201168"/>
          </a:xfrm>
          <a:prstGeom prst="rect">
            <a:avLst/>
          </a:prstGeom>
        </p:spPr>
      </p:pic>
      <p:sp>
        <p:nvSpPr>
          <p:cNvPr id="25" name="Text 18"/>
          <p:cNvSpPr/>
          <p:nvPr/>
        </p:nvSpPr>
        <p:spPr>
          <a:xfrm>
            <a:off x="3627120" y="1929384"/>
            <a:ext cx="1789176" cy="164592"/>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Mercury</a:t>
            </a:r>
            <a:endParaRPr lang="en-US" sz="1100" dirty="0"/>
          </a:p>
        </p:txBody>
      </p:sp>
      <p:sp>
        <p:nvSpPr>
          <p:cNvPr id="26" name="Text 19"/>
          <p:cNvSpPr/>
          <p:nvPr/>
        </p:nvSpPr>
        <p:spPr>
          <a:xfrm>
            <a:off x="3627120" y="2093976"/>
            <a:ext cx="1789176" cy="146304"/>
          </a:xfrm>
          <a:prstGeom prst="rect">
            <a:avLst/>
          </a:prstGeom>
          <a:noFill/>
          <a:ln/>
        </p:spPr>
        <p:txBody>
          <a:bodyPr wrap="square" lIns="0" tIns="0" rIns="0" bIns="0" rtlCol="0" anchor="ctr"/>
          <a:lstStyle/>
          <a:p>
            <a:pPr marL="0" indent="0">
              <a:buNone/>
            </a:pPr>
            <a:r>
              <a:rPr lang="en-US" sz="750" dirty="0">
                <a:solidFill>
                  <a:srgbClr val="E67E22"/>
                </a:solidFill>
                <a:latin typeface="Calibri" pitchFamily="34" charset="0"/>
                <a:ea typeface="Calibri" pitchFamily="34" charset="-122"/>
                <a:cs typeface="Calibri" pitchFamily="34" charset="-120"/>
              </a:rPr>
              <a:t>Orchestration Agent</a:t>
            </a:r>
            <a:endParaRPr lang="en-US" sz="750" dirty="0"/>
          </a:p>
        </p:txBody>
      </p:sp>
      <p:sp>
        <p:nvSpPr>
          <p:cNvPr id="27" name="Shape 20"/>
          <p:cNvSpPr/>
          <p:nvPr/>
        </p:nvSpPr>
        <p:spPr>
          <a:xfrm>
            <a:off x="5599176" y="1911096"/>
            <a:ext cx="2154936" cy="365760"/>
          </a:xfrm>
          <a:prstGeom prst="roundRect">
            <a:avLst>
              <a:gd name="adj" fmla="val 15000"/>
            </a:avLst>
          </a:prstGeom>
          <a:solidFill>
            <a:srgbClr val="2A3545"/>
          </a:solidFill>
          <a:ln w="12700">
            <a:solidFill>
              <a:srgbClr val="9B6DD7"/>
            </a:solidFill>
            <a:prstDash val="solid"/>
          </a:ln>
        </p:spPr>
        <p:txBody>
          <a:bodyPr/>
          <a:lstStyle/>
          <a:p>
            <a:endParaRPr lang="en-US"/>
          </a:p>
        </p:txBody>
      </p:sp>
      <p:pic>
        <p:nvPicPr>
          <p:cNvPr id="28" name="Image 5" descr="preencoded.png"/>
          <p:cNvPicPr>
            <a:picLocks noChangeAspect="1"/>
          </p:cNvPicPr>
          <p:nvPr/>
        </p:nvPicPr>
        <p:blipFill>
          <a:blip r:embed="rId8"/>
          <a:stretch>
            <a:fillRect/>
          </a:stretch>
        </p:blipFill>
        <p:spPr>
          <a:xfrm>
            <a:off x="5672328" y="1965960"/>
            <a:ext cx="201168" cy="201168"/>
          </a:xfrm>
          <a:prstGeom prst="rect">
            <a:avLst/>
          </a:prstGeom>
        </p:spPr>
      </p:pic>
      <p:sp>
        <p:nvSpPr>
          <p:cNvPr id="29" name="Text 21"/>
          <p:cNvSpPr/>
          <p:nvPr/>
        </p:nvSpPr>
        <p:spPr>
          <a:xfrm>
            <a:off x="5891784" y="1929384"/>
            <a:ext cx="1789176" cy="164592"/>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Hermes Agent</a:t>
            </a:r>
            <a:endParaRPr lang="en-US" sz="1100" dirty="0"/>
          </a:p>
        </p:txBody>
      </p:sp>
      <p:sp>
        <p:nvSpPr>
          <p:cNvPr id="30" name="Text 22"/>
          <p:cNvSpPr/>
          <p:nvPr/>
        </p:nvSpPr>
        <p:spPr>
          <a:xfrm>
            <a:off x="5891784" y="2093976"/>
            <a:ext cx="1789176" cy="146304"/>
          </a:xfrm>
          <a:prstGeom prst="rect">
            <a:avLst/>
          </a:prstGeom>
          <a:noFill/>
          <a:ln/>
        </p:spPr>
        <p:txBody>
          <a:bodyPr wrap="square" lIns="0" tIns="0" rIns="0" bIns="0" rtlCol="0" anchor="ctr"/>
          <a:lstStyle/>
          <a:p>
            <a:pPr marL="0" indent="0">
              <a:buNone/>
            </a:pPr>
            <a:r>
              <a:rPr lang="en-US" sz="750" dirty="0">
                <a:solidFill>
                  <a:srgbClr val="9B6DD7"/>
                </a:solidFill>
                <a:latin typeface="Calibri" pitchFamily="34" charset="0"/>
                <a:ea typeface="Calibri" pitchFamily="34" charset="-122"/>
                <a:cs typeface="Calibri" pitchFamily="34" charset="-120"/>
              </a:rPr>
              <a:t>Self-Improving Loop</a:t>
            </a:r>
            <a:endParaRPr lang="en-US" sz="750" dirty="0"/>
          </a:p>
        </p:txBody>
      </p:sp>
      <p:sp>
        <p:nvSpPr>
          <p:cNvPr id="31" name="Shape 23"/>
          <p:cNvSpPr/>
          <p:nvPr/>
        </p:nvSpPr>
        <p:spPr>
          <a:xfrm>
            <a:off x="3233928" y="2075688"/>
            <a:ext cx="91440" cy="0"/>
          </a:xfrm>
          <a:prstGeom prst="line">
            <a:avLst/>
          </a:prstGeom>
          <a:noFill/>
          <a:ln w="19050">
            <a:solidFill>
              <a:srgbClr val="76B900"/>
            </a:solidFill>
            <a:prstDash val="solid"/>
            <a:headEnd type="triangle"/>
            <a:tailEnd type="triangle"/>
          </a:ln>
        </p:spPr>
        <p:txBody>
          <a:bodyPr/>
          <a:lstStyle/>
          <a:p>
            <a:endParaRPr lang="en-US"/>
          </a:p>
        </p:txBody>
      </p:sp>
      <p:sp>
        <p:nvSpPr>
          <p:cNvPr id="32" name="Shape 24"/>
          <p:cNvSpPr/>
          <p:nvPr/>
        </p:nvSpPr>
        <p:spPr>
          <a:xfrm>
            <a:off x="5498592" y="2112264"/>
            <a:ext cx="91440" cy="0"/>
          </a:xfrm>
          <a:prstGeom prst="line">
            <a:avLst/>
          </a:prstGeom>
          <a:noFill/>
          <a:ln w="19050">
            <a:solidFill>
              <a:srgbClr val="9B6DD7"/>
            </a:solidFill>
            <a:prstDash val="solid"/>
            <a:headEnd type="triangle"/>
            <a:tailEnd type="triangle"/>
          </a:ln>
        </p:spPr>
        <p:txBody>
          <a:bodyPr/>
          <a:lstStyle/>
          <a:p>
            <a:endParaRPr lang="en-US"/>
          </a:p>
        </p:txBody>
      </p:sp>
      <p:sp>
        <p:nvSpPr>
          <p:cNvPr id="33" name="Shape 25"/>
          <p:cNvSpPr/>
          <p:nvPr/>
        </p:nvSpPr>
        <p:spPr>
          <a:xfrm>
            <a:off x="4338828" y="2331720"/>
            <a:ext cx="146304" cy="109728"/>
          </a:xfrm>
          <a:prstGeom prst="downArrow">
            <a:avLst/>
          </a:prstGeom>
          <a:solidFill>
            <a:srgbClr val="5B9BD5"/>
          </a:solidFill>
          <a:ln w="12700">
            <a:solidFill>
              <a:srgbClr val="333333"/>
            </a:solidFill>
            <a:prstDash val="solid"/>
          </a:ln>
        </p:spPr>
        <p:txBody>
          <a:bodyPr/>
          <a:lstStyle/>
          <a:p>
            <a:endParaRPr lang="en-US"/>
          </a:p>
        </p:txBody>
      </p:sp>
      <p:sp>
        <p:nvSpPr>
          <p:cNvPr id="34" name="Text 26"/>
          <p:cNvSpPr/>
          <p:nvPr/>
        </p:nvSpPr>
        <p:spPr>
          <a:xfrm>
            <a:off x="137160" y="2441448"/>
            <a:ext cx="777240" cy="438912"/>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Memory</a:t>
            </a:r>
            <a:endParaRPr lang="en-US" sz="850" dirty="0"/>
          </a:p>
          <a:p>
            <a:pPr marL="0" indent="0" algn="l">
              <a:buNone/>
            </a:pPr>
            <a:r>
              <a:rPr lang="en-US" sz="850" b="1" dirty="0">
                <a:solidFill>
                  <a:srgbClr val="8B95A5"/>
                </a:solidFill>
                <a:latin typeface="Calibri" pitchFamily="34" charset="0"/>
                <a:ea typeface="Calibri" pitchFamily="34" charset="-122"/>
                <a:cs typeface="Calibri" pitchFamily="34" charset="-120"/>
              </a:rPr>
              <a:t>&amp; State</a:t>
            </a:r>
            <a:endParaRPr lang="en-US" sz="850" dirty="0"/>
          </a:p>
        </p:txBody>
      </p:sp>
      <p:sp>
        <p:nvSpPr>
          <p:cNvPr id="35" name="Shape 27"/>
          <p:cNvSpPr/>
          <p:nvPr/>
        </p:nvSpPr>
        <p:spPr>
          <a:xfrm>
            <a:off x="960120" y="2441448"/>
            <a:ext cx="6903720" cy="438912"/>
          </a:xfrm>
          <a:prstGeom prst="roundRect">
            <a:avLst>
              <a:gd name="adj" fmla="val 16667"/>
            </a:avLst>
          </a:prstGeom>
          <a:solidFill>
            <a:srgbClr val="1E2533"/>
          </a:solidFill>
          <a:ln w="6350">
            <a:solidFill>
              <a:srgbClr val="3A4560"/>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1143000" y="2532888"/>
            <a:ext cx="228600" cy="228600"/>
          </a:xfrm>
          <a:prstGeom prst="rect">
            <a:avLst/>
          </a:prstGeom>
        </p:spPr>
      </p:pic>
      <p:sp>
        <p:nvSpPr>
          <p:cNvPr id="37" name="Text 28"/>
          <p:cNvSpPr/>
          <p:nvPr/>
        </p:nvSpPr>
        <p:spPr>
          <a:xfrm>
            <a:off x="1463040" y="2478024"/>
            <a:ext cx="3200400" cy="182880"/>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Persistent Memory &amp; State</a:t>
            </a:r>
            <a:endParaRPr lang="en-US" sz="1100" dirty="0"/>
          </a:p>
        </p:txBody>
      </p:sp>
      <p:sp>
        <p:nvSpPr>
          <p:cNvPr id="38" name="Text 29"/>
          <p:cNvSpPr/>
          <p:nvPr/>
        </p:nvSpPr>
        <p:spPr>
          <a:xfrm>
            <a:off x="1463040" y="2660904"/>
            <a:ext cx="6263640" cy="164592"/>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SOUL.md  •  MEMORY.md  •  USER.md  •  HEARTBEAT.md  •  AGENTS.md</a:t>
            </a:r>
            <a:endParaRPr lang="en-US" sz="850" dirty="0"/>
          </a:p>
        </p:txBody>
      </p:sp>
      <p:sp>
        <p:nvSpPr>
          <p:cNvPr id="39" name="Shape 30"/>
          <p:cNvSpPr/>
          <p:nvPr/>
        </p:nvSpPr>
        <p:spPr>
          <a:xfrm>
            <a:off x="4338828" y="2880360"/>
            <a:ext cx="146304" cy="109728"/>
          </a:xfrm>
          <a:prstGeom prst="downArrow">
            <a:avLst/>
          </a:prstGeom>
          <a:solidFill>
            <a:srgbClr val="5B9BD5"/>
          </a:solidFill>
          <a:ln w="12700">
            <a:solidFill>
              <a:srgbClr val="333333"/>
            </a:solidFill>
            <a:prstDash val="solid"/>
          </a:ln>
        </p:spPr>
        <p:txBody>
          <a:bodyPr/>
          <a:lstStyle/>
          <a:p>
            <a:endParaRPr lang="en-US"/>
          </a:p>
        </p:txBody>
      </p:sp>
      <p:sp>
        <p:nvSpPr>
          <p:cNvPr id="40" name="Text 31"/>
          <p:cNvSpPr/>
          <p:nvPr/>
        </p:nvSpPr>
        <p:spPr>
          <a:xfrm>
            <a:off x="137160" y="2990088"/>
            <a:ext cx="777240" cy="530352"/>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5</a:t>
            </a:r>
            <a:endParaRPr lang="en-US" sz="850" dirty="0"/>
          </a:p>
        </p:txBody>
      </p:sp>
      <p:sp>
        <p:nvSpPr>
          <p:cNvPr id="41" name="Shape 32"/>
          <p:cNvSpPr/>
          <p:nvPr/>
        </p:nvSpPr>
        <p:spPr>
          <a:xfrm>
            <a:off x="960120" y="2990088"/>
            <a:ext cx="6903720" cy="530352"/>
          </a:xfrm>
          <a:prstGeom prst="roundRect">
            <a:avLst>
              <a:gd name="adj" fmla="val 13793"/>
            </a:avLst>
          </a:prstGeom>
          <a:solidFill>
            <a:srgbClr val="1E2533"/>
          </a:solidFill>
          <a:ln w="6350">
            <a:solidFill>
              <a:srgbClr val="3A4560"/>
            </a:solidFill>
            <a:prstDash val="solid"/>
          </a:ln>
        </p:spPr>
        <p:txBody>
          <a:bodyPr/>
          <a:lstStyle/>
          <a:p>
            <a:endParaRPr lang="en-US"/>
          </a:p>
        </p:txBody>
      </p:sp>
      <p:pic>
        <p:nvPicPr>
          <p:cNvPr id="42" name="Image 7" descr="preencoded.png"/>
          <p:cNvPicPr>
            <a:picLocks noChangeAspect="1"/>
          </p:cNvPicPr>
          <p:nvPr/>
        </p:nvPicPr>
        <p:blipFill>
          <a:blip r:embed="rId10"/>
          <a:stretch>
            <a:fillRect/>
          </a:stretch>
        </p:blipFill>
        <p:spPr>
          <a:xfrm>
            <a:off x="1143000" y="3063240"/>
            <a:ext cx="228600" cy="228600"/>
          </a:xfrm>
          <a:prstGeom prst="rect">
            <a:avLst/>
          </a:prstGeom>
        </p:spPr>
      </p:pic>
      <p:sp>
        <p:nvSpPr>
          <p:cNvPr id="43" name="Text 33"/>
          <p:cNvSpPr/>
          <p:nvPr/>
        </p:nvSpPr>
        <p:spPr>
          <a:xfrm>
            <a:off x="1463040" y="3026664"/>
            <a:ext cx="2743200" cy="201168"/>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Tools &amp; Skills Layer</a:t>
            </a:r>
            <a:endParaRPr lang="en-US" sz="1100" dirty="0"/>
          </a:p>
        </p:txBody>
      </p:sp>
      <p:sp>
        <p:nvSpPr>
          <p:cNvPr id="44" name="Text 34"/>
          <p:cNvSpPr/>
          <p:nvPr/>
        </p:nvSpPr>
        <p:spPr>
          <a:xfrm>
            <a:off x="1463040" y="3246120"/>
            <a:ext cx="6263640" cy="201168"/>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40+ ClawHub Skills: exec  •  browser  •  gog  •  calendar  •  github  •  notion  •  and more</a:t>
            </a:r>
            <a:endParaRPr lang="en-US" sz="850" dirty="0"/>
          </a:p>
        </p:txBody>
      </p:sp>
      <p:sp>
        <p:nvSpPr>
          <p:cNvPr id="45" name="Shape 35"/>
          <p:cNvSpPr/>
          <p:nvPr/>
        </p:nvSpPr>
        <p:spPr>
          <a:xfrm>
            <a:off x="4338828" y="3520440"/>
            <a:ext cx="146304" cy="109728"/>
          </a:xfrm>
          <a:prstGeom prst="downArrow">
            <a:avLst/>
          </a:prstGeom>
          <a:solidFill>
            <a:srgbClr val="5B9BD5"/>
          </a:solidFill>
          <a:ln w="12700">
            <a:solidFill>
              <a:srgbClr val="333333"/>
            </a:solidFill>
            <a:prstDash val="solid"/>
          </a:ln>
        </p:spPr>
        <p:txBody>
          <a:bodyPr/>
          <a:lstStyle/>
          <a:p>
            <a:endParaRPr lang="en-US"/>
          </a:p>
        </p:txBody>
      </p:sp>
      <p:sp>
        <p:nvSpPr>
          <p:cNvPr id="46" name="Text 36"/>
          <p:cNvSpPr/>
          <p:nvPr/>
        </p:nvSpPr>
        <p:spPr>
          <a:xfrm>
            <a:off x="137160" y="3630168"/>
            <a:ext cx="777240" cy="502920"/>
          </a:xfrm>
          <a:prstGeom prst="rect">
            <a:avLst/>
          </a:prstGeom>
          <a:noFill/>
          <a:ln/>
        </p:spPr>
        <p:txBody>
          <a:bodyPr wrap="square" lIns="0" tIns="0" rIns="0" bIns="0" rtlCol="0" anchor="ctr"/>
          <a:lstStyle/>
          <a:p>
            <a:pPr marL="0" indent="0" algn="l">
              <a:buNone/>
            </a:pPr>
            <a:r>
              <a:rPr lang="en-US" sz="850" b="1" dirty="0">
                <a:solidFill>
                  <a:srgbClr val="8B95A5"/>
                </a:solidFill>
                <a:latin typeface="Calibri" pitchFamily="34" charset="0"/>
                <a:ea typeface="Calibri" pitchFamily="34" charset="-122"/>
                <a:cs typeface="Calibri" pitchFamily="34" charset="-120"/>
              </a:rPr>
              <a:t>Layer 6</a:t>
            </a:r>
            <a:endParaRPr lang="en-US" sz="850" dirty="0"/>
          </a:p>
        </p:txBody>
      </p:sp>
      <p:sp>
        <p:nvSpPr>
          <p:cNvPr id="47" name="Shape 37"/>
          <p:cNvSpPr/>
          <p:nvPr/>
        </p:nvSpPr>
        <p:spPr>
          <a:xfrm>
            <a:off x="960120" y="3630168"/>
            <a:ext cx="6903720" cy="502920"/>
          </a:xfrm>
          <a:prstGeom prst="roundRect">
            <a:avLst>
              <a:gd name="adj" fmla="val 14545"/>
            </a:avLst>
          </a:prstGeom>
          <a:solidFill>
            <a:srgbClr val="1E2533"/>
          </a:solidFill>
          <a:ln w="6350">
            <a:solidFill>
              <a:srgbClr val="3A4560"/>
            </a:solidFill>
            <a:prstDash val="solid"/>
          </a:ln>
        </p:spPr>
        <p:txBody>
          <a:bodyPr/>
          <a:lstStyle/>
          <a:p>
            <a:endParaRPr lang="en-US"/>
          </a:p>
        </p:txBody>
      </p:sp>
      <p:pic>
        <p:nvPicPr>
          <p:cNvPr id="48" name="Image 8" descr="preencoded.png"/>
          <p:cNvPicPr>
            <a:picLocks noChangeAspect="1"/>
          </p:cNvPicPr>
          <p:nvPr/>
        </p:nvPicPr>
        <p:blipFill>
          <a:blip r:embed="rId11"/>
          <a:stretch>
            <a:fillRect/>
          </a:stretch>
        </p:blipFill>
        <p:spPr>
          <a:xfrm>
            <a:off x="1143000" y="3703320"/>
            <a:ext cx="256032" cy="256032"/>
          </a:xfrm>
          <a:prstGeom prst="rect">
            <a:avLst/>
          </a:prstGeom>
        </p:spPr>
      </p:pic>
      <p:sp>
        <p:nvSpPr>
          <p:cNvPr id="49" name="Text 38"/>
          <p:cNvSpPr/>
          <p:nvPr/>
        </p:nvSpPr>
        <p:spPr>
          <a:xfrm>
            <a:off x="1463040" y="3666744"/>
            <a:ext cx="3657600" cy="201168"/>
          </a:xfrm>
          <a:prstGeom prst="rect">
            <a:avLst/>
          </a:prstGeom>
          <a:noFill/>
          <a:ln/>
        </p:spPr>
        <p:txBody>
          <a:bodyPr wrap="square" lIns="0" tIns="0" rIns="0" bIns="0" rtlCol="0" anchor="ctr"/>
          <a:lstStyle/>
          <a:p>
            <a:pPr marL="0" indent="0">
              <a:buNone/>
            </a:pPr>
            <a:r>
              <a:rPr lang="en-US" sz="1100" b="1" dirty="0">
                <a:solidFill>
                  <a:srgbClr val="E8ECF1"/>
                </a:solidFill>
                <a:latin typeface="Calibri" pitchFamily="34" charset="0"/>
                <a:ea typeface="Calibri" pitchFamily="34" charset="-122"/>
                <a:cs typeface="Calibri" pitchFamily="34" charset="-120"/>
              </a:rPr>
              <a:t>GPU / LLM Engine</a:t>
            </a:r>
            <a:endParaRPr lang="en-US" sz="1100" dirty="0"/>
          </a:p>
        </p:txBody>
      </p:sp>
      <p:sp>
        <p:nvSpPr>
          <p:cNvPr id="50" name="Text 39"/>
          <p:cNvSpPr/>
          <p:nvPr/>
        </p:nvSpPr>
        <p:spPr>
          <a:xfrm>
            <a:off x="1463040" y="3886200"/>
            <a:ext cx="6263640" cy="201168"/>
          </a:xfrm>
          <a:prstGeom prst="rect">
            <a:avLst/>
          </a:prstGeom>
          <a:noFill/>
          <a:ln/>
        </p:spPr>
        <p:txBody>
          <a:bodyPr wrap="square" lIns="0" tIns="0" rIns="0" bIns="0" rtlCol="0" anchor="ctr"/>
          <a:lstStyle/>
          <a:p>
            <a:pPr marL="0" indent="0">
              <a:buNone/>
            </a:pPr>
            <a:r>
              <a:rPr lang="en-US" sz="850" dirty="0">
                <a:solidFill>
                  <a:srgbClr val="9CA3AF"/>
                </a:solidFill>
                <a:latin typeface="Calibri" pitchFamily="34" charset="0"/>
                <a:ea typeface="Calibri" pitchFamily="34" charset="-122"/>
                <a:cs typeface="Calibri" pitchFamily="34" charset="-120"/>
              </a:rPr>
              <a:t>Local LLM via Ollama  •  Qwen3.5  •  Llama  •  GLM  •  OpenAI-Compatible API</a:t>
            </a:r>
            <a:endParaRPr lang="en-US" sz="850" dirty="0"/>
          </a:p>
        </p:txBody>
      </p:sp>
      <p:sp>
        <p:nvSpPr>
          <p:cNvPr id="51" name="Shape 40"/>
          <p:cNvSpPr/>
          <p:nvPr/>
        </p:nvSpPr>
        <p:spPr>
          <a:xfrm>
            <a:off x="8001000" y="1234440"/>
            <a:ext cx="0" cy="2715768"/>
          </a:xfrm>
          <a:prstGeom prst="line">
            <a:avLst/>
          </a:prstGeom>
          <a:noFill/>
          <a:ln w="19050">
            <a:solidFill>
              <a:srgbClr val="E67E22"/>
            </a:solidFill>
            <a:prstDash val="solid"/>
          </a:ln>
        </p:spPr>
        <p:txBody>
          <a:bodyPr/>
          <a:lstStyle/>
          <a:p>
            <a:endParaRPr lang="en-US"/>
          </a:p>
        </p:txBody>
      </p:sp>
      <p:sp>
        <p:nvSpPr>
          <p:cNvPr id="52" name="Shape 41"/>
          <p:cNvSpPr/>
          <p:nvPr/>
        </p:nvSpPr>
        <p:spPr>
          <a:xfrm>
            <a:off x="7863840" y="1234440"/>
            <a:ext cx="137160" cy="0"/>
          </a:xfrm>
          <a:prstGeom prst="line">
            <a:avLst/>
          </a:prstGeom>
          <a:noFill/>
          <a:ln w="19050">
            <a:solidFill>
              <a:srgbClr val="E67E22"/>
            </a:solidFill>
            <a:prstDash val="solid"/>
            <a:headEnd type="triangle"/>
          </a:ln>
        </p:spPr>
        <p:txBody>
          <a:bodyPr/>
          <a:lstStyle/>
          <a:p>
            <a:endParaRPr lang="en-US"/>
          </a:p>
        </p:txBody>
      </p:sp>
      <p:sp>
        <p:nvSpPr>
          <p:cNvPr id="53" name="Shape 42"/>
          <p:cNvSpPr/>
          <p:nvPr/>
        </p:nvSpPr>
        <p:spPr>
          <a:xfrm>
            <a:off x="7863840" y="3950208"/>
            <a:ext cx="137160" cy="0"/>
          </a:xfrm>
          <a:prstGeom prst="line">
            <a:avLst/>
          </a:prstGeom>
          <a:noFill/>
          <a:ln w="19050">
            <a:solidFill>
              <a:srgbClr val="E67E22"/>
            </a:solidFill>
            <a:prstDash val="solid"/>
            <a:headEnd type="triangle"/>
          </a:ln>
        </p:spPr>
        <p:txBody>
          <a:bodyPr/>
          <a:lstStyle/>
          <a:p>
            <a:endParaRPr lang="en-US"/>
          </a:p>
        </p:txBody>
      </p:sp>
      <p:sp>
        <p:nvSpPr>
          <p:cNvPr id="54" name="Text 43"/>
          <p:cNvSpPr/>
          <p:nvPr/>
        </p:nvSpPr>
        <p:spPr>
          <a:xfrm>
            <a:off x="8092440" y="4206240"/>
            <a:ext cx="182880" cy="164592"/>
          </a:xfrm>
          <a:prstGeom prst="rect">
            <a:avLst/>
          </a:prstGeom>
          <a:noFill/>
          <a:ln/>
        </p:spPr>
        <p:txBody>
          <a:bodyPr wrap="square" lIns="0" tIns="0" rIns="0" bIns="0" rtlCol="0" anchor="ctr"/>
          <a:lstStyle/>
          <a:p>
            <a:pPr marL="0" indent="0">
              <a:buNone/>
            </a:pPr>
            <a:r>
              <a:rPr lang="en-US" sz="1000" b="1" dirty="0">
                <a:solidFill>
                  <a:srgbClr val="76B900"/>
                </a:solidFill>
                <a:latin typeface="Calibri" pitchFamily="34" charset="0"/>
                <a:ea typeface="Calibri" pitchFamily="34" charset="-122"/>
                <a:cs typeface="Calibri" pitchFamily="34" charset="-120"/>
              </a:rPr>
              <a:t>→</a:t>
            </a:r>
            <a:endParaRPr lang="en-US" sz="1000" dirty="0"/>
          </a:p>
        </p:txBody>
      </p:sp>
      <p:sp>
        <p:nvSpPr>
          <p:cNvPr id="55" name="Text 44"/>
          <p:cNvSpPr/>
          <p:nvPr/>
        </p:nvSpPr>
        <p:spPr>
          <a:xfrm>
            <a:off x="8275320" y="4206240"/>
            <a:ext cx="640080" cy="164592"/>
          </a:xfrm>
          <a:prstGeom prst="rect">
            <a:avLst/>
          </a:prstGeom>
          <a:noFill/>
          <a:ln/>
        </p:spPr>
        <p:txBody>
          <a:bodyPr wrap="square" lIns="0" tIns="0" rIns="0" bIns="0" rtlCol="0" anchor="ctr"/>
          <a:lstStyle/>
          <a:p>
            <a:pPr marL="0" indent="0">
              <a:buNone/>
            </a:pPr>
            <a:r>
              <a:rPr lang="en-US" sz="800" dirty="0">
                <a:solidFill>
                  <a:srgbClr val="76B900"/>
                </a:solidFill>
                <a:latin typeface="Calibri" pitchFamily="34" charset="0"/>
                <a:ea typeface="Calibri" pitchFamily="34" charset="-122"/>
                <a:cs typeface="Calibri" pitchFamily="34" charset="-120"/>
              </a:rPr>
              <a:t>ReAct</a:t>
            </a:r>
            <a:endParaRPr lang="en-US" sz="800" dirty="0"/>
          </a:p>
        </p:txBody>
      </p:sp>
      <p:sp>
        <p:nvSpPr>
          <p:cNvPr id="56" name="Text 45"/>
          <p:cNvSpPr/>
          <p:nvPr/>
        </p:nvSpPr>
        <p:spPr>
          <a:xfrm>
            <a:off x="8092440" y="4389120"/>
            <a:ext cx="182880" cy="164592"/>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a:t>
            </a:r>
            <a:endParaRPr lang="en-US" sz="1000" dirty="0"/>
          </a:p>
        </p:txBody>
      </p:sp>
      <p:sp>
        <p:nvSpPr>
          <p:cNvPr id="57" name="Text 46"/>
          <p:cNvSpPr/>
          <p:nvPr/>
        </p:nvSpPr>
        <p:spPr>
          <a:xfrm>
            <a:off x="8275320" y="4389120"/>
            <a:ext cx="640080" cy="164592"/>
          </a:xfrm>
          <a:prstGeom prst="rect">
            <a:avLst/>
          </a:prstGeom>
          <a:noFill/>
          <a:ln/>
        </p:spPr>
        <p:txBody>
          <a:bodyPr wrap="square" lIns="0" tIns="0" rIns="0" bIns="0" rtlCol="0" anchor="ctr"/>
          <a:lstStyle/>
          <a:p>
            <a:pPr marL="0" indent="0">
              <a:buNone/>
            </a:pPr>
            <a:r>
              <a:rPr lang="en-US" sz="800" dirty="0">
                <a:solidFill>
                  <a:srgbClr val="E67E22"/>
                </a:solidFill>
                <a:latin typeface="Calibri" pitchFamily="34" charset="0"/>
                <a:ea typeface="Calibri" pitchFamily="34" charset="-122"/>
                <a:cs typeface="Calibri" pitchFamily="34" charset="-120"/>
              </a:rPr>
              <a:t>Mercury</a:t>
            </a:r>
            <a:endParaRPr lang="en-US" sz="800" dirty="0"/>
          </a:p>
        </p:txBody>
      </p:sp>
      <p:sp>
        <p:nvSpPr>
          <p:cNvPr id="58" name="Text 47"/>
          <p:cNvSpPr/>
          <p:nvPr/>
        </p:nvSpPr>
        <p:spPr>
          <a:xfrm>
            <a:off x="8092440" y="4572000"/>
            <a:ext cx="182880" cy="164592"/>
          </a:xfrm>
          <a:prstGeom prst="rect">
            <a:avLst/>
          </a:prstGeom>
          <a:noFill/>
          <a:ln/>
        </p:spPr>
        <p:txBody>
          <a:bodyPr wrap="square" lIns="0" tIns="0" rIns="0" bIns="0" rtlCol="0" anchor="ctr"/>
          <a:lstStyle/>
          <a:p>
            <a:pPr marL="0" indent="0">
              <a:buNone/>
            </a:pPr>
            <a:r>
              <a:rPr lang="en-US" sz="1000" b="1" dirty="0">
                <a:solidFill>
                  <a:srgbClr val="9B6DD7"/>
                </a:solidFill>
                <a:latin typeface="Calibri" pitchFamily="34" charset="0"/>
                <a:ea typeface="Calibri" pitchFamily="34" charset="-122"/>
                <a:cs typeface="Calibri" pitchFamily="34" charset="-120"/>
              </a:rPr>
              <a:t>→</a:t>
            </a:r>
            <a:endParaRPr lang="en-US" sz="1000" dirty="0"/>
          </a:p>
        </p:txBody>
      </p:sp>
      <p:sp>
        <p:nvSpPr>
          <p:cNvPr id="59" name="Text 48"/>
          <p:cNvSpPr/>
          <p:nvPr/>
        </p:nvSpPr>
        <p:spPr>
          <a:xfrm>
            <a:off x="8275320" y="4572000"/>
            <a:ext cx="640080" cy="164592"/>
          </a:xfrm>
          <a:prstGeom prst="rect">
            <a:avLst/>
          </a:prstGeom>
          <a:noFill/>
          <a:ln/>
        </p:spPr>
        <p:txBody>
          <a:bodyPr wrap="square" lIns="0" tIns="0" rIns="0" bIns="0" rtlCol="0" anchor="ctr"/>
          <a:lstStyle/>
          <a:p>
            <a:pPr marL="0" indent="0">
              <a:buNone/>
            </a:pPr>
            <a:r>
              <a:rPr lang="en-US" sz="800" dirty="0">
                <a:solidFill>
                  <a:srgbClr val="9B6DD7"/>
                </a:solidFill>
                <a:latin typeface="Calibri" pitchFamily="34" charset="0"/>
                <a:ea typeface="Calibri" pitchFamily="34" charset="-122"/>
                <a:cs typeface="Calibri" pitchFamily="34" charset="-120"/>
              </a:rPr>
              <a:t>Hermes</a:t>
            </a:r>
            <a:endParaRPr lang="en-US" sz="800" dirty="0"/>
          </a:p>
        </p:txBody>
      </p:sp>
      <p:sp>
        <p:nvSpPr>
          <p:cNvPr id="60" name="Text 49"/>
          <p:cNvSpPr/>
          <p:nvPr/>
        </p:nvSpPr>
        <p:spPr>
          <a:xfrm>
            <a:off x="1371600" y="4251960"/>
            <a:ext cx="5486400" cy="256032"/>
          </a:xfrm>
          <a:prstGeom prst="rect">
            <a:avLst/>
          </a:prstGeom>
          <a:noFill/>
          <a:ln/>
        </p:spPr>
        <p:txBody>
          <a:bodyPr wrap="square" lIns="0" tIns="0" rIns="0" bIns="0" rtlCol="0" anchor="ctr"/>
          <a:lstStyle/>
          <a:p>
            <a:pPr marL="0" indent="0" algn="ctr">
              <a:buNone/>
            </a:pPr>
            <a:r>
              <a:rPr lang="en-US" sz="1000" b="1" kern="0" spc="300" dirty="0">
                <a:solidFill>
                  <a:srgbClr val="76B900"/>
                </a:solidFill>
                <a:latin typeface="Calibri" pitchFamily="34" charset="0"/>
                <a:ea typeface="Calibri" pitchFamily="34" charset="-122"/>
                <a:cs typeface="Calibri" pitchFamily="34" charset="-120"/>
              </a:rPr>
              <a:t>YOU STAY IN FULL CONTROL</a:t>
            </a:r>
            <a:endParaRPr lang="en-US" sz="1000" dirty="0"/>
          </a:p>
        </p:txBody>
      </p:sp>
      <p:sp>
        <p:nvSpPr>
          <p:cNvPr id="61" name="Text 50"/>
          <p:cNvSpPr/>
          <p:nvPr/>
        </p:nvSpPr>
        <p:spPr>
          <a:xfrm>
            <a:off x="1371600" y="4498848"/>
            <a:ext cx="5486400" cy="201168"/>
          </a:xfrm>
          <a:prstGeom prst="rect">
            <a:avLst/>
          </a:prstGeom>
          <a:noFill/>
          <a:ln/>
        </p:spPr>
        <p:txBody>
          <a:bodyPr wrap="square" lIns="0" tIns="0" rIns="0" bIns="0" rtlCol="0" anchor="ctr"/>
          <a:lstStyle/>
          <a:p>
            <a:pPr marL="0" indent="0" algn="ctr">
              <a:buNone/>
            </a:pPr>
            <a:r>
              <a:rPr lang="en-US" sz="750" dirty="0">
                <a:solidFill>
                  <a:srgbClr val="8B95A5"/>
                </a:solidFill>
                <a:latin typeface="Calibri" pitchFamily="34" charset="0"/>
                <a:ea typeface="Calibri" pitchFamily="34" charset="-122"/>
                <a:cs typeface="Calibri" pitchFamily="34" charset="-120"/>
              </a:rPr>
              <a:t>Every component runs locally on your hardware — nothing leaves your network.</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1">
    <p:bg>
      <p:bgPr>
        <a:solidFill>
          <a:srgbClr val="0A0F1A"/>
        </a:solidFill>
        <a:effectLst/>
      </p:bgPr>
    </p:bg>
    <p:spTree>
      <p:nvGrpSpPr>
        <p:cNvPr id="1" name=""/>
        <p:cNvGrpSpPr/>
        <p:nvPr/>
      </p:nvGrpSpPr>
      <p:grpSpPr>
        <a:xfrm>
          <a:off x="0" y="0"/>
          <a:ext cx="0" cy="0"/>
          <a:chOff x="0" y="0"/>
          <a:chExt cx="0" cy="0"/>
        </a:xfrm>
      </p:grpSpPr>
      <p:sp>
        <p:nvSpPr>
          <p:cNvPr id="63" name="Text 35">
            <a:extLst>
              <a:ext uri="{FF2B5EF4-FFF2-40B4-BE49-F238E27FC236}">
                <a16:creationId xmlns:a16="http://schemas.microsoft.com/office/drawing/2014/main" id="{E9CC5222-A1CE-689B-EA2B-00D0BF64F71C}"/>
              </a:ext>
            </a:extLst>
          </p:cNvPr>
          <p:cNvSpPr/>
          <p:nvPr/>
        </p:nvSpPr>
        <p:spPr>
          <a:xfrm>
            <a:off x="4836616" y="3995836"/>
            <a:ext cx="3907334" cy="513457"/>
          </a:xfrm>
          <a:prstGeom prst="roundRect">
            <a:avLst>
              <a:gd name="adj" fmla="val 13851"/>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2" name="Text 0"/>
          <p:cNvSpPr/>
          <p:nvPr/>
        </p:nvSpPr>
        <p:spPr>
          <a:xfrm>
            <a:off x="0" y="0"/>
            <a:ext cx="9144000" cy="5143500"/>
          </a:xfrm>
          <a:prstGeom prst="rect">
            <a:avLst/>
          </a:prstGeom>
          <a:gradFill rotWithShape="1">
            <a:gsLst>
              <a:gs pos="0">
                <a:srgbClr val="000000">
                  <a:alpha val="0"/>
                </a:srgbClr>
              </a:gs>
              <a:gs pos="50000">
                <a:srgbClr val="000000">
                  <a:alpha val="0"/>
                </a:srgbClr>
              </a:gs>
              <a:gs pos="100000">
                <a:srgbClr val="76B900">
                  <a:alpha val="1000"/>
                </a:srgbClr>
              </a:gs>
            </a:gsLst>
            <a:lin ang="16200000" scaled="1"/>
          </a:gradFill>
          <a:ln/>
        </p:spPr>
        <p:txBody>
          <a:bodyPr wrap="square" rtlCol="0" anchor="t"/>
          <a:lstStyle/>
          <a:p>
            <a:pPr marL="0" indent="0">
              <a:buNone/>
            </a:pPr>
            <a:endParaRPr lang="en-US" dirty="0"/>
          </a:p>
        </p:txBody>
      </p:sp>
      <p:sp>
        <p:nvSpPr>
          <p:cNvPr id="3" name="Text 1"/>
          <p:cNvSpPr/>
          <p:nvPr/>
        </p:nvSpPr>
        <p:spPr>
          <a:xfrm>
            <a:off x="951345" y="1982291"/>
            <a:ext cx="9144000" cy="5143500"/>
          </a:xfrm>
          <a:prstGeom prst="rect">
            <a:avLst/>
          </a:prstGeom>
          <a:gradFill rotWithShape="1">
            <a:gsLst>
              <a:gs pos="0">
                <a:srgbClr val="000000">
                  <a:alpha val="0"/>
                </a:srgbClr>
              </a:gs>
              <a:gs pos="50000">
                <a:srgbClr val="000000">
                  <a:alpha val="0"/>
                </a:srgbClr>
              </a:gs>
              <a:gs pos="100000">
                <a:srgbClr val="76B900">
                  <a:alpha val="1000"/>
                </a:srgbClr>
              </a:gs>
            </a:gsLst>
            <a:lin ang="0" scaled="1"/>
          </a:gradFill>
          <a:ln/>
        </p:spPr>
        <p:txBody>
          <a:bodyPr wrap="square" rtlCol="0" anchor="t"/>
          <a:lstStyle/>
          <a:p>
            <a:pPr marL="0" indent="0">
              <a:buNone/>
            </a:pPr>
            <a:endParaRPr lang="en-US" dirty="0"/>
          </a:p>
        </p:txBody>
      </p:sp>
      <p:sp>
        <p:nvSpPr>
          <p:cNvPr id="4" name="Text 2"/>
          <p:cNvSpPr/>
          <p:nvPr/>
        </p:nvSpPr>
        <p:spPr>
          <a:xfrm>
            <a:off x="0" y="5121920"/>
            <a:ext cx="9144000" cy="21580"/>
          </a:xfrm>
          <a:prstGeom prst="rect">
            <a:avLst/>
          </a:prstGeom>
          <a:gradFill rotWithShape="1">
            <a:gsLst>
              <a:gs pos="0">
                <a:srgbClr val="000000">
                  <a:alpha val="0"/>
                </a:srgbClr>
              </a:gs>
              <a:gs pos="50000">
                <a:srgbClr val="76B900">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556895" y="1148135"/>
            <a:ext cx="2133009" cy="7590"/>
          </a:xfrm>
          <a:prstGeom prst="rect">
            <a:avLst/>
          </a:prstGeom>
          <a:gradFill rotWithShape="1">
            <a:gsLst>
              <a:gs pos="0">
                <a:srgbClr val="76B900"/>
              </a:gs>
              <a:gs pos="100000">
                <a:srgbClr val="000000">
                  <a:alpha val="0"/>
                </a:srgbClr>
              </a:gs>
            </a:gsLst>
            <a:lin ang="0" scaled="1"/>
          </a:gradFill>
          <a:ln/>
        </p:spPr>
        <p:txBody>
          <a:bodyPr wrap="none" rtlCol="0" anchor="t"/>
          <a:lstStyle/>
          <a:p>
            <a:pPr marL="0" indent="0">
              <a:buNone/>
            </a:pPr>
            <a:endParaRPr lang="en-US" dirty="0"/>
          </a:p>
        </p:txBody>
      </p:sp>
      <p:sp>
        <p:nvSpPr>
          <p:cNvPr id="6" name="Text 4"/>
          <p:cNvSpPr/>
          <p:nvPr/>
        </p:nvSpPr>
        <p:spPr>
          <a:xfrm>
            <a:off x="4993461" y="1148135"/>
            <a:ext cx="1901133" cy="7590"/>
          </a:xfrm>
          <a:prstGeom prst="rect">
            <a:avLst/>
          </a:prstGeom>
          <a:gradFill rotWithShape="1">
            <a:gsLst>
              <a:gs pos="0">
                <a:srgbClr val="76B900"/>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216027" y="0"/>
            <a:ext cx="8927973" cy="296317"/>
          </a:xfrm>
          <a:prstGeom prst="rect">
            <a:avLst/>
          </a:prstGeom>
          <a:noFill/>
          <a:ln/>
        </p:spPr>
        <p:txBody>
          <a:bodyPr wrap="none" lIns="0" tIns="0" rIns="0" bIns="0" rtlCol="0" anchor="t"/>
          <a:lstStyle/>
          <a:p>
            <a:pPr marL="0" indent="0" algn="l">
              <a:lnSpc>
                <a:spcPts val="2335"/>
              </a:lnSpc>
              <a:spcAft>
                <a:spcPts val="340"/>
              </a:spcAft>
              <a:buNone/>
            </a:pPr>
            <a:r>
              <a:rPr lang="en-US" sz="2030" dirty="0">
                <a:solidFill>
                  <a:srgbClr val="E2E8F0"/>
                </a:solidFill>
                <a:latin typeface="Consolas" pitchFamily="34" charset="0"/>
                <a:ea typeface="Consolas" pitchFamily="34" charset="-122"/>
                <a:cs typeface="Consolas" pitchFamily="34" charset="-120"/>
              </a:rPr>
              <a:t> </a:t>
            </a:r>
            <a:br>
              <a:rPr dirty="0"/>
            </a:br>
            <a:r>
              <a:rPr lang="en-US" sz="2030" dirty="0">
                <a:solidFill>
                  <a:srgbClr val="E2E8F0"/>
                </a:solidFill>
                <a:latin typeface="Consolas" pitchFamily="34" charset="0"/>
                <a:ea typeface="Consolas" pitchFamily="34" charset="-122"/>
                <a:cs typeface="Consolas" pitchFamily="34" charset="-120"/>
              </a:rPr>
              <a:t>        Companion Workspace Files </a:t>
            </a:r>
            <a:r>
              <a:rPr lang="en-US" sz="2030" b="1" dirty="0">
                <a:solidFill>
                  <a:srgbClr val="76B900"/>
                </a:solidFill>
                <a:latin typeface="Consolas" pitchFamily="34" charset="0"/>
                <a:ea typeface="Consolas" pitchFamily="34" charset="-122"/>
                <a:cs typeface="Consolas" pitchFamily="34" charset="-120"/>
              </a:rPr>
              <a:t>&amp;</a:t>
            </a:r>
            <a:r>
              <a:rPr lang="en-US" sz="2030" dirty="0">
                <a:solidFill>
                  <a:srgbClr val="E2E8F0"/>
                </a:solidFill>
                <a:latin typeface="Consolas" pitchFamily="34" charset="0"/>
                <a:ea typeface="Consolas" pitchFamily="34" charset="-122"/>
                <a:cs typeface="Consolas" pitchFamily="34" charset="-120"/>
              </a:rPr>
              <a:t> Popular Repos</a:t>
            </a:r>
            <a:br>
              <a:rPr dirty="0"/>
            </a:br>
            <a:r>
              <a:rPr lang="en-US" sz="2030" dirty="0">
                <a:solidFill>
                  <a:srgbClr val="E2E8F0"/>
                </a:solidFill>
                <a:latin typeface="Consolas" pitchFamily="34" charset="0"/>
                <a:ea typeface="Consolas" pitchFamily="34" charset="-122"/>
                <a:cs typeface="Consolas" pitchFamily="34" charset="-120"/>
              </a:rPr>
              <a:t>      </a:t>
            </a:r>
            <a:endParaRPr lang="en-US" sz="2030" dirty="0"/>
          </a:p>
        </p:txBody>
      </p:sp>
      <p:sp>
        <p:nvSpPr>
          <p:cNvPr id="8" name="Text 6"/>
          <p:cNvSpPr/>
          <p:nvPr/>
        </p:nvSpPr>
        <p:spPr>
          <a:xfrm>
            <a:off x="443210" y="718691"/>
            <a:ext cx="8700790" cy="156160"/>
          </a:xfrm>
          <a:prstGeom prst="rect">
            <a:avLst/>
          </a:prstGeom>
          <a:noFill/>
          <a:ln/>
        </p:spPr>
        <p:txBody>
          <a:bodyPr wrap="none" lIns="0" tIns="0" rIns="0" bIns="0" rtlCol="0" anchor="t"/>
          <a:lstStyle/>
          <a:p>
            <a:pPr marL="0" indent="0" algn="l">
              <a:lnSpc>
                <a:spcPts val="1350"/>
              </a:lnSpc>
              <a:buNone/>
            </a:pPr>
            <a:r>
              <a:rPr lang="en-US" sz="900" dirty="0">
                <a:solidFill>
                  <a:srgbClr val="8B9CB6"/>
                </a:solidFill>
                <a:latin typeface="Calibri" pitchFamily="34" charset="0"/>
                <a:ea typeface="Calibri" pitchFamily="34" charset="-122"/>
                <a:cs typeface="Calibri" pitchFamily="34" charset="-120"/>
              </a:rPr>
              <a:t>The configuration files that define your agent — and community resources to get started fast.</a:t>
            </a:r>
            <a:endParaRPr lang="en-US" sz="900" dirty="0"/>
          </a:p>
        </p:txBody>
      </p:sp>
      <p:sp>
        <p:nvSpPr>
          <p:cNvPr id="9" name="Text 7"/>
          <p:cNvSpPr/>
          <p:nvPr/>
        </p:nvSpPr>
        <p:spPr>
          <a:xfrm>
            <a:off x="556766" y="1082427"/>
            <a:ext cx="1701120" cy="139005"/>
          </a:xfrm>
          <a:prstGeom prst="rect">
            <a:avLst/>
          </a:prstGeom>
          <a:noFill/>
          <a:ln/>
        </p:spPr>
        <p:txBody>
          <a:bodyPr wrap="none" lIns="0" tIns="0" rIns="0" bIns="0" rtlCol="0" anchor="ctr"/>
          <a:lstStyle/>
          <a:p>
            <a:pPr marL="0" indent="0" algn="l">
              <a:lnSpc>
                <a:spcPts val="1095"/>
              </a:lnSpc>
              <a:buNone/>
            </a:pPr>
            <a:r>
              <a:rPr lang="en-US" sz="730" b="1" kern="0" spc="170" dirty="0">
                <a:solidFill>
                  <a:srgbClr val="76B900"/>
                </a:solidFill>
                <a:latin typeface="Consolas" pitchFamily="34" charset="0"/>
                <a:ea typeface="Consolas" pitchFamily="34" charset="-122"/>
                <a:cs typeface="Consolas" pitchFamily="34" charset="-120"/>
              </a:rPr>
              <a:t>CORE WORKSPACE FILES</a:t>
            </a:r>
            <a:endParaRPr lang="en-US" sz="73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6619" y="1085636"/>
            <a:ext cx="132588" cy="132588"/>
          </a:xfrm>
          <a:prstGeom prst="rect">
            <a:avLst/>
          </a:prstGeom>
        </p:spPr>
      </p:pic>
      <p:sp>
        <p:nvSpPr>
          <p:cNvPr id="11" name="Text 8"/>
          <p:cNvSpPr/>
          <p:nvPr/>
        </p:nvSpPr>
        <p:spPr>
          <a:xfrm>
            <a:off x="400050" y="1335732"/>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2" name="Text 9"/>
          <p:cNvSpPr/>
          <p:nvPr/>
        </p:nvSpPr>
        <p:spPr>
          <a:xfrm>
            <a:off x="523875" y="1431578"/>
            <a:ext cx="257770" cy="257770"/>
          </a:xfrm>
          <a:prstGeom prst="roundRect">
            <a:avLst>
              <a:gd name="adj" fmla="val 22171"/>
            </a:avLst>
          </a:prstGeom>
          <a:solidFill>
            <a:srgbClr val="76B900">
              <a:alpha val="15000"/>
            </a:srgbClr>
          </a:solidFill>
          <a:ln/>
        </p:spPr>
        <p:txBody>
          <a:bodyPr wrap="none" rtlCol="0" anchor="t"/>
          <a:lstStyle/>
          <a:p>
            <a:pPr marL="0" indent="0">
              <a:buNone/>
            </a:pPr>
            <a:endParaRPr lang="en-US"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6392" y="1494094"/>
            <a:ext cx="132588" cy="132588"/>
          </a:xfrm>
          <a:prstGeom prst="rect">
            <a:avLst/>
          </a:prstGeom>
        </p:spPr>
      </p:pic>
      <p:sp>
        <p:nvSpPr>
          <p:cNvPr id="14" name="Text 10"/>
          <p:cNvSpPr/>
          <p:nvPr/>
        </p:nvSpPr>
        <p:spPr>
          <a:xfrm>
            <a:off x="867966" y="1480393"/>
            <a:ext cx="2982977"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SOUL.md</a:t>
            </a:r>
            <a:endParaRPr lang="en-US" sz="840" dirty="0"/>
          </a:p>
        </p:txBody>
      </p:sp>
      <p:sp>
        <p:nvSpPr>
          <p:cNvPr id="15" name="Text 11"/>
          <p:cNvSpPr/>
          <p:nvPr/>
        </p:nvSpPr>
        <p:spPr>
          <a:xfrm>
            <a:off x="3666083" y="1493193"/>
            <a:ext cx="517327" cy="147831"/>
          </a:xfrm>
          <a:prstGeom prst="roundRect">
            <a:avLst>
              <a:gd name="adj" fmla="val 19759"/>
            </a:avLst>
          </a:prstGeom>
          <a:solidFill>
            <a:srgbClr val="76B900">
              <a:alpha val="12000"/>
            </a:srgbClr>
          </a:solidFill>
          <a:ln/>
        </p:spPr>
        <p:txBody>
          <a:bodyPr wrap="none" lIns="0" tIns="0" rIns="0" bIns="0" rtlCol="0" anchor="ctr"/>
          <a:lstStyle/>
          <a:p>
            <a:pPr marL="0" indent="0" algn="ctr">
              <a:buNone/>
            </a:pPr>
            <a:r>
              <a:rPr lang="en-US" sz="560" b="1" dirty="0">
                <a:solidFill>
                  <a:srgbClr val="76B900"/>
                </a:solidFill>
                <a:latin typeface="Consolas" pitchFamily="34" charset="0"/>
                <a:ea typeface="Consolas" pitchFamily="34" charset="-122"/>
                <a:cs typeface="Consolas" pitchFamily="34" charset="-120"/>
              </a:rPr>
              <a:t>IDENTITY</a:t>
            </a:r>
            <a:endParaRPr lang="en-US" sz="560" dirty="0"/>
          </a:p>
        </p:txBody>
      </p:sp>
      <p:sp>
        <p:nvSpPr>
          <p:cNvPr id="16" name="Text 12"/>
          <p:cNvSpPr/>
          <p:nvPr/>
        </p:nvSpPr>
        <p:spPr>
          <a:xfrm>
            <a:off x="400050" y="1856184"/>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7" name="Text 13"/>
          <p:cNvSpPr/>
          <p:nvPr/>
        </p:nvSpPr>
        <p:spPr>
          <a:xfrm>
            <a:off x="523875" y="1952030"/>
            <a:ext cx="257770" cy="257770"/>
          </a:xfrm>
          <a:prstGeom prst="roundRect">
            <a:avLst>
              <a:gd name="adj" fmla="val 22171"/>
            </a:avLst>
          </a:prstGeom>
          <a:solidFill>
            <a:srgbClr val="60A5FA">
              <a:alpha val="12000"/>
            </a:srgbClr>
          </a:solidFill>
          <a:ln/>
        </p:spPr>
        <p:txBody>
          <a:bodyPr wrap="non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6392" y="2014546"/>
            <a:ext cx="132588" cy="132588"/>
          </a:xfrm>
          <a:prstGeom prst="rect">
            <a:avLst/>
          </a:prstGeom>
        </p:spPr>
      </p:pic>
      <p:sp>
        <p:nvSpPr>
          <p:cNvPr id="19" name="Text 14"/>
          <p:cNvSpPr/>
          <p:nvPr/>
        </p:nvSpPr>
        <p:spPr>
          <a:xfrm>
            <a:off x="867966" y="2000845"/>
            <a:ext cx="3038475"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USER.md</a:t>
            </a:r>
            <a:endParaRPr lang="en-US" sz="840" dirty="0"/>
          </a:p>
        </p:txBody>
      </p:sp>
      <p:sp>
        <p:nvSpPr>
          <p:cNvPr id="20" name="Text 15"/>
          <p:cNvSpPr/>
          <p:nvPr/>
        </p:nvSpPr>
        <p:spPr>
          <a:xfrm>
            <a:off x="3716536" y="2013645"/>
            <a:ext cx="466874" cy="147831"/>
          </a:xfrm>
          <a:prstGeom prst="roundRect">
            <a:avLst>
              <a:gd name="adj" fmla="val 19759"/>
            </a:avLst>
          </a:prstGeom>
          <a:solidFill>
            <a:srgbClr val="60A5FA">
              <a:alpha val="10000"/>
            </a:srgbClr>
          </a:solidFill>
          <a:ln/>
        </p:spPr>
        <p:txBody>
          <a:bodyPr wrap="none" lIns="0" tIns="0" rIns="0" bIns="0" rtlCol="0" anchor="ctr"/>
          <a:lstStyle/>
          <a:p>
            <a:pPr marL="0" indent="0" algn="ctr">
              <a:buNone/>
            </a:pPr>
            <a:r>
              <a:rPr lang="en-US" sz="560" b="1" dirty="0">
                <a:solidFill>
                  <a:srgbClr val="60A5FA"/>
                </a:solidFill>
                <a:latin typeface="Consolas" pitchFamily="34" charset="0"/>
                <a:ea typeface="Consolas" pitchFamily="34" charset="-122"/>
                <a:cs typeface="Consolas" pitchFamily="34" charset="-120"/>
              </a:rPr>
              <a:t>CONTEXT</a:t>
            </a:r>
            <a:endParaRPr lang="en-US" sz="560" dirty="0"/>
          </a:p>
        </p:txBody>
      </p:sp>
      <p:sp>
        <p:nvSpPr>
          <p:cNvPr id="21" name="Text 16"/>
          <p:cNvSpPr/>
          <p:nvPr/>
        </p:nvSpPr>
        <p:spPr>
          <a:xfrm>
            <a:off x="400050" y="2376636"/>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2" name="Text 17"/>
          <p:cNvSpPr/>
          <p:nvPr/>
        </p:nvSpPr>
        <p:spPr>
          <a:xfrm>
            <a:off x="523875" y="2472482"/>
            <a:ext cx="257770" cy="257770"/>
          </a:xfrm>
          <a:prstGeom prst="roundRect">
            <a:avLst>
              <a:gd name="adj" fmla="val 22171"/>
            </a:avLst>
          </a:prstGeom>
          <a:solidFill>
            <a:srgbClr val="FBBF24">
              <a:alpha val="12000"/>
            </a:srgbClr>
          </a:solidFill>
          <a:ln/>
        </p:spPr>
        <p:txBody>
          <a:bodyPr wrap="none" rtlCol="0" anchor="t"/>
          <a:lstStyle/>
          <a:p>
            <a:pPr marL="0" indent="0">
              <a:buNone/>
            </a:pPr>
            <a:endParaRPr lang="en-US"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6392" y="2534998"/>
            <a:ext cx="132588" cy="132588"/>
          </a:xfrm>
          <a:prstGeom prst="rect">
            <a:avLst/>
          </a:prstGeom>
        </p:spPr>
      </p:pic>
      <p:sp>
        <p:nvSpPr>
          <p:cNvPr id="24" name="Text 18"/>
          <p:cNvSpPr/>
          <p:nvPr/>
        </p:nvSpPr>
        <p:spPr>
          <a:xfrm>
            <a:off x="867966" y="2521297"/>
            <a:ext cx="2982977"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AGENTS.md</a:t>
            </a:r>
            <a:endParaRPr lang="en-US" sz="840" dirty="0"/>
          </a:p>
        </p:txBody>
      </p:sp>
      <p:sp>
        <p:nvSpPr>
          <p:cNvPr id="25" name="Text 19"/>
          <p:cNvSpPr/>
          <p:nvPr/>
        </p:nvSpPr>
        <p:spPr>
          <a:xfrm>
            <a:off x="3666083" y="2534096"/>
            <a:ext cx="517327" cy="147831"/>
          </a:xfrm>
          <a:prstGeom prst="roundRect">
            <a:avLst>
              <a:gd name="adj" fmla="val 19759"/>
            </a:avLst>
          </a:prstGeom>
          <a:solidFill>
            <a:srgbClr val="FBBF24">
              <a:alpha val="10000"/>
            </a:srgbClr>
          </a:solidFill>
          <a:ln/>
        </p:spPr>
        <p:txBody>
          <a:bodyPr wrap="none" lIns="0" tIns="0" rIns="0" bIns="0" rtlCol="0" anchor="ctr"/>
          <a:lstStyle/>
          <a:p>
            <a:pPr marL="0" indent="0" algn="ctr">
              <a:buNone/>
            </a:pPr>
            <a:r>
              <a:rPr lang="en-US" sz="560" b="1" dirty="0">
                <a:solidFill>
                  <a:srgbClr val="FBBF24"/>
                </a:solidFill>
                <a:latin typeface="Consolas" pitchFamily="34" charset="0"/>
                <a:ea typeface="Consolas" pitchFamily="34" charset="-122"/>
                <a:cs typeface="Consolas" pitchFamily="34" charset="-120"/>
              </a:rPr>
              <a:t>REGISTRY</a:t>
            </a:r>
            <a:endParaRPr lang="en-US" sz="560" dirty="0"/>
          </a:p>
        </p:txBody>
      </p:sp>
      <p:sp>
        <p:nvSpPr>
          <p:cNvPr id="26" name="Text 20"/>
          <p:cNvSpPr/>
          <p:nvPr/>
        </p:nvSpPr>
        <p:spPr>
          <a:xfrm>
            <a:off x="400050" y="2897088"/>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7" name="Text 21"/>
          <p:cNvSpPr/>
          <p:nvPr/>
        </p:nvSpPr>
        <p:spPr>
          <a:xfrm>
            <a:off x="523875" y="2992934"/>
            <a:ext cx="257770" cy="257770"/>
          </a:xfrm>
          <a:prstGeom prst="roundRect">
            <a:avLst>
              <a:gd name="adj" fmla="val 22171"/>
            </a:avLst>
          </a:prstGeom>
          <a:solidFill>
            <a:srgbClr val="C084FC">
              <a:alpha val="12000"/>
            </a:srgbClr>
          </a:solidFill>
          <a:ln/>
        </p:spPr>
        <p:txBody>
          <a:bodyPr wrap="none" rtlCol="0" anchor="t"/>
          <a:lstStyle/>
          <a:p>
            <a:pPr marL="0" indent="0">
              <a:buNone/>
            </a:pPr>
            <a:endParaRPr lang="en-US" dirty="0"/>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6392" y="3055450"/>
            <a:ext cx="132588" cy="132588"/>
          </a:xfrm>
          <a:prstGeom prst="rect">
            <a:avLst/>
          </a:prstGeom>
        </p:spPr>
      </p:pic>
      <p:sp>
        <p:nvSpPr>
          <p:cNvPr id="29" name="Text 22"/>
          <p:cNvSpPr/>
          <p:nvPr/>
        </p:nvSpPr>
        <p:spPr>
          <a:xfrm>
            <a:off x="867966" y="3041749"/>
            <a:ext cx="2872308"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MEMORY.md</a:t>
            </a:r>
            <a:endParaRPr lang="en-US" sz="840" dirty="0"/>
          </a:p>
        </p:txBody>
      </p:sp>
      <p:sp>
        <p:nvSpPr>
          <p:cNvPr id="30" name="Text 23"/>
          <p:cNvSpPr/>
          <p:nvPr/>
        </p:nvSpPr>
        <p:spPr>
          <a:xfrm>
            <a:off x="3565475" y="3054548"/>
            <a:ext cx="617934" cy="147831"/>
          </a:xfrm>
          <a:prstGeom prst="roundRect">
            <a:avLst>
              <a:gd name="adj" fmla="val 19759"/>
            </a:avLst>
          </a:prstGeom>
          <a:solidFill>
            <a:srgbClr val="C084FC">
              <a:alpha val="10000"/>
            </a:srgbClr>
          </a:solidFill>
          <a:ln/>
        </p:spPr>
        <p:txBody>
          <a:bodyPr wrap="none" lIns="0" tIns="0" rIns="0" bIns="0" rtlCol="0" anchor="ctr"/>
          <a:lstStyle/>
          <a:p>
            <a:pPr marL="0" indent="0" algn="ctr">
              <a:buNone/>
            </a:pPr>
            <a:r>
              <a:rPr lang="en-US" sz="560" b="1" dirty="0">
                <a:solidFill>
                  <a:srgbClr val="C084FC"/>
                </a:solidFill>
                <a:latin typeface="Consolas" pitchFamily="34" charset="0"/>
                <a:ea typeface="Consolas" pitchFamily="34" charset="-122"/>
                <a:cs typeface="Consolas" pitchFamily="34" charset="-120"/>
              </a:rPr>
              <a:t>PERSISTENT</a:t>
            </a:r>
            <a:endParaRPr lang="en-US" sz="560" dirty="0"/>
          </a:p>
        </p:txBody>
      </p:sp>
      <p:sp>
        <p:nvSpPr>
          <p:cNvPr id="31" name="Text 24"/>
          <p:cNvSpPr/>
          <p:nvPr/>
        </p:nvSpPr>
        <p:spPr>
          <a:xfrm>
            <a:off x="400050" y="3417540"/>
            <a:ext cx="3907185" cy="449461"/>
          </a:xfrm>
          <a:prstGeom prst="roundRect">
            <a:avLst>
              <a:gd name="adj" fmla="val 15823"/>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32" name="Text 25"/>
          <p:cNvSpPr/>
          <p:nvPr/>
        </p:nvSpPr>
        <p:spPr>
          <a:xfrm>
            <a:off x="523875" y="3513386"/>
            <a:ext cx="257770" cy="257770"/>
          </a:xfrm>
          <a:prstGeom prst="roundRect">
            <a:avLst>
              <a:gd name="adj" fmla="val 22171"/>
            </a:avLst>
          </a:prstGeom>
          <a:solidFill>
            <a:srgbClr val="F87171">
              <a:alpha val="12000"/>
            </a:srgbClr>
          </a:solidFill>
          <a:ln/>
        </p:spPr>
        <p:txBody>
          <a:bodyPr wrap="none" rtlCol="0" anchor="t"/>
          <a:lstStyle/>
          <a:p>
            <a:pPr marL="0" indent="0">
              <a:buNone/>
            </a:pPr>
            <a:endParaRPr lang="en-US" dirty="0"/>
          </a:p>
        </p:txBody>
      </p:sp>
      <p:pic>
        <p:nvPicPr>
          <p:cNvPr id="3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6392" y="3575902"/>
            <a:ext cx="132588" cy="132588"/>
          </a:xfrm>
          <a:prstGeom prst="rect">
            <a:avLst/>
          </a:prstGeom>
        </p:spPr>
      </p:pic>
      <p:sp>
        <p:nvSpPr>
          <p:cNvPr id="34" name="Text 26"/>
          <p:cNvSpPr/>
          <p:nvPr/>
        </p:nvSpPr>
        <p:spPr>
          <a:xfrm>
            <a:off x="867966" y="3562201"/>
            <a:ext cx="2927643" cy="159990"/>
          </a:xfrm>
          <a:prstGeom prst="rect">
            <a:avLst/>
          </a:prstGeom>
          <a:noFill/>
          <a:ln/>
        </p:spPr>
        <p:txBody>
          <a:bodyPr wrap="none" lIns="0" tIns="0" rIns="0" bIns="0" rtlCol="0" anchor="t"/>
          <a:lstStyle/>
          <a:p>
            <a:pPr marL="0" indent="0" algn="l">
              <a:lnSpc>
                <a:spcPts val="1260"/>
              </a:lnSpc>
              <a:buNone/>
            </a:pPr>
            <a:r>
              <a:rPr lang="en-US" sz="840" b="1" dirty="0">
                <a:solidFill>
                  <a:srgbClr val="E2E8F0"/>
                </a:solidFill>
                <a:latin typeface="Consolas" pitchFamily="34" charset="0"/>
                <a:ea typeface="Consolas" pitchFamily="34" charset="-122"/>
                <a:cs typeface="Consolas" pitchFamily="34" charset="-120"/>
              </a:rPr>
              <a:t>HEARTBEAT.md</a:t>
            </a:r>
            <a:endParaRPr lang="en-US" sz="840" dirty="0"/>
          </a:p>
        </p:txBody>
      </p:sp>
      <p:sp>
        <p:nvSpPr>
          <p:cNvPr id="35" name="Text 27"/>
          <p:cNvSpPr/>
          <p:nvPr/>
        </p:nvSpPr>
        <p:spPr>
          <a:xfrm>
            <a:off x="3615779" y="3575000"/>
            <a:ext cx="567630" cy="147831"/>
          </a:xfrm>
          <a:prstGeom prst="roundRect">
            <a:avLst>
              <a:gd name="adj" fmla="val 19759"/>
            </a:avLst>
          </a:prstGeom>
          <a:solidFill>
            <a:srgbClr val="F87171">
              <a:alpha val="10000"/>
            </a:srgbClr>
          </a:solidFill>
          <a:ln/>
        </p:spPr>
        <p:txBody>
          <a:bodyPr wrap="none" lIns="0" tIns="0" rIns="0" bIns="0" rtlCol="0" anchor="ctr"/>
          <a:lstStyle/>
          <a:p>
            <a:pPr marL="0" indent="0" algn="ctr">
              <a:buNone/>
            </a:pPr>
            <a:r>
              <a:rPr lang="en-US" sz="560" b="1" dirty="0">
                <a:solidFill>
                  <a:srgbClr val="F87171"/>
                </a:solidFill>
                <a:latin typeface="Consolas" pitchFamily="34" charset="0"/>
                <a:ea typeface="Consolas" pitchFamily="34" charset="-122"/>
                <a:cs typeface="Consolas" pitchFamily="34" charset="-120"/>
              </a:rPr>
              <a:t>SCHEDULER</a:t>
            </a:r>
            <a:endParaRPr lang="en-US" sz="560" dirty="0"/>
          </a:p>
        </p:txBody>
      </p:sp>
      <p:sp>
        <p:nvSpPr>
          <p:cNvPr id="36" name="Text 28"/>
          <p:cNvSpPr/>
          <p:nvPr/>
        </p:nvSpPr>
        <p:spPr>
          <a:xfrm>
            <a:off x="400050" y="4766667"/>
            <a:ext cx="43160" cy="43160"/>
          </a:xfrm>
          <a:prstGeom prst="ellipse">
            <a:avLst/>
          </a:prstGeom>
          <a:solidFill>
            <a:srgbClr val="76B900"/>
          </a:solidFill>
          <a:ln/>
          <a:effectLst>
            <a:outerShdw blurRad="57150" dist="50800" dir="16200000" algn="bl" rotWithShape="0">
              <a:srgbClr val="76B900">
                <a:alpha val="50000"/>
              </a:srgbClr>
            </a:outerShdw>
          </a:effectLst>
        </p:spPr>
        <p:txBody>
          <a:bodyPr wrap="none" rtlCol="0" anchor="t"/>
          <a:lstStyle/>
          <a:p>
            <a:pPr marL="0" indent="0">
              <a:buNone/>
            </a:pPr>
            <a:endParaRPr lang="en-US" dirty="0"/>
          </a:p>
        </p:txBody>
      </p:sp>
      <p:sp>
        <p:nvSpPr>
          <p:cNvPr id="37" name="Text 29"/>
          <p:cNvSpPr/>
          <p:nvPr/>
        </p:nvSpPr>
        <p:spPr>
          <a:xfrm>
            <a:off x="4565005" y="1082427"/>
            <a:ext cx="13841" cy="3775323"/>
          </a:xfrm>
          <a:prstGeom prst="rect">
            <a:avLst/>
          </a:prstGeom>
          <a:gradFill rotWithShape="1">
            <a:gsLst>
              <a:gs pos="0">
                <a:srgbClr val="000000">
                  <a:alpha val="0"/>
                </a:srgbClr>
              </a:gs>
              <a:gs pos="50000">
                <a:srgbClr val="76B900">
                  <a:alpha val="40000"/>
                </a:srgbClr>
              </a:gs>
              <a:gs pos="100000">
                <a:srgbClr val="000000">
                  <a:alpha val="0"/>
                </a:srgbClr>
              </a:gs>
            </a:gsLst>
            <a:lin ang="5400000" scaled="1"/>
          </a:gradFill>
          <a:ln/>
        </p:spPr>
        <p:txBody>
          <a:bodyPr wrap="square" rtlCol="0" anchor="t"/>
          <a:lstStyle/>
          <a:p>
            <a:pPr marL="0" indent="0">
              <a:buNone/>
            </a:pPr>
            <a:endParaRPr lang="en-US" dirty="0"/>
          </a:p>
        </p:txBody>
      </p:sp>
      <p:sp>
        <p:nvSpPr>
          <p:cNvPr id="38" name="Text 30"/>
          <p:cNvSpPr/>
          <p:nvPr/>
        </p:nvSpPr>
        <p:spPr>
          <a:xfrm>
            <a:off x="4993332" y="1082427"/>
            <a:ext cx="1956346" cy="139005"/>
          </a:xfrm>
          <a:prstGeom prst="rect">
            <a:avLst/>
          </a:prstGeom>
          <a:noFill/>
          <a:ln/>
        </p:spPr>
        <p:txBody>
          <a:bodyPr wrap="none" lIns="0" tIns="0" rIns="0" bIns="0" rtlCol="0" anchor="ctr"/>
          <a:lstStyle/>
          <a:p>
            <a:pPr marL="0" indent="0" algn="l">
              <a:lnSpc>
                <a:spcPts val="1095"/>
              </a:lnSpc>
              <a:buNone/>
            </a:pPr>
            <a:r>
              <a:rPr lang="en-US" sz="730" b="1" kern="0" spc="170" dirty="0">
                <a:solidFill>
                  <a:srgbClr val="76B900"/>
                </a:solidFill>
                <a:latin typeface="Consolas" pitchFamily="34" charset="0"/>
                <a:ea typeface="Consolas" pitchFamily="34" charset="-122"/>
                <a:cs typeface="Consolas" pitchFamily="34" charset="-120"/>
              </a:rPr>
              <a:t>POPULAR COMMUNITY REPOS</a:t>
            </a:r>
            <a:endParaRPr lang="en-US" sz="730" dirty="0"/>
          </a:p>
        </p:txBody>
      </p:sp>
      <p:pic>
        <p:nvPicPr>
          <p:cNvPr id="3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13185" y="1085636"/>
            <a:ext cx="132588" cy="132588"/>
          </a:xfrm>
          <a:prstGeom prst="rect">
            <a:avLst/>
          </a:prstGeom>
        </p:spPr>
      </p:pic>
      <p:sp>
        <p:nvSpPr>
          <p:cNvPr id="40" name="Text 31"/>
          <p:cNvSpPr/>
          <p:nvPr/>
        </p:nvSpPr>
        <p:spPr>
          <a:xfrm>
            <a:off x="4836616" y="1335732"/>
            <a:ext cx="3907334" cy="513457"/>
          </a:xfrm>
          <a:prstGeom prst="roundRect">
            <a:avLst>
              <a:gd name="adj" fmla="val 13851"/>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41" name="Text 32"/>
          <p:cNvSpPr/>
          <p:nvPr/>
        </p:nvSpPr>
        <p:spPr>
          <a:xfrm>
            <a:off x="4974282" y="1456581"/>
            <a:ext cx="271760" cy="271760"/>
          </a:xfrm>
          <a:prstGeom prst="ellipse">
            <a:avLst/>
          </a:prstGeom>
          <a:solidFill>
            <a:srgbClr val="76B900">
              <a:alpha val="8000"/>
            </a:srgbClr>
          </a:solidFill>
          <a:ln/>
        </p:spPr>
        <p:txBody>
          <a:bodyPr wrap="none" rtlCol="0" anchor="t"/>
          <a:lstStyle/>
          <a:p>
            <a:pPr marL="0" indent="0">
              <a:buNone/>
            </a:pPr>
            <a:endParaRPr lang="en-US" dirty="0"/>
          </a:p>
        </p:txBody>
      </p:sp>
      <p:pic>
        <p:nvPicPr>
          <p:cNvPr id="42"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43869" y="1526167"/>
            <a:ext cx="132588" cy="132588"/>
          </a:xfrm>
          <a:prstGeom prst="rect">
            <a:avLst/>
          </a:prstGeom>
        </p:spPr>
      </p:pic>
      <p:sp>
        <p:nvSpPr>
          <p:cNvPr id="43" name="Text 33"/>
          <p:cNvSpPr/>
          <p:nvPr/>
        </p:nvSpPr>
        <p:spPr>
          <a:xfrm>
            <a:off x="5346353" y="1445568"/>
            <a:ext cx="3585924" cy="150465"/>
          </a:xfrm>
          <a:prstGeom prst="rect">
            <a:avLst/>
          </a:prstGeom>
          <a:noFill/>
          <a:ln/>
        </p:spPr>
        <p:txBody>
          <a:bodyPr wrap="none" lIns="0" tIns="0" rIns="0" bIns="0" rtlCol="0" anchor="t"/>
          <a:lstStyle/>
          <a:p>
            <a:pPr marL="0" indent="0" algn="l">
              <a:lnSpc>
                <a:spcPts val="1185"/>
              </a:lnSpc>
              <a:buNone/>
            </a:pPr>
            <a:r>
              <a:rPr lang="en-US" sz="790" b="1" dirty="0">
                <a:solidFill>
                  <a:srgbClr val="76B900"/>
                </a:solidFill>
                <a:latin typeface="Consolas" pitchFamily="34" charset="0"/>
                <a:ea typeface="Consolas" pitchFamily="34" charset="-122"/>
                <a:cs typeface="Consolas" pitchFamily="34" charset="-120"/>
              </a:rPr>
              <a:t>mergisi/awesome-openclaw-agents</a:t>
            </a:r>
            <a:endParaRPr lang="en-US" sz="790" dirty="0"/>
          </a:p>
        </p:txBody>
      </p:sp>
      <p:sp>
        <p:nvSpPr>
          <p:cNvPr id="44" name="Text 34"/>
          <p:cNvSpPr/>
          <p:nvPr/>
        </p:nvSpPr>
        <p:spPr>
          <a:xfrm>
            <a:off x="5346353" y="1609874"/>
            <a:ext cx="3585924" cy="129480"/>
          </a:xfrm>
          <a:prstGeom prst="rect">
            <a:avLst/>
          </a:prstGeom>
          <a:noFill/>
          <a:ln/>
        </p:spPr>
        <p:txBody>
          <a:bodyPr wrap="none" lIns="0" tIns="0" rIns="0" bIns="0" rtlCol="0" anchor="t"/>
          <a:lstStyle/>
          <a:p>
            <a:pPr marL="0" indent="0" algn="l">
              <a:lnSpc>
                <a:spcPts val="1020"/>
              </a:lnSpc>
              <a:buNone/>
            </a:pPr>
            <a:r>
              <a:rPr lang="en-US" sz="680" dirty="0">
                <a:solidFill>
                  <a:srgbClr val="8B9CB6"/>
                </a:solidFill>
                <a:latin typeface="Calibri" pitchFamily="34" charset="0"/>
                <a:ea typeface="Calibri" pitchFamily="34" charset="-122"/>
                <a:cs typeface="Calibri" pitchFamily="34" charset="-120"/>
              </a:rPr>
              <a:t>Curated list of community-built agents and tools</a:t>
            </a:r>
            <a:endParaRPr lang="en-US" sz="680" dirty="0"/>
          </a:p>
        </p:txBody>
      </p:sp>
      <p:sp>
        <p:nvSpPr>
          <p:cNvPr id="45" name="Text 35"/>
          <p:cNvSpPr/>
          <p:nvPr/>
        </p:nvSpPr>
        <p:spPr>
          <a:xfrm>
            <a:off x="4836616" y="1949500"/>
            <a:ext cx="3907334" cy="513457"/>
          </a:xfrm>
          <a:prstGeom prst="roundRect">
            <a:avLst>
              <a:gd name="adj" fmla="val 13851"/>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46" name="Text 36"/>
          <p:cNvSpPr/>
          <p:nvPr/>
        </p:nvSpPr>
        <p:spPr>
          <a:xfrm>
            <a:off x="4974282" y="2070348"/>
            <a:ext cx="271760" cy="271760"/>
          </a:xfrm>
          <a:prstGeom prst="ellipse">
            <a:avLst/>
          </a:prstGeom>
          <a:solidFill>
            <a:srgbClr val="76B900">
              <a:alpha val="8000"/>
            </a:srgbClr>
          </a:solidFill>
          <a:ln/>
        </p:spPr>
        <p:txBody>
          <a:bodyPr wrap="none" rtlCol="0" anchor="t"/>
          <a:lstStyle/>
          <a:p>
            <a:pPr marL="0" indent="0">
              <a:buNone/>
            </a:pPr>
            <a:endParaRPr lang="en-US" dirty="0"/>
          </a:p>
        </p:txBody>
      </p:sp>
      <p:pic>
        <p:nvPicPr>
          <p:cNvPr id="47"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43869" y="2139934"/>
            <a:ext cx="132588" cy="132588"/>
          </a:xfrm>
          <a:prstGeom prst="rect">
            <a:avLst/>
          </a:prstGeom>
        </p:spPr>
      </p:pic>
      <p:sp>
        <p:nvSpPr>
          <p:cNvPr id="48" name="Text 37"/>
          <p:cNvSpPr/>
          <p:nvPr/>
        </p:nvSpPr>
        <p:spPr>
          <a:xfrm>
            <a:off x="5346353" y="2059335"/>
            <a:ext cx="3585924" cy="150465"/>
          </a:xfrm>
          <a:prstGeom prst="rect">
            <a:avLst/>
          </a:prstGeom>
          <a:noFill/>
          <a:ln/>
        </p:spPr>
        <p:txBody>
          <a:bodyPr wrap="none" lIns="0" tIns="0" rIns="0" bIns="0" rtlCol="0" anchor="t"/>
          <a:lstStyle/>
          <a:p>
            <a:pPr marL="0" indent="0" algn="l">
              <a:lnSpc>
                <a:spcPts val="1185"/>
              </a:lnSpc>
              <a:buNone/>
            </a:pPr>
            <a:r>
              <a:rPr lang="en-US" sz="790" b="1" dirty="0">
                <a:solidFill>
                  <a:srgbClr val="76B900"/>
                </a:solidFill>
                <a:latin typeface="Consolas" pitchFamily="34" charset="0"/>
                <a:ea typeface="Consolas" pitchFamily="34" charset="-122"/>
                <a:cs typeface="Consolas" pitchFamily="34" charset="-120"/>
              </a:rPr>
              <a:t>aaronjmars/soul.md</a:t>
            </a:r>
            <a:endParaRPr lang="en-US" sz="790" dirty="0"/>
          </a:p>
        </p:txBody>
      </p:sp>
      <p:sp>
        <p:nvSpPr>
          <p:cNvPr id="49" name="Text 38"/>
          <p:cNvSpPr/>
          <p:nvPr/>
        </p:nvSpPr>
        <p:spPr>
          <a:xfrm>
            <a:off x="5346353" y="2223641"/>
            <a:ext cx="3585924" cy="129480"/>
          </a:xfrm>
          <a:prstGeom prst="rect">
            <a:avLst/>
          </a:prstGeom>
          <a:noFill/>
          <a:ln/>
        </p:spPr>
        <p:txBody>
          <a:bodyPr wrap="none" lIns="0" tIns="0" rIns="0" bIns="0" rtlCol="0" anchor="t"/>
          <a:lstStyle/>
          <a:p>
            <a:pPr marL="0" indent="0" algn="l">
              <a:lnSpc>
                <a:spcPts val="1020"/>
              </a:lnSpc>
              <a:buNone/>
            </a:pPr>
            <a:r>
              <a:rPr lang="en-US" sz="680" dirty="0">
                <a:solidFill>
                  <a:srgbClr val="8B9CB6"/>
                </a:solidFill>
                <a:latin typeface="Calibri" pitchFamily="34" charset="0"/>
                <a:ea typeface="Calibri" pitchFamily="34" charset="-122"/>
                <a:cs typeface="Calibri" pitchFamily="34" charset="-120"/>
              </a:rPr>
              <a:t>Reference SOUL.md templates and best practices</a:t>
            </a:r>
            <a:endParaRPr lang="en-US" sz="680" dirty="0"/>
          </a:p>
        </p:txBody>
      </p:sp>
      <p:sp>
        <p:nvSpPr>
          <p:cNvPr id="50" name="Text 39"/>
          <p:cNvSpPr/>
          <p:nvPr/>
        </p:nvSpPr>
        <p:spPr>
          <a:xfrm>
            <a:off x="4836616" y="2563267"/>
            <a:ext cx="3907334" cy="513457"/>
          </a:xfrm>
          <a:prstGeom prst="roundRect">
            <a:avLst>
              <a:gd name="adj" fmla="val 13851"/>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51" name="Text 40"/>
          <p:cNvSpPr/>
          <p:nvPr/>
        </p:nvSpPr>
        <p:spPr>
          <a:xfrm>
            <a:off x="4974282" y="2684115"/>
            <a:ext cx="271760" cy="271760"/>
          </a:xfrm>
          <a:prstGeom prst="ellipse">
            <a:avLst/>
          </a:prstGeom>
          <a:solidFill>
            <a:srgbClr val="76B900">
              <a:alpha val="8000"/>
            </a:srgbClr>
          </a:solidFill>
          <a:ln/>
        </p:spPr>
        <p:txBody>
          <a:bodyPr wrap="none" rtlCol="0" anchor="t"/>
          <a:lstStyle/>
          <a:p>
            <a:pPr marL="0" indent="0">
              <a:buNone/>
            </a:pPr>
            <a:endParaRPr lang="en-US" dirty="0"/>
          </a:p>
        </p:txBody>
      </p:sp>
      <p:pic>
        <p:nvPicPr>
          <p:cNvPr id="52"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043869" y="2753701"/>
            <a:ext cx="132588" cy="132588"/>
          </a:xfrm>
          <a:prstGeom prst="rect">
            <a:avLst/>
          </a:prstGeom>
        </p:spPr>
      </p:pic>
      <p:sp>
        <p:nvSpPr>
          <p:cNvPr id="53" name="Text 41"/>
          <p:cNvSpPr/>
          <p:nvPr/>
        </p:nvSpPr>
        <p:spPr>
          <a:xfrm>
            <a:off x="5346353" y="2673102"/>
            <a:ext cx="3585924" cy="150465"/>
          </a:xfrm>
          <a:prstGeom prst="rect">
            <a:avLst/>
          </a:prstGeom>
          <a:noFill/>
          <a:ln/>
        </p:spPr>
        <p:txBody>
          <a:bodyPr wrap="none" lIns="0" tIns="0" rIns="0" bIns="0" rtlCol="0" anchor="t"/>
          <a:lstStyle/>
          <a:p>
            <a:pPr marL="0" indent="0" algn="l">
              <a:lnSpc>
                <a:spcPts val="1185"/>
              </a:lnSpc>
              <a:buNone/>
            </a:pPr>
            <a:r>
              <a:rPr lang="en-US" sz="790" b="1" dirty="0">
                <a:solidFill>
                  <a:srgbClr val="76B900"/>
                </a:solidFill>
                <a:latin typeface="Consolas" pitchFamily="34" charset="0"/>
                <a:ea typeface="Consolas" pitchFamily="34" charset="-122"/>
                <a:cs typeface="Consolas" pitchFamily="34" charset="-120"/>
              </a:rPr>
              <a:t>thedaviddias/souls.directory</a:t>
            </a:r>
            <a:endParaRPr lang="en-US" sz="790" dirty="0"/>
          </a:p>
        </p:txBody>
      </p:sp>
      <p:sp>
        <p:nvSpPr>
          <p:cNvPr id="54" name="Text 42"/>
          <p:cNvSpPr/>
          <p:nvPr/>
        </p:nvSpPr>
        <p:spPr>
          <a:xfrm>
            <a:off x="5346353" y="2837408"/>
            <a:ext cx="3585924" cy="129480"/>
          </a:xfrm>
          <a:prstGeom prst="rect">
            <a:avLst/>
          </a:prstGeom>
          <a:noFill/>
          <a:ln/>
        </p:spPr>
        <p:txBody>
          <a:bodyPr wrap="none" lIns="0" tIns="0" rIns="0" bIns="0" rtlCol="0" anchor="t"/>
          <a:lstStyle/>
          <a:p>
            <a:pPr marL="0" indent="0" algn="l">
              <a:lnSpc>
                <a:spcPts val="1020"/>
              </a:lnSpc>
              <a:buNone/>
            </a:pPr>
            <a:r>
              <a:rPr lang="en-US" sz="680" dirty="0">
                <a:solidFill>
                  <a:srgbClr val="8B9CB6"/>
                </a:solidFill>
                <a:latin typeface="Calibri" pitchFamily="34" charset="0"/>
                <a:ea typeface="Calibri" pitchFamily="34" charset="-122"/>
                <a:cs typeface="Calibri" pitchFamily="34" charset="-120"/>
              </a:rPr>
              <a:t>Searchable directory of public agent souls</a:t>
            </a:r>
            <a:endParaRPr lang="en-US" sz="680" dirty="0"/>
          </a:p>
        </p:txBody>
      </p:sp>
      <p:sp>
        <p:nvSpPr>
          <p:cNvPr id="55" name="Text 43"/>
          <p:cNvSpPr/>
          <p:nvPr/>
        </p:nvSpPr>
        <p:spPr>
          <a:xfrm>
            <a:off x="4836616" y="3177034"/>
            <a:ext cx="3907334" cy="513457"/>
          </a:xfrm>
          <a:prstGeom prst="roundRect">
            <a:avLst>
              <a:gd name="adj" fmla="val 13851"/>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56" name="Text 44"/>
          <p:cNvSpPr/>
          <p:nvPr/>
        </p:nvSpPr>
        <p:spPr>
          <a:xfrm>
            <a:off x="4974282" y="3297882"/>
            <a:ext cx="271760" cy="271760"/>
          </a:xfrm>
          <a:prstGeom prst="ellipse">
            <a:avLst/>
          </a:prstGeom>
          <a:solidFill>
            <a:srgbClr val="76B900">
              <a:alpha val="8000"/>
            </a:srgbClr>
          </a:solidFill>
          <a:ln/>
        </p:spPr>
        <p:txBody>
          <a:bodyPr wrap="none" rtlCol="0" anchor="t"/>
          <a:lstStyle/>
          <a:p>
            <a:pPr marL="0" indent="0">
              <a:buNone/>
            </a:pPr>
            <a:endParaRPr lang="en-US" dirty="0"/>
          </a:p>
        </p:txBody>
      </p:sp>
      <p:pic>
        <p:nvPicPr>
          <p:cNvPr id="57"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043869" y="3367469"/>
            <a:ext cx="132588" cy="132588"/>
          </a:xfrm>
          <a:prstGeom prst="rect">
            <a:avLst/>
          </a:prstGeom>
        </p:spPr>
      </p:pic>
      <p:sp>
        <p:nvSpPr>
          <p:cNvPr id="58" name="Text 45"/>
          <p:cNvSpPr/>
          <p:nvPr/>
        </p:nvSpPr>
        <p:spPr>
          <a:xfrm>
            <a:off x="5346353" y="3286869"/>
            <a:ext cx="3585924" cy="150465"/>
          </a:xfrm>
          <a:prstGeom prst="rect">
            <a:avLst/>
          </a:prstGeom>
          <a:noFill/>
          <a:ln/>
        </p:spPr>
        <p:txBody>
          <a:bodyPr wrap="none" lIns="0" tIns="0" rIns="0" bIns="0" rtlCol="0" anchor="t"/>
          <a:lstStyle/>
          <a:p>
            <a:pPr marL="0" indent="0" algn="l">
              <a:lnSpc>
                <a:spcPts val="1185"/>
              </a:lnSpc>
              <a:buNone/>
            </a:pPr>
            <a:r>
              <a:rPr lang="en-US" sz="790" b="1" dirty="0">
                <a:solidFill>
                  <a:srgbClr val="76B900"/>
                </a:solidFill>
                <a:latin typeface="Consolas" pitchFamily="34" charset="0"/>
                <a:ea typeface="Consolas" pitchFamily="34" charset="-122"/>
                <a:cs typeface="Consolas" pitchFamily="34" charset="-120"/>
              </a:rPr>
              <a:t>clawsouls/clawsouls</a:t>
            </a:r>
            <a:endParaRPr lang="en-US" sz="790" dirty="0"/>
          </a:p>
        </p:txBody>
      </p:sp>
      <p:sp>
        <p:nvSpPr>
          <p:cNvPr id="59" name="Text 46"/>
          <p:cNvSpPr/>
          <p:nvPr/>
        </p:nvSpPr>
        <p:spPr>
          <a:xfrm>
            <a:off x="5346353" y="3451175"/>
            <a:ext cx="3585924" cy="129480"/>
          </a:xfrm>
          <a:prstGeom prst="rect">
            <a:avLst/>
          </a:prstGeom>
          <a:noFill/>
          <a:ln/>
        </p:spPr>
        <p:txBody>
          <a:bodyPr wrap="none" lIns="0" tIns="0" rIns="0" bIns="0" rtlCol="0" anchor="t"/>
          <a:lstStyle/>
          <a:p>
            <a:pPr marL="0" indent="0" algn="l">
              <a:lnSpc>
                <a:spcPts val="1020"/>
              </a:lnSpc>
              <a:buNone/>
            </a:pPr>
            <a:r>
              <a:rPr lang="en-US" sz="680" dirty="0">
                <a:solidFill>
                  <a:srgbClr val="8B9CB6"/>
                </a:solidFill>
                <a:latin typeface="Calibri" pitchFamily="34" charset="0"/>
                <a:ea typeface="Calibri" pitchFamily="34" charset="-122"/>
                <a:cs typeface="Calibri" pitchFamily="34" charset="-120"/>
              </a:rPr>
              <a:t>Official collection of ready-to-use agent souls</a:t>
            </a:r>
            <a:endParaRPr lang="en-US" sz="680" dirty="0"/>
          </a:p>
        </p:txBody>
      </p:sp>
      <p:sp>
        <p:nvSpPr>
          <p:cNvPr id="60" name="Text 47"/>
          <p:cNvSpPr/>
          <p:nvPr/>
        </p:nvSpPr>
        <p:spPr>
          <a:xfrm>
            <a:off x="4836616" y="4766667"/>
            <a:ext cx="43160" cy="43160"/>
          </a:xfrm>
          <a:prstGeom prst="ellipse">
            <a:avLst/>
          </a:prstGeom>
          <a:solidFill>
            <a:srgbClr val="76B900"/>
          </a:solidFill>
          <a:ln/>
          <a:effectLst>
            <a:outerShdw blurRad="57150" dist="50800" dir="16200000" algn="bl" rotWithShape="0">
              <a:srgbClr val="76B900">
                <a:alpha val="50000"/>
              </a:srgbClr>
            </a:outerShdw>
          </a:effectLst>
        </p:spPr>
        <p:txBody>
          <a:bodyPr wrap="none" rtlCol="0" anchor="t"/>
          <a:lstStyle/>
          <a:p>
            <a:pPr marL="0" indent="0">
              <a:buNone/>
            </a:pPr>
            <a:endParaRPr lang="en-US" dirty="0"/>
          </a:p>
        </p:txBody>
      </p:sp>
      <p:sp>
        <p:nvSpPr>
          <p:cNvPr id="62" name="TextBox 61">
            <a:extLst>
              <a:ext uri="{FF2B5EF4-FFF2-40B4-BE49-F238E27FC236}">
                <a16:creationId xmlns:a16="http://schemas.microsoft.com/office/drawing/2014/main" id="{2F6338EA-06AC-0C71-5362-D9ECB8529460}"/>
              </a:ext>
            </a:extLst>
          </p:cNvPr>
          <p:cNvSpPr txBox="1"/>
          <p:nvPr/>
        </p:nvSpPr>
        <p:spPr>
          <a:xfrm>
            <a:off x="4813185" y="3892748"/>
            <a:ext cx="4572000" cy="610424"/>
          </a:xfrm>
          <a:prstGeom prst="rect">
            <a:avLst/>
          </a:prstGeom>
          <a:noFill/>
        </p:spPr>
        <p:txBody>
          <a:bodyPr wrap="square">
            <a:spAutoFit/>
          </a:bodyPr>
          <a:lstStyle/>
          <a:p>
            <a:pPr fontAlgn="t">
              <a:lnSpc>
                <a:spcPts val="2000"/>
              </a:lnSpc>
            </a:pPr>
            <a:r>
              <a:rPr lang="en-US" sz="1800" dirty="0">
                <a:solidFill>
                  <a:schemeClr val="accent6">
                    <a:lumMod val="75000"/>
                  </a:schemeClr>
                </a:solidFill>
                <a:latin typeface="Segoe UI" panose="020B0502040204020203" pitchFamily="34" charset="0"/>
              </a:rPr>
              <a:t>Gary Tan’s – Agent Repository https://github.com/garrytan/gstack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3">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7143750" y="0"/>
            <a:ext cx="1428750" cy="999530"/>
          </a:xfrm>
          <a:prstGeom prst="ellipse">
            <a:avLst/>
          </a:prstGeom>
          <a:gradFill rotWithShape="1">
            <a:gsLst>
              <a:gs pos="0">
                <a:srgbClr val="76B900">
                  <a:alpha val="8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3" name="Text 1"/>
          <p:cNvSpPr/>
          <p:nvPr/>
        </p:nvSpPr>
        <p:spPr>
          <a:xfrm>
            <a:off x="857250" y="4286250"/>
            <a:ext cx="1428750" cy="857250"/>
          </a:xfrm>
          <a:prstGeom prst="ellipse">
            <a:avLst/>
          </a:prstGeom>
          <a:gradFill rotWithShape="1">
            <a:gsLst>
              <a:gs pos="0">
                <a:srgbClr val="76B900">
                  <a:alpha val="8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4" name="Text 2"/>
          <p:cNvSpPr/>
          <p:nvPr/>
        </p:nvSpPr>
        <p:spPr>
          <a:xfrm>
            <a:off x="514350" y="364778"/>
            <a:ext cx="342900" cy="342900"/>
          </a:xfrm>
          <a:prstGeom prst="roundRect">
            <a:avLst>
              <a:gd name="adj" fmla="val 25185"/>
            </a:avLst>
          </a:prstGeom>
          <a:gradFill rotWithShape="1">
            <a:gsLst>
              <a:gs pos="0">
                <a:srgbClr val="76B900"/>
              </a:gs>
              <a:gs pos="100000">
                <a:srgbClr val="5A9400"/>
              </a:gs>
            </a:gsLst>
            <a:lin ang="2700000" scaled="1"/>
          </a:gradFill>
          <a:ln/>
        </p:spPr>
        <p:txBody>
          <a:bodyPr wrap="square" rtlCol="0" anchor="t"/>
          <a:lstStyle/>
          <a:p>
            <a:pPr marL="0" indent="0">
              <a:buNone/>
            </a:pPr>
            <a:endParaRPr lang="en-US"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0493" y="460921"/>
            <a:ext cx="150465" cy="150465"/>
          </a:xfrm>
          <a:prstGeom prst="rect">
            <a:avLst/>
          </a:prstGeom>
        </p:spPr>
      </p:pic>
      <p:sp>
        <p:nvSpPr>
          <p:cNvPr id="6" name="Text 3"/>
          <p:cNvSpPr/>
          <p:nvPr/>
        </p:nvSpPr>
        <p:spPr>
          <a:xfrm>
            <a:off x="971550" y="342900"/>
            <a:ext cx="848782" cy="386655"/>
          </a:xfrm>
          <a:prstGeom prst="rect">
            <a:avLst/>
          </a:prstGeom>
          <a:noFill/>
          <a:ln/>
        </p:spPr>
        <p:txBody>
          <a:bodyPr wrap="none" lIns="0" tIns="0" rIns="0" bIns="0" rtlCol="0" anchor="ctr"/>
          <a:lstStyle/>
          <a:p>
            <a:pPr marL="0" indent="0" algn="l">
              <a:lnSpc>
                <a:spcPts val="3045"/>
              </a:lnSpc>
              <a:buNone/>
            </a:pPr>
            <a:r>
              <a:rPr lang="en-US" sz="2030" kern="0" spc="-30" dirty="0">
                <a:solidFill>
                  <a:srgbClr val="E2E8F0"/>
                </a:solidFill>
                <a:latin typeface="Consolas" pitchFamily="34" charset="0"/>
                <a:ea typeface="Consolas" pitchFamily="34" charset="-122"/>
                <a:cs typeface="Consolas" pitchFamily="34" charset="-120"/>
              </a:rPr>
              <a:t>Ollama</a:t>
            </a:r>
            <a:endParaRPr lang="en-US" sz="2030" dirty="0"/>
          </a:p>
        </p:txBody>
      </p:sp>
      <p:sp>
        <p:nvSpPr>
          <p:cNvPr id="7" name="Text 4"/>
          <p:cNvSpPr/>
          <p:nvPr/>
        </p:nvSpPr>
        <p:spPr>
          <a:xfrm>
            <a:off x="514350" y="800546"/>
            <a:ext cx="1928223" cy="255836"/>
          </a:xfrm>
          <a:prstGeom prst="roundRect">
            <a:avLst>
              <a:gd name="adj" fmla="val 56095"/>
            </a:avLst>
          </a:prstGeom>
          <a:solidFill>
            <a:srgbClr val="76B900">
              <a:alpha val="10000"/>
            </a:srgbClr>
          </a:solidFill>
          <a:ln w="9525">
            <a:solidFill>
              <a:srgbClr val="76B900">
                <a:alpha val="25000"/>
              </a:srgbClr>
            </a:solidFill>
          </a:ln>
        </p:spPr>
        <p:txBody>
          <a:bodyPr wrap="none" lIns="260579" tIns="43180" rIns="128270" bIns="43180" rtlCol="0" anchor="ctr"/>
          <a:lstStyle/>
          <a:p>
            <a:pPr marL="0" indent="0" algn="l">
              <a:buNone/>
            </a:pPr>
            <a:r>
              <a:rPr lang="en-US" sz="790" kern="0" spc="30" dirty="0">
                <a:solidFill>
                  <a:srgbClr val="76B900"/>
                </a:solidFill>
                <a:latin typeface="Consolas" pitchFamily="34" charset="0"/>
                <a:ea typeface="Consolas" pitchFamily="34" charset="-122"/>
                <a:cs typeface="Consolas" pitchFamily="34" charset="-120"/>
              </a:rPr>
              <a:t>YOUR LOCAL LLM MANAGER</a:t>
            </a:r>
            <a:endParaRPr lang="en-US" sz="79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3301" y="862170"/>
            <a:ext cx="132588" cy="132588"/>
          </a:xfrm>
          <a:prstGeom prst="rect">
            <a:avLst/>
          </a:prstGeom>
        </p:spPr>
      </p:pic>
      <p:sp>
        <p:nvSpPr>
          <p:cNvPr id="9" name="Text 5"/>
          <p:cNvSpPr/>
          <p:nvPr/>
        </p:nvSpPr>
        <p:spPr>
          <a:xfrm>
            <a:off x="6589395" y="459581"/>
            <a:ext cx="2040255" cy="503969"/>
          </a:xfrm>
          <a:prstGeom prst="rect">
            <a:avLst/>
          </a:prstGeom>
          <a:noFill/>
          <a:ln/>
        </p:spPr>
        <p:txBody>
          <a:bodyPr wrap="square" lIns="0" tIns="0" rIns="0" bIns="0" rtlCol="0" anchor="ctr"/>
          <a:lstStyle/>
          <a:p>
            <a:pPr marL="0" indent="0" algn="r">
              <a:lnSpc>
                <a:spcPts val="1260"/>
              </a:lnSpc>
              <a:buNone/>
            </a:pPr>
            <a:r>
              <a:rPr lang="en-US" sz="840" dirty="0">
                <a:solidFill>
                  <a:srgbClr val="E2E8F0"/>
                </a:solidFill>
                <a:latin typeface="Calibri" pitchFamily="34" charset="0"/>
                <a:ea typeface="Calibri" pitchFamily="34" charset="-122"/>
                <a:cs typeface="Calibri" pitchFamily="34" charset="-120"/>
              </a:rPr>
              <a:t>The essential tool for downloading, running, and managing local language models</a:t>
            </a:r>
            <a:endParaRPr lang="en-US" sz="840" dirty="0"/>
          </a:p>
        </p:txBody>
      </p:sp>
      <p:sp>
        <p:nvSpPr>
          <p:cNvPr id="10" name="Text 6"/>
          <p:cNvSpPr/>
          <p:nvPr/>
        </p:nvSpPr>
        <p:spPr>
          <a:xfrm>
            <a:off x="514350" y="1142702"/>
            <a:ext cx="8115300" cy="7590"/>
          </a:xfrm>
          <a:prstGeom prst="rect">
            <a:avLst/>
          </a:prstGeom>
          <a:gradFill rotWithShape="1">
            <a:gsLst>
              <a:gs pos="0">
                <a:srgbClr val="76B900"/>
              </a:gs>
              <a:gs pos="50000">
                <a:srgbClr val="76B900">
                  <a:alpha val="10000"/>
                </a:srgbClr>
              </a:gs>
              <a:gs pos="100000">
                <a:srgbClr val="000000">
                  <a:alpha val="0"/>
                </a:srgbClr>
              </a:gs>
            </a:gsLst>
            <a:lin ang="0" scaled="1"/>
          </a:gradFill>
          <a:ln/>
        </p:spPr>
        <p:txBody>
          <a:bodyPr wrap="none" rtlCol="0" anchor="t"/>
          <a:lstStyle/>
          <a:p>
            <a:pPr marL="0" indent="0">
              <a:buNone/>
            </a:pPr>
            <a:endParaRPr lang="en-US" dirty="0"/>
          </a:p>
        </p:txBody>
      </p:sp>
      <p:sp>
        <p:nvSpPr>
          <p:cNvPr id="11" name="Text 7"/>
          <p:cNvSpPr/>
          <p:nvPr/>
        </p:nvSpPr>
        <p:spPr>
          <a:xfrm>
            <a:off x="514350" y="1378893"/>
            <a:ext cx="3985915" cy="1421904"/>
          </a:xfrm>
          <a:prstGeom prst="roundRect">
            <a:avLst>
              <a:gd name="adj" fmla="val 8039"/>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2" name="Text 8"/>
          <p:cNvSpPr/>
          <p:nvPr/>
        </p:nvSpPr>
        <p:spPr>
          <a:xfrm>
            <a:off x="781645" y="1617018"/>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6363" y="1741736"/>
            <a:ext cx="150465" cy="150465"/>
          </a:xfrm>
          <a:prstGeom prst="rect">
            <a:avLst/>
          </a:prstGeom>
        </p:spPr>
      </p:pic>
      <p:sp>
        <p:nvSpPr>
          <p:cNvPr id="14" name="Text 9"/>
          <p:cNvSpPr/>
          <p:nvPr/>
        </p:nvSpPr>
        <p:spPr>
          <a:xfrm>
            <a:off x="1353145" y="1617018"/>
            <a:ext cx="3167807" cy="215205"/>
          </a:xfrm>
          <a:prstGeom prst="rect">
            <a:avLst/>
          </a:prstGeom>
          <a:noFill/>
          <a:ln/>
        </p:spPr>
        <p:txBody>
          <a:bodyPr wrap="none" lIns="0" tIns="0" rIns="0" bIns="0" rtlCol="0" anchor="t"/>
          <a:lstStyle/>
          <a:p>
            <a:pPr marL="0" indent="0" algn="l">
              <a:lnSpc>
                <a:spcPts val="1695"/>
              </a:lnSpc>
              <a:spcAft>
                <a:spcPts val="450"/>
              </a:spcAft>
              <a:buNone/>
            </a:pPr>
            <a:r>
              <a:rPr lang="en-US" sz="1130" kern="0" spc="20" dirty="0">
                <a:solidFill>
                  <a:srgbClr val="E2E8F0"/>
                </a:solidFill>
                <a:latin typeface="Consolas" pitchFamily="34" charset="0"/>
                <a:ea typeface="Consolas" pitchFamily="34" charset="-122"/>
                <a:cs typeface="Consolas" pitchFamily="34" charset="-120"/>
              </a:rPr>
              <a:t>One-Command Download &amp; Run</a:t>
            </a:r>
            <a:endParaRPr lang="en-US" sz="1130" dirty="0"/>
          </a:p>
        </p:txBody>
      </p:sp>
      <p:sp>
        <p:nvSpPr>
          <p:cNvPr id="15" name="Text 10"/>
          <p:cNvSpPr/>
          <p:nvPr/>
        </p:nvSpPr>
        <p:spPr>
          <a:xfrm>
            <a:off x="1353145" y="1889373"/>
            <a:ext cx="2937421" cy="347231"/>
          </a:xfrm>
          <a:prstGeom prst="rect">
            <a:avLst/>
          </a:prstGeom>
          <a:noFill/>
          <a:ln/>
        </p:spPr>
        <p:txBody>
          <a:bodyPr wrap="square" lIns="0" tIns="0" rIns="0" bIns="0" rtlCol="0" anchor="t"/>
          <a:lstStyle/>
          <a:p>
            <a:pPr marL="0" indent="0" algn="l">
              <a:lnSpc>
                <a:spcPts val="1302"/>
              </a:lnSpc>
              <a:buNone/>
            </a:pPr>
            <a:r>
              <a:rPr lang="en-US" sz="840" dirty="0">
                <a:solidFill>
                  <a:srgbClr val="8B9CB6"/>
                </a:solidFill>
                <a:latin typeface="Calibri" pitchFamily="34" charset="0"/>
                <a:ea typeface="Calibri" pitchFamily="34" charset="-122"/>
                <a:cs typeface="Calibri" pitchFamily="34" charset="-120"/>
              </a:rPr>
              <a:t>Pull any model from the Ollama library and start inferencing instantly. A single </a:t>
            </a:r>
            <a:r>
              <a:rPr lang="en-US" sz="790" dirty="0">
                <a:solidFill>
                  <a:srgbClr val="76B900"/>
                </a:solidFill>
                <a:highlight>
                  <a:srgbClr val="76B900">
                    <a:alpha val="8000"/>
                  </a:srgbClr>
                </a:highlight>
                <a:latin typeface="Consolas" pitchFamily="34" charset="0"/>
                <a:ea typeface="Consolas" pitchFamily="34" charset="-122"/>
                <a:cs typeface="Consolas" pitchFamily="34" charset="-120"/>
              </a:rPr>
              <a:t>ollama run</a:t>
            </a:r>
            <a:r>
              <a:rPr lang="en-US" sz="840" dirty="0">
                <a:solidFill>
                  <a:srgbClr val="8B9CB6"/>
                </a:solidFill>
                <a:latin typeface="Calibri" pitchFamily="34" charset="0"/>
                <a:ea typeface="Calibri" pitchFamily="34" charset="-122"/>
                <a:cs typeface="Calibri" pitchFamily="34" charset="-120"/>
              </a:rPr>
              <a:t> command is all it takes.</a:t>
            </a:r>
            <a:endParaRPr lang="en-US" sz="840" dirty="0"/>
          </a:p>
        </p:txBody>
      </p:sp>
      <p:sp>
        <p:nvSpPr>
          <p:cNvPr id="16" name="Text 11"/>
          <p:cNvSpPr/>
          <p:nvPr/>
        </p:nvSpPr>
        <p:spPr>
          <a:xfrm>
            <a:off x="4643735" y="1378893"/>
            <a:ext cx="3985915" cy="1421904"/>
          </a:xfrm>
          <a:prstGeom prst="roundRect">
            <a:avLst>
              <a:gd name="adj" fmla="val 8039"/>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7" name="Text 12"/>
          <p:cNvSpPr/>
          <p:nvPr/>
        </p:nvSpPr>
        <p:spPr>
          <a:xfrm>
            <a:off x="4911030" y="1617018"/>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35748" y="1741736"/>
            <a:ext cx="150465" cy="150465"/>
          </a:xfrm>
          <a:prstGeom prst="rect">
            <a:avLst/>
          </a:prstGeom>
        </p:spPr>
      </p:pic>
      <p:sp>
        <p:nvSpPr>
          <p:cNvPr id="19" name="Text 13"/>
          <p:cNvSpPr/>
          <p:nvPr/>
        </p:nvSpPr>
        <p:spPr>
          <a:xfrm>
            <a:off x="5482530" y="1617018"/>
            <a:ext cx="3167807" cy="215205"/>
          </a:xfrm>
          <a:prstGeom prst="rect">
            <a:avLst/>
          </a:prstGeom>
          <a:noFill/>
          <a:ln/>
        </p:spPr>
        <p:txBody>
          <a:bodyPr wrap="none" lIns="0" tIns="0" rIns="0" bIns="0" rtlCol="0" anchor="t"/>
          <a:lstStyle/>
          <a:p>
            <a:pPr marL="0" indent="0" algn="l">
              <a:lnSpc>
                <a:spcPts val="1695"/>
              </a:lnSpc>
              <a:spcAft>
                <a:spcPts val="450"/>
              </a:spcAft>
              <a:buNone/>
            </a:pPr>
            <a:r>
              <a:rPr lang="en-US" sz="1130" kern="0" spc="20" dirty="0">
                <a:solidFill>
                  <a:srgbClr val="E2E8F0"/>
                </a:solidFill>
                <a:latin typeface="Consolas" pitchFamily="34" charset="0"/>
                <a:ea typeface="Consolas" pitchFamily="34" charset="-122"/>
                <a:cs typeface="Consolas" pitchFamily="34" charset="-120"/>
              </a:rPr>
              <a:t>Automatic GPU Acceleration</a:t>
            </a:r>
            <a:endParaRPr lang="en-US" sz="1130" dirty="0"/>
          </a:p>
        </p:txBody>
      </p:sp>
      <p:sp>
        <p:nvSpPr>
          <p:cNvPr id="20" name="Text 14"/>
          <p:cNvSpPr/>
          <p:nvPr/>
        </p:nvSpPr>
        <p:spPr>
          <a:xfrm>
            <a:off x="5482530" y="1889373"/>
            <a:ext cx="2937421" cy="520846"/>
          </a:xfrm>
          <a:prstGeom prst="rect">
            <a:avLst/>
          </a:prstGeom>
          <a:noFill/>
          <a:ln/>
        </p:spPr>
        <p:txBody>
          <a:bodyPr wrap="square" lIns="0" tIns="0" rIns="0" bIns="0" rtlCol="0" anchor="t"/>
          <a:lstStyle/>
          <a:p>
            <a:pPr marL="0" indent="0" algn="l">
              <a:lnSpc>
                <a:spcPts val="1302"/>
              </a:lnSpc>
              <a:buNone/>
            </a:pPr>
            <a:r>
              <a:rPr lang="en-US" sz="840" dirty="0">
                <a:solidFill>
                  <a:srgbClr val="8B9CB6"/>
                </a:solidFill>
                <a:latin typeface="Calibri" pitchFamily="34" charset="0"/>
                <a:ea typeface="Calibri" pitchFamily="34" charset="-122"/>
                <a:cs typeface="Calibri" pitchFamily="34" charset="-120"/>
              </a:rPr>
              <a:t>Detects your NVIDIA, AMD, or Apple Silicon GPU and offloads layers automatically. Zero manual configuration needed for blazing-fast inference.</a:t>
            </a:r>
            <a:endParaRPr lang="en-US" sz="840" dirty="0"/>
          </a:p>
        </p:txBody>
      </p:sp>
      <p:sp>
        <p:nvSpPr>
          <p:cNvPr id="21" name="Text 15"/>
          <p:cNvSpPr/>
          <p:nvPr/>
        </p:nvSpPr>
        <p:spPr>
          <a:xfrm>
            <a:off x="514350" y="2944267"/>
            <a:ext cx="3985915" cy="1422053"/>
          </a:xfrm>
          <a:prstGeom prst="roundRect">
            <a:avLst>
              <a:gd name="adj" fmla="val 8038"/>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2" name="Text 16"/>
          <p:cNvSpPr/>
          <p:nvPr/>
        </p:nvSpPr>
        <p:spPr>
          <a:xfrm>
            <a:off x="781645" y="3182392"/>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6363" y="3307110"/>
            <a:ext cx="150465" cy="150465"/>
          </a:xfrm>
          <a:prstGeom prst="rect">
            <a:avLst/>
          </a:prstGeom>
        </p:spPr>
      </p:pic>
      <p:sp>
        <p:nvSpPr>
          <p:cNvPr id="24" name="Text 17"/>
          <p:cNvSpPr/>
          <p:nvPr/>
        </p:nvSpPr>
        <p:spPr>
          <a:xfrm>
            <a:off x="1353145" y="3182392"/>
            <a:ext cx="3167807" cy="215205"/>
          </a:xfrm>
          <a:prstGeom prst="rect">
            <a:avLst/>
          </a:prstGeom>
          <a:noFill/>
          <a:ln/>
        </p:spPr>
        <p:txBody>
          <a:bodyPr wrap="none" lIns="0" tIns="0" rIns="0" bIns="0" rtlCol="0" anchor="t"/>
          <a:lstStyle/>
          <a:p>
            <a:pPr marL="0" indent="0" algn="l">
              <a:lnSpc>
                <a:spcPts val="1695"/>
              </a:lnSpc>
              <a:spcAft>
                <a:spcPts val="450"/>
              </a:spcAft>
              <a:buNone/>
            </a:pPr>
            <a:r>
              <a:rPr lang="en-US" sz="1130" kern="0" spc="20" dirty="0">
                <a:solidFill>
                  <a:srgbClr val="E2E8F0"/>
                </a:solidFill>
                <a:latin typeface="Consolas" pitchFamily="34" charset="0"/>
                <a:ea typeface="Consolas" pitchFamily="34" charset="-122"/>
                <a:cs typeface="Consolas" pitchFamily="34" charset="-120"/>
              </a:rPr>
              <a:t>OpenAI-Compatible API</a:t>
            </a:r>
            <a:endParaRPr lang="en-US" sz="1130" dirty="0"/>
          </a:p>
        </p:txBody>
      </p:sp>
      <p:sp>
        <p:nvSpPr>
          <p:cNvPr id="25" name="Text 18"/>
          <p:cNvSpPr/>
          <p:nvPr/>
        </p:nvSpPr>
        <p:spPr>
          <a:xfrm>
            <a:off x="1353145" y="3454747"/>
            <a:ext cx="2937421" cy="520846"/>
          </a:xfrm>
          <a:prstGeom prst="rect">
            <a:avLst/>
          </a:prstGeom>
          <a:noFill/>
          <a:ln/>
        </p:spPr>
        <p:txBody>
          <a:bodyPr wrap="square" lIns="0" tIns="0" rIns="0" bIns="0" rtlCol="0" anchor="t"/>
          <a:lstStyle/>
          <a:p>
            <a:pPr marL="0" indent="0" algn="l">
              <a:lnSpc>
                <a:spcPts val="1302"/>
              </a:lnSpc>
              <a:buNone/>
            </a:pPr>
            <a:r>
              <a:rPr lang="en-US" sz="840" dirty="0">
                <a:solidFill>
                  <a:srgbClr val="8B9CB6"/>
                </a:solidFill>
                <a:latin typeface="Calibri" pitchFamily="34" charset="0"/>
                <a:ea typeface="Calibri" pitchFamily="34" charset="-122"/>
                <a:cs typeface="Calibri" pitchFamily="34" charset="-120"/>
              </a:rPr>
              <a:t>Exposes a local REST API at </a:t>
            </a:r>
            <a:r>
              <a:rPr lang="en-US" sz="790" dirty="0">
                <a:solidFill>
                  <a:srgbClr val="76B900"/>
                </a:solidFill>
                <a:highlight>
                  <a:srgbClr val="76B900">
                    <a:alpha val="8000"/>
                  </a:srgbClr>
                </a:highlight>
                <a:latin typeface="Consolas" pitchFamily="34" charset="0"/>
                <a:ea typeface="Consolas" pitchFamily="34" charset="-122"/>
                <a:cs typeface="Consolas" pitchFamily="34" charset="-120"/>
              </a:rPr>
              <a:t>localhost:11434</a:t>
            </a:r>
            <a:r>
              <a:rPr lang="en-US" sz="840" dirty="0">
                <a:solidFill>
                  <a:srgbClr val="8B9CB6"/>
                </a:solidFill>
                <a:latin typeface="Calibri" pitchFamily="34" charset="0"/>
                <a:ea typeface="Calibri" pitchFamily="34" charset="-122"/>
                <a:cs typeface="Calibri" pitchFamily="34" charset="-120"/>
              </a:rPr>
              <a:t> that's drop-in compatible with OpenAI clients, SDKs, and agent frameworks.</a:t>
            </a:r>
            <a:endParaRPr lang="en-US" sz="840" dirty="0"/>
          </a:p>
        </p:txBody>
      </p:sp>
      <p:sp>
        <p:nvSpPr>
          <p:cNvPr id="26" name="Text 19"/>
          <p:cNvSpPr/>
          <p:nvPr/>
        </p:nvSpPr>
        <p:spPr>
          <a:xfrm>
            <a:off x="4643735" y="2944267"/>
            <a:ext cx="3985915" cy="1422053"/>
          </a:xfrm>
          <a:prstGeom prst="roundRect">
            <a:avLst>
              <a:gd name="adj" fmla="val 8038"/>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7" name="Text 20"/>
          <p:cNvSpPr/>
          <p:nvPr/>
        </p:nvSpPr>
        <p:spPr>
          <a:xfrm>
            <a:off x="4911030" y="3182392"/>
            <a:ext cx="400050" cy="400050"/>
          </a:xfrm>
          <a:prstGeom prst="roundRect">
            <a:avLst>
              <a:gd name="adj" fmla="val 25079"/>
            </a:avLst>
          </a:prstGeom>
          <a:solidFill>
            <a:srgbClr val="76B900">
              <a:alpha val="12000"/>
            </a:srgbClr>
          </a:solidFill>
          <a:ln/>
        </p:spPr>
        <p:txBody>
          <a:bodyPr wrap="square" rtlCol="0" anchor="t"/>
          <a:lstStyle/>
          <a:p>
            <a:pPr marL="0" indent="0">
              <a:buNone/>
            </a:pPr>
            <a:endParaRPr lang="en-US" dirty="0"/>
          </a:p>
        </p:txBody>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35748" y="3307110"/>
            <a:ext cx="150465" cy="150465"/>
          </a:xfrm>
          <a:prstGeom prst="rect">
            <a:avLst/>
          </a:prstGeom>
        </p:spPr>
      </p:pic>
      <p:sp>
        <p:nvSpPr>
          <p:cNvPr id="29" name="Text 21"/>
          <p:cNvSpPr/>
          <p:nvPr/>
        </p:nvSpPr>
        <p:spPr>
          <a:xfrm>
            <a:off x="5482530" y="3182392"/>
            <a:ext cx="3167807" cy="215205"/>
          </a:xfrm>
          <a:prstGeom prst="rect">
            <a:avLst/>
          </a:prstGeom>
          <a:noFill/>
          <a:ln/>
        </p:spPr>
        <p:txBody>
          <a:bodyPr wrap="none" lIns="0" tIns="0" rIns="0" bIns="0" rtlCol="0" anchor="t"/>
          <a:lstStyle/>
          <a:p>
            <a:pPr marL="0" indent="0" algn="l">
              <a:lnSpc>
                <a:spcPts val="1695"/>
              </a:lnSpc>
              <a:spcAft>
                <a:spcPts val="450"/>
              </a:spcAft>
              <a:buNone/>
            </a:pPr>
            <a:r>
              <a:rPr lang="en-US" sz="1130" kern="0" spc="20" dirty="0">
                <a:solidFill>
                  <a:srgbClr val="E2E8F0"/>
                </a:solidFill>
                <a:latin typeface="Consolas" pitchFamily="34" charset="0"/>
                <a:ea typeface="Consolas" pitchFamily="34" charset="-122"/>
                <a:cs typeface="Consolas" pitchFamily="34" charset="-120"/>
              </a:rPr>
              <a:t>Supports Custom Modelfiles</a:t>
            </a:r>
            <a:endParaRPr lang="en-US" sz="1130" dirty="0"/>
          </a:p>
        </p:txBody>
      </p:sp>
      <p:sp>
        <p:nvSpPr>
          <p:cNvPr id="30" name="Text 22"/>
          <p:cNvSpPr/>
          <p:nvPr/>
        </p:nvSpPr>
        <p:spPr>
          <a:xfrm>
            <a:off x="5482530" y="3454747"/>
            <a:ext cx="2937421" cy="520846"/>
          </a:xfrm>
          <a:prstGeom prst="rect">
            <a:avLst/>
          </a:prstGeom>
          <a:noFill/>
          <a:ln/>
        </p:spPr>
        <p:txBody>
          <a:bodyPr wrap="square" lIns="0" tIns="0" rIns="0" bIns="0" rtlCol="0" anchor="t"/>
          <a:lstStyle/>
          <a:p>
            <a:pPr marL="0" indent="0" algn="l">
              <a:lnSpc>
                <a:spcPts val="1302"/>
              </a:lnSpc>
              <a:buNone/>
            </a:pPr>
            <a:r>
              <a:rPr lang="en-US" sz="840" dirty="0">
                <a:solidFill>
                  <a:srgbClr val="8B9CB6"/>
                </a:solidFill>
                <a:latin typeface="Calibri" pitchFamily="34" charset="0"/>
                <a:ea typeface="Calibri" pitchFamily="34" charset="-122"/>
                <a:cs typeface="Calibri" pitchFamily="34" charset="-120"/>
              </a:rPr>
              <a:t>Define system prompts, temperature, context length, and stop tokens in a declarative </a:t>
            </a:r>
            <a:r>
              <a:rPr lang="en-US" sz="790" dirty="0">
                <a:solidFill>
                  <a:srgbClr val="76B900"/>
                </a:solidFill>
                <a:highlight>
                  <a:srgbClr val="76B900">
                    <a:alpha val="8000"/>
                  </a:srgbClr>
                </a:highlight>
                <a:latin typeface="Consolas" pitchFamily="34" charset="0"/>
                <a:ea typeface="Consolas" pitchFamily="34" charset="-122"/>
                <a:cs typeface="Consolas" pitchFamily="34" charset="-120"/>
              </a:rPr>
              <a:t>Modelfile</a:t>
            </a:r>
            <a:r>
              <a:rPr lang="en-US" sz="840" dirty="0">
                <a:solidFill>
                  <a:srgbClr val="8B9CB6"/>
                </a:solidFill>
                <a:latin typeface="Calibri" pitchFamily="34" charset="0"/>
                <a:ea typeface="Calibri" pitchFamily="34" charset="-122"/>
                <a:cs typeface="Calibri" pitchFamily="34" charset="-120"/>
              </a:rPr>
              <a:t> — then build reusable custom models.</a:t>
            </a:r>
            <a:endParaRPr lang="en-US" sz="840" dirty="0"/>
          </a:p>
        </p:txBody>
      </p:sp>
      <p:sp>
        <p:nvSpPr>
          <p:cNvPr id="31" name="Text 23"/>
          <p:cNvSpPr/>
          <p:nvPr/>
        </p:nvSpPr>
        <p:spPr>
          <a:xfrm>
            <a:off x="514350" y="4537770"/>
            <a:ext cx="8115300" cy="9525"/>
          </a:xfrm>
          <a:prstGeom prst="rect">
            <a:avLst/>
          </a:prstGeom>
          <a:solidFill>
            <a:srgbClr val="8B9CB6">
              <a:alpha val="12000"/>
            </a:srgbClr>
          </a:solidFill>
          <a:ln/>
        </p:spPr>
        <p:txBody>
          <a:bodyPr wrap="none" rtlCol="0" anchor="t"/>
          <a:lstStyle/>
          <a:p>
            <a:pPr marL="0" indent="0">
              <a:buNone/>
            </a:pPr>
            <a:endParaRPr lang="en-US" dirty="0"/>
          </a:p>
        </p:txBody>
      </p:sp>
      <p:sp>
        <p:nvSpPr>
          <p:cNvPr id="32" name="Text 24"/>
          <p:cNvSpPr/>
          <p:nvPr/>
        </p:nvSpPr>
        <p:spPr>
          <a:xfrm>
            <a:off x="514350" y="4661595"/>
            <a:ext cx="477872"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onsolas" pitchFamily="34" charset="0"/>
                <a:ea typeface="Consolas" pitchFamily="34" charset="-122"/>
                <a:cs typeface="Consolas" pitchFamily="34" charset="-120"/>
              </a:rPr>
              <a:t>ollama.com</a:t>
            </a:r>
            <a:endParaRPr lang="en-US" sz="730" dirty="0"/>
          </a:p>
        </p:txBody>
      </p:sp>
      <p:sp>
        <p:nvSpPr>
          <p:cNvPr id="33" name="Text 25"/>
          <p:cNvSpPr/>
          <p:nvPr/>
        </p:nvSpPr>
        <p:spPr>
          <a:xfrm>
            <a:off x="5957888" y="4702522"/>
            <a:ext cx="57150" cy="57150"/>
          </a:xfrm>
          <a:prstGeom prst="ellipse">
            <a:avLst/>
          </a:prstGeom>
          <a:solidFill>
            <a:srgbClr val="76B900"/>
          </a:solidFill>
          <a:ln/>
          <a:effectLst>
            <a:outerShdw blurRad="57150" dist="50800" dir="16200000" algn="bl" rotWithShape="0">
              <a:srgbClr val="76B900">
                <a:alpha val="40000"/>
              </a:srgbClr>
            </a:outerShdw>
          </a:effectLst>
        </p:spPr>
        <p:txBody>
          <a:bodyPr wrap="none" rtlCol="0" anchor="t"/>
          <a:lstStyle/>
          <a:p>
            <a:pPr marL="0" indent="0">
              <a:buNone/>
            </a:pPr>
            <a:endParaRPr lang="en-US" dirty="0"/>
          </a:p>
        </p:txBody>
      </p:sp>
      <p:sp>
        <p:nvSpPr>
          <p:cNvPr id="34" name="Text 26"/>
          <p:cNvSpPr/>
          <p:nvPr/>
        </p:nvSpPr>
        <p:spPr>
          <a:xfrm>
            <a:off x="6072188" y="4661595"/>
            <a:ext cx="667777"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Cross-platform</a:t>
            </a:r>
            <a:endParaRPr lang="en-US" sz="730" dirty="0"/>
          </a:p>
        </p:txBody>
      </p:sp>
      <p:sp>
        <p:nvSpPr>
          <p:cNvPr id="35" name="Text 27"/>
          <p:cNvSpPr/>
          <p:nvPr/>
        </p:nvSpPr>
        <p:spPr>
          <a:xfrm>
            <a:off x="6850707" y="4702522"/>
            <a:ext cx="57150" cy="57150"/>
          </a:xfrm>
          <a:prstGeom prst="ellipse">
            <a:avLst/>
          </a:prstGeom>
          <a:solidFill>
            <a:srgbClr val="76B900"/>
          </a:solidFill>
          <a:ln/>
          <a:effectLst>
            <a:outerShdw blurRad="57150" dist="50800" dir="16200000" algn="bl" rotWithShape="0">
              <a:srgbClr val="76B900">
                <a:alpha val="40000"/>
              </a:srgbClr>
            </a:outerShdw>
          </a:effectLst>
        </p:spPr>
        <p:txBody>
          <a:bodyPr wrap="none" rtlCol="0" anchor="t"/>
          <a:lstStyle/>
          <a:p>
            <a:pPr marL="0" indent="0">
              <a:buNone/>
            </a:pPr>
            <a:endParaRPr lang="en-US" dirty="0"/>
          </a:p>
        </p:txBody>
      </p:sp>
      <p:sp>
        <p:nvSpPr>
          <p:cNvPr id="36" name="Text 28"/>
          <p:cNvSpPr/>
          <p:nvPr/>
        </p:nvSpPr>
        <p:spPr>
          <a:xfrm>
            <a:off x="6965007" y="4661595"/>
            <a:ext cx="871597"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Open Source (MIT)</a:t>
            </a:r>
            <a:endParaRPr lang="en-US" sz="730" dirty="0"/>
          </a:p>
        </p:txBody>
      </p:sp>
      <p:sp>
        <p:nvSpPr>
          <p:cNvPr id="37" name="Text 29"/>
          <p:cNvSpPr/>
          <p:nvPr/>
        </p:nvSpPr>
        <p:spPr>
          <a:xfrm>
            <a:off x="7928818" y="4702522"/>
            <a:ext cx="57150" cy="57150"/>
          </a:xfrm>
          <a:prstGeom prst="ellipse">
            <a:avLst/>
          </a:prstGeom>
          <a:solidFill>
            <a:srgbClr val="76B900"/>
          </a:solidFill>
          <a:ln/>
          <a:effectLst>
            <a:outerShdw blurRad="57150" dist="50800" dir="16200000" algn="bl" rotWithShape="0">
              <a:srgbClr val="76B900">
                <a:alpha val="40000"/>
              </a:srgbClr>
            </a:outerShdw>
          </a:effectLst>
        </p:spPr>
        <p:txBody>
          <a:bodyPr wrap="none" rtlCol="0" anchor="t"/>
          <a:lstStyle/>
          <a:p>
            <a:pPr marL="0" indent="0">
              <a:buNone/>
            </a:pPr>
            <a:endParaRPr lang="en-US" dirty="0"/>
          </a:p>
        </p:txBody>
      </p:sp>
      <p:sp>
        <p:nvSpPr>
          <p:cNvPr id="38" name="Text 30"/>
          <p:cNvSpPr/>
          <p:nvPr/>
        </p:nvSpPr>
        <p:spPr>
          <a:xfrm>
            <a:off x="8043118" y="4661595"/>
            <a:ext cx="645185" cy="139005"/>
          </a:xfrm>
          <a:prstGeom prst="rect">
            <a:avLst/>
          </a:prstGeom>
          <a:noFill/>
          <a:ln/>
        </p:spPr>
        <p:txBody>
          <a:bodyPr wrap="none" lIns="0" tIns="0" rIns="0" bIns="0" rtlCol="0" anchor="ctr"/>
          <a:lstStyle/>
          <a:p>
            <a:pPr marL="0" indent="0" algn="l">
              <a:lnSpc>
                <a:spcPts val="1095"/>
              </a:lnSpc>
              <a:buNone/>
            </a:pPr>
            <a:r>
              <a:rPr lang="en-US" sz="730" dirty="0">
                <a:solidFill>
                  <a:srgbClr val="8B9CB6"/>
                </a:solidFill>
                <a:latin typeface="Calibri" pitchFamily="34" charset="0"/>
                <a:ea typeface="Calibri" pitchFamily="34" charset="-122"/>
                <a:cs typeface="Calibri" pitchFamily="34" charset="-120"/>
              </a:rPr>
              <a:t>Docker Ready</a:t>
            </a:r>
            <a:endParaRPr lang="en-US" sz="730" dirty="0"/>
          </a:p>
        </p:txBody>
      </p:sp>
      <p:sp>
        <p:nvSpPr>
          <p:cNvPr id="39" name="Text 31"/>
          <p:cNvSpPr/>
          <p:nvPr/>
        </p:nvSpPr>
        <p:spPr>
          <a:xfrm>
            <a:off x="523875" y="1388418"/>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40" name="Text 32"/>
          <p:cNvSpPr/>
          <p:nvPr/>
        </p:nvSpPr>
        <p:spPr>
          <a:xfrm>
            <a:off x="4653260" y="1388418"/>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41" name="Text 33"/>
          <p:cNvSpPr/>
          <p:nvPr/>
        </p:nvSpPr>
        <p:spPr>
          <a:xfrm>
            <a:off x="523875" y="2953792"/>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42" name="Text 34"/>
          <p:cNvSpPr/>
          <p:nvPr/>
        </p:nvSpPr>
        <p:spPr>
          <a:xfrm>
            <a:off x="4653260" y="2953792"/>
            <a:ext cx="3966867" cy="21580"/>
          </a:xfrm>
          <a:custGeom>
            <a:avLst/>
            <a:gdLst/>
            <a:ahLst/>
            <a:cxnLst/>
            <a:rect l="l" t="t" r="r" b="b"/>
            <a:pathLst>
              <a:path w="3966867" h="21580">
                <a:moveTo>
                  <a:pt x="114300" y="0"/>
                </a:moveTo>
                <a:lnTo>
                  <a:pt x="3852567" y="0"/>
                </a:lnTo>
                <a:lnTo>
                  <a:pt x="3877253" y="2698"/>
                </a:lnTo>
                <a:lnTo>
                  <a:pt x="3887269" y="5395"/>
                </a:lnTo>
                <a:lnTo>
                  <a:pt x="3894810" y="8093"/>
                </a:lnTo>
                <a:lnTo>
                  <a:pt x="3901046" y="10790"/>
                </a:lnTo>
                <a:lnTo>
                  <a:pt x="3906431" y="13488"/>
                </a:lnTo>
                <a:lnTo>
                  <a:pt x="3911201" y="16185"/>
                </a:lnTo>
                <a:lnTo>
                  <a:pt x="3915496" y="18883"/>
                </a:lnTo>
                <a:lnTo>
                  <a:pt x="3919407" y="21580"/>
                </a:lnTo>
                <a:lnTo>
                  <a:pt x="47461" y="21580"/>
                </a:lnTo>
                <a:lnTo>
                  <a:pt x="51372" y="18883"/>
                </a:lnTo>
                <a:lnTo>
                  <a:pt x="55666" y="16185"/>
                </a:lnTo>
                <a:lnTo>
                  <a:pt x="60436" y="13488"/>
                </a:lnTo>
                <a:lnTo>
                  <a:pt x="65821" y="10790"/>
                </a:lnTo>
                <a:lnTo>
                  <a:pt x="72057" y="8093"/>
                </a:lnTo>
                <a:lnTo>
                  <a:pt x="79599" y="5395"/>
                </a:lnTo>
                <a:lnTo>
                  <a:pt x="89615" y="2698"/>
                </a:lnTo>
                <a:close/>
              </a:path>
            </a:pathLst>
          </a:custGeom>
          <a:gradFill rotWithShape="1">
            <a:gsLst>
              <a:gs pos="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Mercury Agent">
    <p:bg>
      <p:bgPr>
        <a:solidFill>
          <a:srgbClr val="0A0F1A"/>
        </a:solidFill>
        <a:effectLst/>
      </p:bgPr>
    </p:bg>
    <p:spTree>
      <p:nvGrpSpPr>
        <p:cNvPr id="1" name=""/>
        <p:cNvGrpSpPr/>
        <p:nvPr/>
      </p:nvGrpSpPr>
      <p:grpSpPr>
        <a:xfrm>
          <a:off x="0" y="0"/>
          <a:ext cx="0" cy="0"/>
          <a:chOff x="0" y="0"/>
          <a:chExt cx="0" cy="0"/>
        </a:xfrm>
      </p:grpSpPr>
      <p:sp>
        <p:nvSpPr>
          <p:cNvPr id="2" name="TopGrad"/>
          <p:cNvSpPr/>
          <p:nvPr/>
        </p:nvSpPr>
        <p:spPr>
          <a:xfrm>
            <a:off x="0" y="0"/>
            <a:ext cx="9144000" cy="342900"/>
          </a:xfrm>
          <a:prstGeom prst="rect">
            <a:avLst/>
          </a:prstGeom>
          <a:gradFill rotWithShape="1">
            <a:gsLst>
              <a:gs pos="0">
                <a:srgbClr val="C084FC">
                  <a:alpha val="8000"/>
                </a:srgbClr>
              </a:gs>
              <a:gs pos="100000">
                <a:srgbClr val="000000">
                  <a:alpha val="0"/>
                </a:srgbClr>
              </a:gs>
            </a:gsLst>
            <a:lin ang="5400000" scaled="1"/>
          </a:gradFill>
          <a:ln/>
        </p:spPr>
        <p:txBody>
          <a:bodyPr wrap="none" rtlCol="0" anchor="t"/>
          <a:lstStyle/>
          <a:p>
            <a:pPr marL="0" indent="0">
              <a:buNone/>
            </a:pPr>
            <a:endParaRPr lang="en-US"/>
          </a:p>
        </p:txBody>
      </p:sp>
      <p:sp>
        <p:nvSpPr>
          <p:cNvPr id="8" name="Category"/>
          <p:cNvSpPr/>
          <p:nvPr/>
        </p:nvSpPr>
        <p:spPr>
          <a:xfrm>
            <a:off x="342900" y="400050"/>
            <a:ext cx="8801100" cy="139005"/>
          </a:xfrm>
          <a:prstGeom prst="rect">
            <a:avLst/>
          </a:prstGeom>
          <a:noFill/>
          <a:ln/>
        </p:spPr>
        <p:txBody>
          <a:bodyPr wrap="none" lIns="0" tIns="0" rIns="0" bIns="0" rtlCol="0" anchor="t"/>
          <a:lstStyle/>
          <a:p>
            <a:pPr marL="0" indent="0" algn="l">
              <a:lnSpc>
                <a:spcPts val="1095"/>
              </a:lnSpc>
              <a:buNone/>
            </a:pPr>
            <a:r>
              <a:rPr lang="en-US" sz="730" kern="0" spc="170">
                <a:solidFill>
                  <a:srgbClr val="C084FC"/>
                </a:solidFill>
                <a:latin typeface="Consolas" pitchFamily="34" charset="0"/>
                <a:ea typeface="Consolas" pitchFamily="34" charset="-122"/>
                <a:cs typeface="Consolas" pitchFamily="34" charset="-120"/>
              </a:rPr>
              <a:t>SOUL-DRIVEN AI AGENT</a:t>
            </a:r>
            <a:endParaRPr lang="en-US" sz="730"/>
          </a:p>
        </p:txBody>
      </p:sp>
      <p:sp>
        <p:nvSpPr>
          <p:cNvPr id="9" name="Title"/>
          <p:cNvSpPr/>
          <p:nvPr/>
        </p:nvSpPr>
        <p:spPr>
          <a:xfrm>
            <a:off x="571500" y="625376"/>
            <a:ext cx="8401050" cy="500000"/>
          </a:xfrm>
          <a:prstGeom prst="rect">
            <a:avLst/>
          </a:prstGeom>
          <a:noFill/>
          <a:ln/>
        </p:spPr>
        <p:txBody>
          <a:bodyPr wrap="none" lIns="0" tIns="0" rIns="0" bIns="0" rtlCol="0" anchor="t"/>
          <a:lstStyle/>
          <a:p>
            <a:pPr marL="0" indent="0" algn="l">
              <a:lnSpc>
                <a:spcPts val="3900"/>
              </a:lnSpc>
              <a:buNone/>
            </a:pPr>
            <a:r>
              <a:rPr lang="en-US" sz="2030" dirty="0">
                <a:solidFill>
                  <a:srgbClr val="E2E8F0"/>
                </a:solidFill>
                <a:latin typeface="Consolas" pitchFamily="34" charset="0"/>
                <a:ea typeface="Consolas" pitchFamily="34" charset="-122"/>
                <a:cs typeface="Consolas" pitchFamily="34" charset="-120"/>
              </a:rPr>
              <a:t>Meet </a:t>
            </a:r>
            <a:r>
              <a:rPr lang="en-US" sz="2030" b="1" dirty="0">
                <a:solidFill>
                  <a:srgbClr val="C084FC"/>
                </a:solidFill>
                <a:latin typeface="Consolas" pitchFamily="34" charset="0"/>
                <a:ea typeface="Consolas" pitchFamily="34" charset="-122"/>
                <a:cs typeface="Consolas" pitchFamily="34" charset="-120"/>
              </a:rPr>
              <a:t>Mercury Agent</a:t>
            </a:r>
            <a:r>
              <a:rPr lang="en-US" sz="2030" dirty="0">
                <a:solidFill>
                  <a:srgbClr val="E2E8F0"/>
                </a:solidFill>
                <a:latin typeface="Consolas" pitchFamily="34" charset="0"/>
                <a:ea typeface="Consolas" pitchFamily="34" charset="-122"/>
                <a:cs typeface="Consolas" pitchFamily="34" charset="-120"/>
              </a:rPr>
              <a:t>  </a:t>
            </a:r>
            <a:endParaRPr lang="en-US" sz="2030" dirty="0"/>
          </a:p>
        </p:txBody>
      </p:sp>
      <p:sp>
        <p:nvSpPr>
          <p:cNvPr id="5" name="Dot1"/>
          <p:cNvSpPr/>
          <p:nvPr/>
        </p:nvSpPr>
        <p:spPr>
          <a:xfrm>
            <a:off x="581025" y="1359098"/>
            <a:ext cx="29170" cy="29170"/>
          </a:xfrm>
          <a:prstGeom prst="ellipse">
            <a:avLst/>
          </a:prstGeom>
          <a:solidFill>
            <a:srgbClr val="C084FC"/>
          </a:solidFill>
          <a:ln/>
        </p:spPr>
        <p:txBody>
          <a:bodyPr wrap="none" rtlCol="0" anchor="t"/>
          <a:lstStyle/>
          <a:p>
            <a:pPr marL="0" indent="0">
              <a:buNone/>
            </a:pPr>
            <a:endParaRPr lang="en-US"/>
          </a:p>
        </p:txBody>
      </p:sp>
      <p:sp>
        <p:nvSpPr>
          <p:cNvPr id="6" name="Dot2"/>
          <p:cNvSpPr/>
          <p:nvPr/>
        </p:nvSpPr>
        <p:spPr>
          <a:xfrm>
            <a:off x="581025" y="2689027"/>
            <a:ext cx="29170" cy="29170"/>
          </a:xfrm>
          <a:prstGeom prst="ellipse">
            <a:avLst/>
          </a:prstGeom>
          <a:solidFill>
            <a:srgbClr val="C084FC"/>
          </a:solidFill>
          <a:ln/>
        </p:spPr>
        <p:txBody>
          <a:bodyPr wrap="none" rtlCol="0" anchor="t"/>
          <a:lstStyle/>
          <a:p>
            <a:pPr marL="0" indent="0">
              <a:buNone/>
            </a:pPr>
            <a:endParaRPr lang="en-US"/>
          </a:p>
        </p:txBody>
      </p:sp>
      <p:sp>
        <p:nvSpPr>
          <p:cNvPr id="7" name="Dot3"/>
          <p:cNvSpPr/>
          <p:nvPr/>
        </p:nvSpPr>
        <p:spPr>
          <a:xfrm>
            <a:off x="581025" y="4018955"/>
            <a:ext cx="29170" cy="29170"/>
          </a:xfrm>
          <a:prstGeom prst="ellipse">
            <a:avLst/>
          </a:prstGeom>
          <a:solidFill>
            <a:srgbClr val="C084FC"/>
          </a:solidFill>
          <a:ln/>
        </p:spPr>
        <p:txBody>
          <a:bodyPr wrap="none" rtlCol="0" anchor="t"/>
          <a:lstStyle/>
          <a:p>
            <a:pPr marL="0" indent="0">
              <a:buNone/>
            </a:pPr>
            <a:endParaRPr lang="en-US"/>
          </a:p>
        </p:txBody>
      </p:sp>
      <p:sp>
        <p:nvSpPr>
          <p:cNvPr id="10" name="Card1Bg"/>
          <p:cNvSpPr/>
          <p:nvPr/>
        </p:nvSpPr>
        <p:spPr>
          <a:xfrm>
            <a:off x="571500" y="1349573"/>
            <a:ext cx="8001000" cy="1200000"/>
          </a:xfrm>
          <a:prstGeom prst="roundRect">
            <a:avLst>
              <a:gd name="adj" fmla="val 5384"/>
            </a:avLst>
          </a:prstGeom>
          <a:solidFill>
            <a:srgbClr val="1A2332"/>
          </a:solidFill>
          <a:ln w="9525">
            <a:solidFill>
              <a:srgbClr val="C084FC">
                <a:alpha val="12000"/>
              </a:srgbClr>
            </a:solidFill>
          </a:ln>
        </p:spPr>
        <p:txBody>
          <a:bodyPr wrap="square" rtlCol="0" anchor="t"/>
          <a:lstStyle/>
          <a:p>
            <a:pPr marL="0" indent="0">
              <a:buNone/>
            </a:pPr>
            <a:endParaRPr lang="en-US"/>
          </a:p>
        </p:txBody>
      </p:sp>
      <p:sp>
        <p:nvSpPr>
          <p:cNvPr id="11" name="Card1Badge"/>
          <p:cNvSpPr/>
          <p:nvPr/>
        </p:nvSpPr>
        <p:spPr>
          <a:xfrm>
            <a:off x="866775" y="1616869"/>
            <a:ext cx="400050" cy="400050"/>
          </a:xfrm>
          <a:prstGeom prst="roundRect">
            <a:avLst>
              <a:gd name="adj" fmla="val 24889"/>
            </a:avLst>
          </a:prstGeom>
          <a:solidFill>
            <a:srgbClr val="C084FC">
              <a:alpha val="15000"/>
            </a:srgbClr>
          </a:solidFill>
          <a:ln/>
        </p:spPr>
        <p:txBody>
          <a:bodyPr wrap="square" rtlCol="0" anchor="ctr" anchorCtr="1"/>
          <a:lstStyle/>
          <a:p>
            <a:pPr marL="0" indent="0" algn="ctr">
              <a:buNone/>
            </a:pPr>
            <a:r>
              <a:rPr lang="en-US" sz="1400">
                <a:solidFill>
                  <a:srgbClr val="C084FC"/>
                </a:solidFill>
                <a:latin typeface="Consolas"/>
              </a:rPr>
              <a:t>🛡</a:t>
            </a:r>
            <a:endParaRPr lang="en-US"/>
          </a:p>
        </p:txBody>
      </p:sp>
      <p:sp>
        <p:nvSpPr>
          <p:cNvPr id="13" name="Card1Title"/>
          <p:cNvSpPr/>
          <p:nvPr/>
        </p:nvSpPr>
        <p:spPr>
          <a:xfrm>
            <a:off x="1467445" y="1616869"/>
            <a:ext cx="7490758" cy="236190"/>
          </a:xfrm>
          <a:prstGeom prst="rect">
            <a:avLst/>
          </a:prstGeom>
          <a:noFill/>
          <a:ln/>
        </p:spPr>
        <p:txBody>
          <a:bodyPr wrap="none" lIns="0" tIns="0" rIns="0" bIns="0" rtlCol="0" anchor="t"/>
          <a:lstStyle/>
          <a:p>
            <a:pPr marL="0" indent="0" algn="l">
              <a:lnSpc>
                <a:spcPts val="1860"/>
              </a:lnSpc>
              <a:buNone/>
            </a:pPr>
            <a:r>
              <a:rPr lang="en-US" sz="1240" b="1" kern="0" spc="25">
                <a:solidFill>
                  <a:srgbClr val="E2E8F0"/>
                </a:solidFill>
                <a:latin typeface="Consolas" pitchFamily="34" charset="0"/>
                <a:ea typeface="Consolas" pitchFamily="34" charset="-122"/>
                <a:cs typeface="Consolas" pitchFamily="34" charset="-120"/>
              </a:rPr>
              <a:t>31 Permission-Hardened Tools with Token Budgets</a:t>
            </a:r>
            <a:endParaRPr lang="en-US" sz="1240"/>
          </a:p>
        </p:txBody>
      </p:sp>
      <p:sp>
        <p:nvSpPr>
          <p:cNvPr id="14" name="Card1Desc"/>
          <p:cNvSpPr/>
          <p:nvPr/>
        </p:nvSpPr>
        <p:spPr>
          <a:xfrm>
            <a:off x="1467445" y="1875234"/>
            <a:ext cx="6945975" cy="50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Every tool runs with explicit permission gates and configurable token budgets. File operations, shell commands, web browsing, email — all sandboxed. The agent can’t overspend or overreach without your say-so. Install with a single command: npx @cosmicstack/mercury-agent</a:t>
            </a:r>
            <a:endParaRPr lang="en-US" sz="900"/>
          </a:p>
        </p:txBody>
      </p:sp>
      <p:sp>
        <p:nvSpPr>
          <p:cNvPr id="15" name="Card2Bg"/>
          <p:cNvSpPr/>
          <p:nvPr/>
        </p:nvSpPr>
        <p:spPr>
          <a:xfrm>
            <a:off x="571500" y="2679502"/>
            <a:ext cx="8001000" cy="1200000"/>
          </a:xfrm>
          <a:prstGeom prst="roundRect">
            <a:avLst>
              <a:gd name="adj" fmla="val 5384"/>
            </a:avLst>
          </a:prstGeom>
          <a:solidFill>
            <a:srgbClr val="1A2332"/>
          </a:solidFill>
          <a:ln w="9525">
            <a:solidFill>
              <a:srgbClr val="C084FC">
                <a:alpha val="12000"/>
              </a:srgbClr>
            </a:solidFill>
          </a:ln>
        </p:spPr>
        <p:txBody>
          <a:bodyPr wrap="square" rtlCol="0" anchor="t"/>
          <a:lstStyle/>
          <a:p>
            <a:pPr marL="0" indent="0">
              <a:buNone/>
            </a:pPr>
            <a:endParaRPr lang="en-US"/>
          </a:p>
        </p:txBody>
      </p:sp>
      <p:sp>
        <p:nvSpPr>
          <p:cNvPr id="16" name="Card2Badge"/>
          <p:cNvSpPr/>
          <p:nvPr/>
        </p:nvSpPr>
        <p:spPr>
          <a:xfrm>
            <a:off x="866775" y="2946797"/>
            <a:ext cx="400050" cy="400050"/>
          </a:xfrm>
          <a:prstGeom prst="roundRect">
            <a:avLst>
              <a:gd name="adj" fmla="val 24889"/>
            </a:avLst>
          </a:prstGeom>
          <a:solidFill>
            <a:srgbClr val="C084FC">
              <a:alpha val="15000"/>
            </a:srgbClr>
          </a:solidFill>
          <a:ln/>
        </p:spPr>
        <p:txBody>
          <a:bodyPr wrap="square" rtlCol="0" anchor="ctr" anchorCtr="1"/>
          <a:lstStyle/>
          <a:p>
            <a:pPr marL="0" indent="0" algn="ctr">
              <a:buNone/>
            </a:pPr>
            <a:r>
              <a:rPr lang="en-US" sz="1400">
                <a:solidFill>
                  <a:srgbClr val="C084FC"/>
                </a:solidFill>
                <a:latin typeface="Consolas"/>
              </a:rPr>
              <a:t>&gt;_</a:t>
            </a:r>
            <a:endParaRPr lang="en-US"/>
          </a:p>
        </p:txBody>
      </p:sp>
      <p:sp>
        <p:nvSpPr>
          <p:cNvPr id="18" name="Card2Title"/>
          <p:cNvSpPr/>
          <p:nvPr/>
        </p:nvSpPr>
        <p:spPr>
          <a:xfrm>
            <a:off x="1467445" y="2946797"/>
            <a:ext cx="7490758" cy="236190"/>
          </a:xfrm>
          <a:prstGeom prst="rect">
            <a:avLst/>
          </a:prstGeom>
          <a:noFill/>
          <a:ln/>
        </p:spPr>
        <p:txBody>
          <a:bodyPr wrap="none" lIns="0" tIns="0" rIns="0" bIns="0" rtlCol="0" anchor="t"/>
          <a:lstStyle/>
          <a:p>
            <a:pPr marL="0" indent="0" algn="l">
              <a:lnSpc>
                <a:spcPts val="1860"/>
              </a:lnSpc>
              <a:buNone/>
            </a:pPr>
            <a:r>
              <a:rPr lang="en-US" sz="1240" b="1" kern="0" spc="25">
                <a:solidFill>
                  <a:srgbClr val="E2E8F0"/>
                </a:solidFill>
                <a:latin typeface="Consolas" pitchFamily="34" charset="0"/>
                <a:ea typeface="Consolas" pitchFamily="34" charset="-122"/>
                <a:cs typeface="Consolas" pitchFamily="34" charset="-120"/>
              </a:rPr>
              <a:t>CLI + Telegram — Runs 24/7 in Daemon Mode</a:t>
            </a:r>
            <a:endParaRPr lang="en-US" sz="1240"/>
          </a:p>
        </p:txBody>
      </p:sp>
      <p:sp>
        <p:nvSpPr>
          <p:cNvPr id="19" name="Card2Desc"/>
          <p:cNvSpPr/>
          <p:nvPr/>
        </p:nvSpPr>
        <p:spPr>
          <a:xfrm>
            <a:off x="1467445" y="3205163"/>
            <a:ext cx="6945975" cy="50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Talk to your agent from the terminal or Telegram — same soul, same tools, any channel. Daemon mode keeps it alive in the background, listening for tasks while you focus on other work. TypeScript-based, MIT-licensed, ~967 stars on GitHub.</a:t>
            </a:r>
            <a:endParaRPr lang="en-US" sz="900"/>
          </a:p>
        </p:txBody>
      </p:sp>
      <p:sp>
        <p:nvSpPr>
          <p:cNvPr id="20" name="Card3Bg"/>
          <p:cNvSpPr/>
          <p:nvPr/>
        </p:nvSpPr>
        <p:spPr>
          <a:xfrm>
            <a:off x="571500" y="4009430"/>
            <a:ext cx="8001000" cy="1000000"/>
          </a:xfrm>
          <a:prstGeom prst="roundRect">
            <a:avLst>
              <a:gd name="adj" fmla="val 5384"/>
            </a:avLst>
          </a:prstGeom>
          <a:solidFill>
            <a:srgbClr val="1A2332"/>
          </a:solidFill>
          <a:ln w="9525">
            <a:solidFill>
              <a:srgbClr val="C084FC">
                <a:alpha val="12000"/>
              </a:srgbClr>
            </a:solidFill>
          </a:ln>
        </p:spPr>
        <p:txBody>
          <a:bodyPr wrap="square" rtlCol="0" anchor="t"/>
          <a:lstStyle/>
          <a:p>
            <a:pPr marL="0" indent="0">
              <a:buNone/>
            </a:pPr>
            <a:endParaRPr lang="en-US"/>
          </a:p>
        </p:txBody>
      </p:sp>
      <p:sp>
        <p:nvSpPr>
          <p:cNvPr id="21" name="Card3Badge"/>
          <p:cNvSpPr/>
          <p:nvPr/>
        </p:nvSpPr>
        <p:spPr>
          <a:xfrm>
            <a:off x="866775" y="4276725"/>
            <a:ext cx="400050" cy="400050"/>
          </a:xfrm>
          <a:prstGeom prst="roundRect">
            <a:avLst>
              <a:gd name="adj" fmla="val 24889"/>
            </a:avLst>
          </a:prstGeom>
          <a:solidFill>
            <a:srgbClr val="C084FC">
              <a:alpha val="15000"/>
            </a:srgbClr>
          </a:solidFill>
          <a:ln/>
        </p:spPr>
        <p:txBody>
          <a:bodyPr wrap="square" rtlCol="0" anchor="ctr" anchorCtr="1"/>
          <a:lstStyle/>
          <a:p>
            <a:pPr marL="0" indent="0" algn="ctr">
              <a:buNone/>
            </a:pPr>
            <a:r>
              <a:rPr lang="en-US" sz="1400">
                <a:solidFill>
                  <a:srgbClr val="C084FC"/>
                </a:solidFill>
                <a:latin typeface="Consolas"/>
              </a:rPr>
              <a:t>🧠</a:t>
            </a:r>
            <a:endParaRPr lang="en-US"/>
          </a:p>
        </p:txBody>
      </p:sp>
      <p:sp>
        <p:nvSpPr>
          <p:cNvPr id="23" name="Card3Title"/>
          <p:cNvSpPr/>
          <p:nvPr/>
        </p:nvSpPr>
        <p:spPr>
          <a:xfrm>
            <a:off x="1467445" y="4276725"/>
            <a:ext cx="7490758" cy="236190"/>
          </a:xfrm>
          <a:prstGeom prst="rect">
            <a:avLst/>
          </a:prstGeom>
          <a:noFill/>
          <a:ln/>
        </p:spPr>
        <p:txBody>
          <a:bodyPr wrap="none" lIns="0" tIns="0" rIns="0" bIns="0" rtlCol="0" anchor="t"/>
          <a:lstStyle/>
          <a:p>
            <a:pPr marL="0" indent="0" algn="l">
              <a:lnSpc>
                <a:spcPts val="1860"/>
              </a:lnSpc>
              <a:buNone/>
            </a:pPr>
            <a:r>
              <a:rPr lang="en-US" sz="1240" b="1" kern="0" spc="25">
                <a:solidFill>
                  <a:srgbClr val="E2E8F0"/>
                </a:solidFill>
                <a:latin typeface="Consolas" pitchFamily="34" charset="0"/>
                <a:ea typeface="Consolas" pitchFamily="34" charset="-122"/>
                <a:cs typeface="Consolas" pitchFamily="34" charset="-120"/>
              </a:rPr>
              <a:t>Second Brain Memory — Learns and Remembers</a:t>
            </a:r>
            <a:endParaRPr lang="en-US" sz="1240"/>
          </a:p>
        </p:txBody>
      </p:sp>
      <p:sp>
        <p:nvSpPr>
          <p:cNvPr id="24" name="Card3Desc"/>
          <p:cNvSpPr/>
          <p:nvPr/>
        </p:nvSpPr>
        <p:spPr>
          <a:xfrm>
            <a:off x="1467445" y="4535091"/>
            <a:ext cx="6945975" cy="400000"/>
          </a:xfrm>
          <a:prstGeom prst="rect">
            <a:avLst/>
          </a:prstGeom>
          <a:noFill/>
          <a:ln/>
        </p:spPr>
        <p:txBody>
          <a:bodyPr wrap="square" lIns="0" tIns="0" rIns="0" bIns="0" rtlCol="0" anchor="t"/>
          <a:lstStyle/>
          <a:p>
            <a:pPr marL="0" indent="0" algn="l">
              <a:lnSpc>
                <a:spcPts val="1400"/>
              </a:lnSpc>
              <a:buNone/>
            </a:pPr>
            <a:r>
              <a:rPr lang="en-US" sz="900">
                <a:solidFill>
                  <a:srgbClr val="8B9CB6"/>
                </a:solidFill>
                <a:latin typeface="Calibri" pitchFamily="34" charset="0"/>
                <a:ea typeface="Calibri" pitchFamily="34" charset="-122"/>
                <a:cs typeface="Calibri" pitchFamily="34" charset="-120"/>
              </a:rPr>
              <a:t>Mercury builds a persistent knowledge graph as it works — your Second Brain. It remembers past conversations, preferences, and context across sessions. The more you use it, the smarter it gets at anticipating what you need.</a:t>
            </a:r>
            <a:endParaRPr lang="en-US" sz="9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bg>
      <p:bgPr>
        <a:solidFill>
          <a:srgbClr val="0A0F1A"/>
        </a:solidFill>
        <a:effectLst/>
      </p:bgPr>
    </p:bg>
    <p:spTree>
      <p:nvGrpSpPr>
        <p:cNvPr id="1" name=""/>
        <p:cNvGrpSpPr/>
        <p:nvPr/>
      </p:nvGrpSpPr>
      <p:grpSpPr>
        <a:xfrm>
          <a:off x="0" y="0"/>
          <a:ext cx="0" cy="0"/>
          <a:chOff x="0" y="0"/>
          <a:chExt cx="0" cy="0"/>
        </a:xfrm>
      </p:grpSpPr>
      <p:sp>
        <p:nvSpPr>
          <p:cNvPr id="2" name="GreenLine"/>
          <p:cNvSpPr/>
          <p:nvPr/>
        </p:nvSpPr>
        <p:spPr>
          <a:xfrm>
            <a:off x="614660" y="1057870"/>
            <a:ext cx="13841" cy="3742730"/>
          </a:xfrm>
          <a:prstGeom prst="roundRect">
            <a:avLst>
              <a:gd name="adj" fmla="val 100932"/>
            </a:avLst>
          </a:prstGeom>
          <a:gradFill rotWithShape="1">
            <a:gsLst>
              <a:gs pos="0">
                <a:srgbClr val="76B900"/>
              </a:gs>
              <a:gs pos="100000">
                <a:srgbClr val="76B900">
                  <a:alpha val="8000"/>
                </a:srgbClr>
              </a:gs>
            </a:gsLst>
            <a:lin ang="5400000" scaled="1"/>
          </a:gradFill>
          <a:ln/>
        </p:spPr>
        <p:txBody>
          <a:bodyPr wrap="square" rtlCol="0" anchor="t"/>
          <a:lstStyle/>
          <a:p>
            <a:pPr marL="0" indent="0">
              <a:buNone/>
            </a:pPr>
            <a:endParaRPr lang="en-US"/>
          </a:p>
        </p:txBody>
      </p:sp>
      <p:sp>
        <p:nvSpPr>
          <p:cNvPr id="3" name="Tag"/>
          <p:cNvSpPr/>
          <p:nvPr/>
        </p:nvSpPr>
        <p:spPr>
          <a:xfrm>
            <a:off x="8178403" y="185291"/>
            <a:ext cx="580000" cy="207913"/>
          </a:xfrm>
          <a:prstGeom prst="roundRect">
            <a:avLst>
              <a:gd name="adj" fmla="val 20768"/>
            </a:avLst>
          </a:prstGeom>
          <a:solidFill>
            <a:srgbClr val="76B900">
              <a:alpha val="8000"/>
            </a:srgbClr>
          </a:solidFill>
          <a:ln w="9525">
            <a:solidFill>
              <a:srgbClr val="76B900">
                <a:alpha val="15000"/>
              </a:srgbClr>
            </a:solidFill>
          </a:ln>
        </p:spPr>
        <p:txBody>
          <a:bodyPr wrap="none" lIns="100330" tIns="35560" rIns="100330" bIns="35560" rtlCol="0" anchor="t"/>
          <a:lstStyle/>
          <a:p>
            <a:pPr marL="0" indent="0" algn="l">
              <a:buNone/>
            </a:pPr>
            <a:r>
              <a:rPr lang="en-US" sz="620" kern="0" spc="80">
                <a:solidFill>
                  <a:srgbClr val="8B9CB6"/>
                </a:solidFill>
                <a:latin typeface="Consolas" pitchFamily="34" charset="0"/>
              </a:rPr>
              <a:t>LINUX</a:t>
            </a:r>
          </a:p>
        </p:txBody>
      </p:sp>
      <p:sp>
        <p:nvSpPr>
          <p:cNvPr id="5" name="Title"/>
          <p:cNvSpPr/>
          <p:nvPr/>
        </p:nvSpPr>
        <p:spPr>
          <a:xfrm>
            <a:off x="758130" y="342900"/>
            <a:ext cx="5000000" cy="296317"/>
          </a:xfrm>
          <a:prstGeom prst="rect">
            <a:avLst/>
          </a:prstGeom>
          <a:noFill/>
          <a:ln/>
        </p:spPr>
        <p:txBody>
          <a:bodyPr wrap="none" lIns="0" tIns="0" rIns="0" bIns="0" rtlCol="0" anchor="ctr"/>
          <a:lstStyle/>
          <a:p>
            <a:pPr marL="0" indent="0" algn="l">
              <a:lnSpc>
                <a:spcPts val="2335"/>
              </a:lnSpc>
              <a:buNone/>
            </a:pPr>
            <a:r>
              <a:rPr lang="en-US" sz="2030" b="1" kern="0" spc="-30">
                <a:solidFill>
                  <a:srgbClr val="E2E8F0"/>
                </a:solidFill>
                <a:latin typeface="Consolas" pitchFamily="34" charset="0"/>
                <a:ea typeface="Consolas" pitchFamily="34" charset="-122"/>
                <a:cs typeface="Consolas" pitchFamily="34" charset="-120"/>
              </a:rPr>
              <a:t>Linux Installation</a:t>
            </a:r>
          </a:p>
        </p:txBody>
      </p:sp>
      <p:sp>
        <p:nvSpPr>
          <p:cNvPr id="6" name="Subtitle"/>
          <p:cNvSpPr/>
          <p:nvPr/>
        </p:nvSpPr>
        <p:spPr>
          <a:xfrm>
            <a:off x="758130" y="682377"/>
            <a:ext cx="8200000" cy="171450"/>
          </a:xfrm>
          <a:prstGeom prst="rect">
            <a:avLst/>
          </a:prstGeom>
          <a:noFill/>
          <a:ln/>
        </p:spPr>
        <p:txBody>
          <a:bodyPr wrap="square" lIns="299720" tIns="0" rIns="0" bIns="0" rtlCol="0" anchor="t"/>
          <a:lstStyle/>
          <a:p>
            <a:pPr marL="0" indent="0" algn="l">
              <a:lnSpc>
                <a:spcPts val="1350"/>
              </a:lnSpc>
              <a:buNone/>
            </a:pPr>
            <a:r>
              <a:rPr lang="en-US" sz="900">
                <a:solidFill>
                  <a:srgbClr val="8B9CB6"/>
                </a:solidFill>
                <a:latin typeface="Calibri" pitchFamily="34" charset="0"/>
              </a:rPr>
              <a:t>Most common for servers — uses curl install script and systemd for service management</a:t>
            </a:r>
          </a:p>
        </p:txBody>
      </p:sp>
      <p:sp>
        <p:nvSpPr>
          <p:cNvPr id="7" name="CardBg"/>
          <p:cNvSpPr/>
          <p:nvPr/>
        </p:nvSpPr>
        <p:spPr>
          <a:xfrm>
            <a:off x="758130" y="977281"/>
            <a:ext cx="7956649" cy="3100000"/>
          </a:xfrm>
          <a:prstGeom prst="roundRect">
            <a:avLst>
              <a:gd name="adj" fmla="val 4000"/>
            </a:avLst>
          </a:prstGeom>
          <a:solidFill>
            <a:srgbClr val="131C2A"/>
          </a:solidFill>
          <a:ln w="9525">
            <a:solidFill>
              <a:srgbClr val="76B900">
                <a:alpha val="18000"/>
              </a:srgbClr>
            </a:solidFill>
          </a:ln>
        </p:spPr>
        <p:txBody>
          <a:bodyPr wrap="square" rtlCol="0" anchor="t"/>
          <a:lstStyle/>
          <a:p>
            <a:pPr marL="0" indent="0">
              <a:buNone/>
            </a:pPr>
            <a:endParaRPr lang="en-US"/>
          </a:p>
        </p:txBody>
      </p:sp>
      <p:sp>
        <p:nvSpPr>
          <p:cNvPr id="10" name="Num1"/>
          <p:cNvSpPr/>
          <p:nvPr/>
        </p:nvSpPr>
        <p:spPr>
          <a:xfrm>
            <a:off x="900000" y="108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1</a:t>
            </a:r>
          </a:p>
        </p:txBody>
      </p:sp>
      <p:sp>
        <p:nvSpPr>
          <p:cNvPr id="11" name="Label1"/>
          <p:cNvSpPr/>
          <p:nvPr/>
        </p:nvSpPr>
        <p:spPr>
          <a:xfrm>
            <a:off x="1280000" y="107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INSTALL OLLAMA</a:t>
            </a:r>
          </a:p>
        </p:txBody>
      </p:sp>
      <p:sp>
        <p:nvSpPr>
          <p:cNvPr id="12" name="Code1"/>
          <p:cNvSpPr/>
          <p:nvPr/>
        </p:nvSpPr>
        <p:spPr>
          <a:xfrm>
            <a:off x="1280000" y="128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curl -fsSL https://ollama.com/install.sh | sh</a:t>
            </a:r>
          </a:p>
        </p:txBody>
      </p:sp>
      <p:sp>
        <p:nvSpPr>
          <p:cNvPr id="20" name="Num2"/>
          <p:cNvSpPr/>
          <p:nvPr/>
        </p:nvSpPr>
        <p:spPr>
          <a:xfrm>
            <a:off x="900000" y="172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2</a:t>
            </a:r>
          </a:p>
        </p:txBody>
      </p:sp>
      <p:sp>
        <p:nvSpPr>
          <p:cNvPr id="21" name="Label2"/>
          <p:cNvSpPr/>
          <p:nvPr/>
        </p:nvSpPr>
        <p:spPr>
          <a:xfrm>
            <a:off x="1280000" y="171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START THE SERVICE</a:t>
            </a:r>
          </a:p>
        </p:txBody>
      </p:sp>
      <p:sp>
        <p:nvSpPr>
          <p:cNvPr id="22" name="Desc2"/>
          <p:cNvSpPr/>
          <p:nvPr/>
        </p:nvSpPr>
        <p:spPr>
          <a:xfrm>
            <a:off x="1280000" y="1900000"/>
            <a:ext cx="7148179" cy="160000"/>
          </a:xfrm>
          <a:prstGeom prst="rect">
            <a:avLst/>
          </a:prstGeom>
          <a:noFill/>
          <a:ln/>
        </p:spPr>
        <p:txBody>
          <a:bodyPr wrap="square" lIns="0" tIns="0" rIns="0" bIns="0" rtlCol="0" anchor="t"/>
          <a:lstStyle/>
          <a:p>
            <a:pPr marL="0" indent="0" algn="l">
              <a:lnSpc>
                <a:spcPts val="1200"/>
              </a:lnSpc>
              <a:buNone/>
            </a:pPr>
            <a:r>
              <a:rPr lang="en-US" sz="800">
                <a:solidFill>
                  <a:srgbClr val="8B9CB6"/>
                </a:solidFill>
                <a:latin typeface="Calibri" pitchFamily="34" charset="0"/>
              </a:rPr>
              <a:t>Use systemd (recommended) or run directly with ollama serve &amp;</a:t>
            </a:r>
          </a:p>
        </p:txBody>
      </p:sp>
      <p:sp>
        <p:nvSpPr>
          <p:cNvPr id="23" name="Code2"/>
          <p:cNvSpPr/>
          <p:nvPr/>
        </p:nvSpPr>
        <p:spPr>
          <a:xfrm>
            <a:off x="1280000" y="210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sudo systemctl start ollama</a:t>
            </a:r>
          </a:p>
        </p:txBody>
      </p:sp>
      <p:sp>
        <p:nvSpPr>
          <p:cNvPr id="30" name="Num3"/>
          <p:cNvSpPr/>
          <p:nvPr/>
        </p:nvSpPr>
        <p:spPr>
          <a:xfrm>
            <a:off x="900000" y="256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3</a:t>
            </a:r>
          </a:p>
        </p:txBody>
      </p:sp>
      <p:sp>
        <p:nvSpPr>
          <p:cNvPr id="31" name="Label3"/>
          <p:cNvSpPr/>
          <p:nvPr/>
        </p:nvSpPr>
        <p:spPr>
          <a:xfrm>
            <a:off x="1280000" y="255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DOWNLOAD AND RUN A MODEL</a:t>
            </a:r>
          </a:p>
        </p:txBody>
      </p:sp>
      <p:sp>
        <p:nvSpPr>
          <p:cNvPr id="32" name="Code3"/>
          <p:cNvSpPr/>
          <p:nvPr/>
        </p:nvSpPr>
        <p:spPr>
          <a:xfrm>
            <a:off x="1280000" y="2760000"/>
            <a:ext cx="7148179" cy="470000"/>
          </a:xfrm>
          <a:prstGeom prst="roundRect">
            <a:avLst>
              <a:gd name="adj" fmla="val 12000"/>
            </a:avLst>
          </a:prstGeom>
          <a:solidFill>
            <a:srgbClr val="76B900">
              <a:alpha val="7000"/>
            </a:srgbClr>
          </a:solidFill>
          <a:ln w="9525">
            <a:solidFill>
              <a:srgbClr val="76B900">
                <a:alpha val="13000"/>
              </a:srgbClr>
            </a:solidFill>
          </a:ln>
        </p:spPr>
        <p:txBody>
          <a:bodyPr wrap="square" lIns="114300" tIns="68580" rIns="114300" bIns="68580" rtlCol="0" anchor="t"/>
          <a:lstStyle/>
          <a:p>
            <a:pPr marL="0" indent="0" algn="l">
              <a:lnSpc>
                <a:spcPts val="1200"/>
              </a:lnSpc>
              <a:buNone/>
            </a:pPr>
            <a:r>
              <a:rPr lang="en-US" sz="900">
                <a:solidFill>
                  <a:srgbClr val="76B900"/>
                </a:solidFill>
                <a:latin typeface="Consolas" pitchFamily="34" charset="0"/>
              </a:rPr>
              <a:t>ollama run tinyllama      </a:t>
            </a:r>
            <a:r>
              <a:rPr lang="en-US" sz="750">
                <a:solidFill>
                  <a:srgbClr val="8B9CB6"/>
                </a:solidFill>
                <a:latin typeface="Consolas" pitchFamily="34" charset="0"/>
              </a:rPr>
              <a:t># pull + run (auto-downloads)</a:t>
            </a:r>
          </a:p>
          <a:p>
            <a:pPr marL="0" indent="0" algn="l">
              <a:lnSpc>
                <a:spcPts val="1200"/>
              </a:lnSpc>
              <a:buNone/>
            </a:pPr>
            <a:r>
              <a:rPr lang="en-US" sz="900">
                <a:solidFill>
                  <a:srgbClr val="76B900"/>
                </a:solidFill>
                <a:latin typeface="Consolas" pitchFamily="34" charset="0"/>
              </a:rPr>
              <a:t>ollama pull tinyllama     </a:t>
            </a:r>
            <a:r>
              <a:rPr lang="en-US" sz="750">
                <a:solidFill>
                  <a:srgbClr val="8B9CB6"/>
                </a:solidFill>
                <a:latin typeface="Consolas" pitchFamily="34" charset="0"/>
              </a:rPr>
              <a:t># download only, no chat</a:t>
            </a:r>
          </a:p>
        </p:txBody>
      </p:sp>
      <p:sp>
        <p:nvSpPr>
          <p:cNvPr id="40" name="Num4"/>
          <p:cNvSpPr/>
          <p:nvPr/>
        </p:nvSpPr>
        <p:spPr>
          <a:xfrm>
            <a:off x="900000" y="340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4</a:t>
            </a:r>
          </a:p>
        </p:txBody>
      </p:sp>
      <p:sp>
        <p:nvSpPr>
          <p:cNvPr id="41" name="Label4"/>
          <p:cNvSpPr/>
          <p:nvPr/>
        </p:nvSpPr>
        <p:spPr>
          <a:xfrm>
            <a:off x="1280000" y="339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AUTO-START ON BOOT (SYSTEMD)</a:t>
            </a:r>
          </a:p>
        </p:txBody>
      </p:sp>
      <p:sp>
        <p:nvSpPr>
          <p:cNvPr id="42" name="Code4"/>
          <p:cNvSpPr/>
          <p:nvPr/>
        </p:nvSpPr>
        <p:spPr>
          <a:xfrm>
            <a:off x="1280000" y="360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sudo systemctl enable ollama</a:t>
            </a:r>
          </a:p>
        </p:txBody>
      </p:sp>
      <p:sp>
        <p:nvSpPr>
          <p:cNvPr id="50" name="AltModels"/>
          <p:cNvSpPr/>
          <p:nvPr/>
        </p:nvSpPr>
        <p:spPr>
          <a:xfrm>
            <a:off x="900000" y="4080000"/>
            <a:ext cx="7500000" cy="500000"/>
          </a:xfrm>
          <a:prstGeom prst="rect">
            <a:avLst/>
          </a:prstGeom>
          <a:noFill/>
          <a:ln/>
        </p:spPr>
        <p:txBody>
          <a:bodyPr wrap="square" lIns="0" tIns="0" rIns="0" bIns="0" rtlCol="0" anchor="t"/>
          <a:lstStyle/>
          <a:p>
            <a:pPr marL="0" indent="0" algn="l">
              <a:lnSpc>
                <a:spcPts val="1100"/>
              </a:lnSpc>
              <a:buNone/>
            </a:pPr>
            <a:r>
              <a:rPr lang="en-US" sz="700" b="1">
                <a:solidFill>
                  <a:srgbClr val="E2E8F0"/>
                </a:solidFill>
                <a:latin typeface="Calibri" pitchFamily="34" charset="0"/>
              </a:rPr>
              <a:t>Other very small models:</a:t>
            </a:r>
            <a:r>
              <a:rPr lang="en-US" sz="700">
                <a:solidFill>
                  <a:srgbClr val="8B9CB6"/>
                </a:solidFill>
                <a:latin typeface="Calibri" pitchFamily="34" charset="0"/>
              </a:rPr>
              <a:t>  </a:t>
            </a:r>
            <a:r>
              <a:rPr lang="en-US" sz="700">
                <a:solidFill>
                  <a:srgbClr val="76B900"/>
                </a:solidFill>
                <a:latin typeface="Consolas" pitchFamily="34" charset="0"/>
              </a:rPr>
              <a:t>ollama pull gemma3:1b</a:t>
            </a:r>
            <a:r>
              <a:rPr lang="en-US" sz="700">
                <a:solidFill>
                  <a:srgbClr val="8B9CB6"/>
                </a:solidFill>
                <a:latin typeface="Calibri" pitchFamily="34" charset="0"/>
              </a:rPr>
              <a:t> (~800MB)   </a:t>
            </a:r>
            <a:r>
              <a:rPr lang="en-US" sz="700">
                <a:solidFill>
                  <a:srgbClr val="76B900"/>
                </a:solidFill>
                <a:latin typeface="Consolas" pitchFamily="34" charset="0"/>
              </a:rPr>
              <a:t>ollama pull smollm:135m</a:t>
            </a:r>
            <a:r>
              <a:rPr lang="en-US" sz="700">
                <a:solidFill>
                  <a:srgbClr val="8B9CB6"/>
                </a:solidFill>
                <a:latin typeface="Calibri" pitchFamily="34" charset="0"/>
              </a:rPr>
              <a:t> (extremely tiny)</a:t>
            </a:r>
          </a:p>
          <a:p>
            <a:pPr marL="0" indent="0" algn="l">
              <a:lnSpc>
                <a:spcPts val="1100"/>
              </a:lnSpc>
              <a:spcBef>
                <a:spcPts val="300"/>
              </a:spcBef>
              <a:buNone/>
            </a:pPr>
            <a:r>
              <a:rPr lang="en-US" sz="700">
                <a:solidFill>
                  <a:srgbClr val="8B9CB6"/>
                </a:solidFill>
                <a:latin typeface="Calibri" pitchFamily="34" charset="0"/>
              </a:rPr>
              <a:t>Expose on network: </a:t>
            </a:r>
            <a:r>
              <a:rPr lang="en-US" sz="700">
                <a:solidFill>
                  <a:srgbClr val="76B900"/>
                </a:solidFill>
                <a:latin typeface="Consolas" pitchFamily="34" charset="0"/>
              </a:rPr>
              <a:t>OLLAMA_HOST=0.0.0.0 ollama serve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8">
    <p:bg>
      <p:bgPr>
        <a:solidFill>
          <a:srgbClr val="0A0F1A"/>
        </a:solidFill>
        <a:effectLst/>
      </p:bgPr>
    </p:bg>
    <p:spTree>
      <p:nvGrpSpPr>
        <p:cNvPr id="1" name=""/>
        <p:cNvGrpSpPr/>
        <p:nvPr/>
      </p:nvGrpSpPr>
      <p:grpSpPr>
        <a:xfrm>
          <a:off x="0" y="0"/>
          <a:ext cx="0" cy="0"/>
          <a:chOff x="0" y="0"/>
          <a:chExt cx="0" cy="0"/>
        </a:xfrm>
      </p:grpSpPr>
      <p:sp>
        <p:nvSpPr>
          <p:cNvPr id="2" name="GreenLine"/>
          <p:cNvSpPr/>
          <p:nvPr/>
        </p:nvSpPr>
        <p:spPr>
          <a:xfrm>
            <a:off x="614660" y="1057870"/>
            <a:ext cx="13841" cy="3742730"/>
          </a:xfrm>
          <a:prstGeom prst="roundRect">
            <a:avLst>
              <a:gd name="adj" fmla="val 100932"/>
            </a:avLst>
          </a:prstGeom>
          <a:gradFill rotWithShape="1">
            <a:gsLst>
              <a:gs pos="0">
                <a:srgbClr val="76B900"/>
              </a:gs>
              <a:gs pos="100000">
                <a:srgbClr val="76B900">
                  <a:alpha val="8000"/>
                </a:srgbClr>
              </a:gs>
            </a:gsLst>
            <a:lin ang="5400000" scaled="1"/>
          </a:gradFill>
          <a:ln/>
        </p:spPr>
        <p:txBody>
          <a:bodyPr wrap="square" rtlCol="0" anchor="t"/>
          <a:lstStyle/>
          <a:p>
            <a:pPr marL="0" indent="0">
              <a:buNone/>
            </a:pPr>
            <a:endParaRPr lang="en-US"/>
          </a:p>
        </p:txBody>
      </p:sp>
      <p:sp>
        <p:nvSpPr>
          <p:cNvPr id="3" name="Tag"/>
          <p:cNvSpPr/>
          <p:nvPr/>
        </p:nvSpPr>
        <p:spPr>
          <a:xfrm>
            <a:off x="8078403" y="185291"/>
            <a:ext cx="700000" cy="207913"/>
          </a:xfrm>
          <a:prstGeom prst="roundRect">
            <a:avLst>
              <a:gd name="adj" fmla="val 20768"/>
            </a:avLst>
          </a:prstGeom>
          <a:solidFill>
            <a:srgbClr val="76B900">
              <a:alpha val="8000"/>
            </a:srgbClr>
          </a:solidFill>
          <a:ln w="9525">
            <a:solidFill>
              <a:srgbClr val="76B900">
                <a:alpha val="15000"/>
              </a:srgbClr>
            </a:solidFill>
          </a:ln>
        </p:spPr>
        <p:txBody>
          <a:bodyPr wrap="none" lIns="100330" tIns="35560" rIns="100330" bIns="35560" rtlCol="0" anchor="t"/>
          <a:lstStyle/>
          <a:p>
            <a:pPr marL="0" indent="0" algn="l">
              <a:buNone/>
            </a:pPr>
            <a:r>
              <a:rPr lang="en-US" sz="620" kern="0" spc="80">
                <a:solidFill>
                  <a:srgbClr val="8B9CB6"/>
                </a:solidFill>
                <a:latin typeface="Consolas" pitchFamily="34" charset="0"/>
              </a:rPr>
              <a:t>macOS</a:t>
            </a:r>
          </a:p>
        </p:txBody>
      </p:sp>
      <p:sp>
        <p:nvSpPr>
          <p:cNvPr id="5" name="Title"/>
          <p:cNvSpPr/>
          <p:nvPr/>
        </p:nvSpPr>
        <p:spPr>
          <a:xfrm>
            <a:off x="758130" y="342900"/>
            <a:ext cx="5000000" cy="296317"/>
          </a:xfrm>
          <a:prstGeom prst="rect">
            <a:avLst/>
          </a:prstGeom>
          <a:noFill/>
          <a:ln/>
        </p:spPr>
        <p:txBody>
          <a:bodyPr wrap="none" lIns="0" tIns="0" rIns="0" bIns="0" rtlCol="0" anchor="ctr"/>
          <a:lstStyle/>
          <a:p>
            <a:pPr marL="0" indent="0" algn="l">
              <a:lnSpc>
                <a:spcPts val="2335"/>
              </a:lnSpc>
              <a:buNone/>
            </a:pPr>
            <a:r>
              <a:rPr lang="en-US" sz="2030" b="1" kern="0" spc="-30">
                <a:solidFill>
                  <a:srgbClr val="E2E8F0"/>
                </a:solidFill>
                <a:latin typeface="Consolas" pitchFamily="34" charset="0"/>
                <a:ea typeface="Consolas" pitchFamily="34" charset="-122"/>
                <a:cs typeface="Consolas" pitchFamily="34" charset="-120"/>
              </a:rPr>
              <a:t>macOS Installation</a:t>
            </a:r>
          </a:p>
        </p:txBody>
      </p:sp>
      <p:sp>
        <p:nvSpPr>
          <p:cNvPr id="6" name="Subtitle"/>
          <p:cNvSpPr/>
          <p:nvPr/>
        </p:nvSpPr>
        <p:spPr>
          <a:xfrm>
            <a:off x="758130" y="682377"/>
            <a:ext cx="8200000" cy="171450"/>
          </a:xfrm>
          <a:prstGeom prst="rect">
            <a:avLst/>
          </a:prstGeom>
          <a:noFill/>
          <a:ln/>
        </p:spPr>
        <p:txBody>
          <a:bodyPr wrap="square" lIns="299720" tIns="0" rIns="0" bIns="0" rtlCol="0" anchor="t"/>
          <a:lstStyle/>
          <a:p>
            <a:pPr marL="0" indent="0" algn="l">
              <a:lnSpc>
                <a:spcPts val="1350"/>
              </a:lnSpc>
              <a:buNone/>
            </a:pPr>
            <a:r>
              <a:rPr lang="en-US" sz="900">
                <a:solidFill>
                  <a:srgbClr val="8B9CB6"/>
                </a:solidFill>
                <a:latin typeface="Calibri" pitchFamily="34" charset="0"/>
              </a:rPr>
              <a:t>Install via Homebrew or download the desktop app from ollama.com</a:t>
            </a:r>
          </a:p>
        </p:txBody>
      </p:sp>
      <p:sp>
        <p:nvSpPr>
          <p:cNvPr id="7" name="CardBg"/>
          <p:cNvSpPr/>
          <p:nvPr/>
        </p:nvSpPr>
        <p:spPr>
          <a:xfrm>
            <a:off x="758130" y="977281"/>
            <a:ext cx="7956649" cy="3100000"/>
          </a:xfrm>
          <a:prstGeom prst="roundRect">
            <a:avLst>
              <a:gd name="adj" fmla="val 4000"/>
            </a:avLst>
          </a:prstGeom>
          <a:solidFill>
            <a:srgbClr val="131C2A"/>
          </a:solidFill>
          <a:ln w="9525">
            <a:solidFill>
              <a:srgbClr val="76B900">
                <a:alpha val="18000"/>
              </a:srgbClr>
            </a:solidFill>
          </a:ln>
        </p:spPr>
        <p:txBody>
          <a:bodyPr wrap="square" rtlCol="0" anchor="t"/>
          <a:lstStyle/>
          <a:p>
            <a:pPr marL="0" indent="0">
              <a:buNone/>
            </a:pPr>
            <a:endParaRPr lang="en-US"/>
          </a:p>
        </p:txBody>
      </p:sp>
      <p:sp>
        <p:nvSpPr>
          <p:cNvPr id="10" name="Num1"/>
          <p:cNvSpPr/>
          <p:nvPr/>
        </p:nvSpPr>
        <p:spPr>
          <a:xfrm>
            <a:off x="900000" y="108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1</a:t>
            </a:r>
          </a:p>
        </p:txBody>
      </p:sp>
      <p:sp>
        <p:nvSpPr>
          <p:cNvPr id="11" name="Label1"/>
          <p:cNvSpPr/>
          <p:nvPr/>
        </p:nvSpPr>
        <p:spPr>
          <a:xfrm>
            <a:off x="1280000" y="107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INSTALL VIA HOMEBREW</a:t>
            </a:r>
          </a:p>
        </p:txBody>
      </p:sp>
      <p:sp>
        <p:nvSpPr>
          <p:cNvPr id="12" name="Code1"/>
          <p:cNvSpPr/>
          <p:nvPr/>
        </p:nvSpPr>
        <p:spPr>
          <a:xfrm>
            <a:off x="1280000" y="128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brew install ollama</a:t>
            </a:r>
          </a:p>
        </p:txBody>
      </p:sp>
      <p:sp>
        <p:nvSpPr>
          <p:cNvPr id="20" name="Num2"/>
          <p:cNvSpPr/>
          <p:nvPr/>
        </p:nvSpPr>
        <p:spPr>
          <a:xfrm>
            <a:off x="900000" y="172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2</a:t>
            </a:r>
          </a:p>
        </p:txBody>
      </p:sp>
      <p:sp>
        <p:nvSpPr>
          <p:cNvPr id="21" name="Label2"/>
          <p:cNvSpPr/>
          <p:nvPr/>
        </p:nvSpPr>
        <p:spPr>
          <a:xfrm>
            <a:off x="1280000" y="171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START OLLAMA</a:t>
            </a:r>
          </a:p>
        </p:txBody>
      </p:sp>
      <p:sp>
        <p:nvSpPr>
          <p:cNvPr id="23" name="Code2"/>
          <p:cNvSpPr/>
          <p:nvPr/>
        </p:nvSpPr>
        <p:spPr>
          <a:xfrm>
            <a:off x="1280000" y="192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ollama serve</a:t>
            </a:r>
          </a:p>
        </p:txBody>
      </p:sp>
      <p:sp>
        <p:nvSpPr>
          <p:cNvPr id="30" name="Num3"/>
          <p:cNvSpPr/>
          <p:nvPr/>
        </p:nvSpPr>
        <p:spPr>
          <a:xfrm>
            <a:off x="900000" y="238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3</a:t>
            </a:r>
          </a:p>
        </p:txBody>
      </p:sp>
      <p:sp>
        <p:nvSpPr>
          <p:cNvPr id="31" name="Label3"/>
          <p:cNvSpPr/>
          <p:nvPr/>
        </p:nvSpPr>
        <p:spPr>
          <a:xfrm>
            <a:off x="1280000" y="2370000"/>
            <a:ext cx="3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DOWNLOAD SMALLEST MODEL</a:t>
            </a:r>
          </a:p>
        </p:txBody>
      </p:sp>
      <p:sp>
        <p:nvSpPr>
          <p:cNvPr id="32" name="Code3"/>
          <p:cNvSpPr/>
          <p:nvPr/>
        </p:nvSpPr>
        <p:spPr>
          <a:xfrm>
            <a:off x="1280000" y="2580000"/>
            <a:ext cx="7148179" cy="470000"/>
          </a:xfrm>
          <a:prstGeom prst="roundRect">
            <a:avLst>
              <a:gd name="adj" fmla="val 12000"/>
            </a:avLst>
          </a:prstGeom>
          <a:solidFill>
            <a:srgbClr val="76B900">
              <a:alpha val="7000"/>
            </a:srgbClr>
          </a:solidFill>
          <a:ln w="9525">
            <a:solidFill>
              <a:srgbClr val="76B900">
                <a:alpha val="13000"/>
              </a:srgbClr>
            </a:solidFill>
          </a:ln>
        </p:spPr>
        <p:txBody>
          <a:bodyPr wrap="square" lIns="114300" tIns="68580" rIns="114300" bIns="68580" rtlCol="0" anchor="t"/>
          <a:lstStyle/>
          <a:p>
            <a:pPr marL="0" indent="0" algn="l">
              <a:lnSpc>
                <a:spcPts val="1200"/>
              </a:lnSpc>
              <a:buNone/>
            </a:pPr>
            <a:r>
              <a:rPr lang="en-US" sz="900">
                <a:solidFill>
                  <a:srgbClr val="76B900"/>
                </a:solidFill>
                <a:latin typeface="Consolas" pitchFamily="34" charset="0"/>
              </a:rPr>
              <a:t>ollama pull tinyllama</a:t>
            </a:r>
          </a:p>
          <a:p>
            <a:pPr marL="0" indent="0" algn="l">
              <a:lnSpc>
                <a:spcPts val="1200"/>
              </a:lnSpc>
              <a:buNone/>
            </a:pPr>
            <a:r>
              <a:rPr lang="en-US" sz="900">
                <a:solidFill>
                  <a:srgbClr val="76B900"/>
                </a:solidFill>
                <a:latin typeface="Consolas" pitchFamily="34" charset="0"/>
              </a:rPr>
              <a:t>ollama run tinyllama      </a:t>
            </a:r>
            <a:r>
              <a:rPr lang="en-US" sz="750">
                <a:solidFill>
                  <a:srgbClr val="8B9CB6"/>
                </a:solidFill>
                <a:latin typeface="Consolas" pitchFamily="34" charset="0"/>
              </a:rPr>
              <a:t># starts interactive chat</a:t>
            </a:r>
          </a:p>
        </p:txBody>
      </p:sp>
      <p:sp>
        <p:nvSpPr>
          <p:cNvPr id="40" name="Num4"/>
          <p:cNvSpPr/>
          <p:nvPr/>
        </p:nvSpPr>
        <p:spPr>
          <a:xfrm>
            <a:off x="900000" y="322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4</a:t>
            </a:r>
          </a:p>
        </p:txBody>
      </p:sp>
      <p:sp>
        <p:nvSpPr>
          <p:cNvPr id="41" name="Label4"/>
          <p:cNvSpPr/>
          <p:nvPr/>
        </p:nvSpPr>
        <p:spPr>
          <a:xfrm>
            <a:off x="1280000" y="3210000"/>
            <a:ext cx="50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AUTO-START ON BOOT</a:t>
            </a:r>
          </a:p>
        </p:txBody>
      </p:sp>
      <p:sp>
        <p:nvSpPr>
          <p:cNvPr id="42" name="Code4"/>
          <p:cNvSpPr/>
          <p:nvPr/>
        </p:nvSpPr>
        <p:spPr>
          <a:xfrm>
            <a:off x="1280000" y="3420000"/>
            <a:ext cx="7148179" cy="300000"/>
          </a:xfrm>
          <a:prstGeom prst="roundRect">
            <a:avLst>
              <a:gd name="adj" fmla="val 16909"/>
            </a:avLst>
          </a:prstGeom>
          <a:solidFill>
            <a:srgbClr val="76B900">
              <a:alpha val="7000"/>
            </a:srgbClr>
          </a:solidFill>
          <a:ln w="9525">
            <a:solidFill>
              <a:srgbClr val="76B900">
                <a:alpha val="13000"/>
              </a:srgbClr>
            </a:solidFill>
          </a:ln>
        </p:spPr>
        <p:txBody>
          <a:bodyPr wrap="square" lIns="114300" tIns="78740" rIns="114300" bIns="78740" rtlCol="0" anchor="ctr"/>
          <a:lstStyle/>
          <a:p>
            <a:pPr marL="0" indent="0" algn="l">
              <a:buNone/>
            </a:pPr>
            <a:r>
              <a:rPr lang="en-US" sz="900">
                <a:solidFill>
                  <a:srgbClr val="76B900"/>
                </a:solidFill>
                <a:latin typeface="Consolas" pitchFamily="34" charset="0"/>
              </a:rPr>
              <a:t>brew services start ollama</a:t>
            </a:r>
          </a:p>
        </p:txBody>
      </p:sp>
      <p:sp>
        <p:nvSpPr>
          <p:cNvPr id="50" name="DesktopNote"/>
          <p:cNvSpPr/>
          <p:nvPr/>
        </p:nvSpPr>
        <p:spPr>
          <a:xfrm>
            <a:off x="1280000" y="3780000"/>
            <a:ext cx="7148179" cy="200000"/>
          </a:xfrm>
          <a:prstGeom prst="rect">
            <a:avLst/>
          </a:prstGeom>
          <a:noFill/>
          <a:ln/>
        </p:spPr>
        <p:txBody>
          <a:bodyPr wrap="square" lIns="0" tIns="0" rIns="0" bIns="0" rtlCol="0" anchor="t"/>
          <a:lstStyle/>
          <a:p>
            <a:pPr marL="0" indent="0" algn="l">
              <a:lnSpc>
                <a:spcPts val="1100"/>
              </a:lnSpc>
              <a:buNone/>
            </a:pPr>
            <a:r>
              <a:rPr lang="en-US" sz="750">
                <a:solidFill>
                  <a:srgbClr val="8B9CB6"/>
                </a:solidFill>
                <a:latin typeface="Calibri" pitchFamily="34" charset="0"/>
              </a:rPr>
              <a:t>Or enable in the Ollama desktop app: Settings → Start Ollama on boot</a:t>
            </a:r>
          </a:p>
        </p:txBody>
      </p:sp>
      <p:sp>
        <p:nvSpPr>
          <p:cNvPr id="55" name="StorageNote"/>
          <p:cNvSpPr/>
          <p:nvPr/>
        </p:nvSpPr>
        <p:spPr>
          <a:xfrm>
            <a:off x="900000" y="4150000"/>
            <a:ext cx="7500000" cy="400000"/>
          </a:xfrm>
          <a:prstGeom prst="rect">
            <a:avLst/>
          </a:prstGeom>
          <a:noFill/>
          <a:ln/>
        </p:spPr>
        <p:txBody>
          <a:bodyPr wrap="square" lIns="0" tIns="0" rIns="0" bIns="0" rtlCol="0" anchor="t"/>
          <a:lstStyle/>
          <a:p>
            <a:pPr marL="0" indent="0" algn="l">
              <a:lnSpc>
                <a:spcPts val="1100"/>
              </a:lnSpc>
              <a:buNone/>
            </a:pPr>
            <a:r>
              <a:rPr lang="en-US" sz="700" b="1">
                <a:solidFill>
                  <a:srgbClr val="E2E8F0"/>
                </a:solidFill>
                <a:latin typeface="Calibri" pitchFamily="34" charset="0"/>
              </a:rPr>
              <a:t>Models stored at:</a:t>
            </a:r>
            <a:r>
              <a:rPr lang="en-US" sz="700">
                <a:solidFill>
                  <a:srgbClr val="8B9CB6"/>
                </a:solidFill>
                <a:latin typeface="Calibri" pitchFamily="34" charset="0"/>
              </a:rPr>
              <a:t>  </a:t>
            </a:r>
            <a:r>
              <a:rPr lang="en-US" sz="700">
                <a:solidFill>
                  <a:srgbClr val="76B900"/>
                </a:solidFill>
                <a:latin typeface="Consolas" pitchFamily="34" charset="0"/>
              </a:rPr>
              <a:t>~/.ollama/models</a:t>
            </a:r>
          </a:p>
        </p:txBody>
      </p:sp>
      <p:sp>
        <p:nvSpPr>
          <p:cNvPr id="60" name="UninstallNote"/>
          <p:cNvSpPr/>
          <p:nvPr/>
        </p:nvSpPr>
        <p:spPr>
          <a:xfrm>
            <a:off x="900000" y="4520000"/>
            <a:ext cx="7500000" cy="500000"/>
          </a:xfrm>
          <a:prstGeom prst="rect">
            <a:avLst/>
          </a:prstGeom>
          <a:noFill/>
          <a:ln/>
        </p:spPr>
        <p:txBody>
          <a:bodyPr wrap="square" lIns="0" tIns="0" rIns="0" bIns="0" rtlCol="0" anchor="t"/>
          <a:lstStyle/>
          <a:p>
            <a:pPr marL="0" indent="0" algn="l">
              <a:lnSpc>
                <a:spcPts val="1100"/>
              </a:lnSpc>
              <a:buNone/>
            </a:pPr>
            <a:r>
              <a:rPr lang="en-US" sz="700" b="1">
                <a:solidFill>
                  <a:srgbClr val="E2E8F0"/>
                </a:solidFill>
                <a:latin typeface="Calibri" pitchFamily="34" charset="0"/>
              </a:rPr>
              <a:t>To uninstall:</a:t>
            </a:r>
            <a:r>
              <a:rPr lang="en-US" sz="700">
                <a:solidFill>
                  <a:srgbClr val="8B9CB6"/>
                </a:solidFill>
                <a:latin typeface="Calibri" pitchFamily="34" charset="0"/>
              </a:rPr>
              <a:t>  </a:t>
            </a:r>
            <a:r>
              <a:rPr lang="en-US" sz="700">
                <a:solidFill>
                  <a:srgbClr val="76B900"/>
                </a:solidFill>
                <a:latin typeface="Consolas" pitchFamily="34" charset="0"/>
              </a:rPr>
              <a:t>brew uninstall ollama</a:t>
            </a:r>
            <a:r>
              <a:rPr lang="en-US" sz="700">
                <a:solidFill>
                  <a:srgbClr val="8B9CB6"/>
                </a:solidFill>
                <a:latin typeface="Calibri" pitchFamily="34" charset="0"/>
              </a:rPr>
              <a:t>  then  </a:t>
            </a:r>
            <a:r>
              <a:rPr lang="en-US" sz="700">
                <a:solidFill>
                  <a:srgbClr val="76B900"/>
                </a:solidFill>
                <a:latin typeface="Consolas" pitchFamily="34" charset="0"/>
              </a:rPr>
              <a:t>rm -rf ~/.ollama</a:t>
            </a:r>
            <a:r>
              <a:rPr lang="en-US" sz="700">
                <a:solidFill>
                  <a:srgbClr val="8B9CB6"/>
                </a:solidFill>
                <a:latin typeface="Calibri" pitchFamily="34" charset="0"/>
              </a:rPr>
              <a:t>  (removes all downloaded models)</a:t>
            </a:r>
          </a:p>
          <a:p>
            <a:pPr marL="0" indent="0" algn="l">
              <a:lnSpc>
                <a:spcPts val="1100"/>
              </a:lnSpc>
              <a:buNone/>
            </a:pPr>
            <a:r>
              <a:rPr lang="en-US" sz="650">
                <a:solidFill>
                  <a:srgbClr val="6B7A90"/>
                </a:solidFill>
                <a:latin typeface="Calibri" pitchFamily="34" charset="0"/>
              </a:rPr>
              <a:t>If using the desktop app instead of Homebrew: drag Ollama from /Applications to Trash, then run the rm command above.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9">
    <p:bg>
      <p:bgPr>
        <a:solidFill>
          <a:srgbClr val="0A0F1A"/>
        </a:solidFill>
        <a:effectLst/>
      </p:bgPr>
    </p:bg>
    <p:spTree>
      <p:nvGrpSpPr>
        <p:cNvPr id="1" name=""/>
        <p:cNvGrpSpPr/>
        <p:nvPr/>
      </p:nvGrpSpPr>
      <p:grpSpPr>
        <a:xfrm>
          <a:off x="0" y="0"/>
          <a:ext cx="0" cy="0"/>
          <a:chOff x="0" y="0"/>
          <a:chExt cx="0" cy="0"/>
        </a:xfrm>
      </p:grpSpPr>
      <p:sp>
        <p:nvSpPr>
          <p:cNvPr id="2" name="GreenLine"/>
          <p:cNvSpPr/>
          <p:nvPr/>
        </p:nvSpPr>
        <p:spPr>
          <a:xfrm>
            <a:off x="614660" y="1057870"/>
            <a:ext cx="13841" cy="3742730"/>
          </a:xfrm>
          <a:prstGeom prst="roundRect">
            <a:avLst>
              <a:gd name="adj" fmla="val 100932"/>
            </a:avLst>
          </a:prstGeom>
          <a:gradFill rotWithShape="1">
            <a:gsLst>
              <a:gs pos="0">
                <a:srgbClr val="76B900"/>
              </a:gs>
              <a:gs pos="100000">
                <a:srgbClr val="76B900">
                  <a:alpha val="8000"/>
                </a:srgbClr>
              </a:gs>
            </a:gsLst>
            <a:lin ang="5400000" scaled="1"/>
          </a:gradFill>
          <a:ln/>
        </p:spPr>
        <p:txBody>
          <a:bodyPr wrap="square" rtlCol="0" anchor="t"/>
          <a:lstStyle/>
          <a:p>
            <a:pPr marL="0" indent="0">
              <a:buNone/>
            </a:pPr>
            <a:endParaRPr lang="en-US"/>
          </a:p>
        </p:txBody>
      </p:sp>
      <p:sp>
        <p:nvSpPr>
          <p:cNvPr id="3" name="Tag"/>
          <p:cNvSpPr/>
          <p:nvPr/>
        </p:nvSpPr>
        <p:spPr>
          <a:xfrm>
            <a:off x="8078403" y="185291"/>
            <a:ext cx="700000" cy="207913"/>
          </a:xfrm>
          <a:prstGeom prst="roundRect">
            <a:avLst>
              <a:gd name="adj" fmla="val 20768"/>
            </a:avLst>
          </a:prstGeom>
          <a:solidFill>
            <a:srgbClr val="76B900">
              <a:alpha val="8000"/>
            </a:srgbClr>
          </a:solidFill>
          <a:ln w="9525">
            <a:solidFill>
              <a:srgbClr val="76B900">
                <a:alpha val="15000"/>
              </a:srgbClr>
            </a:solidFill>
          </a:ln>
        </p:spPr>
        <p:txBody>
          <a:bodyPr wrap="none" lIns="100330" tIns="35560" rIns="100330" bIns="35560" rtlCol="0" anchor="t"/>
          <a:lstStyle/>
          <a:p>
            <a:pPr marL="0" indent="0" algn="l">
              <a:buNone/>
            </a:pPr>
            <a:r>
              <a:rPr lang="en-US" sz="620" kern="0" spc="80">
                <a:solidFill>
                  <a:srgbClr val="8B9CB6"/>
                </a:solidFill>
                <a:latin typeface="Consolas" pitchFamily="34" charset="0"/>
              </a:rPr>
              <a:t>WINDOWS</a:t>
            </a:r>
          </a:p>
        </p:txBody>
      </p:sp>
      <p:sp>
        <p:nvSpPr>
          <p:cNvPr id="5" name="Title"/>
          <p:cNvSpPr/>
          <p:nvPr/>
        </p:nvSpPr>
        <p:spPr>
          <a:xfrm>
            <a:off x="758130" y="342900"/>
            <a:ext cx="7000000" cy="296317"/>
          </a:xfrm>
          <a:prstGeom prst="rect">
            <a:avLst/>
          </a:prstGeom>
          <a:noFill/>
          <a:ln/>
        </p:spPr>
        <p:txBody>
          <a:bodyPr wrap="none" lIns="0" tIns="0" rIns="0" bIns="0" rtlCol="0" anchor="ctr"/>
          <a:lstStyle/>
          <a:p>
            <a:pPr marL="0" indent="0" algn="l">
              <a:lnSpc>
                <a:spcPts val="2335"/>
              </a:lnSpc>
              <a:buNone/>
            </a:pPr>
            <a:r>
              <a:rPr lang="en-US" sz="2030" b="1" kern="0" spc="-30">
                <a:solidFill>
                  <a:srgbClr val="E2E8F0"/>
                </a:solidFill>
                <a:latin typeface="Consolas" pitchFamily="34" charset="0"/>
                <a:ea typeface="Consolas" pitchFamily="34" charset="-122"/>
                <a:cs typeface="Consolas" pitchFamily="34" charset="-120"/>
              </a:rPr>
              <a:t>Windows + Quick Reference</a:t>
            </a:r>
          </a:p>
        </p:txBody>
      </p:sp>
      <p:sp>
        <p:nvSpPr>
          <p:cNvPr id="6" name="Subtitle"/>
          <p:cNvSpPr/>
          <p:nvPr/>
        </p:nvSpPr>
        <p:spPr>
          <a:xfrm>
            <a:off x="758130" y="682377"/>
            <a:ext cx="8200000" cy="171450"/>
          </a:xfrm>
          <a:prstGeom prst="rect">
            <a:avLst/>
          </a:prstGeom>
          <a:noFill/>
          <a:ln/>
        </p:spPr>
        <p:txBody>
          <a:bodyPr wrap="square" lIns="299720" tIns="0" rIns="0" bIns="0" rtlCol="0" anchor="t"/>
          <a:lstStyle/>
          <a:p>
            <a:pPr marL="0" indent="0" algn="l">
              <a:lnSpc>
                <a:spcPts val="1350"/>
              </a:lnSpc>
              <a:buNone/>
            </a:pPr>
            <a:r>
              <a:rPr lang="en-US" sz="900">
                <a:solidFill>
                  <a:srgbClr val="8B9CB6"/>
                </a:solidFill>
                <a:latin typeface="Calibri" pitchFamily="34" charset="0"/>
              </a:rPr>
              <a:t>Download the installer, pull a model, and verify — plus handy notes for all platforms</a:t>
            </a:r>
          </a:p>
        </p:txBody>
      </p:sp>
      <p:sp>
        <p:nvSpPr>
          <p:cNvPr id="7" name="LeftCard"/>
          <p:cNvSpPr/>
          <p:nvPr/>
        </p:nvSpPr>
        <p:spPr>
          <a:xfrm>
            <a:off x="758130" y="977281"/>
            <a:ext cx="4300000" cy="2100000"/>
          </a:xfrm>
          <a:prstGeom prst="roundRect">
            <a:avLst>
              <a:gd name="adj" fmla="val 4000"/>
            </a:avLst>
          </a:prstGeom>
          <a:solidFill>
            <a:srgbClr val="131C2A"/>
          </a:solidFill>
          <a:ln w="9525">
            <a:solidFill>
              <a:srgbClr val="76B900">
                <a:alpha val="18000"/>
              </a:srgbClr>
            </a:solidFill>
          </a:ln>
        </p:spPr>
        <p:txBody>
          <a:bodyPr wrap="square" rtlCol="0" anchor="t"/>
          <a:lstStyle/>
          <a:p>
            <a:pPr marL="0" indent="0">
              <a:buNone/>
            </a:pPr>
            <a:endParaRPr lang="en-US"/>
          </a:p>
        </p:txBody>
      </p:sp>
      <p:sp>
        <p:nvSpPr>
          <p:cNvPr id="10" name="Num1"/>
          <p:cNvSpPr/>
          <p:nvPr/>
        </p:nvSpPr>
        <p:spPr>
          <a:xfrm>
            <a:off x="900000" y="108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1</a:t>
            </a:r>
          </a:p>
        </p:txBody>
      </p:sp>
      <p:sp>
        <p:nvSpPr>
          <p:cNvPr id="11" name="Label1"/>
          <p:cNvSpPr/>
          <p:nvPr/>
        </p:nvSpPr>
        <p:spPr>
          <a:xfrm>
            <a:off x="1280000" y="1070000"/>
            <a:ext cx="35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DOWNLOAD AND INSTALL</a:t>
            </a:r>
          </a:p>
        </p:txBody>
      </p:sp>
      <p:sp>
        <p:nvSpPr>
          <p:cNvPr id="12" name="InstDesc"/>
          <p:cNvSpPr/>
          <p:nvPr/>
        </p:nvSpPr>
        <p:spPr>
          <a:xfrm>
            <a:off x="1280000" y="1280000"/>
            <a:ext cx="3500000" cy="400000"/>
          </a:xfrm>
          <a:prstGeom prst="rect">
            <a:avLst/>
          </a:prstGeom>
          <a:noFill/>
          <a:ln/>
        </p:spPr>
        <p:txBody>
          <a:bodyPr wrap="square" lIns="0" tIns="0" rIns="0" bIns="0" rtlCol="0" anchor="t"/>
          <a:lstStyle/>
          <a:p>
            <a:pPr marL="0" indent="0" algn="l">
              <a:lnSpc>
                <a:spcPts val="1100"/>
              </a:lnSpc>
              <a:buNone/>
            </a:pPr>
            <a:r>
              <a:rPr lang="en-US" sz="800">
                <a:solidFill>
                  <a:srgbClr val="8B9CB6"/>
                </a:solidFill>
                <a:latin typeface="Calibri" pitchFamily="34" charset="0"/>
              </a:rPr>
              <a:t>Go to ollama.com and download </a:t>
            </a:r>
            <a:r>
              <a:rPr lang="en-US" sz="800" b="1">
                <a:solidFill>
                  <a:srgbClr val="E2E8F0"/>
                </a:solidFill>
                <a:latin typeface="Calibri" pitchFamily="34" charset="0"/>
              </a:rPr>
              <a:t>OllamaSetup.exe</a:t>
            </a:r>
          </a:p>
          <a:p>
            <a:pPr marL="0" indent="0" algn="l">
              <a:lnSpc>
                <a:spcPts val="1100"/>
              </a:lnSpc>
              <a:spcBef>
                <a:spcPts val="200"/>
              </a:spcBef>
              <a:buNone/>
            </a:pPr>
            <a:r>
              <a:rPr lang="en-US" sz="800">
                <a:solidFill>
                  <a:srgbClr val="8B9CB6"/>
                </a:solidFill>
                <a:latin typeface="Calibri" pitchFamily="34" charset="0"/>
              </a:rPr>
              <a:t>The installer adds ollama to PATH and starts a background service automatically.</a:t>
            </a:r>
          </a:p>
        </p:txBody>
      </p:sp>
      <p:sp>
        <p:nvSpPr>
          <p:cNvPr id="20" name="Num2"/>
          <p:cNvSpPr/>
          <p:nvPr/>
        </p:nvSpPr>
        <p:spPr>
          <a:xfrm>
            <a:off x="900000" y="1800000"/>
            <a:ext cx="280000" cy="280000"/>
          </a:xfrm>
          <a:prstGeom prst="roundRect">
            <a:avLst>
              <a:gd name="adj" fmla="val 20741"/>
            </a:avLst>
          </a:prstGeom>
          <a:solidFill>
            <a:srgbClr val="76B900">
              <a:alpha val="10000"/>
            </a:srgbClr>
          </a:solidFill>
          <a:ln/>
        </p:spPr>
        <p:txBody>
          <a:bodyPr wrap="square" lIns="0" tIns="0" rIns="0" bIns="0" rtlCol="0" anchor="ctr"/>
          <a:lstStyle/>
          <a:p>
            <a:pPr marL="0" indent="0" algn="ctr">
              <a:buNone/>
            </a:pPr>
            <a:r>
              <a:rPr lang="en-US" sz="1400" b="1">
                <a:solidFill>
                  <a:srgbClr val="76B900"/>
                </a:solidFill>
                <a:latin typeface="Consolas" pitchFamily="34" charset="0"/>
              </a:rPr>
              <a:t>2</a:t>
            </a:r>
          </a:p>
        </p:txBody>
      </p:sp>
      <p:sp>
        <p:nvSpPr>
          <p:cNvPr id="21" name="Label2"/>
          <p:cNvSpPr/>
          <p:nvPr/>
        </p:nvSpPr>
        <p:spPr>
          <a:xfrm>
            <a:off x="1280000" y="1790000"/>
            <a:ext cx="3500000" cy="170000"/>
          </a:xfrm>
          <a:prstGeom prst="rect">
            <a:avLst/>
          </a:prstGeom>
          <a:noFill/>
          <a:ln/>
        </p:spPr>
        <p:txBody>
          <a:bodyPr wrap="none" lIns="0" tIns="0" rIns="0" bIns="0" rtlCol="0" anchor="t"/>
          <a:lstStyle/>
          <a:p>
            <a:pPr marL="0" indent="0" algn="l">
              <a:lnSpc>
                <a:spcPts val="1095"/>
              </a:lnSpc>
              <a:buNone/>
            </a:pPr>
            <a:r>
              <a:rPr lang="en-US" sz="730" b="1" spc="110">
                <a:solidFill>
                  <a:srgbClr val="76B900"/>
                </a:solidFill>
                <a:latin typeface="Consolas" pitchFamily="34" charset="0"/>
              </a:rPr>
              <a:t>PULL AND RUN MODEL</a:t>
            </a:r>
          </a:p>
        </p:txBody>
      </p:sp>
      <p:sp>
        <p:nvSpPr>
          <p:cNvPr id="22" name="Code2"/>
          <p:cNvSpPr/>
          <p:nvPr/>
        </p:nvSpPr>
        <p:spPr>
          <a:xfrm>
            <a:off x="1280000" y="2000000"/>
            <a:ext cx="3500000" cy="470000"/>
          </a:xfrm>
          <a:prstGeom prst="roundRect">
            <a:avLst>
              <a:gd name="adj" fmla="val 12000"/>
            </a:avLst>
          </a:prstGeom>
          <a:solidFill>
            <a:srgbClr val="76B900">
              <a:alpha val="7000"/>
            </a:srgbClr>
          </a:solidFill>
          <a:ln w="9525">
            <a:solidFill>
              <a:srgbClr val="76B900">
                <a:alpha val="13000"/>
              </a:srgbClr>
            </a:solidFill>
          </a:ln>
        </p:spPr>
        <p:txBody>
          <a:bodyPr wrap="square" lIns="114300" tIns="68580" rIns="114300" bIns="68580" rtlCol="0" anchor="t"/>
          <a:lstStyle/>
          <a:p>
            <a:pPr marL="0" indent="0" algn="l">
              <a:lnSpc>
                <a:spcPts val="1200"/>
              </a:lnSpc>
              <a:buNone/>
            </a:pPr>
            <a:r>
              <a:rPr lang="en-US" sz="900">
                <a:solidFill>
                  <a:srgbClr val="76B900"/>
                </a:solidFill>
                <a:latin typeface="Consolas" pitchFamily="34" charset="0"/>
              </a:rPr>
              <a:t>ollama pull tinyllama</a:t>
            </a:r>
          </a:p>
          <a:p>
            <a:pPr marL="0" indent="0" algn="l">
              <a:lnSpc>
                <a:spcPts val="1200"/>
              </a:lnSpc>
              <a:buNone/>
            </a:pPr>
            <a:r>
              <a:rPr lang="en-US" sz="900">
                <a:solidFill>
                  <a:srgbClr val="76B900"/>
                </a:solidFill>
                <a:latin typeface="Consolas" pitchFamily="34" charset="0"/>
              </a:rPr>
              <a:t>ollama run tinyllama</a:t>
            </a:r>
          </a:p>
        </p:txBody>
      </p:sp>
      <p:sp>
        <p:nvSpPr>
          <p:cNvPr id="25" name="AutoNote"/>
          <p:cNvSpPr/>
          <p:nvPr/>
        </p:nvSpPr>
        <p:spPr>
          <a:xfrm>
            <a:off x="900000" y="2580000"/>
            <a:ext cx="3800000" cy="300000"/>
          </a:xfrm>
          <a:prstGeom prst="rect">
            <a:avLst/>
          </a:prstGeom>
          <a:noFill/>
          <a:ln/>
        </p:spPr>
        <p:txBody>
          <a:bodyPr wrap="square" lIns="0" tIns="0" rIns="0" bIns="0" rtlCol="0" anchor="t"/>
          <a:lstStyle/>
          <a:p>
            <a:pPr marL="0" indent="0" algn="l">
              <a:lnSpc>
                <a:spcPts val="1100"/>
              </a:lnSpc>
              <a:buNone/>
            </a:pPr>
            <a:r>
              <a:rPr lang="en-US" sz="750">
                <a:solidFill>
                  <a:srgbClr val="8B9CB6"/>
                </a:solidFill>
                <a:latin typeface="Calibri" pitchFamily="34" charset="0"/>
              </a:rPr>
              <a:t>Ollama auto-starts after installation on Windows. Manage via Task Manager → Services or system tray.</a:t>
            </a:r>
          </a:p>
        </p:txBody>
      </p:sp>
      <p:sp>
        <p:nvSpPr>
          <p:cNvPr id="30" name="RightCard"/>
          <p:cNvSpPr/>
          <p:nvPr/>
        </p:nvSpPr>
        <p:spPr>
          <a:xfrm>
            <a:off x="5208130" y="977281"/>
            <a:ext cx="3500000" cy="3200000"/>
          </a:xfrm>
          <a:prstGeom prst="roundRect">
            <a:avLst>
              <a:gd name="adj" fmla="val 4000"/>
            </a:avLst>
          </a:prstGeom>
          <a:solidFill>
            <a:srgbClr val="131C2A"/>
          </a:solidFill>
          <a:ln w="9525">
            <a:solidFill>
              <a:srgbClr val="76B900">
                <a:alpha val="18000"/>
              </a:srgbClr>
            </a:solidFill>
          </a:ln>
        </p:spPr>
        <p:txBody>
          <a:bodyPr wrap="square" lIns="137160" tIns="137160" rIns="137160" bIns="91440" rtlCol="0" anchor="t"/>
          <a:lstStyle/>
          <a:p>
            <a:pPr marL="0" indent="0" algn="l">
              <a:lnSpc>
                <a:spcPts val="1400"/>
              </a:lnSpc>
              <a:buNone/>
            </a:pPr>
            <a:r>
              <a:rPr lang="en-US" sz="900" b="1" spc="110">
                <a:solidFill>
                  <a:srgbClr val="76B900"/>
                </a:solidFill>
                <a:latin typeface="Consolas" pitchFamily="34" charset="0"/>
              </a:rPr>
              <a:t>QUICK TEST (ALL PLATFORMS)</a:t>
            </a:r>
          </a:p>
          <a:p>
            <a:pPr marL="0" indent="0" algn="l">
              <a:lnSpc>
                <a:spcPts val="1200"/>
              </a:lnSpc>
              <a:spcBef>
                <a:spcPts val="400"/>
              </a:spcBef>
              <a:buNone/>
            </a:pPr>
            <a:r>
              <a:rPr lang="en-US" sz="750">
                <a:solidFill>
                  <a:srgbClr val="76B900"/>
                </a:solidFill>
                <a:latin typeface="Consolas" pitchFamily="34" charset="0"/>
              </a:rPr>
              <a:t>ollama list</a:t>
            </a:r>
          </a:p>
          <a:p>
            <a:pPr marL="0" indent="0" algn="l">
              <a:lnSpc>
                <a:spcPts val="1000"/>
              </a:lnSpc>
              <a:buNone/>
            </a:pPr>
            <a:r>
              <a:rPr lang="en-US" sz="650">
                <a:solidFill>
                  <a:srgbClr val="8B9CB6"/>
                </a:solidFill>
                <a:latin typeface="Calibri" pitchFamily="34" charset="0"/>
              </a:rPr>
              <a:t>See installed models</a:t>
            </a:r>
          </a:p>
          <a:p>
            <a:pPr marL="0" indent="0" algn="l">
              <a:lnSpc>
                <a:spcPts val="1200"/>
              </a:lnSpc>
              <a:spcBef>
                <a:spcPts val="300"/>
              </a:spcBef>
              <a:buNone/>
            </a:pPr>
            <a:r>
              <a:rPr lang="en-US" sz="750">
                <a:solidFill>
                  <a:srgbClr val="76B900"/>
                </a:solidFill>
                <a:latin typeface="Consolas" pitchFamily="34" charset="0"/>
              </a:rPr>
              <a:t>ollama run tinyllama</a:t>
            </a:r>
          </a:p>
          <a:p>
            <a:pPr marL="0" indent="0" algn="l">
              <a:lnSpc>
                <a:spcPts val="1000"/>
              </a:lnSpc>
              <a:buNone/>
            </a:pPr>
            <a:r>
              <a:rPr lang="en-US" sz="650">
                <a:solidFill>
                  <a:srgbClr val="8B9CB6"/>
                </a:solidFill>
                <a:latin typeface="Calibri" pitchFamily="34" charset="0"/>
              </a:rPr>
              <a:t>Chat with model (type /bye to exit)</a:t>
            </a:r>
          </a:p>
          <a:p>
            <a:pPr marL="0" indent="0" algn="l">
              <a:lnSpc>
                <a:spcPts val="1400"/>
              </a:lnSpc>
              <a:spcBef>
                <a:spcPts val="600"/>
              </a:spcBef>
              <a:buNone/>
            </a:pPr>
            <a:r>
              <a:rPr lang="en-US" sz="900" b="1" spc="110">
                <a:solidFill>
                  <a:srgbClr val="76B900"/>
                </a:solidFill>
                <a:latin typeface="Consolas" pitchFamily="34" charset="0"/>
              </a:rPr>
              <a:t>NOTES</a:t>
            </a:r>
          </a:p>
          <a:p>
            <a:pPr marL="0" indent="0" algn="l">
              <a:lnSpc>
                <a:spcPts val="1100"/>
              </a:lnSpc>
              <a:spcBef>
                <a:spcPts val="300"/>
              </a:spcBef>
              <a:buNone/>
            </a:pPr>
            <a:r>
              <a:rPr lang="en-US" sz="700" b="1">
                <a:solidFill>
                  <a:srgbClr val="E2E8F0"/>
                </a:solidFill>
                <a:latin typeface="Calibri" pitchFamily="34" charset="0"/>
              </a:rPr>
              <a:t>Model Storage</a:t>
            </a:r>
          </a:p>
          <a:p>
            <a:pPr marL="0" indent="0" algn="l">
              <a:lnSpc>
                <a:spcPts val="1000"/>
              </a:lnSpc>
              <a:buNone/>
            </a:pPr>
            <a:r>
              <a:rPr lang="en-US" sz="650">
                <a:solidFill>
                  <a:srgbClr val="76B900"/>
                </a:solidFill>
                <a:latin typeface="Consolas" pitchFamily="34" charset="0"/>
              </a:rPr>
              <a:t>~/.ollama/models</a:t>
            </a:r>
            <a:r>
              <a:rPr lang="en-US" sz="650">
                <a:solidFill>
                  <a:srgbClr val="8B9CB6"/>
                </a:solidFill>
                <a:latin typeface="Calibri" pitchFamily="34" charset="0"/>
              </a:rPr>
              <a:t> (Linux/macOS)</a:t>
            </a:r>
          </a:p>
          <a:p>
            <a:pPr marL="0" indent="0" algn="l">
              <a:lnSpc>
                <a:spcPts val="1000"/>
              </a:lnSpc>
              <a:buNone/>
            </a:pPr>
            <a:r>
              <a:rPr lang="en-US" sz="650">
                <a:solidFill>
                  <a:srgbClr val="76B900"/>
                </a:solidFill>
                <a:latin typeface="Consolas" pitchFamily="34" charset="0"/>
              </a:rPr>
              <a:t>%LOCALAPPDATA%\Ollama</a:t>
            </a:r>
            <a:r>
              <a:rPr lang="en-US" sz="650">
                <a:solidFill>
                  <a:srgbClr val="8B9CB6"/>
                </a:solidFill>
                <a:latin typeface="Calibri" pitchFamily="34" charset="0"/>
              </a:rPr>
              <a:t> (Win)</a:t>
            </a:r>
          </a:p>
          <a:p>
            <a:pPr marL="0" indent="0" algn="l">
              <a:lnSpc>
                <a:spcPts val="1100"/>
              </a:lnSpc>
              <a:spcBef>
                <a:spcPts val="400"/>
              </a:spcBef>
              <a:buNone/>
            </a:pPr>
            <a:r>
              <a:rPr lang="en-US" sz="700" b="1">
                <a:solidFill>
                  <a:srgbClr val="E2E8F0"/>
                </a:solidFill>
                <a:latin typeface="Calibri" pitchFamily="34" charset="0"/>
              </a:rPr>
              <a:t>Model Recommendations</a:t>
            </a:r>
          </a:p>
          <a:p>
            <a:pPr marL="0" indent="0" algn="l">
              <a:lnSpc>
                <a:spcPts val="1000"/>
              </a:lnSpc>
              <a:buNone/>
            </a:pPr>
            <a:r>
              <a:rPr lang="en-US" sz="650">
                <a:solidFill>
                  <a:srgbClr val="8B9CB6"/>
                </a:solidFill>
                <a:latin typeface="Calibri" pitchFamily="34" charset="0"/>
              </a:rPr>
              <a:t>TinyLlama is small and fast but not very smart — great for testing.</a:t>
            </a:r>
          </a:p>
          <a:p>
            <a:pPr marL="0" indent="0" algn="l">
              <a:lnSpc>
                <a:spcPts val="1000"/>
              </a:lnSpc>
              <a:buNone/>
            </a:pPr>
            <a:r>
              <a:rPr lang="en-US" sz="650">
                <a:solidFill>
                  <a:srgbClr val="8B9CB6"/>
                </a:solidFill>
                <a:latin typeface="Calibri" pitchFamily="34" charset="0"/>
              </a:rPr>
              <a:t>For better quality, try </a:t>
            </a:r>
            <a:r>
              <a:rPr lang="en-US" sz="650" b="1">
                <a:solidFill>
                  <a:srgbClr val="E2E8F0"/>
                </a:solidFill>
                <a:latin typeface="Calibri" pitchFamily="34" charset="0"/>
              </a:rPr>
              <a:t>gemma3:1b</a:t>
            </a:r>
            <a:r>
              <a:rPr lang="en-US" sz="650">
                <a:solidFill>
                  <a:srgbClr val="8B9CB6"/>
                </a:solidFill>
                <a:latin typeface="Calibri" pitchFamily="34" charset="0"/>
              </a:rPr>
              <a:t> or </a:t>
            </a:r>
            <a:r>
              <a:rPr lang="en-US" sz="650" b="1">
                <a:solidFill>
                  <a:srgbClr val="E2E8F0"/>
                </a:solidFill>
                <a:latin typeface="Calibri" pitchFamily="34" charset="0"/>
              </a:rPr>
              <a:t>qwen2.5:0.5b</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7">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4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6707" y="75791"/>
            <a:ext cx="171450" cy="171450"/>
          </a:xfrm>
          <a:prstGeom prst="rect">
            <a:avLst/>
          </a:prstGeom>
        </p:spPr>
      </p:pic>
      <p:sp>
        <p:nvSpPr>
          <p:cNvPr id="4" name="Text 1"/>
          <p:cNvSpPr/>
          <p:nvPr/>
        </p:nvSpPr>
        <p:spPr>
          <a:xfrm>
            <a:off x="3873913" y="0"/>
            <a:ext cx="1667784" cy="407640"/>
          </a:xfrm>
          <a:prstGeom prst="rect">
            <a:avLst/>
          </a:prstGeom>
          <a:noFill/>
          <a:ln/>
        </p:spPr>
        <p:txBody>
          <a:bodyPr wrap="none" lIns="0" tIns="0" rIns="0" bIns="0" rtlCol="0" anchor="ctr"/>
          <a:lstStyle/>
          <a:p>
            <a:pPr marL="0" indent="0" algn="ctr">
              <a:lnSpc>
                <a:spcPts val="3210"/>
              </a:lnSpc>
              <a:buNone/>
            </a:pPr>
            <a:r>
              <a:rPr lang="en-US" sz="2140" kern="0" spc="60" dirty="0">
                <a:solidFill>
                  <a:srgbClr val="E2E8F0"/>
                </a:solidFill>
                <a:latin typeface="Consolas" pitchFamily="34" charset="0"/>
                <a:ea typeface="Consolas" pitchFamily="34" charset="-122"/>
                <a:cs typeface="Consolas" pitchFamily="34" charset="-120"/>
              </a:rPr>
              <a:t>Bonus Tools</a:t>
            </a:r>
            <a:endParaRPr lang="en-US" sz="2140" dirty="0"/>
          </a:p>
        </p:txBody>
      </p:sp>
      <p:sp>
        <p:nvSpPr>
          <p:cNvPr id="5" name="Text 2"/>
          <p:cNvSpPr/>
          <p:nvPr/>
        </p:nvSpPr>
        <p:spPr>
          <a:xfrm>
            <a:off x="0" y="422561"/>
            <a:ext cx="9144000" cy="166254"/>
          </a:xfrm>
          <a:prstGeom prst="rect">
            <a:avLst/>
          </a:prstGeom>
          <a:noFill/>
          <a:ln/>
        </p:spPr>
        <p:txBody>
          <a:bodyPr wrap="none" lIns="0" tIns="0" rIns="0" bIns="0" rtlCol="0" anchor="t"/>
          <a:lstStyle/>
          <a:p>
            <a:pPr marL="0" indent="0" algn="ctr">
              <a:lnSpc>
                <a:spcPts val="1440"/>
              </a:lnSpc>
              <a:spcBef>
                <a:spcPts val="450"/>
              </a:spcBef>
              <a:buNone/>
            </a:pPr>
            <a:r>
              <a:rPr lang="en-US" sz="960" dirty="0">
                <a:solidFill>
                  <a:srgbClr val="8B9CB6"/>
                </a:solidFill>
                <a:latin typeface="Calibri" pitchFamily="34" charset="0"/>
                <a:ea typeface="Calibri" pitchFamily="34" charset="-122"/>
                <a:cs typeface="Calibri" pitchFamily="34" charset="-120"/>
              </a:rPr>
              <a:t>Complementary UIs for interacting with your local models</a:t>
            </a:r>
            <a:endParaRPr lang="en-US" sz="960" dirty="0"/>
          </a:p>
        </p:txBody>
      </p:sp>
      <p:sp>
        <p:nvSpPr>
          <p:cNvPr id="6" name="Text 3"/>
          <p:cNvSpPr/>
          <p:nvPr/>
        </p:nvSpPr>
        <p:spPr>
          <a:xfrm>
            <a:off x="571500" y="914734"/>
            <a:ext cx="3429000" cy="3436371"/>
          </a:xfrm>
          <a:prstGeom prst="roundRect">
            <a:avLst>
              <a:gd name="adj" fmla="val 3809"/>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7" name="Text 4"/>
          <p:cNvSpPr/>
          <p:nvPr/>
        </p:nvSpPr>
        <p:spPr>
          <a:xfrm>
            <a:off x="2000250" y="1267160"/>
            <a:ext cx="571500" cy="5715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78844" y="1445754"/>
            <a:ext cx="214313" cy="214313"/>
          </a:xfrm>
          <a:prstGeom prst="rect">
            <a:avLst/>
          </a:prstGeom>
        </p:spPr>
      </p:pic>
      <p:sp>
        <p:nvSpPr>
          <p:cNvPr id="9" name="Text 5"/>
          <p:cNvSpPr/>
          <p:nvPr/>
        </p:nvSpPr>
        <p:spPr>
          <a:xfrm>
            <a:off x="1703796" y="2010110"/>
            <a:ext cx="1164407" cy="300930"/>
          </a:xfrm>
          <a:prstGeom prst="rect">
            <a:avLst/>
          </a:prstGeom>
          <a:noFill/>
          <a:ln/>
        </p:spPr>
        <p:txBody>
          <a:bodyPr wrap="none" lIns="0" tIns="0" rIns="0" bIns="0" rtlCol="0" anchor="t"/>
          <a:lstStyle/>
          <a:p>
            <a:pPr marL="0" indent="0" algn="ctr">
              <a:lnSpc>
                <a:spcPts val="2370"/>
              </a:lnSpc>
              <a:buNone/>
            </a:pPr>
            <a:r>
              <a:rPr lang="en-US" sz="1580" b="1" dirty="0">
                <a:solidFill>
                  <a:srgbClr val="76B900"/>
                </a:solidFill>
                <a:latin typeface="Consolas" pitchFamily="34" charset="0"/>
                <a:ea typeface="Consolas" pitchFamily="34" charset="-122"/>
                <a:cs typeface="Consolas" pitchFamily="34" charset="-120"/>
              </a:rPr>
              <a:t>WebOllama</a:t>
            </a:r>
            <a:endParaRPr lang="en-US" sz="1580" dirty="0"/>
          </a:p>
        </p:txBody>
      </p:sp>
      <p:sp>
        <p:nvSpPr>
          <p:cNvPr id="10" name="Text 6"/>
          <p:cNvSpPr/>
          <p:nvPr/>
        </p:nvSpPr>
        <p:spPr>
          <a:xfrm>
            <a:off x="1840706" y="2368191"/>
            <a:ext cx="908247" cy="182166"/>
          </a:xfrm>
          <a:prstGeom prst="roundRect">
            <a:avLst>
              <a:gd name="adj" fmla="val 78780"/>
            </a:avLst>
          </a:prstGeom>
          <a:solidFill>
            <a:srgbClr val="76B900"/>
          </a:solidFill>
          <a:ln/>
        </p:spPr>
        <p:txBody>
          <a:bodyPr wrap="none" lIns="100330" tIns="21590" rIns="100330" bIns="21590" rtlCol="0" anchor="t"/>
          <a:lstStyle/>
          <a:p>
            <a:pPr marL="0" indent="0" algn="l">
              <a:buNone/>
            </a:pPr>
            <a:r>
              <a:rPr lang="en-US" sz="730" b="1" kern="0" spc="30" dirty="0">
                <a:solidFill>
                  <a:srgbClr val="0A0F1A"/>
                </a:solidFill>
                <a:latin typeface="Consolas" pitchFamily="34" charset="0"/>
                <a:ea typeface="Consolas" pitchFamily="34" charset="-122"/>
                <a:cs typeface="Consolas" pitchFamily="34" charset="-120"/>
              </a:rPr>
              <a:t>LIGHTWEIGHT</a:t>
            </a:r>
            <a:endParaRPr lang="en-US" sz="730" dirty="0"/>
          </a:p>
        </p:txBody>
      </p:sp>
      <p:sp>
        <p:nvSpPr>
          <p:cNvPr id="11" name="Text 7"/>
          <p:cNvSpPr/>
          <p:nvPr/>
        </p:nvSpPr>
        <p:spPr>
          <a:xfrm>
            <a:off x="838391" y="2693827"/>
            <a:ext cx="2895219" cy="430991"/>
          </a:xfrm>
          <a:prstGeom prst="rect">
            <a:avLst/>
          </a:prstGeom>
          <a:noFill/>
          <a:ln/>
        </p:spPr>
        <p:txBody>
          <a:bodyPr wrap="square" lIns="0" tIns="0" rIns="0" bIns="0" rtlCol="0" anchor="ctr"/>
          <a:lstStyle/>
          <a:p>
            <a:pPr marL="0" indent="0" algn="ctr">
              <a:lnSpc>
                <a:spcPts val="1616"/>
              </a:lnSpc>
              <a:spcAft>
                <a:spcPts val="1130"/>
              </a:spcAft>
              <a:buNone/>
            </a:pPr>
            <a:r>
              <a:rPr lang="en-US" sz="1010" dirty="0">
                <a:solidFill>
                  <a:srgbClr val="E2E8F0"/>
                </a:solidFill>
                <a:latin typeface="Calibri" pitchFamily="34" charset="0"/>
                <a:ea typeface="Calibri" pitchFamily="34" charset="-122"/>
                <a:cs typeface="Calibri" pitchFamily="34" charset="-120"/>
              </a:rPr>
              <a:t>Lightweight testing UI for quick model experiments and testing</a:t>
            </a:r>
            <a:endParaRPr lang="en-US" sz="1010" dirty="0"/>
          </a:p>
        </p:txBody>
      </p:sp>
      <p:sp>
        <p:nvSpPr>
          <p:cNvPr id="12" name="Text 8"/>
          <p:cNvSpPr/>
          <p:nvPr/>
        </p:nvSpPr>
        <p:spPr>
          <a:xfrm>
            <a:off x="1023491" y="3290925"/>
            <a:ext cx="1264012"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Fast setup &amp; zero config</a:t>
            </a:r>
            <a:endParaRPr lang="en-US" sz="84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3344" y="3304552"/>
            <a:ext cx="132588" cy="132588"/>
          </a:xfrm>
          <a:prstGeom prst="rect">
            <a:avLst/>
          </a:prstGeom>
        </p:spPr>
      </p:pic>
      <p:sp>
        <p:nvSpPr>
          <p:cNvPr id="14" name="Text 9"/>
          <p:cNvSpPr/>
          <p:nvPr/>
        </p:nvSpPr>
        <p:spPr>
          <a:xfrm>
            <a:off x="1023491" y="3537236"/>
            <a:ext cx="1075090"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Quick prompt testing</a:t>
            </a:r>
            <a:endParaRPr lang="en-US" sz="84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3344" y="3550862"/>
            <a:ext cx="132588" cy="132588"/>
          </a:xfrm>
          <a:prstGeom prst="rect">
            <a:avLst/>
          </a:prstGeom>
        </p:spPr>
      </p:pic>
      <p:sp>
        <p:nvSpPr>
          <p:cNvPr id="16" name="Text 10"/>
          <p:cNvSpPr/>
          <p:nvPr/>
        </p:nvSpPr>
        <p:spPr>
          <a:xfrm>
            <a:off x="1023491" y="3783546"/>
            <a:ext cx="1348651"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Minimal resource footprint</a:t>
            </a:r>
            <a:endParaRPr lang="en-US" sz="84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3344" y="3797173"/>
            <a:ext cx="132588" cy="132588"/>
          </a:xfrm>
          <a:prstGeom prst="rect">
            <a:avLst/>
          </a:prstGeom>
        </p:spPr>
      </p:pic>
      <p:sp>
        <p:nvSpPr>
          <p:cNvPr id="18" name="Text 11"/>
          <p:cNvSpPr/>
          <p:nvPr/>
        </p:nvSpPr>
        <p:spPr>
          <a:xfrm>
            <a:off x="1023491" y="4029857"/>
            <a:ext cx="1068541"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Great for developers</a:t>
            </a:r>
            <a:endParaRPr lang="en-US" sz="84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3344" y="4043483"/>
            <a:ext cx="132588" cy="132588"/>
          </a:xfrm>
          <a:prstGeom prst="rect">
            <a:avLst/>
          </a:prstGeom>
        </p:spPr>
      </p:pic>
      <p:sp>
        <p:nvSpPr>
          <p:cNvPr id="20" name="Text 12"/>
          <p:cNvSpPr/>
          <p:nvPr/>
        </p:nvSpPr>
        <p:spPr>
          <a:xfrm>
            <a:off x="4143375" y="2408300"/>
            <a:ext cx="857250" cy="13841"/>
          </a:xfrm>
          <a:prstGeom prst="rect">
            <a:avLst/>
          </a:prstGeom>
          <a:gradFill rotWithShape="1">
            <a:gsLst>
              <a:gs pos="0">
                <a:srgbClr val="76B900">
                  <a:alpha val="30000"/>
                </a:srgbClr>
              </a:gs>
              <a:gs pos="50000">
                <a:srgbClr val="76B900">
                  <a:alpha val="10000"/>
                </a:srgbClr>
              </a:gs>
              <a:gs pos="100000">
                <a:srgbClr val="76B900">
                  <a:alpha val="30000"/>
                </a:srgbClr>
              </a:gs>
            </a:gsLst>
            <a:lin ang="0" scaled="1"/>
          </a:gradFill>
          <a:ln/>
        </p:spPr>
        <p:txBody>
          <a:bodyPr wrap="none" rtlCol="0" anchor="t"/>
          <a:lstStyle/>
          <a:p>
            <a:pPr marL="0" indent="0">
              <a:buNone/>
            </a:pPr>
            <a:endParaRPr lang="en-US" dirty="0"/>
          </a:p>
        </p:txBody>
      </p:sp>
      <p:sp>
        <p:nvSpPr>
          <p:cNvPr id="21" name="Text 13"/>
          <p:cNvSpPr/>
          <p:nvPr/>
        </p:nvSpPr>
        <p:spPr>
          <a:xfrm>
            <a:off x="5143500" y="914734"/>
            <a:ext cx="3429000" cy="3477467"/>
          </a:xfrm>
          <a:prstGeom prst="roundRect">
            <a:avLst>
              <a:gd name="adj" fmla="val 3809"/>
            </a:avLst>
          </a:prstGeom>
          <a:solidFill>
            <a:srgbClr val="1A2332"/>
          </a:solidFill>
          <a:ln w="9525">
            <a:solidFill>
              <a:srgbClr val="76B900">
                <a:alpha val="12000"/>
              </a:srgbClr>
            </a:solidFill>
          </a:ln>
        </p:spPr>
        <p:txBody>
          <a:bodyPr wrap="square" rtlCol="0" anchor="t"/>
          <a:lstStyle/>
          <a:p>
            <a:pPr marL="0" indent="0">
              <a:buNone/>
            </a:pPr>
            <a:endParaRPr lang="en-US" dirty="0"/>
          </a:p>
        </p:txBody>
      </p:sp>
      <p:sp>
        <p:nvSpPr>
          <p:cNvPr id="22" name="Text 14"/>
          <p:cNvSpPr/>
          <p:nvPr/>
        </p:nvSpPr>
        <p:spPr>
          <a:xfrm>
            <a:off x="6572250" y="1267160"/>
            <a:ext cx="571500" cy="571500"/>
          </a:xfrm>
          <a:prstGeom prst="ellipse">
            <a:avLst/>
          </a:prstGeom>
          <a:solidFill>
            <a:srgbClr val="76B900">
              <a:alpha val="12000"/>
            </a:srgbClr>
          </a:solidFill>
          <a:ln w="9525">
            <a:solidFill>
              <a:srgbClr val="76B900">
                <a:alpha val="30000"/>
              </a:srgbClr>
            </a:solidFill>
          </a:ln>
        </p:spPr>
        <p:txBody>
          <a:bodyPr wrap="square" rtlCol="0" anchor="t"/>
          <a:lstStyle/>
          <a:p>
            <a:pPr marL="0" indent="0">
              <a:buNone/>
            </a:pPr>
            <a:endParaRPr lang="en-US" dirty="0"/>
          </a:p>
        </p:txBody>
      </p:sp>
      <p:pic>
        <p:nvPicPr>
          <p:cNvPr id="2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50844" y="1445754"/>
            <a:ext cx="214313" cy="214313"/>
          </a:xfrm>
          <a:prstGeom prst="rect">
            <a:avLst/>
          </a:prstGeom>
        </p:spPr>
      </p:pic>
      <p:sp>
        <p:nvSpPr>
          <p:cNvPr id="24" name="Text 15"/>
          <p:cNvSpPr/>
          <p:nvPr/>
        </p:nvSpPr>
        <p:spPr>
          <a:xfrm>
            <a:off x="6222295" y="2010110"/>
            <a:ext cx="1271262" cy="300930"/>
          </a:xfrm>
          <a:prstGeom prst="rect">
            <a:avLst/>
          </a:prstGeom>
          <a:noFill/>
          <a:ln/>
        </p:spPr>
        <p:txBody>
          <a:bodyPr wrap="none" lIns="0" tIns="0" rIns="0" bIns="0" rtlCol="0" anchor="t"/>
          <a:lstStyle/>
          <a:p>
            <a:pPr marL="0" indent="0" algn="ctr">
              <a:lnSpc>
                <a:spcPts val="2370"/>
              </a:lnSpc>
              <a:buNone/>
            </a:pPr>
            <a:r>
              <a:rPr lang="en-US" sz="1580" b="1" dirty="0">
                <a:solidFill>
                  <a:srgbClr val="76B900"/>
                </a:solidFill>
                <a:latin typeface="Consolas" pitchFamily="34" charset="0"/>
                <a:ea typeface="Consolas" pitchFamily="34" charset="-122"/>
                <a:cs typeface="Consolas" pitchFamily="34" charset="-120"/>
              </a:rPr>
              <a:t>Open WebUI</a:t>
            </a:r>
            <a:endParaRPr lang="en-US" sz="1580" dirty="0"/>
          </a:p>
        </p:txBody>
      </p:sp>
      <p:sp>
        <p:nvSpPr>
          <p:cNvPr id="25" name="Text 16"/>
          <p:cNvSpPr/>
          <p:nvPr/>
        </p:nvSpPr>
        <p:spPr>
          <a:xfrm>
            <a:off x="6350645" y="2368191"/>
            <a:ext cx="1035004" cy="182166"/>
          </a:xfrm>
          <a:prstGeom prst="roundRect">
            <a:avLst>
              <a:gd name="adj" fmla="val 78780"/>
            </a:avLst>
          </a:prstGeom>
          <a:solidFill>
            <a:srgbClr val="76B900"/>
          </a:solidFill>
          <a:ln/>
        </p:spPr>
        <p:txBody>
          <a:bodyPr wrap="none" lIns="100330" tIns="21590" rIns="100330" bIns="21590" rtlCol="0" anchor="t"/>
          <a:lstStyle/>
          <a:p>
            <a:pPr marL="0" indent="0" algn="l">
              <a:buNone/>
            </a:pPr>
            <a:r>
              <a:rPr lang="en-US" sz="730" b="1" kern="0" spc="30" dirty="0">
                <a:solidFill>
                  <a:srgbClr val="0A0F1A"/>
                </a:solidFill>
                <a:latin typeface="Consolas" pitchFamily="34" charset="0"/>
                <a:ea typeface="Consolas" pitchFamily="34" charset="-122"/>
                <a:cs typeface="Consolas" pitchFamily="34" charset="-120"/>
              </a:rPr>
              <a:t>FULL-FEATURED</a:t>
            </a:r>
            <a:endParaRPr lang="en-US" sz="730" dirty="0"/>
          </a:p>
        </p:txBody>
      </p:sp>
      <p:sp>
        <p:nvSpPr>
          <p:cNvPr id="26" name="Text 17"/>
          <p:cNvSpPr/>
          <p:nvPr/>
        </p:nvSpPr>
        <p:spPr>
          <a:xfrm>
            <a:off x="5410391" y="2693827"/>
            <a:ext cx="2895219" cy="430991"/>
          </a:xfrm>
          <a:prstGeom prst="rect">
            <a:avLst/>
          </a:prstGeom>
          <a:noFill/>
          <a:ln/>
        </p:spPr>
        <p:txBody>
          <a:bodyPr wrap="square" lIns="0" tIns="0" rIns="0" bIns="0" rtlCol="0" anchor="ctr"/>
          <a:lstStyle/>
          <a:p>
            <a:pPr marL="0" indent="0" algn="ctr">
              <a:lnSpc>
                <a:spcPts val="1616"/>
              </a:lnSpc>
              <a:spcAft>
                <a:spcPts val="1130"/>
              </a:spcAft>
              <a:buNone/>
            </a:pPr>
            <a:r>
              <a:rPr lang="en-US" sz="1010" dirty="0">
                <a:solidFill>
                  <a:srgbClr val="E2E8F0"/>
                </a:solidFill>
                <a:latin typeface="Calibri" pitchFamily="34" charset="0"/>
                <a:ea typeface="Calibri" pitchFamily="34" charset="-122"/>
                <a:cs typeface="Calibri" pitchFamily="34" charset="-120"/>
              </a:rPr>
              <a:t>Full ChatGPT-like interface with conversation history, model switching, and rich features</a:t>
            </a:r>
            <a:endParaRPr lang="en-US" sz="1010" dirty="0"/>
          </a:p>
        </p:txBody>
      </p:sp>
      <p:sp>
        <p:nvSpPr>
          <p:cNvPr id="27" name="Text 18"/>
          <p:cNvSpPr/>
          <p:nvPr/>
        </p:nvSpPr>
        <p:spPr>
          <a:xfrm>
            <a:off x="5595491" y="3290925"/>
            <a:ext cx="1596182"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Persistent conversation history</a:t>
            </a:r>
            <a:endParaRPr lang="en-US" sz="840" dirty="0"/>
          </a:p>
        </p:txBody>
      </p:sp>
      <p:pic>
        <p:nvPicPr>
          <p:cNvPr id="28"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415344" y="3304552"/>
            <a:ext cx="132588" cy="132588"/>
          </a:xfrm>
          <a:prstGeom prst="rect">
            <a:avLst/>
          </a:prstGeom>
        </p:spPr>
      </p:pic>
      <p:sp>
        <p:nvSpPr>
          <p:cNvPr id="29" name="Text 19"/>
          <p:cNvSpPr/>
          <p:nvPr/>
        </p:nvSpPr>
        <p:spPr>
          <a:xfrm>
            <a:off x="5595491" y="3537236"/>
            <a:ext cx="1120438"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Multi-model switching</a:t>
            </a:r>
            <a:endParaRPr lang="en-US" sz="840" dirty="0"/>
          </a:p>
        </p:txBody>
      </p:sp>
      <p:pic>
        <p:nvPicPr>
          <p:cNvPr id="30"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15344" y="3550862"/>
            <a:ext cx="132588" cy="132588"/>
          </a:xfrm>
          <a:prstGeom prst="rect">
            <a:avLst/>
          </a:prstGeom>
        </p:spPr>
      </p:pic>
      <p:sp>
        <p:nvSpPr>
          <p:cNvPr id="31" name="Text 20"/>
          <p:cNvSpPr/>
          <p:nvPr/>
        </p:nvSpPr>
        <p:spPr>
          <a:xfrm>
            <a:off x="5595491" y="3783546"/>
            <a:ext cx="938227"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Multi-user support</a:t>
            </a:r>
            <a:endParaRPr lang="en-US" sz="840" dirty="0"/>
          </a:p>
        </p:txBody>
      </p:sp>
      <p:pic>
        <p:nvPicPr>
          <p:cNvPr id="32"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415344" y="3797173"/>
            <a:ext cx="132588" cy="132588"/>
          </a:xfrm>
          <a:prstGeom prst="rect">
            <a:avLst/>
          </a:prstGeom>
        </p:spPr>
      </p:pic>
      <p:sp>
        <p:nvSpPr>
          <p:cNvPr id="33" name="Text 21"/>
          <p:cNvSpPr/>
          <p:nvPr/>
        </p:nvSpPr>
        <p:spPr>
          <a:xfrm>
            <a:off x="5595491" y="4029857"/>
            <a:ext cx="1550834" cy="159990"/>
          </a:xfrm>
          <a:prstGeom prst="rect">
            <a:avLst/>
          </a:prstGeom>
          <a:noFill/>
          <a:ln/>
        </p:spPr>
        <p:txBody>
          <a:bodyPr wrap="none" lIns="0" tIns="43180" rIns="0" bIns="43180" rtlCol="0" anchor="t"/>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File upload &amp; RAG integration</a:t>
            </a:r>
            <a:endParaRPr lang="en-US" sz="840" dirty="0"/>
          </a:p>
        </p:txBody>
      </p:sp>
      <p:pic>
        <p:nvPicPr>
          <p:cNvPr id="34"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415344" y="4043483"/>
            <a:ext cx="132588" cy="132588"/>
          </a:xfrm>
          <a:prstGeom prst="rect">
            <a:avLst/>
          </a:prstGeom>
        </p:spPr>
      </p:pic>
      <p:sp>
        <p:nvSpPr>
          <p:cNvPr id="35" name="Text 22"/>
          <p:cNvSpPr/>
          <p:nvPr/>
        </p:nvSpPr>
        <p:spPr>
          <a:xfrm>
            <a:off x="0" y="4492414"/>
            <a:ext cx="9144000" cy="166254"/>
          </a:xfrm>
          <a:prstGeom prst="rect">
            <a:avLst/>
          </a:prstGeom>
          <a:noFill/>
          <a:ln/>
        </p:spPr>
        <p:txBody>
          <a:bodyPr wrap="none" lIns="0" tIns="0" rIns="0" bIns="0" rtlCol="0" anchor="t"/>
          <a:lstStyle/>
          <a:p>
            <a:pPr marL="0" indent="0" algn="ctr">
              <a:lnSpc>
                <a:spcPts val="1185"/>
              </a:lnSpc>
              <a:buNone/>
            </a:pPr>
            <a:r>
              <a:rPr lang="en-US" sz="790" kern="0" spc="30" dirty="0">
                <a:solidFill>
                  <a:srgbClr val="E2E8F0"/>
                </a:solidFill>
                <a:latin typeface="Consolas" pitchFamily="34" charset="0"/>
                <a:ea typeface="Consolas" pitchFamily="34" charset="-122"/>
                <a:cs typeface="Consolas" pitchFamily="34" charset="-120"/>
              </a:rPr>
              <a:t> </a:t>
            </a:r>
            <a:br/>
            <a:r>
              <a:rPr lang="en-US" sz="790" kern="0" spc="30" dirty="0">
                <a:solidFill>
                  <a:srgbClr val="E2E8F0"/>
                </a:solidFill>
                <a:latin typeface="Consolas" pitchFamily="34" charset="0"/>
                <a:ea typeface="Consolas" pitchFamily="34" charset="-122"/>
                <a:cs typeface="Consolas" pitchFamily="34" charset="-120"/>
              </a:rPr>
              <a:t>      </a:t>
            </a:r>
            <a:r>
              <a:rPr lang="en-US" sz="790" b="1" kern="0" spc="30" dirty="0">
                <a:solidFill>
                  <a:srgbClr val="76B900"/>
                </a:solidFill>
                <a:latin typeface="Consolas" pitchFamily="34" charset="0"/>
                <a:ea typeface="Consolas" pitchFamily="34" charset="-122"/>
                <a:cs typeface="Consolas" pitchFamily="34" charset="-120"/>
              </a:rPr>
              <a:t>TIP</a:t>
            </a:r>
            <a:r>
              <a:rPr lang="en-US" sz="790" kern="0" spc="30" dirty="0">
                <a:solidFill>
                  <a:srgbClr val="E2E8F0"/>
                </a:solidFill>
                <a:latin typeface="Consolas" pitchFamily="34" charset="0"/>
                <a:ea typeface="Consolas" pitchFamily="34" charset="-122"/>
                <a:cs typeface="Consolas" pitchFamily="34" charset="-120"/>
              </a:rPr>
              <a:t>  —  Use WebOllama for quick tests, Open WebUI for daily use</a:t>
            </a:r>
            <a:br/>
            <a:r>
              <a:rPr lang="en-US" sz="790" kern="0" spc="30" dirty="0">
                <a:solidFill>
                  <a:srgbClr val="E2E8F0"/>
                </a:solidFill>
                <a:latin typeface="Consolas" pitchFamily="34" charset="0"/>
                <a:ea typeface="Consolas" pitchFamily="34" charset="-122"/>
                <a:cs typeface="Consolas" pitchFamily="34" charset="-120"/>
              </a:rPr>
              <a:t>    </a:t>
            </a:r>
            <a:endParaRPr lang="en-US" sz="790" dirty="0"/>
          </a:p>
        </p:txBody>
      </p:sp>
      <p:sp>
        <p:nvSpPr>
          <p:cNvPr id="36" name="Text 23"/>
          <p:cNvSpPr/>
          <p:nvPr/>
        </p:nvSpPr>
        <p:spPr>
          <a:xfrm>
            <a:off x="581025" y="924260"/>
            <a:ext cx="3409950" cy="29170"/>
          </a:xfrm>
          <a:custGeom>
            <a:avLst/>
            <a:gdLst/>
            <a:ahLst/>
            <a:cxnLst/>
            <a:rect l="l" t="t" r="r" b="b"/>
            <a:pathLst>
              <a:path w="3409950" h="29170">
                <a:moveTo>
                  <a:pt x="114300" y="0"/>
                </a:moveTo>
                <a:lnTo>
                  <a:pt x="3295650" y="0"/>
                </a:lnTo>
                <a:lnTo>
                  <a:pt x="3324290" y="3646"/>
                </a:lnTo>
                <a:lnTo>
                  <a:pt x="3335823" y="7293"/>
                </a:lnTo>
                <a:lnTo>
                  <a:pt x="3344445" y="10939"/>
                </a:lnTo>
                <a:lnTo>
                  <a:pt x="3351520" y="14585"/>
                </a:lnTo>
                <a:lnTo>
                  <a:pt x="3357580" y="18231"/>
                </a:lnTo>
                <a:lnTo>
                  <a:pt x="3362900" y="21878"/>
                </a:lnTo>
                <a:lnTo>
                  <a:pt x="3367645" y="25524"/>
                </a:lnTo>
                <a:lnTo>
                  <a:pt x="3371922"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76B900"/>
          </a:solidFill>
          <a:ln/>
        </p:spPr>
        <p:txBody>
          <a:bodyPr wrap="none" rtlCol="0" anchor="t"/>
          <a:lstStyle/>
          <a:p>
            <a:pPr marL="0" indent="0">
              <a:buNone/>
            </a:pPr>
            <a:endParaRPr lang="en-US" dirty="0"/>
          </a:p>
        </p:txBody>
      </p:sp>
      <p:sp>
        <p:nvSpPr>
          <p:cNvPr id="37" name="Text 24"/>
          <p:cNvSpPr/>
          <p:nvPr/>
        </p:nvSpPr>
        <p:spPr>
          <a:xfrm>
            <a:off x="5153025" y="924260"/>
            <a:ext cx="3409950" cy="29170"/>
          </a:xfrm>
          <a:custGeom>
            <a:avLst/>
            <a:gdLst/>
            <a:ahLst/>
            <a:cxnLst/>
            <a:rect l="l" t="t" r="r" b="b"/>
            <a:pathLst>
              <a:path w="3409950" h="29170">
                <a:moveTo>
                  <a:pt x="114300" y="0"/>
                </a:moveTo>
                <a:lnTo>
                  <a:pt x="3295650" y="0"/>
                </a:lnTo>
                <a:lnTo>
                  <a:pt x="3324290" y="3646"/>
                </a:lnTo>
                <a:lnTo>
                  <a:pt x="3335823" y="7293"/>
                </a:lnTo>
                <a:lnTo>
                  <a:pt x="3344445" y="10939"/>
                </a:lnTo>
                <a:lnTo>
                  <a:pt x="3351520" y="14585"/>
                </a:lnTo>
                <a:lnTo>
                  <a:pt x="3357580" y="18231"/>
                </a:lnTo>
                <a:lnTo>
                  <a:pt x="3362900" y="21878"/>
                </a:lnTo>
                <a:lnTo>
                  <a:pt x="3367645" y="25524"/>
                </a:lnTo>
                <a:lnTo>
                  <a:pt x="3371922" y="29170"/>
                </a:lnTo>
                <a:lnTo>
                  <a:pt x="38028" y="29170"/>
                </a:lnTo>
                <a:lnTo>
                  <a:pt x="42305" y="25524"/>
                </a:lnTo>
                <a:lnTo>
                  <a:pt x="47050" y="21878"/>
                </a:lnTo>
                <a:lnTo>
                  <a:pt x="52370" y="18231"/>
                </a:lnTo>
                <a:lnTo>
                  <a:pt x="58430" y="14585"/>
                </a:lnTo>
                <a:lnTo>
                  <a:pt x="65505" y="10939"/>
                </a:lnTo>
                <a:lnTo>
                  <a:pt x="74127" y="7293"/>
                </a:lnTo>
                <a:lnTo>
                  <a:pt x="85660" y="3646"/>
                </a:lnTo>
                <a:close/>
              </a:path>
            </a:pathLst>
          </a:custGeom>
          <a:solidFill>
            <a:srgbClr val="76B900"/>
          </a:solidFill>
          <a:ln/>
        </p:spPr>
        <p:txBody>
          <a:bodyPr wrap="none" rtlCol="0" anchor="t"/>
          <a:lstStyle/>
          <a:p>
            <a:pPr marL="0" indent="0">
              <a:buNone/>
            </a:pPr>
            <a:endParaRPr lang="en-US" dirty="0"/>
          </a:p>
        </p:txBody>
      </p:sp>
      <p:sp>
        <p:nvSpPr>
          <p:cNvPr id="38" name="Text 25"/>
          <p:cNvSpPr/>
          <p:nvPr/>
        </p:nvSpPr>
        <p:spPr>
          <a:xfrm>
            <a:off x="4371975" y="2215195"/>
            <a:ext cx="400050" cy="440055"/>
          </a:xfrm>
          <a:prstGeom prst="ellipse">
            <a:avLst/>
          </a:prstGeom>
          <a:solidFill>
            <a:srgbClr val="0A0F1A"/>
          </a:solidFill>
          <a:ln w="9525">
            <a:solidFill>
              <a:srgbClr val="76B900">
                <a:alpha val="40000"/>
              </a:srgbClr>
            </a:solidFill>
          </a:ln>
        </p:spPr>
        <p:txBody>
          <a:bodyPr wrap="none" lIns="0" tIns="0" rIns="0" bIns="0" rtlCol="0" anchor="ctr"/>
          <a:lstStyle/>
          <a:p>
            <a:pPr marL="0" indent="0" algn="ctr">
              <a:buNone/>
            </a:pPr>
            <a:r>
              <a:rPr lang="en-US" sz="900" b="1" dirty="0">
                <a:solidFill>
                  <a:srgbClr val="76B900"/>
                </a:solidFill>
                <a:latin typeface="Consolas" pitchFamily="34" charset="0"/>
                <a:ea typeface="Consolas" pitchFamily="34" charset="-122"/>
                <a:cs typeface="Consolas" pitchFamily="34" charset="-120"/>
              </a:rPr>
              <a:t>OR</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Context Window">
    <p:bg>
      <p:bgPr>
        <a:solidFill>
          <a:srgbClr val="0A0F1A"/>
        </a:solidFill>
        <a:effectLst/>
      </p:bgPr>
    </p:bg>
    <p:spTree>
      <p:nvGrpSpPr>
        <p:cNvPr id="1" name=""/>
        <p:cNvGrpSpPr/>
        <p:nvPr/>
      </p:nvGrpSpPr>
      <p:grpSpPr>
        <a:xfrm>
          <a:off x="0" y="0"/>
          <a:ext cx="0" cy="0"/>
          <a:chOff x="0" y="0"/>
          <a:chExt cx="0" cy="0"/>
        </a:xfrm>
      </p:grpSpPr>
      <p:sp>
        <p:nvSpPr>
          <p:cNvPr id="2" name="BgGrad"/>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a:p>
        </p:txBody>
      </p:sp>
      <p:sp>
        <p:nvSpPr>
          <p:cNvPr id="3" name="Title"/>
          <p:cNvSpPr/>
          <p:nvPr/>
        </p:nvSpPr>
        <p:spPr>
          <a:xfrm>
            <a:off x="169164" y="200000"/>
            <a:ext cx="8805672" cy="340000"/>
          </a:xfrm>
          <a:prstGeom prst="rect">
            <a:avLst/>
          </a:prstGeom>
          <a:noFill/>
          <a:ln/>
        </p:spPr>
        <p:txBody>
          <a:bodyPr wrap="none" lIns="0" tIns="0" rIns="0" bIns="0" rtlCol="0" anchor="t"/>
          <a:lstStyle/>
          <a:p>
            <a:pPr marL="0" indent="0" algn="ctr">
              <a:lnSpc>
                <a:spcPts val="2800"/>
              </a:lnSpc>
              <a:buNone/>
            </a:pPr>
            <a:r>
              <a:rPr lang="en-US" sz="2030" b="1" kern="0" spc="-30">
                <a:solidFill>
                  <a:srgbClr val="E2E8F0"/>
                </a:solidFill>
                <a:latin typeface="Consolas" pitchFamily="34" charset="0"/>
                <a:ea typeface="Consolas" pitchFamily="34" charset="-122"/>
                <a:cs typeface="Consolas" pitchFamily="34" charset="-120"/>
              </a:rPr>
              <a:t>Context </a:t>
            </a:r>
            <a:r>
              <a:rPr lang="en-US" sz="2030" b="1" kern="0" spc="-30">
                <a:solidFill>
                  <a:srgbClr val="76B900"/>
                </a:solidFill>
                <a:latin typeface="Consolas" pitchFamily="34" charset="0"/>
                <a:ea typeface="Consolas" pitchFamily="34" charset="-122"/>
                <a:cs typeface="Consolas" pitchFamily="34" charset="-120"/>
              </a:rPr>
              <a:t>Window</a:t>
            </a:r>
          </a:p>
        </p:txBody>
      </p:sp>
      <p:sp>
        <p:nvSpPr>
          <p:cNvPr id="4" name="Subtitle"/>
          <p:cNvSpPr/>
          <p:nvPr/>
        </p:nvSpPr>
        <p:spPr>
          <a:xfrm>
            <a:off x="169164" y="560000"/>
            <a:ext cx="8805672" cy="200000"/>
          </a:xfrm>
          <a:prstGeom prst="rect">
            <a:avLst/>
          </a:prstGeom>
          <a:noFill/>
          <a:ln/>
        </p:spPr>
        <p:txBody>
          <a:bodyPr wrap="none" lIns="0" tIns="0" rIns="0" bIns="0" rtlCol="0" anchor="t"/>
          <a:lstStyle/>
          <a:p>
            <a:pPr marL="0" indent="0" algn="ctr">
              <a:lnSpc>
                <a:spcPts val="1350"/>
              </a:lnSpc>
              <a:buNone/>
            </a:pPr>
            <a:r>
              <a:rPr lang="en-US" sz="900">
                <a:solidFill>
                  <a:srgbClr val="8B9CB6"/>
                </a:solidFill>
                <a:latin typeface="Calibri" pitchFamily="34" charset="0"/>
              </a:rPr>
              <a:t>How much text a model can see at once — and why it matters for your workflow</a:t>
            </a:r>
          </a:p>
        </p:txBody>
      </p:sp>
      <p:sp>
        <p:nvSpPr>
          <p:cNvPr id="5" name="AccentBar1"/>
          <p:cNvSpPr/>
          <p:nvPr/>
        </p:nvSpPr>
        <p:spPr>
          <a:xfrm>
            <a:off x="440000" y="830000"/>
            <a:ext cx="4150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6" name="AccentBar2"/>
          <p:cNvSpPr/>
          <p:nvPr/>
        </p:nvSpPr>
        <p:spPr>
          <a:xfrm>
            <a:off x="4710000" y="830000"/>
            <a:ext cx="399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10" name="DefCardBg"/>
          <p:cNvSpPr/>
          <p:nvPr/>
        </p:nvSpPr>
        <p:spPr>
          <a:xfrm>
            <a:off x="440000" y="870000"/>
            <a:ext cx="4150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11" name="DefCardContent"/>
          <p:cNvSpPr/>
          <p:nvPr/>
        </p:nvSpPr>
        <p:spPr>
          <a:xfrm>
            <a:off x="560000" y="930000"/>
            <a:ext cx="3910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DEFINITION</a:t>
            </a:r>
          </a:p>
          <a:p>
            <a:pPr marL="0" indent="0" algn="l">
              <a:lnSpc>
                <a:spcPts val="1200"/>
              </a:lnSpc>
              <a:spcBef>
                <a:spcPts val="250"/>
              </a:spcBef>
              <a:buNone/>
            </a:pPr>
            <a:r>
              <a:rPr lang="en-US" sz="850">
                <a:solidFill>
                  <a:srgbClr val="E2E8F0"/>
                </a:solidFill>
                <a:latin typeface="Calibri" pitchFamily="34" charset="0"/>
              </a:rPr>
              <a:t>The </a:t>
            </a:r>
            <a:r>
              <a:rPr lang="en-US" sz="850" b="1">
                <a:solidFill>
                  <a:srgbClr val="76B900"/>
                </a:solidFill>
                <a:latin typeface="Calibri" pitchFamily="34" charset="0"/>
              </a:rPr>
              <a:t>context window</a:t>
            </a:r>
            <a:r>
              <a:rPr lang="en-US" sz="850">
                <a:solidFill>
                  <a:srgbClr val="E2E8F0"/>
                </a:solidFill>
                <a:latin typeface="Calibri" pitchFamily="34" charset="0"/>
              </a:rPr>
              <a:t> is the maximum number of tokens a model can process in a single conversation. It includes everything: your prompt, the system message, all prior messages, and the model's response.</a:t>
            </a:r>
          </a:p>
          <a:p>
            <a:pPr marL="0" indent="0" algn="l">
              <a:lnSpc>
                <a:spcPts val="1200"/>
              </a:lnSpc>
              <a:spcBef>
                <a:spcPts val="350"/>
              </a:spcBef>
              <a:buNone/>
            </a:pPr>
            <a:r>
              <a:rPr lang="en-US" sz="800" b="1" spc="100">
                <a:solidFill>
                  <a:srgbClr val="76B900"/>
                </a:solidFill>
                <a:latin typeface="Consolas" pitchFamily="34" charset="0"/>
              </a:rPr>
              <a:t>ANALOGY</a:t>
            </a:r>
          </a:p>
          <a:p>
            <a:pPr marL="0" indent="0" algn="l">
              <a:lnSpc>
                <a:spcPts val="1200"/>
              </a:lnSpc>
              <a:spcBef>
                <a:spcPts val="200"/>
              </a:spcBef>
              <a:buNone/>
            </a:pPr>
            <a:r>
              <a:rPr lang="en-US" sz="800">
                <a:solidFill>
                  <a:srgbClr val="8B9CB6"/>
                </a:solidFill>
                <a:latin typeface="Calibri" pitchFamily="34" charset="0"/>
              </a:rPr>
              <a:t>Think of it like a desk. A larger context window is a bigger desk — you can spread out more documents and reference them all at once. A smaller window forces you to swap papers in and out.</a:t>
            </a:r>
          </a:p>
        </p:txBody>
      </p:sp>
      <p:sp>
        <p:nvSpPr>
          <p:cNvPr id="20" name="WhyCardBg"/>
          <p:cNvSpPr/>
          <p:nvPr/>
        </p:nvSpPr>
        <p:spPr>
          <a:xfrm>
            <a:off x="4710000" y="870000"/>
            <a:ext cx="3994000" cy="165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21" name="WhyCardContent"/>
          <p:cNvSpPr/>
          <p:nvPr/>
        </p:nvSpPr>
        <p:spPr>
          <a:xfrm>
            <a:off x="4830000" y="930000"/>
            <a:ext cx="3754000" cy="1530000"/>
          </a:xfrm>
          <a:prstGeom prst="rect">
            <a:avLst/>
          </a:prstGeom>
          <a:noFill/>
          <a:ln/>
        </p:spPr>
        <p:txBody>
          <a:bodyPr wrap="square" lIns="0" tIns="0" rIns="0" bIns="0" rtlCol="0" anchor="t"/>
          <a:lstStyle/>
          <a:p>
            <a:pPr marL="0" indent="0" algn="l">
              <a:lnSpc>
                <a:spcPts val="1200"/>
              </a:lnSpc>
              <a:buNone/>
            </a:pPr>
            <a:r>
              <a:rPr lang="en-US" sz="900" b="1" spc="100">
                <a:solidFill>
                  <a:srgbClr val="76B900"/>
                </a:solidFill>
                <a:latin typeface="Consolas" pitchFamily="34" charset="0"/>
              </a:rPr>
              <a:t>KEY IMPLICATIONS</a:t>
            </a:r>
          </a:p>
          <a:p>
            <a:pPr marL="0" indent="0" algn="l">
              <a:lnSpc>
                <a:spcPts val="1100"/>
              </a:lnSpc>
              <a:spcBef>
                <a:spcPts val="250"/>
              </a:spcBef>
              <a:buNone/>
            </a:pPr>
            <a:r>
              <a:rPr lang="en-US" sz="750">
                <a:solidFill>
                  <a:srgbClr val="76B900"/>
                </a:solidFill>
                <a:latin typeface="Consolas" pitchFamily="34" charset="0"/>
              </a:rPr>
              <a:t>▸ </a:t>
            </a:r>
            <a:r>
              <a:rPr lang="en-US" sz="750" b="1">
                <a:solidFill>
                  <a:srgbClr val="E2E8F0"/>
                </a:solidFill>
                <a:latin typeface="Calibri" pitchFamily="34" charset="0"/>
              </a:rPr>
              <a:t>Long docs</a:t>
            </a:r>
            <a:r>
              <a:rPr lang="en-US" sz="750">
                <a:solidFill>
                  <a:srgbClr val="8B9CB6"/>
                </a:solidFill>
                <a:latin typeface="Calibri" pitchFamily="34" charset="0"/>
              </a:rPr>
              <a:t> — Need to paste a whole codebase or contract? You need a large context.</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Memory cost</a:t>
            </a:r>
            <a:r>
              <a:rPr lang="en-US" sz="750">
                <a:solidFill>
                  <a:srgbClr val="8B9CB6"/>
                </a:solidFill>
                <a:latin typeface="Calibri" pitchFamily="34" charset="0"/>
              </a:rPr>
              <a:t> — Longer context uses more RAM. Using 128K tokens takes ~4× the RAM of 32K.</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Quality fades</a:t>
            </a:r>
            <a:r>
              <a:rPr lang="en-US" sz="750">
                <a:solidFill>
                  <a:srgbClr val="8B9CB6"/>
                </a:solidFill>
                <a:latin typeface="Calibri" pitchFamily="34" charset="0"/>
              </a:rPr>
              <a:t> — Attention weakens at the edges. Info in the middle of a long prompt can be "lost."</a:t>
            </a:r>
          </a:p>
          <a:p>
            <a:pPr marL="0" indent="0" algn="l">
              <a:lnSpc>
                <a:spcPts val="1100"/>
              </a:lnSpc>
              <a:spcBef>
                <a:spcPts val="150"/>
              </a:spcBef>
              <a:buNone/>
            </a:pPr>
            <a:r>
              <a:rPr lang="en-US" sz="750">
                <a:solidFill>
                  <a:srgbClr val="76B900"/>
                </a:solidFill>
                <a:latin typeface="Consolas" pitchFamily="34" charset="0"/>
              </a:rPr>
              <a:t>▸ </a:t>
            </a:r>
            <a:r>
              <a:rPr lang="en-US" sz="750" b="1">
                <a:solidFill>
                  <a:srgbClr val="E2E8F0"/>
                </a:solidFill>
                <a:latin typeface="Calibri" pitchFamily="34" charset="0"/>
              </a:rPr>
              <a:t>Ollama default: 2048</a:t>
            </a:r>
            <a:r>
              <a:rPr lang="en-US" sz="750">
                <a:solidFill>
                  <a:srgbClr val="8B9CB6"/>
                </a:solidFill>
                <a:latin typeface="Calibri" pitchFamily="34" charset="0"/>
              </a:rPr>
              <a:t> — Increase with </a:t>
            </a:r>
            <a:r>
              <a:rPr lang="en-US" sz="750">
                <a:solidFill>
                  <a:srgbClr val="76B900"/>
                </a:solidFill>
                <a:latin typeface="Consolas" pitchFamily="34" charset="0"/>
              </a:rPr>
              <a:t>num_ctx</a:t>
            </a:r>
            <a:r>
              <a:rPr lang="en-US" sz="750">
                <a:solidFill>
                  <a:srgbClr val="8B9CB6"/>
                </a:solidFill>
                <a:latin typeface="Calibri" pitchFamily="34" charset="0"/>
              </a:rPr>
              <a:t> parameter if you have the RAM.</a:t>
            </a:r>
          </a:p>
        </p:txBody>
      </p:sp>
      <p:sp>
        <p:nvSpPr>
          <p:cNvPr id="30" name="AccentBar3"/>
          <p:cNvSpPr/>
          <p:nvPr/>
        </p:nvSpPr>
        <p:spPr>
          <a:xfrm>
            <a:off x="440000" y="2670000"/>
            <a:ext cx="8264000" cy="24000"/>
          </a:xfrm>
          <a:prstGeom prst="roundRect">
            <a:avLst>
              <a:gd name="adj" fmla="val 50000"/>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a:p>
        </p:txBody>
      </p:sp>
      <p:sp>
        <p:nvSpPr>
          <p:cNvPr id="40" name="Scale1Bg"/>
          <p:cNvSpPr/>
          <p:nvPr/>
        </p:nvSpPr>
        <p:spPr>
          <a:xfrm>
            <a:off x="440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41" name="Scale1Content"/>
          <p:cNvSpPr/>
          <p:nvPr/>
        </p:nvSpPr>
        <p:spPr>
          <a:xfrm>
            <a:off x="540000" y="2770000"/>
            <a:ext cx="2480000" cy="1680000"/>
          </a:xfrm>
          <a:prstGeom prst="rect">
            <a:avLst/>
          </a:prstGeom>
          <a:noFill/>
          <a:ln/>
        </p:spPr>
        <p:txBody>
          <a:bodyPr wrap="square" lIns="0" tIns="0" rIns="0" bIns="0" rtlCol="0" anchor="t"/>
          <a:lstStyle/>
          <a:p>
            <a:pPr marL="0" indent="0" algn="ctr">
              <a:lnSpc>
                <a:spcPts val="2800"/>
              </a:lnSpc>
              <a:buNone/>
            </a:pPr>
            <a:r>
              <a:rPr lang="en-US" sz="2400" b="1">
                <a:solidFill>
                  <a:srgbClr val="76B900"/>
                </a:solidFill>
                <a:latin typeface="Consolas" pitchFamily="34" charset="0"/>
              </a:rPr>
              <a:t>2K</a:t>
            </a:r>
          </a:p>
          <a:p>
            <a:pPr marL="0" indent="0" algn="ctr">
              <a:lnSpc>
                <a:spcPts val="1200"/>
              </a:lnSpc>
              <a:spcBef>
                <a:spcPts val="100"/>
              </a:spcBef>
              <a:buNone/>
            </a:pPr>
            <a:r>
              <a:rPr lang="en-US" sz="900" b="1">
                <a:solidFill>
                  <a:srgbClr val="E2E8F0"/>
                </a:solidFill>
                <a:latin typeface="Calibri" pitchFamily="34" charset="0"/>
              </a:rPr>
              <a:t>Ollama Default</a:t>
            </a:r>
          </a:p>
          <a:p>
            <a:pPr marL="0" indent="0" algn="ctr">
              <a:lnSpc>
                <a:spcPts val="1100"/>
              </a:lnSpc>
              <a:spcBef>
                <a:spcPts val="200"/>
              </a:spcBef>
              <a:buNone/>
            </a:pPr>
            <a:r>
              <a:rPr lang="en-US" sz="750">
                <a:solidFill>
                  <a:srgbClr val="8B9CB6"/>
                </a:solidFill>
                <a:latin typeface="Calibri" pitchFamily="34" charset="0"/>
              </a:rPr>
              <a:t>≈ 1,500 words</a:t>
            </a:r>
          </a:p>
          <a:p>
            <a:pPr marL="0" indent="0" algn="ctr">
              <a:lnSpc>
                <a:spcPts val="1100"/>
              </a:lnSpc>
              <a:spcBef>
                <a:spcPts val="100"/>
              </a:spcBef>
              <a:buNone/>
            </a:pPr>
            <a:r>
              <a:rPr lang="en-US" sz="750">
                <a:solidFill>
                  <a:srgbClr val="8B9CB6"/>
                </a:solidFill>
                <a:latin typeface="Calibri" pitchFamily="34" charset="0"/>
              </a:rPr>
              <a:t>≈ 3 pages of text</a:t>
            </a:r>
          </a:p>
          <a:p>
            <a:pPr marL="0" indent="0" algn="ctr">
              <a:lnSpc>
                <a:spcPts val="1100"/>
              </a:lnSpc>
              <a:spcBef>
                <a:spcPts val="300"/>
              </a:spcBef>
              <a:buNone/>
            </a:pPr>
            <a:r>
              <a:rPr lang="en-US" sz="700">
                <a:solidFill>
                  <a:srgbClr val="8B9CB6"/>
                </a:solidFill>
                <a:latin typeface="Calibri" pitchFamily="34" charset="0"/>
              </a:rPr>
              <a:t>Good for: Quick Q&amp;A, short chats, simple prompts</a:t>
            </a:r>
          </a:p>
        </p:txBody>
      </p:sp>
      <p:sp>
        <p:nvSpPr>
          <p:cNvPr id="50" name="Scale2Bg"/>
          <p:cNvSpPr/>
          <p:nvPr/>
        </p:nvSpPr>
        <p:spPr>
          <a:xfrm>
            <a:off x="3232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51" name="Scale2Content"/>
          <p:cNvSpPr/>
          <p:nvPr/>
        </p:nvSpPr>
        <p:spPr>
          <a:xfrm>
            <a:off x="3332000" y="2770000"/>
            <a:ext cx="2480000" cy="1680000"/>
          </a:xfrm>
          <a:prstGeom prst="rect">
            <a:avLst/>
          </a:prstGeom>
          <a:noFill/>
          <a:ln/>
        </p:spPr>
        <p:txBody>
          <a:bodyPr wrap="square" lIns="0" tIns="0" rIns="0" bIns="0" rtlCol="0" anchor="t"/>
          <a:lstStyle/>
          <a:p>
            <a:pPr marL="0" indent="0" algn="ctr">
              <a:lnSpc>
                <a:spcPts val="2800"/>
              </a:lnSpc>
              <a:buNone/>
            </a:pPr>
            <a:r>
              <a:rPr lang="en-US" sz="2400" b="1">
                <a:solidFill>
                  <a:srgbClr val="76B900"/>
                </a:solidFill>
                <a:latin typeface="Consolas" pitchFamily="34" charset="0"/>
              </a:rPr>
              <a:t>8–32K</a:t>
            </a:r>
          </a:p>
          <a:p>
            <a:pPr marL="0" indent="0" algn="ctr">
              <a:lnSpc>
                <a:spcPts val="1200"/>
              </a:lnSpc>
              <a:spcBef>
                <a:spcPts val="100"/>
              </a:spcBef>
              <a:buNone/>
            </a:pPr>
            <a:r>
              <a:rPr lang="en-US" sz="900" b="1">
                <a:solidFill>
                  <a:srgbClr val="E2E8F0"/>
                </a:solidFill>
                <a:latin typeface="Calibri" pitchFamily="34" charset="0"/>
              </a:rPr>
              <a:t>Practical Sweet Spot</a:t>
            </a:r>
          </a:p>
          <a:p>
            <a:pPr marL="0" indent="0" algn="ctr">
              <a:lnSpc>
                <a:spcPts val="1100"/>
              </a:lnSpc>
              <a:spcBef>
                <a:spcPts val="200"/>
              </a:spcBef>
              <a:buNone/>
            </a:pPr>
            <a:r>
              <a:rPr lang="en-US" sz="750">
                <a:solidFill>
                  <a:srgbClr val="8B9CB6"/>
                </a:solidFill>
                <a:latin typeface="Calibri" pitchFamily="34" charset="0"/>
              </a:rPr>
              <a:t>≈ 6K–24K words</a:t>
            </a:r>
          </a:p>
          <a:p>
            <a:pPr marL="0" indent="0" algn="ctr">
              <a:lnSpc>
                <a:spcPts val="1100"/>
              </a:lnSpc>
              <a:spcBef>
                <a:spcPts val="100"/>
              </a:spcBef>
              <a:buNone/>
            </a:pPr>
            <a:r>
              <a:rPr lang="en-US" sz="750">
                <a:solidFill>
                  <a:srgbClr val="8B9CB6"/>
                </a:solidFill>
                <a:latin typeface="Calibri" pitchFamily="34" charset="0"/>
              </a:rPr>
              <a:t>≈ 12–50 pages of text</a:t>
            </a:r>
          </a:p>
          <a:p>
            <a:pPr marL="0" indent="0" algn="ctr">
              <a:lnSpc>
                <a:spcPts val="1100"/>
              </a:lnSpc>
              <a:spcBef>
                <a:spcPts val="300"/>
              </a:spcBef>
              <a:buNone/>
            </a:pPr>
            <a:r>
              <a:rPr lang="en-US" sz="700">
                <a:solidFill>
                  <a:srgbClr val="8B9CB6"/>
                </a:solidFill>
                <a:latin typeface="Calibri" pitchFamily="34" charset="0"/>
              </a:rPr>
              <a:t>Good for: Code files, articles, multi-turn conversations</a:t>
            </a:r>
          </a:p>
        </p:txBody>
      </p:sp>
      <p:sp>
        <p:nvSpPr>
          <p:cNvPr id="60" name="Scale3Bg"/>
          <p:cNvSpPr/>
          <p:nvPr/>
        </p:nvSpPr>
        <p:spPr>
          <a:xfrm>
            <a:off x="6024000" y="2710000"/>
            <a:ext cx="2680000" cy="1800000"/>
          </a:xfrm>
          <a:prstGeom prst="roundRect">
            <a:avLst>
              <a:gd name="adj" fmla="val 3000"/>
            </a:avLst>
          </a:prstGeom>
          <a:solidFill>
            <a:srgbClr val="131C2A"/>
          </a:solidFill>
          <a:ln w="9525">
            <a:solidFill>
              <a:srgbClr val="76B900">
                <a:alpha val="15000"/>
              </a:srgbClr>
            </a:solidFill>
          </a:ln>
        </p:spPr>
        <p:txBody>
          <a:bodyPr wrap="square" rtlCol="0" anchor="t"/>
          <a:lstStyle/>
          <a:p>
            <a:pPr marL="0" indent="0">
              <a:buNone/>
            </a:pPr>
            <a:endParaRPr lang="en-US"/>
          </a:p>
        </p:txBody>
      </p:sp>
      <p:sp>
        <p:nvSpPr>
          <p:cNvPr id="61" name="Scale3Content"/>
          <p:cNvSpPr/>
          <p:nvPr/>
        </p:nvSpPr>
        <p:spPr>
          <a:xfrm>
            <a:off x="6124000" y="2770000"/>
            <a:ext cx="2480000" cy="1680000"/>
          </a:xfrm>
          <a:prstGeom prst="rect">
            <a:avLst/>
          </a:prstGeom>
          <a:noFill/>
          <a:ln/>
        </p:spPr>
        <p:txBody>
          <a:bodyPr wrap="square" lIns="0" tIns="0" rIns="0" bIns="0" rtlCol="0" anchor="t"/>
          <a:lstStyle/>
          <a:p>
            <a:pPr marL="0" indent="0" algn="ctr">
              <a:lnSpc>
                <a:spcPts val="2800"/>
              </a:lnSpc>
              <a:buNone/>
            </a:pPr>
            <a:r>
              <a:rPr lang="en-US" sz="2400" b="1">
                <a:solidFill>
                  <a:srgbClr val="76B900"/>
                </a:solidFill>
                <a:latin typeface="Consolas" pitchFamily="34" charset="0"/>
              </a:rPr>
              <a:t>128K</a:t>
            </a:r>
          </a:p>
          <a:p>
            <a:pPr marL="0" indent="0" algn="ctr">
              <a:lnSpc>
                <a:spcPts val="1200"/>
              </a:lnSpc>
              <a:spcBef>
                <a:spcPts val="100"/>
              </a:spcBef>
              <a:buNone/>
            </a:pPr>
            <a:r>
              <a:rPr lang="en-US" sz="900" b="1">
                <a:solidFill>
                  <a:srgbClr val="E2E8F0"/>
                </a:solidFill>
                <a:latin typeface="Calibri" pitchFamily="34" charset="0"/>
              </a:rPr>
              <a:t>Maximum (Llama 3.3)</a:t>
            </a:r>
          </a:p>
          <a:p>
            <a:pPr marL="0" indent="0" algn="ctr">
              <a:lnSpc>
                <a:spcPts val="1100"/>
              </a:lnSpc>
              <a:spcBef>
                <a:spcPts val="200"/>
              </a:spcBef>
              <a:buNone/>
            </a:pPr>
            <a:r>
              <a:rPr lang="en-US" sz="750">
                <a:solidFill>
                  <a:srgbClr val="8B9CB6"/>
                </a:solidFill>
                <a:latin typeface="Calibri" pitchFamily="34" charset="0"/>
              </a:rPr>
              <a:t>≈ 96K words</a:t>
            </a:r>
          </a:p>
          <a:p>
            <a:pPr marL="0" indent="0" algn="ctr">
              <a:lnSpc>
                <a:spcPts val="1100"/>
              </a:lnSpc>
              <a:spcBef>
                <a:spcPts val="100"/>
              </a:spcBef>
              <a:buNone/>
            </a:pPr>
            <a:r>
              <a:rPr lang="en-US" sz="750">
                <a:solidFill>
                  <a:srgbClr val="8B9CB6"/>
                </a:solidFill>
                <a:latin typeface="Calibri" pitchFamily="34" charset="0"/>
              </a:rPr>
              <a:t>≈ a 300-page novel</a:t>
            </a:r>
          </a:p>
          <a:p>
            <a:pPr marL="0" indent="0" algn="ctr">
              <a:lnSpc>
                <a:spcPts val="1100"/>
              </a:lnSpc>
              <a:spcBef>
                <a:spcPts val="300"/>
              </a:spcBef>
              <a:buNone/>
            </a:pPr>
            <a:r>
              <a:rPr lang="en-US" sz="700">
                <a:solidFill>
                  <a:srgbClr val="8B9CB6"/>
                </a:solidFill>
                <a:latin typeface="Calibri" pitchFamily="34" charset="0"/>
              </a:rPr>
              <a:t>Good for: Entire codebases, long docs, book analysis</a:t>
            </a:r>
          </a:p>
        </p:txBody>
      </p:sp>
      <p:sp>
        <p:nvSpPr>
          <p:cNvPr id="70" name="FooterTip"/>
          <p:cNvSpPr/>
          <p:nvPr/>
        </p:nvSpPr>
        <p:spPr>
          <a:xfrm>
            <a:off x="440000" y="4650000"/>
            <a:ext cx="8264000" cy="200000"/>
          </a:xfrm>
          <a:prstGeom prst="rect">
            <a:avLst/>
          </a:prstGeom>
          <a:noFill/>
          <a:ln/>
        </p:spPr>
        <p:txBody>
          <a:bodyPr wrap="square" lIns="0" tIns="0" rIns="0" bIns="0" rtlCol="0" anchor="t"/>
          <a:lstStyle/>
          <a:p>
            <a:pPr marL="0" indent="0" algn="ctr">
              <a:lnSpc>
                <a:spcPts val="1100"/>
              </a:lnSpc>
              <a:buNone/>
            </a:pPr>
            <a:r>
              <a:rPr lang="en-US" sz="650" b="1">
                <a:solidFill>
                  <a:srgbClr val="76B900"/>
                </a:solidFill>
                <a:latin typeface="Consolas" pitchFamily="34" charset="0"/>
              </a:rPr>
              <a:t>TIP</a:t>
            </a:r>
            <a:r>
              <a:rPr lang="en-US" sz="650">
                <a:solidFill>
                  <a:srgbClr val="8B9CB6"/>
                </a:solidFill>
                <a:latin typeface="Calibri" pitchFamily="34" charset="0"/>
              </a:rPr>
              <a:t>  —  Set context in your Modelfile:  </a:t>
            </a:r>
            <a:r>
              <a:rPr lang="en-US" sz="650">
                <a:solidFill>
                  <a:srgbClr val="76B900"/>
                </a:solidFill>
                <a:latin typeface="Consolas" pitchFamily="34" charset="0"/>
              </a:rPr>
              <a:t>PARAMETER num_ctx 8192</a:t>
            </a:r>
            <a:r>
              <a:rPr lang="en-US" sz="650">
                <a:solidFill>
                  <a:srgbClr val="8B9CB6"/>
                </a:solidFill>
                <a:latin typeface="Calibri" pitchFamily="34" charset="0"/>
              </a:rPr>
              <a:t>  —  or pass  </a:t>
            </a:r>
            <a:r>
              <a:rPr lang="en-US" sz="650">
                <a:solidFill>
                  <a:srgbClr val="76B900"/>
                </a:solidFill>
                <a:latin typeface="Consolas" pitchFamily="34" charset="0"/>
              </a:rPr>
              <a:t>--num-ctx 8192</a:t>
            </a:r>
            <a:r>
              <a:rPr lang="en-US" sz="650">
                <a:solidFill>
                  <a:srgbClr val="8B9CB6"/>
                </a:solidFill>
                <a:latin typeface="Calibri" pitchFamily="34" charset="0"/>
              </a:rPr>
              <a:t>  at runtime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9">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000000">
                  <a:alpha val="0"/>
                </a:srgbClr>
              </a:gs>
              <a:gs pos="50000">
                <a:srgbClr val="000000">
                  <a:alpha val="0"/>
                </a:srgbClr>
              </a:gs>
              <a:gs pos="100000">
                <a:srgbClr val="76B900">
                  <a:alpha val="1000"/>
                </a:srgbClr>
              </a:gs>
            </a:gsLst>
            <a:lin ang="162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000000">
                  <a:alpha val="0"/>
                </a:srgbClr>
              </a:gs>
              <a:gs pos="50000">
                <a:srgbClr val="000000">
                  <a:alpha val="0"/>
                </a:srgbClr>
              </a:gs>
              <a:gs pos="100000">
                <a:srgbClr val="76B900">
                  <a:alpha val="1000"/>
                </a:srgbClr>
              </a:gs>
            </a:gsLst>
            <a:lin ang="0" scaled="1"/>
          </a:gradFill>
          <a:ln/>
        </p:spPr>
        <p:txBody>
          <a:bodyPr wrap="square" rtlCol="0" anchor="t"/>
          <a:lstStyle/>
          <a:p>
            <a:pPr marL="0" indent="0">
              <a:buNone/>
            </a:pPr>
            <a:endParaRPr lang="en-US" dirty="0"/>
          </a:p>
        </p:txBody>
      </p:sp>
      <p:sp>
        <p:nvSpPr>
          <p:cNvPr id="4" name="Text 2"/>
          <p:cNvSpPr/>
          <p:nvPr/>
        </p:nvSpPr>
        <p:spPr>
          <a:xfrm>
            <a:off x="0" y="0"/>
            <a:ext cx="9144000" cy="21580"/>
          </a:xfrm>
          <a:prstGeom prst="rect">
            <a:avLst/>
          </a:prstGeom>
          <a:gradFill rotWithShape="1">
            <a:gsLst>
              <a:gs pos="0">
                <a:srgbClr val="000000">
                  <a:alpha val="0"/>
                </a:srgbClr>
              </a:gs>
              <a:gs pos="20000">
                <a:srgbClr val="76B900">
                  <a:alpha val="50000"/>
                </a:srgbClr>
              </a:gs>
              <a:gs pos="80000">
                <a:srgbClr val="76B900">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5" name="Text 3"/>
          <p:cNvSpPr/>
          <p:nvPr/>
        </p:nvSpPr>
        <p:spPr>
          <a:xfrm>
            <a:off x="457200" y="5114330"/>
            <a:ext cx="8229600" cy="29170"/>
          </a:xfrm>
          <a:prstGeom prst="roundRect">
            <a:avLst>
              <a:gd name="adj" fmla="val 47892"/>
            </a:avLst>
          </a:prstGeom>
          <a:solidFill>
            <a:srgbClr val="76B900">
              <a:alpha val="10000"/>
            </a:srgbClr>
          </a:solidFill>
          <a:ln/>
        </p:spPr>
        <p:txBody>
          <a:bodyPr wrap="none" rtlCol="0" anchor="t"/>
          <a:lstStyle/>
          <a:p>
            <a:pPr marL="0" indent="0">
              <a:buNone/>
            </a:pPr>
            <a:endParaRPr lang="en-US" dirty="0"/>
          </a:p>
        </p:txBody>
      </p:sp>
      <p:sp>
        <p:nvSpPr>
          <p:cNvPr id="6" name="Text 4"/>
          <p:cNvSpPr/>
          <p:nvPr/>
        </p:nvSpPr>
        <p:spPr>
          <a:xfrm>
            <a:off x="457200" y="5114330"/>
            <a:ext cx="8229600" cy="29170"/>
          </a:xfrm>
          <a:prstGeom prst="roundRect">
            <a:avLst>
              <a:gd name="adj" fmla="val 47892"/>
            </a:avLst>
          </a:prstGeom>
          <a:gradFill rotWithShape="1">
            <a:gsLst>
              <a:gs pos="0">
                <a:srgbClr val="76B900"/>
              </a:gs>
              <a:gs pos="100000">
                <a:srgbClr val="76B900">
                  <a:alpha val="30000"/>
                </a:srgbClr>
              </a:gs>
            </a:gsLst>
            <a:lin ang="0" scaled="1"/>
          </a:gradFill>
          <a:ln/>
        </p:spPr>
        <p:txBody>
          <a:bodyPr wrap="non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24573" y="347663"/>
            <a:ext cx="150465" cy="150465"/>
          </a:xfrm>
          <a:prstGeom prst="rect">
            <a:avLst/>
          </a:prstGeom>
        </p:spPr>
      </p:pic>
      <p:sp>
        <p:nvSpPr>
          <p:cNvPr id="8" name="Text 5"/>
          <p:cNvSpPr/>
          <p:nvPr/>
        </p:nvSpPr>
        <p:spPr>
          <a:xfrm>
            <a:off x="3888470" y="342900"/>
            <a:ext cx="1603549" cy="159990"/>
          </a:xfrm>
          <a:prstGeom prst="rect">
            <a:avLst/>
          </a:prstGeom>
          <a:noFill/>
          <a:ln/>
        </p:spPr>
        <p:txBody>
          <a:bodyPr wrap="none" lIns="0" tIns="0" rIns="0" bIns="0" rtlCol="0" anchor="ctr"/>
          <a:lstStyle/>
          <a:p>
            <a:pPr marL="0" indent="0" algn="ctr">
              <a:lnSpc>
                <a:spcPts val="1260"/>
              </a:lnSpc>
              <a:buNone/>
            </a:pPr>
            <a:r>
              <a:rPr lang="en-US" sz="840" b="1" dirty="0">
                <a:solidFill>
                  <a:srgbClr val="76B900"/>
                </a:solidFill>
                <a:latin typeface="Consolas" pitchFamily="34" charset="0"/>
                <a:ea typeface="Consolas" pitchFamily="34" charset="-122"/>
                <a:cs typeface="Consolas" pitchFamily="34" charset="-120"/>
              </a:rPr>
              <a:t>LIVE DEMO ROADMAP</a:t>
            </a:r>
            <a:endParaRPr lang="en-US" sz="840" dirty="0"/>
          </a:p>
        </p:txBody>
      </p:sp>
      <p:sp>
        <p:nvSpPr>
          <p:cNvPr id="9" name="Text 6"/>
          <p:cNvSpPr/>
          <p:nvPr/>
        </p:nvSpPr>
        <p:spPr>
          <a:xfrm>
            <a:off x="2710834" y="560040"/>
            <a:ext cx="3722184" cy="361801"/>
          </a:xfrm>
          <a:prstGeom prst="rect">
            <a:avLst/>
          </a:prstGeom>
          <a:noFill/>
          <a:ln/>
        </p:spPr>
        <p:txBody>
          <a:bodyPr wrap="none" lIns="0" tIns="0" rIns="0" bIns="0" rtlCol="0" anchor="t"/>
          <a:lstStyle/>
          <a:p>
            <a:pPr marL="0" indent="0" algn="ctr">
              <a:lnSpc>
                <a:spcPts val="2849"/>
              </a:lnSpc>
              <a:spcAft>
                <a:spcPts val="340"/>
              </a:spcAft>
              <a:buNone/>
            </a:pPr>
            <a:r>
              <a:rPr lang="en-US" sz="2590" b="1" kern="0" spc="-60" dirty="0">
                <a:solidFill>
                  <a:srgbClr val="E2E8F0"/>
                </a:solidFill>
                <a:latin typeface="Consolas" pitchFamily="34" charset="0"/>
                <a:ea typeface="Consolas" pitchFamily="34" charset="-122"/>
                <a:cs typeface="Consolas" pitchFamily="34" charset="-120"/>
              </a:rPr>
              <a:t>What We'll Build</a:t>
            </a:r>
            <a:endParaRPr lang="en-US" sz="2590" dirty="0"/>
          </a:p>
        </p:txBody>
      </p:sp>
      <p:sp>
        <p:nvSpPr>
          <p:cNvPr id="10" name="Text 7"/>
          <p:cNvSpPr/>
          <p:nvPr/>
        </p:nvSpPr>
        <p:spPr>
          <a:xfrm>
            <a:off x="2622210" y="965002"/>
            <a:ext cx="3899431" cy="215205"/>
          </a:xfrm>
          <a:prstGeom prst="rect">
            <a:avLst/>
          </a:prstGeom>
          <a:noFill/>
          <a:ln/>
        </p:spPr>
        <p:txBody>
          <a:bodyPr wrap="none" lIns="0" tIns="0" rIns="0" bIns="0" rtlCol="0" anchor="t"/>
          <a:lstStyle/>
          <a:p>
            <a:pPr marL="0" indent="0" algn="ctr">
              <a:lnSpc>
                <a:spcPts val="1695"/>
              </a:lnSpc>
              <a:buNone/>
            </a:pPr>
            <a:r>
              <a:rPr lang="en-US" sz="1130" b="1" dirty="0">
                <a:solidFill>
                  <a:srgbClr val="76B900"/>
                </a:solidFill>
                <a:latin typeface="Calibri" pitchFamily="34" charset="0"/>
                <a:ea typeface="Calibri" pitchFamily="34" charset="-122"/>
                <a:cs typeface="Calibri" pitchFamily="34" charset="-120"/>
              </a:rPr>
              <a:t>45 minutes</a:t>
            </a:r>
            <a:r>
              <a:rPr lang="en-US" sz="1130" dirty="0">
                <a:solidFill>
                  <a:srgbClr val="8B9CB6"/>
                </a:solidFill>
                <a:latin typeface="Calibri" pitchFamily="34" charset="0"/>
                <a:ea typeface="Calibri" pitchFamily="34" charset="-122"/>
                <a:cs typeface="Calibri" pitchFamily="34" charset="-120"/>
              </a:rPr>
              <a:t> — from zero to a working personal AI agent</a:t>
            </a:r>
            <a:r>
              <a:rPr lang="en-US" sz="1130">
                <a:solidFill>
                  <a:srgbClr val="8B9CB6"/>
                </a:solidFill>
                <a:latin typeface="Calibri" pitchFamily="34" charset="0"/>
                <a:ea typeface="Calibri" pitchFamily="34" charset="-122"/>
                <a:cs typeface="Calibri" pitchFamily="34" charset="-120"/>
              </a:rPr>
              <a:t> with Mercury</a:t>
            </a:r>
            <a:endParaRPr lang="en-US" sz="1130" dirty="0"/>
          </a:p>
        </p:txBody>
      </p:sp>
      <p:sp>
        <p:nvSpPr>
          <p:cNvPr id="11" name="Text 8"/>
          <p:cNvSpPr/>
          <p:nvPr/>
        </p:nvSpPr>
        <p:spPr>
          <a:xfrm>
            <a:off x="725984" y="1544241"/>
            <a:ext cx="1286470" cy="1184225"/>
          </a:xfrm>
          <a:prstGeom prst="roundRect">
            <a:avLst>
              <a:gd name="adj" fmla="val 965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2" name="Text 9"/>
          <p:cNvSpPr/>
          <p:nvPr/>
        </p:nvSpPr>
        <p:spPr>
          <a:xfrm>
            <a:off x="1281639" y="1697236"/>
            <a:ext cx="175011" cy="271760"/>
          </a:xfrm>
          <a:prstGeom prst="rect">
            <a:avLst/>
          </a:prstGeom>
          <a:noFill/>
          <a:ln/>
        </p:spPr>
        <p:txBody>
          <a:bodyPr wrap="none" lIns="0" tIns="0" rIns="0" bIns="0" rtlCol="0" anchor="t"/>
          <a:lstStyle/>
          <a:p>
            <a:pPr marL="0" indent="0" algn="ctr">
              <a:lnSpc>
                <a:spcPts val="2140"/>
              </a:lnSpc>
              <a:buNone/>
            </a:pPr>
            <a:r>
              <a:rPr lang="en-US" sz="214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1</a:t>
            </a:r>
            <a:endParaRPr lang="en-US" sz="2140" dirty="0"/>
          </a:p>
        </p:txBody>
      </p:sp>
      <p:pic>
        <p:nvPicPr>
          <p:cNvPr id="13" name="Image 1" descr="preencoded.png"/>
          <p:cNvPicPr>
            <a:picLocks noChangeAspect="1"/>
          </p:cNvPicPr>
          <p:nvPr/>
        </p:nvPicPr>
        <p:blipFill>
          <a:blip>
            <a:alphaModFix amt="85000"/>
            <a:extLst>
              <a:ext uri="{96DAC541-7B7A-43D3-8B79-37D633B846F1}">
                <asvg:svgBlip xmlns:asvg="http://schemas.microsoft.com/office/drawing/2016/SVG/main" r:embed="rId4"/>
              </a:ext>
            </a:extLst>
          </a:blip>
          <a:stretch>
            <a:fillRect/>
          </a:stretch>
        </p:blipFill>
        <p:spPr>
          <a:xfrm>
            <a:off x="1283494" y="2039987"/>
            <a:ext cx="171450" cy="171450"/>
          </a:xfrm>
          <a:prstGeom prst="rect">
            <a:avLst/>
          </a:prstGeom>
        </p:spPr>
      </p:pic>
      <p:sp>
        <p:nvSpPr>
          <p:cNvPr id="14" name="Text 10"/>
          <p:cNvSpPr/>
          <p:nvPr/>
        </p:nvSpPr>
        <p:spPr>
          <a:xfrm>
            <a:off x="964204" y="2282428"/>
            <a:ext cx="810030" cy="323790"/>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Start Ollama on</a:t>
            </a:r>
            <a:br/>
            <a:r>
              <a:rPr lang="en-US" sz="900" b="1" dirty="0">
                <a:solidFill>
                  <a:srgbClr val="76B900"/>
                </a:solidFill>
                <a:latin typeface="Calibri" pitchFamily="34" charset="0"/>
                <a:ea typeface="Calibri" pitchFamily="34" charset="-122"/>
                <a:cs typeface="Calibri" pitchFamily="34" charset="-120"/>
              </a:rPr>
              <a:t>DGX Spark</a:t>
            </a:r>
            <a:endParaRPr lang="en-US" sz="90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84189" y="2082552"/>
            <a:ext cx="171450" cy="107603"/>
          </a:xfrm>
          <a:prstGeom prst="rect">
            <a:avLst/>
          </a:prstGeom>
        </p:spPr>
      </p:pic>
      <p:sp>
        <p:nvSpPr>
          <p:cNvPr id="16" name="Text 11"/>
          <p:cNvSpPr/>
          <p:nvPr/>
        </p:nvSpPr>
        <p:spPr>
          <a:xfrm>
            <a:off x="2327374" y="1467148"/>
            <a:ext cx="1286470" cy="1338411"/>
          </a:xfrm>
          <a:prstGeom prst="roundRect">
            <a:avLst>
              <a:gd name="adj" fmla="val 8885"/>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17" name="Text 12"/>
          <p:cNvSpPr/>
          <p:nvPr/>
        </p:nvSpPr>
        <p:spPr>
          <a:xfrm>
            <a:off x="2883029" y="1620143"/>
            <a:ext cx="175011" cy="271760"/>
          </a:xfrm>
          <a:prstGeom prst="rect">
            <a:avLst/>
          </a:prstGeom>
          <a:noFill/>
          <a:ln/>
        </p:spPr>
        <p:txBody>
          <a:bodyPr wrap="none" lIns="0" tIns="0" rIns="0" bIns="0" rtlCol="0" anchor="t"/>
          <a:lstStyle/>
          <a:p>
            <a:pPr marL="0" indent="0" algn="ctr">
              <a:lnSpc>
                <a:spcPts val="2140"/>
              </a:lnSpc>
              <a:buNone/>
            </a:pPr>
            <a:r>
              <a:rPr lang="en-US" sz="214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2</a:t>
            </a:r>
            <a:endParaRPr lang="en-US" sz="2140" dirty="0"/>
          </a:p>
        </p:txBody>
      </p:sp>
      <p:pic>
        <p:nvPicPr>
          <p:cNvPr id="18" name="Image 3" descr="preencoded.png"/>
          <p:cNvPicPr>
            <a:picLocks noChangeAspect="1"/>
          </p:cNvPicPr>
          <p:nvPr/>
        </p:nvPicPr>
        <p:blipFill>
          <a:blip>
            <a:alphaModFix amt="85000"/>
            <a:extLst>
              <a:ext uri="{96DAC541-7B7A-43D3-8B79-37D633B846F1}">
                <asvg:svgBlip xmlns:asvg="http://schemas.microsoft.com/office/drawing/2016/SVG/main" r:embed="rId6"/>
              </a:ext>
            </a:extLst>
          </a:blip>
          <a:stretch>
            <a:fillRect/>
          </a:stretch>
        </p:blipFill>
        <p:spPr>
          <a:xfrm>
            <a:off x="2884884" y="1962894"/>
            <a:ext cx="171450" cy="171450"/>
          </a:xfrm>
          <a:prstGeom prst="rect">
            <a:avLst/>
          </a:prstGeom>
        </p:spPr>
      </p:pic>
      <p:sp>
        <p:nvSpPr>
          <p:cNvPr id="19" name="Text 13"/>
          <p:cNvSpPr/>
          <p:nvPr/>
        </p:nvSpPr>
        <p:spPr>
          <a:xfrm>
            <a:off x="2440811" y="2205335"/>
            <a:ext cx="1059597" cy="485686"/>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Install &amp;</a:t>
            </a:r>
            <a:br/>
            <a:r>
              <a:rPr lang="en-US" sz="900" dirty="0">
                <a:solidFill>
                  <a:srgbClr val="E2E8F0"/>
                </a:solidFill>
                <a:latin typeface="Calibri" pitchFamily="34" charset="0"/>
                <a:ea typeface="Calibri" pitchFamily="34" charset="-122"/>
                <a:cs typeface="Calibri" pitchFamily="34" charset="-120"/>
              </a:rPr>
              <a:t>configure </a:t>
            </a:r>
            <a:r>
              <a:rPr lang="en-US" sz="900" b="1" dirty="0">
                <a:solidFill>
                  <a:srgbClr val="76B900"/>
                </a:solidFill>
                <a:latin typeface="Calibri" pitchFamily="34" charset="0"/>
                <a:ea typeface="Calibri" pitchFamily="34" charset="-122"/>
                <a:cs typeface="Calibri" pitchFamily="34" charset="-120"/>
              </a:rPr>
              <a:t>OpenClaw</a:t>
            </a:r>
            <a:endParaRPr lang="en-US" sz="9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85580" y="2082552"/>
            <a:ext cx="171450" cy="107603"/>
          </a:xfrm>
          <a:prstGeom prst="rect">
            <a:avLst/>
          </a:prstGeom>
        </p:spPr>
      </p:pic>
      <p:sp>
        <p:nvSpPr>
          <p:cNvPr id="21" name="Text 14"/>
          <p:cNvSpPr/>
          <p:nvPr/>
        </p:nvSpPr>
        <p:spPr>
          <a:xfrm>
            <a:off x="3928765" y="1544241"/>
            <a:ext cx="1286470" cy="1184225"/>
          </a:xfrm>
          <a:prstGeom prst="roundRect">
            <a:avLst>
              <a:gd name="adj" fmla="val 965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2" name="Text 15"/>
          <p:cNvSpPr/>
          <p:nvPr/>
        </p:nvSpPr>
        <p:spPr>
          <a:xfrm>
            <a:off x="4484420" y="1697236"/>
            <a:ext cx="175011" cy="271760"/>
          </a:xfrm>
          <a:prstGeom prst="rect">
            <a:avLst/>
          </a:prstGeom>
          <a:noFill/>
          <a:ln/>
        </p:spPr>
        <p:txBody>
          <a:bodyPr wrap="none" lIns="0" tIns="0" rIns="0" bIns="0" rtlCol="0" anchor="t"/>
          <a:lstStyle/>
          <a:p>
            <a:pPr marL="0" indent="0" algn="ctr">
              <a:lnSpc>
                <a:spcPts val="2140"/>
              </a:lnSpc>
              <a:buNone/>
            </a:pPr>
            <a:r>
              <a:rPr lang="en-US" sz="214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3</a:t>
            </a:r>
            <a:endParaRPr lang="en-US" sz="2140" dirty="0"/>
          </a:p>
        </p:txBody>
      </p:sp>
      <p:pic>
        <p:nvPicPr>
          <p:cNvPr id="23" name="Image 5" descr="preencoded.png"/>
          <p:cNvPicPr>
            <a:picLocks noChangeAspect="1"/>
          </p:cNvPicPr>
          <p:nvPr/>
        </p:nvPicPr>
        <p:blipFill>
          <a:blip>
            <a:alphaModFix amt="85000"/>
            <a:extLst>
              <a:ext uri="{96DAC541-7B7A-43D3-8B79-37D633B846F1}">
                <asvg:svgBlip xmlns:asvg="http://schemas.microsoft.com/office/drawing/2016/SVG/main" r:embed="rId8"/>
              </a:ext>
            </a:extLst>
          </a:blip>
          <a:stretch>
            <a:fillRect/>
          </a:stretch>
        </p:blipFill>
        <p:spPr>
          <a:xfrm>
            <a:off x="4486275" y="2039987"/>
            <a:ext cx="171450" cy="171450"/>
          </a:xfrm>
          <a:prstGeom prst="rect">
            <a:avLst/>
          </a:prstGeom>
        </p:spPr>
      </p:pic>
      <p:sp>
        <p:nvSpPr>
          <p:cNvPr id="24" name="Text 16"/>
          <p:cNvSpPr/>
          <p:nvPr/>
        </p:nvSpPr>
        <p:spPr>
          <a:xfrm>
            <a:off x="4147556" y="2282428"/>
            <a:ext cx="848740" cy="323790"/>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Connect</a:t>
            </a:r>
            <a:br/>
            <a:r>
              <a:rPr lang="en-US" sz="900" b="1" dirty="0">
                <a:solidFill>
                  <a:srgbClr val="76B900"/>
                </a:solidFill>
                <a:latin typeface="Calibri" pitchFamily="34" charset="0"/>
                <a:ea typeface="Calibri" pitchFamily="34" charset="-122"/>
                <a:cs typeface="Calibri" pitchFamily="34" charset="-120"/>
              </a:rPr>
              <a:t>messaging app</a:t>
            </a:r>
            <a:endParaRPr lang="en-US" sz="900" dirty="0"/>
          </a:p>
        </p:txBody>
      </p:sp>
      <p:pic>
        <p:nvPicPr>
          <p:cNvPr id="25"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86970" y="2082552"/>
            <a:ext cx="171450" cy="107603"/>
          </a:xfrm>
          <a:prstGeom prst="rect">
            <a:avLst/>
          </a:prstGeom>
        </p:spPr>
      </p:pic>
      <p:sp>
        <p:nvSpPr>
          <p:cNvPr id="26" name="Text 17"/>
          <p:cNvSpPr/>
          <p:nvPr/>
        </p:nvSpPr>
        <p:spPr>
          <a:xfrm>
            <a:off x="5530155" y="1544241"/>
            <a:ext cx="1286470" cy="1184225"/>
          </a:xfrm>
          <a:prstGeom prst="roundRect">
            <a:avLst>
              <a:gd name="adj" fmla="val 9652"/>
            </a:avLst>
          </a:prstGeom>
          <a:solidFill>
            <a:srgbClr val="1A2332"/>
          </a:solidFill>
          <a:ln w="9525">
            <a:solidFill>
              <a:srgbClr val="76B900">
                <a:alpha val="15000"/>
              </a:srgbClr>
            </a:solidFill>
          </a:ln>
        </p:spPr>
        <p:txBody>
          <a:bodyPr wrap="square" rtlCol="0" anchor="t"/>
          <a:lstStyle/>
          <a:p>
            <a:pPr marL="0" indent="0">
              <a:buNone/>
            </a:pPr>
            <a:endParaRPr lang="en-US" dirty="0"/>
          </a:p>
        </p:txBody>
      </p:sp>
      <p:sp>
        <p:nvSpPr>
          <p:cNvPr id="27" name="Text 18"/>
          <p:cNvSpPr/>
          <p:nvPr/>
        </p:nvSpPr>
        <p:spPr>
          <a:xfrm>
            <a:off x="6085810" y="1697236"/>
            <a:ext cx="175011" cy="271760"/>
          </a:xfrm>
          <a:prstGeom prst="rect">
            <a:avLst/>
          </a:prstGeom>
          <a:noFill/>
          <a:ln/>
        </p:spPr>
        <p:txBody>
          <a:bodyPr wrap="none" lIns="0" tIns="0" rIns="0" bIns="0" rtlCol="0" anchor="t"/>
          <a:lstStyle/>
          <a:p>
            <a:pPr marL="0" indent="0" algn="ctr">
              <a:lnSpc>
                <a:spcPts val="2140"/>
              </a:lnSpc>
              <a:buNone/>
            </a:pPr>
            <a:r>
              <a:rPr lang="en-US" sz="214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4</a:t>
            </a:r>
            <a:endParaRPr lang="en-US" sz="2140" dirty="0"/>
          </a:p>
        </p:txBody>
      </p:sp>
      <p:pic>
        <p:nvPicPr>
          <p:cNvPr id="28" name="Image 7" descr="preencoded.png"/>
          <p:cNvPicPr>
            <a:picLocks noChangeAspect="1"/>
          </p:cNvPicPr>
          <p:nvPr/>
        </p:nvPicPr>
        <p:blipFill>
          <a:blip>
            <a:alphaModFix amt="85000"/>
            <a:extLst>
              <a:ext uri="{96DAC541-7B7A-43D3-8B79-37D633B846F1}">
                <asvg:svgBlip xmlns:asvg="http://schemas.microsoft.com/office/drawing/2016/SVG/main" r:embed="rId10"/>
              </a:ext>
            </a:extLst>
          </a:blip>
          <a:stretch>
            <a:fillRect/>
          </a:stretch>
        </p:blipFill>
        <p:spPr>
          <a:xfrm>
            <a:off x="6087666" y="2039987"/>
            <a:ext cx="171450" cy="171450"/>
          </a:xfrm>
          <a:prstGeom prst="rect">
            <a:avLst/>
          </a:prstGeom>
        </p:spPr>
      </p:pic>
      <p:sp>
        <p:nvSpPr>
          <p:cNvPr id="29" name="Text 19"/>
          <p:cNvSpPr/>
          <p:nvPr/>
        </p:nvSpPr>
        <p:spPr>
          <a:xfrm>
            <a:off x="5740749" y="2282428"/>
            <a:ext cx="865135" cy="323790"/>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Install </a:t>
            </a:r>
            <a:r>
              <a:rPr lang="en-US" sz="900" b="1" dirty="0">
                <a:solidFill>
                  <a:srgbClr val="76B900"/>
                </a:solidFill>
                <a:latin typeface="Calibri" pitchFamily="34" charset="0"/>
                <a:ea typeface="Calibri" pitchFamily="34" charset="-122"/>
                <a:cs typeface="Calibri" pitchFamily="34" charset="-120"/>
              </a:rPr>
              <a:t>Hermes</a:t>
            </a:r>
            <a:r>
              <a:rPr lang="en-US" sz="900" b="1">
                <a:solidFill>
                  <a:srgbClr val="76B900"/>
                </a:solidFill>
                <a:latin typeface="Calibri" pitchFamily="34" charset="0"/>
                <a:ea typeface="Calibri" pitchFamily="34" charset="-122"/>
                <a:cs typeface="Calibri" pitchFamily="34" charset="-120"/>
              </a:rPr>
              <a:t> </a:t>
            </a:r>
            <a:br/>
            <a:r>
              <a:rPr lang="en-US" sz="900" dirty="0">
                <a:solidFill>
                  <a:srgbClr val="E2E8F0"/>
                </a:solidFill>
                <a:latin typeface="Calibri" pitchFamily="34" charset="0"/>
                <a:ea typeface="Calibri" pitchFamily="34" charset="-122"/>
                <a:cs typeface="Calibri" pitchFamily="34" charset="-120"/>
              </a:rPr>
              <a:t>+ </a:t>
            </a:r>
            <a:r>
              <a:rPr lang="en-US" sz="900">
                <a:solidFill>
                  <a:srgbClr val="E2E8F0"/>
                </a:solidFill>
                <a:latin typeface="Calibri" pitchFamily="34" charset="0"/>
                <a:ea typeface="Calibri" pitchFamily="34" charset="-122"/>
                <a:cs typeface="Calibri" pitchFamily="34" charset="-120"/>
              </a:rPr>
              <a:t>Mercury Agent</a:t>
            </a:r>
            <a:endParaRPr lang="en-US" sz="900" dirty="0"/>
          </a:p>
        </p:txBody>
      </p:sp>
      <p:pic>
        <p:nvPicPr>
          <p:cNvPr id="30"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88361" y="2082552"/>
            <a:ext cx="171450" cy="107603"/>
          </a:xfrm>
          <a:prstGeom prst="rect">
            <a:avLst/>
          </a:prstGeom>
        </p:spPr>
      </p:pic>
      <p:sp>
        <p:nvSpPr>
          <p:cNvPr id="31" name="Text 20"/>
          <p:cNvSpPr/>
          <p:nvPr/>
        </p:nvSpPr>
        <p:spPr>
          <a:xfrm>
            <a:off x="7131546" y="1530251"/>
            <a:ext cx="1286470" cy="1212205"/>
          </a:xfrm>
          <a:prstGeom prst="roundRect">
            <a:avLst>
              <a:gd name="adj" fmla="val 9429"/>
            </a:avLst>
          </a:prstGeom>
          <a:solidFill>
            <a:srgbClr val="1A2332"/>
          </a:solidFill>
          <a:ln w="9525">
            <a:solidFill>
              <a:srgbClr val="76B900">
                <a:alpha val="40000"/>
              </a:srgbClr>
            </a:solidFill>
          </a:ln>
          <a:effectLst>
            <a:outerShdw blurRad="214630" dist="50800" dir="16200000" algn="bl" rotWithShape="0">
              <a:srgbClr val="76B900">
                <a:alpha val="12000"/>
              </a:srgbClr>
            </a:outerShdw>
          </a:effectLst>
        </p:spPr>
        <p:txBody>
          <a:bodyPr wrap="square" rtlCol="0" anchor="t"/>
          <a:lstStyle/>
          <a:p>
            <a:pPr marL="0" indent="0">
              <a:buNone/>
            </a:pPr>
            <a:endParaRPr lang="en-US" dirty="0"/>
          </a:p>
        </p:txBody>
      </p:sp>
      <p:sp>
        <p:nvSpPr>
          <p:cNvPr id="32" name="Text 21"/>
          <p:cNvSpPr/>
          <p:nvPr/>
        </p:nvSpPr>
        <p:spPr>
          <a:xfrm>
            <a:off x="7678278" y="1683246"/>
            <a:ext cx="193006" cy="299740"/>
          </a:xfrm>
          <a:prstGeom prst="rect">
            <a:avLst/>
          </a:prstGeom>
          <a:noFill/>
          <a:ln/>
        </p:spPr>
        <p:txBody>
          <a:bodyPr wrap="none" lIns="0" tIns="0" rIns="0" bIns="0" rtlCol="0" anchor="t"/>
          <a:lstStyle/>
          <a:p>
            <a:pPr marL="0" indent="0" algn="ctr">
              <a:lnSpc>
                <a:spcPts val="2360"/>
              </a:lnSpc>
              <a:buNone/>
            </a:pPr>
            <a:r>
              <a:rPr lang="en-US" sz="2360" b="1" dirty="0">
                <a:solidFill>
                  <a:srgbClr val="76B900"/>
                </a:solidFill>
                <a:effectLst>
                  <a:glow rad="428625">
                    <a:srgbClr val="76B900">
                      <a:alpha val="9000"/>
                    </a:srgbClr>
                  </a:glow>
                </a:effectLst>
                <a:latin typeface="Consolas" pitchFamily="34" charset="0"/>
                <a:ea typeface="Consolas" pitchFamily="34" charset="-122"/>
                <a:cs typeface="Consolas" pitchFamily="34" charset="-120"/>
              </a:rPr>
              <a:t>5</a:t>
            </a:r>
            <a:endParaRPr lang="en-US" sz="2360" dirty="0"/>
          </a:p>
        </p:txBody>
      </p:sp>
      <p:pic>
        <p:nvPicPr>
          <p:cNvPr id="33" name="Image 9" descr="preencoded.png"/>
          <p:cNvPicPr>
            <a:picLocks noChangeAspect="1"/>
          </p:cNvPicPr>
          <p:nvPr/>
        </p:nvPicPr>
        <p:blipFill>
          <a:blip>
            <a:alphaModFix amt="85000"/>
            <a:extLst>
              <a:ext uri="{96DAC541-7B7A-43D3-8B79-37D633B846F1}">
                <asvg:svgBlip xmlns:asvg="http://schemas.microsoft.com/office/drawing/2016/SVG/main" r:embed="rId12"/>
              </a:ext>
            </a:extLst>
          </a:blip>
          <a:stretch>
            <a:fillRect/>
          </a:stretch>
        </p:blipFill>
        <p:spPr>
          <a:xfrm>
            <a:off x="7689056" y="2053977"/>
            <a:ext cx="171450" cy="171450"/>
          </a:xfrm>
          <a:prstGeom prst="rect">
            <a:avLst/>
          </a:prstGeom>
        </p:spPr>
      </p:pic>
      <p:sp>
        <p:nvSpPr>
          <p:cNvPr id="34" name="Text 22"/>
          <p:cNvSpPr/>
          <p:nvPr/>
        </p:nvSpPr>
        <p:spPr>
          <a:xfrm>
            <a:off x="7382518" y="2296418"/>
            <a:ext cx="784527" cy="323790"/>
          </a:xfrm>
          <a:prstGeom prst="rect">
            <a:avLst/>
          </a:prstGeom>
          <a:noFill/>
          <a:ln/>
        </p:spPr>
        <p:txBody>
          <a:bodyPr wrap="square" lIns="0" tIns="0" rIns="0" bIns="0" rtlCol="0" anchor="ctr"/>
          <a:lstStyle/>
          <a:p>
            <a:pPr marL="0" indent="0" algn="ctr">
              <a:lnSpc>
                <a:spcPts val="1215"/>
              </a:lnSpc>
              <a:buNone/>
            </a:pPr>
            <a:r>
              <a:rPr lang="en-US" sz="900" dirty="0">
                <a:solidFill>
                  <a:srgbClr val="E2E8F0"/>
                </a:solidFill>
                <a:latin typeface="Calibri" pitchFamily="34" charset="0"/>
                <a:ea typeface="Calibri" pitchFamily="34" charset="-122"/>
                <a:cs typeface="Calibri" pitchFamily="34" charset="-120"/>
              </a:rPr>
              <a:t>Run </a:t>
            </a:r>
            <a:r>
              <a:rPr lang="en-US" sz="900" b="1" dirty="0">
                <a:solidFill>
                  <a:srgbClr val="76B900"/>
                </a:solidFill>
                <a:latin typeface="Calibri" pitchFamily="34" charset="0"/>
                <a:ea typeface="Calibri" pitchFamily="34" charset="-122"/>
                <a:cs typeface="Calibri" pitchFamily="34" charset="-120"/>
              </a:rPr>
              <a:t>real tasks</a:t>
            </a:r>
            <a:br/>
            <a:r>
              <a:rPr lang="en-US" sz="900" dirty="0">
                <a:solidFill>
                  <a:srgbClr val="E2E8F0"/>
                </a:solidFill>
                <a:latin typeface="Calibri" pitchFamily="34" charset="0"/>
                <a:ea typeface="Calibri" pitchFamily="34" charset="-122"/>
                <a:cs typeface="Calibri" pitchFamily="34" charset="-120"/>
              </a:rPr>
              <a:t>live!</a:t>
            </a:r>
            <a:endParaRPr lang="en-US" sz="900" dirty="0"/>
          </a:p>
        </p:txBody>
      </p:sp>
      <p:sp>
        <p:nvSpPr>
          <p:cNvPr id="35" name="Text 23"/>
          <p:cNvSpPr/>
          <p:nvPr/>
        </p:nvSpPr>
        <p:spPr>
          <a:xfrm>
            <a:off x="1821656" y="4450407"/>
            <a:ext cx="5500539" cy="435322"/>
          </a:xfrm>
          <a:prstGeom prst="roundRect">
            <a:avLst>
              <a:gd name="adj" fmla="val 19838"/>
            </a:avLst>
          </a:prstGeom>
          <a:gradFill rotWithShape="1">
            <a:gsLst>
              <a:gs pos="0">
                <a:srgbClr val="76B900">
                  <a:alpha val="8000"/>
                </a:srgbClr>
              </a:gs>
              <a:gs pos="100000">
                <a:srgbClr val="1A2332">
                  <a:alpha val="60000"/>
                </a:srgbClr>
              </a:gs>
            </a:gsLst>
            <a:lin ang="2700000" scaled="1"/>
          </a:gradFill>
          <a:ln w="9525">
            <a:solidFill>
              <a:srgbClr val="76B900">
                <a:alpha val="15000"/>
              </a:srgbClr>
            </a:solidFill>
          </a:ln>
        </p:spPr>
        <p:txBody>
          <a:bodyPr wrap="square" rtlCol="0" anchor="t"/>
          <a:lstStyle/>
          <a:p>
            <a:pPr marL="0" indent="0">
              <a:buNone/>
            </a:pPr>
            <a:endParaRPr lang="en-US" dirty="0"/>
          </a:p>
        </p:txBody>
      </p:sp>
      <p:pic>
        <p:nvPicPr>
          <p:cNvPr id="36"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76459" y="4601775"/>
            <a:ext cx="132588" cy="132588"/>
          </a:xfrm>
          <a:prstGeom prst="rect">
            <a:avLst/>
          </a:prstGeom>
        </p:spPr>
      </p:pic>
      <p:sp>
        <p:nvSpPr>
          <p:cNvPr id="37" name="Text 24"/>
          <p:cNvSpPr/>
          <p:nvPr/>
        </p:nvSpPr>
        <p:spPr>
          <a:xfrm>
            <a:off x="2267545" y="4588073"/>
            <a:ext cx="1329169" cy="159990"/>
          </a:xfrm>
          <a:prstGeom prst="rect">
            <a:avLst/>
          </a:prstGeom>
          <a:noFill/>
          <a:ln/>
        </p:spPr>
        <p:txBody>
          <a:bodyPr wrap="none" lIns="0" tIns="0" rIns="0" bIns="0" rtlCol="0" anchor="ctr"/>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Real hardware, real tasks</a:t>
            </a:r>
            <a:endParaRPr lang="en-US" sz="840" dirty="0"/>
          </a:p>
        </p:txBody>
      </p:sp>
      <p:sp>
        <p:nvSpPr>
          <p:cNvPr id="38" name="Text 25"/>
          <p:cNvSpPr/>
          <p:nvPr/>
        </p:nvSpPr>
        <p:spPr>
          <a:xfrm>
            <a:off x="3704481" y="4596259"/>
            <a:ext cx="7590" cy="143470"/>
          </a:xfrm>
          <a:prstGeom prst="rect">
            <a:avLst/>
          </a:prstGeom>
          <a:solidFill>
            <a:srgbClr val="76B900">
              <a:alpha val="20000"/>
            </a:srgbClr>
          </a:solidFill>
          <a:ln/>
        </p:spPr>
        <p:txBody>
          <a:bodyPr wrap="none" rtlCol="0" anchor="t"/>
          <a:lstStyle/>
          <a:p>
            <a:pPr marL="0" indent="0">
              <a:buNone/>
            </a:pPr>
            <a:endParaRPr lang="en-US" dirty="0"/>
          </a:p>
        </p:txBody>
      </p:sp>
      <p:pic>
        <p:nvPicPr>
          <p:cNvPr id="39"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928178" y="4601775"/>
            <a:ext cx="132588" cy="132588"/>
          </a:xfrm>
          <a:prstGeom prst="rect">
            <a:avLst/>
          </a:prstGeom>
        </p:spPr>
      </p:pic>
      <p:sp>
        <p:nvSpPr>
          <p:cNvPr id="40" name="Text 26"/>
          <p:cNvSpPr/>
          <p:nvPr/>
        </p:nvSpPr>
        <p:spPr>
          <a:xfrm>
            <a:off x="4119265" y="4588073"/>
            <a:ext cx="1172825" cy="159990"/>
          </a:xfrm>
          <a:prstGeom prst="rect">
            <a:avLst/>
          </a:prstGeom>
          <a:noFill/>
          <a:ln/>
        </p:spPr>
        <p:txBody>
          <a:bodyPr wrap="none" lIns="0" tIns="0" rIns="0" bIns="0" rtlCol="0" anchor="ctr"/>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Everything runs locally</a:t>
            </a:r>
            <a:endParaRPr lang="en-US" sz="840" dirty="0"/>
          </a:p>
        </p:txBody>
      </p:sp>
      <p:sp>
        <p:nvSpPr>
          <p:cNvPr id="41" name="Text 27"/>
          <p:cNvSpPr/>
          <p:nvPr/>
        </p:nvSpPr>
        <p:spPr>
          <a:xfrm>
            <a:off x="5414070" y="4596259"/>
            <a:ext cx="7590" cy="143470"/>
          </a:xfrm>
          <a:prstGeom prst="rect">
            <a:avLst/>
          </a:prstGeom>
          <a:solidFill>
            <a:srgbClr val="76B900">
              <a:alpha val="20000"/>
            </a:srgbClr>
          </a:solidFill>
          <a:ln/>
        </p:spPr>
        <p:txBody>
          <a:bodyPr wrap="none" rtlCol="0" anchor="t"/>
          <a:lstStyle/>
          <a:p>
            <a:pPr marL="0" indent="0">
              <a:buNone/>
            </a:pPr>
            <a:endParaRPr lang="en-US" dirty="0"/>
          </a:p>
        </p:txBody>
      </p:sp>
      <p:pic>
        <p:nvPicPr>
          <p:cNvPr id="42"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637767" y="4601775"/>
            <a:ext cx="132588" cy="132588"/>
          </a:xfrm>
          <a:prstGeom prst="rect">
            <a:avLst/>
          </a:prstGeom>
        </p:spPr>
      </p:pic>
      <p:sp>
        <p:nvSpPr>
          <p:cNvPr id="43" name="Text 28"/>
          <p:cNvSpPr/>
          <p:nvPr/>
        </p:nvSpPr>
        <p:spPr>
          <a:xfrm>
            <a:off x="5828854" y="4588073"/>
            <a:ext cx="1348651" cy="159990"/>
          </a:xfrm>
          <a:prstGeom prst="rect">
            <a:avLst/>
          </a:prstGeom>
          <a:noFill/>
          <a:ln/>
        </p:spPr>
        <p:txBody>
          <a:bodyPr wrap="none" lIns="0" tIns="0" rIns="0" bIns="0" rtlCol="0" anchor="ctr"/>
          <a:lstStyle/>
          <a:p>
            <a:pPr marL="0" indent="0" algn="l">
              <a:lnSpc>
                <a:spcPts val="1260"/>
              </a:lnSpc>
              <a:buNone/>
            </a:pPr>
            <a:r>
              <a:rPr lang="en-US" sz="840" dirty="0">
                <a:solidFill>
                  <a:srgbClr val="8B9CB6"/>
                </a:solidFill>
                <a:latin typeface="Calibri" pitchFamily="34" charset="0"/>
                <a:ea typeface="Calibri" pitchFamily="34" charset="-122"/>
                <a:cs typeface="Calibri" pitchFamily="34" charset="-120"/>
              </a:rPr>
              <a:t>Follow along or just watch</a:t>
            </a:r>
            <a:endParaRPr lang="en-US" sz="84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8">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1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0" y="0"/>
            <a:ext cx="9144000" cy="5143500"/>
          </a:xfrm>
          <a:prstGeom prst="rect">
            <a:avLst/>
          </a:prstGeom>
          <a:gradFill rotWithShape="1">
            <a:gsLst>
              <a:gs pos="0">
                <a:srgbClr val="76B900">
                  <a:alpha val="1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429220" y="342900"/>
            <a:ext cx="711101" cy="214952"/>
          </a:xfrm>
          <a:prstGeom prst="roundRect">
            <a:avLst>
              <a:gd name="adj" fmla="val 13589"/>
            </a:avLst>
          </a:prstGeom>
          <a:solidFill>
            <a:srgbClr val="76B900">
              <a:alpha val="15000"/>
            </a:srgbClr>
          </a:solidFill>
          <a:ln w="9525">
            <a:solidFill>
              <a:srgbClr val="76B900">
                <a:alpha val="30000"/>
              </a:srgbClr>
            </a:solidFill>
          </a:ln>
        </p:spPr>
        <p:txBody>
          <a:bodyPr wrap="none" lIns="0" tIns="0" rIns="0" bIns="0" rtlCol="0" anchor="ctr"/>
          <a:lstStyle/>
          <a:p>
            <a:pPr marL="0" indent="0" algn="ctr">
              <a:buNone/>
            </a:pPr>
            <a:r>
              <a:rPr lang="en-US" sz="620" dirty="0">
                <a:solidFill>
                  <a:srgbClr val="76B900"/>
                </a:solidFill>
                <a:latin typeface="Consolas" pitchFamily="34" charset="0"/>
                <a:ea typeface="Consolas" pitchFamily="34" charset="-122"/>
                <a:cs typeface="Consolas" pitchFamily="34" charset="-120"/>
              </a:rPr>
              <a:t>LIVE DEMO</a:t>
            </a:r>
            <a:endParaRPr lang="en-US" sz="620" dirty="0"/>
          </a:p>
        </p:txBody>
      </p:sp>
      <p:sp>
        <p:nvSpPr>
          <p:cNvPr id="5" name="Text 3"/>
          <p:cNvSpPr/>
          <p:nvPr/>
        </p:nvSpPr>
        <p:spPr>
          <a:xfrm>
            <a:off x="278451" y="624632"/>
            <a:ext cx="8865549" cy="449610"/>
          </a:xfrm>
          <a:prstGeom prst="rect">
            <a:avLst/>
          </a:prstGeom>
          <a:noFill/>
          <a:ln/>
        </p:spPr>
        <p:txBody>
          <a:bodyPr wrap="none" lIns="0" tIns="0" rIns="0" bIns="0" rtlCol="0" anchor="t"/>
          <a:lstStyle/>
          <a:p>
            <a:pPr marL="0" indent="0" algn="l">
              <a:lnSpc>
                <a:spcPts val="3540"/>
              </a:lnSpc>
              <a:spcBef>
                <a:spcPts val="680"/>
              </a:spcBef>
              <a:buNone/>
            </a:pPr>
            <a:r>
              <a:rPr lang="en-US" sz="2360" b="1" kern="0" spc="-30" dirty="0">
                <a:solidFill>
                  <a:srgbClr val="E2E8F0"/>
                </a:solidFill>
                <a:latin typeface="Consolas" pitchFamily="34" charset="0"/>
                <a:ea typeface="Consolas" pitchFamily="34" charset="-122"/>
                <a:cs typeface="Consolas" pitchFamily="34" charset="-120"/>
              </a:rPr>
              <a:t>Demo Hardware Setup</a:t>
            </a:r>
            <a:endParaRPr lang="en-US" sz="2360" dirty="0"/>
          </a:p>
        </p:txBody>
      </p:sp>
      <p:sp>
        <p:nvSpPr>
          <p:cNvPr id="6" name="Text 4"/>
          <p:cNvSpPr/>
          <p:nvPr/>
        </p:nvSpPr>
        <p:spPr>
          <a:xfrm>
            <a:off x="29885" y="1117402"/>
            <a:ext cx="9114115" cy="182880"/>
          </a:xfrm>
          <a:prstGeom prst="rect">
            <a:avLst/>
          </a:prstGeom>
          <a:noFill/>
          <a:ln/>
        </p:spPr>
        <p:txBody>
          <a:bodyPr wrap="none" lIns="0" tIns="0" rIns="0" bIns="0" rtlCol="0" anchor="t"/>
          <a:lstStyle/>
          <a:p>
            <a:pPr marL="0" indent="0" algn="l">
              <a:lnSpc>
                <a:spcPts val="1440"/>
              </a:lnSpc>
              <a:spcBef>
                <a:spcPts val="340"/>
              </a:spcBef>
              <a:buNone/>
            </a:pPr>
            <a:r>
              <a:rPr lang="en-US" sz="960" dirty="0">
                <a:solidFill>
                  <a:srgbClr val="8B9CB6"/>
                </a:solidFill>
                <a:latin typeface="Calibri" pitchFamily="34" charset="0"/>
                <a:ea typeface="Calibri" pitchFamily="34" charset="-122"/>
                <a:cs typeface="Calibri" pitchFamily="34" charset="-120"/>
              </a:rPr>
              <a:t>Physical components powering today's live demonstration</a:t>
            </a:r>
            <a:endParaRPr lang="en-US" sz="960" dirty="0"/>
          </a:p>
        </p:txBody>
      </p:sp>
      <p:sp>
        <p:nvSpPr>
          <p:cNvPr id="7" name="Text 5"/>
          <p:cNvSpPr/>
          <p:nvPr/>
        </p:nvSpPr>
        <p:spPr>
          <a:xfrm>
            <a:off x="429220" y="1630859"/>
            <a:ext cx="3110508" cy="2786360"/>
          </a:xfrm>
          <a:prstGeom prst="roundRect">
            <a:avLst>
              <a:gd name="adj" fmla="val 4102"/>
            </a:avLst>
          </a:prstGeom>
          <a:gradFill rotWithShape="1">
            <a:gsLst>
              <a:gs pos="0">
                <a:srgbClr val="1A2332"/>
              </a:gs>
              <a:gs pos="100000">
                <a:srgbClr val="0F1820"/>
              </a:gs>
            </a:gsLst>
            <a:lin ang="3300000" scaled="1"/>
          </a:gradFill>
          <a:ln w="9525">
            <a:solidFill>
              <a:srgbClr val="76B900"/>
            </a:solidFill>
          </a:ln>
          <a:effectLst>
            <a:outerShdw blurRad="285750" dist="50800" dir="16200000" algn="bl" rotWithShape="0">
              <a:srgbClr val="76B900">
                <a:alpha val="15000"/>
              </a:srgbClr>
            </a:outerShdw>
          </a:effectLst>
        </p:spPr>
        <p:txBody>
          <a:bodyPr wrap="square" rtlCol="0" anchor="t"/>
          <a:lstStyle/>
          <a:p>
            <a:pPr marL="0" indent="0">
              <a:buNone/>
            </a:pPr>
            <a:endParaRPr lang="en-US" dirty="0"/>
          </a:p>
        </p:txBody>
      </p:sp>
      <p:sp>
        <p:nvSpPr>
          <p:cNvPr id="8" name="Text 6"/>
          <p:cNvSpPr/>
          <p:nvPr/>
        </p:nvSpPr>
        <p:spPr>
          <a:xfrm>
            <a:off x="438745" y="1640384"/>
            <a:ext cx="571500" cy="571500"/>
          </a:xfrm>
          <a:prstGeom prst="roundRect">
            <a:avLst>
              <a:gd name="adj" fmla="val 20000"/>
            </a:avLst>
          </a:prstGeom>
          <a:gradFill rotWithShape="1">
            <a:gsLst>
              <a:gs pos="0">
                <a:srgbClr val="76B900">
                  <a:alpha val="12000"/>
                </a:srgbClr>
              </a:gs>
              <a:gs pos="70000">
                <a:srgbClr val="000000">
                  <a:alpha val="0"/>
                </a:srgbClr>
              </a:gs>
            </a:gsLst>
            <a:path path="circle">
              <a:fillToRect l="100000" t="100000"/>
            </a:path>
          </a:gradFill>
          <a:ln/>
        </p:spPr>
        <p:txBody>
          <a:bodyPr wrap="square" rtlCol="0" anchor="t"/>
          <a:lstStyle/>
          <a:p>
            <a:pPr marL="0" indent="0">
              <a:buNone/>
            </a:pPr>
            <a:endParaRPr lang="en-US" dirty="0"/>
          </a:p>
        </p:txBody>
      </p:sp>
      <p:sp>
        <p:nvSpPr>
          <p:cNvPr id="9" name="Text 7"/>
          <p:cNvSpPr/>
          <p:nvPr/>
        </p:nvSpPr>
        <p:spPr>
          <a:xfrm>
            <a:off x="2958703" y="3836194"/>
            <a:ext cx="571500" cy="571500"/>
          </a:xfrm>
          <a:prstGeom prst="rect">
            <a:avLst/>
          </a:prstGeom>
          <a:gradFill rotWithShape="1">
            <a:gsLst>
              <a:gs pos="0">
                <a:srgbClr val="76B900">
                  <a:alpha val="12000"/>
                </a:srgbClr>
              </a:gs>
              <a:gs pos="70000">
                <a:srgbClr val="000000">
                  <a:alpha val="0"/>
                </a:srgbClr>
              </a:gs>
            </a:gsLst>
            <a:path path="circle">
              <a:fillToRect r="100000" b="100000"/>
            </a:path>
          </a:gradFill>
          <a:ln/>
        </p:spPr>
        <p:txBody>
          <a:bodyPr wrap="square" rtlCol="0" anchor="t"/>
          <a:lstStyle/>
          <a:p>
            <a:pPr marL="0" indent="0">
              <a:buNone/>
            </a:pPr>
            <a:endParaRPr lang="en-US" dirty="0"/>
          </a:p>
        </p:txBody>
      </p:sp>
      <p:sp>
        <p:nvSpPr>
          <p:cNvPr id="10" name="Text 8"/>
          <p:cNvSpPr/>
          <p:nvPr/>
        </p:nvSpPr>
        <p:spPr>
          <a:xfrm>
            <a:off x="1698724" y="1898154"/>
            <a:ext cx="571500" cy="358378"/>
          </a:xfrm>
          <a:prstGeom prst="roundRect">
            <a:avLst>
              <a:gd name="adj" fmla="val 31894"/>
            </a:avLst>
          </a:prstGeom>
          <a:solidFill>
            <a:srgbClr val="76B900">
              <a:alpha val="12000"/>
            </a:srgbClr>
          </a:solidFill>
          <a:ln w="9525">
            <a:solidFill>
              <a:srgbClr val="76B900">
                <a:alpha val="25000"/>
              </a:srgbClr>
            </a:solidFill>
          </a:ln>
        </p:spPr>
        <p:txBody>
          <a:bodyPr wrap="square" rtlCol="0" anchor="t"/>
          <a:lstStyle/>
          <a:p>
            <a:pPr marL="0" indent="0">
              <a:buNone/>
            </a:pPr>
            <a:endParaRPr lang="en-US"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66305" y="1959173"/>
            <a:ext cx="236190" cy="236190"/>
          </a:xfrm>
          <a:prstGeom prst="rect">
            <a:avLst/>
          </a:prstGeom>
        </p:spPr>
      </p:pic>
      <p:sp>
        <p:nvSpPr>
          <p:cNvPr id="12" name="Text 9"/>
          <p:cNvSpPr/>
          <p:nvPr/>
        </p:nvSpPr>
        <p:spPr>
          <a:xfrm>
            <a:off x="1410593" y="2474119"/>
            <a:ext cx="70991" cy="70991"/>
          </a:xfrm>
          <a:prstGeom prst="ellipse">
            <a:avLst/>
          </a:prstGeom>
          <a:solidFill>
            <a:srgbClr val="76B900"/>
          </a:solidFill>
          <a:ln/>
        </p:spPr>
        <p:txBody>
          <a:bodyPr wrap="none" rtlCol="0" anchor="t"/>
          <a:lstStyle/>
          <a:p>
            <a:pPr marL="0" indent="0">
              <a:buNone/>
            </a:pPr>
            <a:endParaRPr lang="en-US" dirty="0"/>
          </a:p>
        </p:txBody>
      </p:sp>
      <p:sp>
        <p:nvSpPr>
          <p:cNvPr id="13" name="Text 10"/>
          <p:cNvSpPr/>
          <p:nvPr/>
        </p:nvSpPr>
        <p:spPr>
          <a:xfrm>
            <a:off x="1538734" y="2400002"/>
            <a:ext cx="1019473" cy="241310"/>
          </a:xfrm>
          <a:prstGeom prst="roundRect">
            <a:avLst>
              <a:gd name="adj" fmla="val 59471"/>
            </a:avLst>
          </a:prstGeom>
          <a:solidFill>
            <a:srgbClr val="76B900">
              <a:alpha val="20000"/>
            </a:srgbClr>
          </a:solidFill>
          <a:ln w="9525">
            <a:solidFill>
              <a:srgbClr val="76B900">
                <a:alpha val="40000"/>
              </a:srgbClr>
            </a:solidFill>
          </a:ln>
        </p:spPr>
        <p:txBody>
          <a:bodyPr wrap="none" lIns="0" tIns="0" rIns="0" bIns="0" rtlCol="0" anchor="ctr"/>
          <a:lstStyle/>
          <a:p>
            <a:pPr marL="0" indent="0" algn="ctr">
              <a:buNone/>
            </a:pPr>
            <a:r>
              <a:rPr lang="en-US" sz="680" b="1" dirty="0">
                <a:solidFill>
                  <a:srgbClr val="76B900"/>
                </a:solidFill>
                <a:latin typeface="Consolas" pitchFamily="34" charset="0"/>
                <a:ea typeface="Consolas" pitchFamily="34" charset="-122"/>
                <a:cs typeface="Consolas" pitchFamily="34" charset="-120"/>
              </a:rPr>
              <a:t>POWERHOUSE</a:t>
            </a:r>
            <a:endParaRPr lang="en-US" sz="680" dirty="0"/>
          </a:p>
        </p:txBody>
      </p:sp>
      <p:sp>
        <p:nvSpPr>
          <p:cNvPr id="14" name="Text 11"/>
          <p:cNvSpPr/>
          <p:nvPr/>
        </p:nvSpPr>
        <p:spPr>
          <a:xfrm>
            <a:off x="1128372" y="2733526"/>
            <a:ext cx="1712055" cy="278160"/>
          </a:xfrm>
          <a:prstGeom prst="rect">
            <a:avLst/>
          </a:prstGeom>
          <a:noFill/>
          <a:ln/>
        </p:spPr>
        <p:txBody>
          <a:bodyPr wrap="none" lIns="0" tIns="0" rIns="0" bIns="0" rtlCol="0" anchor="ctr"/>
          <a:lstStyle/>
          <a:p>
            <a:pPr marL="0" indent="0" algn="ctr">
              <a:lnSpc>
                <a:spcPts val="2190"/>
              </a:lnSpc>
              <a:spcBef>
                <a:spcPts val="560"/>
              </a:spcBef>
              <a:spcAft>
                <a:spcPts val="110"/>
              </a:spcAft>
              <a:buNone/>
            </a:pPr>
            <a:r>
              <a:rPr lang="en-US" sz="1460" b="1" kern="0" spc="-20" dirty="0">
                <a:solidFill>
                  <a:srgbClr val="E2E8F0"/>
                </a:solidFill>
                <a:latin typeface="Consolas" pitchFamily="34" charset="0"/>
                <a:ea typeface="Consolas" pitchFamily="34" charset="-122"/>
                <a:cs typeface="Consolas" pitchFamily="34" charset="-120"/>
              </a:rPr>
              <a:t>NVIDIA DGX Spark</a:t>
            </a:r>
            <a:endParaRPr lang="en-US" sz="1460" dirty="0"/>
          </a:p>
        </p:txBody>
      </p:sp>
      <p:sp>
        <p:nvSpPr>
          <p:cNvPr id="15" name="Text 12"/>
          <p:cNvSpPr/>
          <p:nvPr/>
        </p:nvSpPr>
        <p:spPr>
          <a:xfrm>
            <a:off x="1525722" y="3139827"/>
            <a:ext cx="917356" cy="400050"/>
          </a:xfrm>
          <a:prstGeom prst="rect">
            <a:avLst/>
          </a:prstGeom>
          <a:noFill/>
          <a:ln/>
        </p:spPr>
        <p:txBody>
          <a:bodyPr wrap="square" lIns="0" tIns="0" rIns="0" bIns="0" rtlCol="0" anchor="ctr"/>
          <a:lstStyle/>
          <a:p>
            <a:pPr marL="0" indent="0" algn="ctr">
              <a:lnSpc>
                <a:spcPts val="1800"/>
              </a:lnSpc>
              <a:buNone/>
            </a:pPr>
            <a:r>
              <a:rPr lang="en-US" sz="2930" b="1" dirty="0">
                <a:solidFill>
                  <a:srgbClr val="76B900"/>
                </a:solidFill>
                <a:latin typeface="Consolas" pitchFamily="34" charset="0"/>
                <a:ea typeface="Consolas" pitchFamily="34" charset="-122"/>
                <a:cs typeface="Consolas" pitchFamily="34" charset="-120"/>
              </a:rPr>
              <a:t>128</a:t>
            </a:r>
            <a:r>
              <a:rPr lang="en-US" sz="1200" dirty="0">
                <a:solidFill>
                  <a:srgbClr val="E2E8F0"/>
                </a:solidFill>
                <a:latin typeface="Calibri" pitchFamily="34" charset="0"/>
                <a:ea typeface="Calibri" pitchFamily="34" charset="-122"/>
                <a:cs typeface="Calibri" pitchFamily="34" charset="-120"/>
              </a:rPr>
              <a:t> </a:t>
            </a:r>
            <a:r>
              <a:rPr lang="en-US" sz="1130" dirty="0">
                <a:solidFill>
                  <a:srgbClr val="76B900"/>
                </a:solidFill>
                <a:latin typeface="Consolas" pitchFamily="34" charset="0"/>
                <a:ea typeface="Consolas" pitchFamily="34" charset="-122"/>
                <a:cs typeface="Consolas" pitchFamily="34" charset="-120"/>
              </a:rPr>
              <a:t>GB</a:t>
            </a:r>
            <a:endParaRPr lang="en-US" sz="1200" dirty="0"/>
          </a:p>
        </p:txBody>
      </p:sp>
      <p:sp>
        <p:nvSpPr>
          <p:cNvPr id="16" name="Text 13"/>
          <p:cNvSpPr/>
          <p:nvPr/>
        </p:nvSpPr>
        <p:spPr>
          <a:xfrm>
            <a:off x="1514951" y="3577977"/>
            <a:ext cx="939046" cy="171450"/>
          </a:xfrm>
          <a:prstGeom prst="rect">
            <a:avLst/>
          </a:prstGeom>
          <a:noFill/>
          <a:ln/>
        </p:spPr>
        <p:txBody>
          <a:bodyPr wrap="none" lIns="0" tIns="0" rIns="0" bIns="0" rtlCol="0" anchor="ctr"/>
          <a:lstStyle/>
          <a:p>
            <a:pPr marL="0" indent="0" algn="ctr">
              <a:lnSpc>
                <a:spcPts val="1350"/>
              </a:lnSpc>
              <a:buNone/>
            </a:pPr>
            <a:r>
              <a:rPr lang="en-US" sz="900" kern="0" spc="30" dirty="0">
                <a:solidFill>
                  <a:srgbClr val="8B9CB6"/>
                </a:solidFill>
                <a:latin typeface="Calibri" pitchFamily="34" charset="0"/>
                <a:ea typeface="Calibri" pitchFamily="34" charset="-122"/>
                <a:cs typeface="Calibri" pitchFamily="34" charset="-120"/>
              </a:rPr>
              <a:t>Unified Memory</a:t>
            </a:r>
            <a:endParaRPr lang="en-US" sz="900" dirty="0"/>
          </a:p>
        </p:txBody>
      </p:sp>
      <p:sp>
        <p:nvSpPr>
          <p:cNvPr id="17" name="Text 14"/>
          <p:cNvSpPr/>
          <p:nvPr/>
        </p:nvSpPr>
        <p:spPr>
          <a:xfrm>
            <a:off x="976493" y="3877568"/>
            <a:ext cx="2015814" cy="272355"/>
          </a:xfrm>
          <a:prstGeom prst="roundRect">
            <a:avLst>
              <a:gd name="adj" fmla="val 20984"/>
            </a:avLst>
          </a:prstGeom>
          <a:solidFill>
            <a:srgbClr val="76B900">
              <a:alpha val="8000"/>
            </a:srgbClr>
          </a:solidFill>
          <a:ln w="9525">
            <a:solidFill>
              <a:srgbClr val="76B900">
                <a:alpha val="15000"/>
              </a:srgbClr>
            </a:solidFill>
          </a:ln>
        </p:spPr>
        <p:txBody>
          <a:bodyPr wrap="none" lIns="128270" tIns="57150" rIns="128270" bIns="57150" rtlCol="0" anchor="t"/>
          <a:lstStyle/>
          <a:p>
            <a:pPr marL="0" indent="0" algn="ctr">
              <a:buNone/>
            </a:pPr>
            <a:r>
              <a:rPr lang="en-US" sz="730" dirty="0">
                <a:solidFill>
                  <a:srgbClr val="8B9CB6"/>
                </a:solidFill>
                <a:latin typeface="Consolas" pitchFamily="34" charset="0"/>
                <a:ea typeface="Consolas" pitchFamily="34" charset="-122"/>
                <a:cs typeface="Consolas" pitchFamily="34" charset="-120"/>
              </a:rPr>
              <a:t>LLM Server • Agent Host • GPU Compute</a:t>
            </a:r>
            <a:endParaRPr lang="en-US" sz="730"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4028" y="2980879"/>
            <a:ext cx="171450" cy="64740"/>
          </a:xfrm>
          <a:prstGeom prst="rect">
            <a:avLst/>
          </a:prstGeom>
        </p:spPr>
      </p:pic>
      <p:sp>
        <p:nvSpPr>
          <p:cNvPr id="19" name="Text 15"/>
          <p:cNvSpPr/>
          <p:nvPr/>
        </p:nvSpPr>
        <p:spPr>
          <a:xfrm>
            <a:off x="3996928" y="1630859"/>
            <a:ext cx="2130326" cy="2786360"/>
          </a:xfrm>
          <a:prstGeom prst="roundRect">
            <a:avLst>
              <a:gd name="adj" fmla="val 5365"/>
            </a:avLst>
          </a:prstGeom>
          <a:gradFill rotWithShape="1">
            <a:gsLst>
              <a:gs pos="0">
                <a:srgbClr val="1A2332"/>
              </a:gs>
              <a:gs pos="100000">
                <a:srgbClr val="141C28"/>
              </a:gs>
            </a:gsLst>
            <a:lin ang="3300000" scaled="1"/>
          </a:gradFill>
          <a:ln w="9525">
            <a:solidFill>
              <a:srgbClr val="8B9CB6">
                <a:alpha val="20000"/>
              </a:srgbClr>
            </a:solidFill>
          </a:ln>
        </p:spPr>
        <p:txBody>
          <a:bodyPr wrap="square" rtlCol="0" anchor="t"/>
          <a:lstStyle/>
          <a:p>
            <a:pPr marL="0" indent="0">
              <a:buNone/>
            </a:pPr>
            <a:endParaRPr lang="en-US" dirty="0"/>
          </a:p>
        </p:txBody>
      </p:sp>
      <p:sp>
        <p:nvSpPr>
          <p:cNvPr id="20" name="Text 16"/>
          <p:cNvSpPr/>
          <p:nvPr/>
        </p:nvSpPr>
        <p:spPr>
          <a:xfrm>
            <a:off x="4804916" y="2009626"/>
            <a:ext cx="514350" cy="514350"/>
          </a:xfrm>
          <a:prstGeom prst="roundRect">
            <a:avLst>
              <a:gd name="adj" fmla="val 19506"/>
            </a:avLst>
          </a:prstGeom>
          <a:solidFill>
            <a:srgbClr val="8B9CB6">
              <a:alpha val="8000"/>
            </a:srgbClr>
          </a:solidFill>
          <a:ln w="9525">
            <a:solidFill>
              <a:srgbClr val="8B9CB6">
                <a:alpha val="15000"/>
              </a:srgbClr>
            </a:solidFill>
          </a:ln>
        </p:spPr>
        <p:txBody>
          <a:bodyPr wrap="square" rtlCol="0" anchor="t"/>
          <a:lstStyle/>
          <a:p>
            <a:pPr marL="0" indent="0">
              <a:buNone/>
            </a:pPr>
            <a:endParaRPr lang="en-US"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54935" y="2159645"/>
            <a:ext cx="214313" cy="214313"/>
          </a:xfrm>
          <a:prstGeom prst="rect">
            <a:avLst/>
          </a:prstGeom>
        </p:spPr>
      </p:pic>
      <p:sp>
        <p:nvSpPr>
          <p:cNvPr id="22" name="Text 17"/>
          <p:cNvSpPr/>
          <p:nvPr/>
        </p:nvSpPr>
        <p:spPr>
          <a:xfrm>
            <a:off x="4230283" y="2667446"/>
            <a:ext cx="1663467" cy="236190"/>
          </a:xfrm>
          <a:prstGeom prst="rect">
            <a:avLst/>
          </a:prstGeom>
          <a:noFill/>
          <a:ln/>
        </p:spPr>
        <p:txBody>
          <a:bodyPr wrap="none" lIns="0" tIns="0" rIns="0" bIns="0" rtlCol="0" anchor="ctr"/>
          <a:lstStyle/>
          <a:p>
            <a:pPr marL="0" indent="0" algn="ctr">
              <a:lnSpc>
                <a:spcPts val="1860"/>
              </a:lnSpc>
              <a:spcAft>
                <a:spcPts val="560"/>
              </a:spcAft>
              <a:buNone/>
            </a:pPr>
            <a:r>
              <a:rPr lang="en-US" sz="1240" b="1" dirty="0">
                <a:solidFill>
                  <a:srgbClr val="E2E8F0"/>
                </a:solidFill>
                <a:latin typeface="Consolas" pitchFamily="34" charset="0"/>
                <a:ea typeface="Consolas" pitchFamily="34" charset="-122"/>
                <a:cs typeface="Consolas" pitchFamily="34" charset="-120"/>
              </a:rPr>
              <a:t>IBG Ethernet Switch</a:t>
            </a:r>
            <a:endParaRPr lang="en-US" sz="1240" dirty="0"/>
          </a:p>
        </p:txBody>
      </p:sp>
      <p:sp>
        <p:nvSpPr>
          <p:cNvPr id="23" name="Text 18"/>
          <p:cNvSpPr/>
          <p:nvPr/>
        </p:nvSpPr>
        <p:spPr>
          <a:xfrm>
            <a:off x="4832896" y="3060948"/>
            <a:ext cx="57150" cy="57150"/>
          </a:xfrm>
          <a:prstGeom prst="roundRect">
            <a:avLst>
              <a:gd name="adj" fmla="val 24445"/>
            </a:avLst>
          </a:prstGeom>
          <a:solidFill>
            <a:srgbClr val="76B900">
              <a:alpha val="90000"/>
            </a:srgbClr>
          </a:solidFill>
          <a:ln/>
        </p:spPr>
        <p:txBody>
          <a:bodyPr wrap="none" rtlCol="0" anchor="t"/>
          <a:lstStyle/>
          <a:p>
            <a:pPr marL="0" indent="0">
              <a:buNone/>
            </a:pPr>
            <a:endParaRPr lang="en-US" dirty="0"/>
          </a:p>
        </p:txBody>
      </p:sp>
      <p:sp>
        <p:nvSpPr>
          <p:cNvPr id="24" name="Text 19"/>
          <p:cNvSpPr/>
          <p:nvPr/>
        </p:nvSpPr>
        <p:spPr>
          <a:xfrm>
            <a:off x="4933206" y="3060948"/>
            <a:ext cx="57150" cy="57150"/>
          </a:xfrm>
          <a:prstGeom prst="roundRect">
            <a:avLst>
              <a:gd name="adj" fmla="val 24445"/>
            </a:avLst>
          </a:prstGeom>
          <a:solidFill>
            <a:srgbClr val="76B900">
              <a:alpha val="90000"/>
            </a:srgbClr>
          </a:solidFill>
          <a:ln/>
        </p:spPr>
        <p:txBody>
          <a:bodyPr wrap="none" rtlCol="0" anchor="t"/>
          <a:lstStyle/>
          <a:p>
            <a:pPr marL="0" indent="0">
              <a:buNone/>
            </a:pPr>
            <a:endParaRPr lang="en-US" dirty="0"/>
          </a:p>
        </p:txBody>
      </p:sp>
      <p:sp>
        <p:nvSpPr>
          <p:cNvPr id="25" name="Text 20"/>
          <p:cNvSpPr/>
          <p:nvPr/>
        </p:nvSpPr>
        <p:spPr>
          <a:xfrm>
            <a:off x="5033516" y="3060948"/>
            <a:ext cx="57150" cy="57150"/>
          </a:xfrm>
          <a:prstGeom prst="roundRect">
            <a:avLst>
              <a:gd name="adj" fmla="val 24445"/>
            </a:avLst>
          </a:prstGeom>
          <a:solidFill>
            <a:srgbClr val="8B9CB6">
              <a:alpha val="30000"/>
            </a:srgbClr>
          </a:solidFill>
          <a:ln/>
        </p:spPr>
        <p:txBody>
          <a:bodyPr wrap="none" rtlCol="0" anchor="t"/>
          <a:lstStyle/>
          <a:p>
            <a:pPr marL="0" indent="0">
              <a:buNone/>
            </a:pPr>
            <a:endParaRPr lang="en-US" dirty="0"/>
          </a:p>
        </p:txBody>
      </p:sp>
      <p:sp>
        <p:nvSpPr>
          <p:cNvPr id="26" name="Text 21"/>
          <p:cNvSpPr/>
          <p:nvPr/>
        </p:nvSpPr>
        <p:spPr>
          <a:xfrm>
            <a:off x="5133826" y="3060948"/>
            <a:ext cx="57150" cy="57150"/>
          </a:xfrm>
          <a:prstGeom prst="roundRect">
            <a:avLst>
              <a:gd name="adj" fmla="val 24445"/>
            </a:avLst>
          </a:prstGeom>
          <a:solidFill>
            <a:srgbClr val="8B9CB6">
              <a:alpha val="30000"/>
            </a:srgbClr>
          </a:solidFill>
          <a:ln/>
        </p:spPr>
        <p:txBody>
          <a:bodyPr wrap="none" rtlCol="0" anchor="t"/>
          <a:lstStyle/>
          <a:p>
            <a:pPr marL="0" indent="0">
              <a:buNone/>
            </a:pPr>
            <a:endParaRPr lang="en-US" dirty="0"/>
          </a:p>
        </p:txBody>
      </p:sp>
      <p:sp>
        <p:nvSpPr>
          <p:cNvPr id="27" name="Text 22"/>
          <p:cNvSpPr/>
          <p:nvPr/>
        </p:nvSpPr>
        <p:spPr>
          <a:xfrm>
            <a:off x="5234136" y="3060948"/>
            <a:ext cx="57150" cy="57150"/>
          </a:xfrm>
          <a:prstGeom prst="roundRect">
            <a:avLst>
              <a:gd name="adj" fmla="val 24445"/>
            </a:avLst>
          </a:prstGeom>
          <a:solidFill>
            <a:srgbClr val="8B9CB6">
              <a:alpha val="30000"/>
            </a:srgbClr>
          </a:solidFill>
          <a:ln/>
        </p:spPr>
        <p:txBody>
          <a:bodyPr wrap="none" rtlCol="0" anchor="t"/>
          <a:lstStyle/>
          <a:p>
            <a:pPr marL="0" indent="0">
              <a:buNone/>
            </a:pPr>
            <a:endParaRPr lang="en-US" dirty="0"/>
          </a:p>
        </p:txBody>
      </p:sp>
      <p:sp>
        <p:nvSpPr>
          <p:cNvPr id="28" name="Text 23"/>
          <p:cNvSpPr/>
          <p:nvPr/>
        </p:nvSpPr>
        <p:spPr>
          <a:xfrm>
            <a:off x="4530319" y="3290739"/>
            <a:ext cx="1063544" cy="358482"/>
          </a:xfrm>
          <a:prstGeom prst="rect">
            <a:avLst/>
          </a:prstGeom>
          <a:noFill/>
          <a:ln/>
        </p:spPr>
        <p:txBody>
          <a:bodyPr wrap="square" lIns="0" tIns="0" rIns="0" bIns="0" rtlCol="0" anchor="ctr"/>
          <a:lstStyle/>
          <a:p>
            <a:pPr marL="0" indent="0" algn="ctr">
              <a:lnSpc>
                <a:spcPts val="1344"/>
              </a:lnSpc>
              <a:spcBef>
                <a:spcPts val="680"/>
              </a:spcBef>
              <a:buNone/>
            </a:pPr>
            <a:r>
              <a:rPr lang="en-US" sz="840" dirty="0">
                <a:solidFill>
                  <a:srgbClr val="8B9CB6"/>
                </a:solidFill>
                <a:latin typeface="Calibri" pitchFamily="34" charset="0"/>
                <a:ea typeface="Calibri" pitchFamily="34" charset="-122"/>
                <a:cs typeface="Calibri" pitchFamily="34" charset="-120"/>
              </a:rPr>
              <a:t>Local network bridge</a:t>
            </a:r>
            <a:br/>
            <a:r>
              <a:rPr lang="en-US" sz="840" dirty="0">
                <a:solidFill>
                  <a:srgbClr val="8B9CB6"/>
                </a:solidFill>
                <a:latin typeface="Calibri" pitchFamily="34" charset="0"/>
                <a:ea typeface="Calibri" pitchFamily="34" charset="-122"/>
                <a:cs typeface="Calibri" pitchFamily="34" charset="-120"/>
              </a:rPr>
              <a:t>connecting all devices</a:t>
            </a:r>
            <a:endParaRPr lang="en-US" sz="840" dirty="0"/>
          </a:p>
        </p:txBody>
      </p:sp>
      <p:sp>
        <p:nvSpPr>
          <p:cNvPr id="29" name="Text 24"/>
          <p:cNvSpPr/>
          <p:nvPr/>
        </p:nvSpPr>
        <p:spPr>
          <a:xfrm>
            <a:off x="4534418" y="3775621"/>
            <a:ext cx="1055346" cy="262830"/>
          </a:xfrm>
          <a:prstGeom prst="roundRect">
            <a:avLst>
              <a:gd name="adj" fmla="val 21744"/>
            </a:avLst>
          </a:prstGeom>
          <a:solidFill>
            <a:srgbClr val="8B9CB6">
              <a:alpha val="6000"/>
            </a:srgbClr>
          </a:solidFill>
          <a:ln w="9525">
            <a:solidFill>
              <a:srgbClr val="8B9CB6">
                <a:alpha val="12000"/>
              </a:srgbClr>
            </a:solidFill>
          </a:ln>
        </p:spPr>
        <p:txBody>
          <a:bodyPr wrap="none" lIns="114300" tIns="57150" rIns="114300" bIns="57150" rtlCol="0" anchor="t"/>
          <a:lstStyle/>
          <a:p>
            <a:pPr marL="0" indent="0" algn="ctr">
              <a:buNone/>
            </a:pPr>
            <a:r>
              <a:rPr lang="en-US" sz="680" dirty="0">
                <a:solidFill>
                  <a:srgbClr val="8B9CB6"/>
                </a:solidFill>
                <a:latin typeface="Consolas" pitchFamily="34" charset="0"/>
                <a:ea typeface="Consolas" pitchFamily="34" charset="-122"/>
                <a:cs typeface="Consolas" pitchFamily="34" charset="-120"/>
              </a:rPr>
              <a:t>Wired • Low Latency</a:t>
            </a:r>
            <a:endParaRPr lang="en-US" sz="680" dirty="0"/>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41554" y="2980879"/>
            <a:ext cx="171450" cy="64740"/>
          </a:xfrm>
          <a:prstGeom prst="rect">
            <a:avLst/>
          </a:prstGeom>
        </p:spPr>
      </p:pic>
      <p:sp>
        <p:nvSpPr>
          <p:cNvPr id="31" name="Text 25"/>
          <p:cNvSpPr/>
          <p:nvPr/>
        </p:nvSpPr>
        <p:spPr>
          <a:xfrm>
            <a:off x="6584454" y="1630859"/>
            <a:ext cx="2130326" cy="2786360"/>
          </a:xfrm>
          <a:prstGeom prst="roundRect">
            <a:avLst>
              <a:gd name="adj" fmla="val 5365"/>
            </a:avLst>
          </a:prstGeom>
          <a:gradFill rotWithShape="1">
            <a:gsLst>
              <a:gs pos="0">
                <a:srgbClr val="1A2332"/>
              </a:gs>
              <a:gs pos="100000">
                <a:srgbClr val="141C28"/>
              </a:gs>
            </a:gsLst>
            <a:lin ang="3300000" scaled="1"/>
          </a:gradFill>
          <a:ln w="9525">
            <a:solidFill>
              <a:srgbClr val="8B9CB6">
                <a:alpha val="20000"/>
              </a:srgbClr>
            </a:solidFill>
          </a:ln>
        </p:spPr>
        <p:txBody>
          <a:bodyPr wrap="square" rtlCol="0" anchor="t"/>
          <a:lstStyle/>
          <a:p>
            <a:pPr marL="0" indent="0">
              <a:buNone/>
            </a:pPr>
            <a:endParaRPr lang="en-US" dirty="0"/>
          </a:p>
        </p:txBody>
      </p:sp>
      <p:sp>
        <p:nvSpPr>
          <p:cNvPr id="32" name="Text 26"/>
          <p:cNvSpPr/>
          <p:nvPr/>
        </p:nvSpPr>
        <p:spPr>
          <a:xfrm>
            <a:off x="7392442" y="1930003"/>
            <a:ext cx="514350" cy="514350"/>
          </a:xfrm>
          <a:prstGeom prst="roundRect">
            <a:avLst>
              <a:gd name="adj" fmla="val 19506"/>
            </a:avLst>
          </a:prstGeom>
          <a:solidFill>
            <a:srgbClr val="8B9CB6">
              <a:alpha val="8000"/>
            </a:srgbClr>
          </a:solidFill>
          <a:ln w="9525">
            <a:solidFill>
              <a:srgbClr val="8B9CB6">
                <a:alpha val="15000"/>
              </a:srgbClr>
            </a:solidFill>
          </a:ln>
        </p:spPr>
        <p:txBody>
          <a:bodyPr wrap="square" rtlCol="0" anchor="t"/>
          <a:lstStyle/>
          <a:p>
            <a:pPr marL="0" indent="0">
              <a:buNone/>
            </a:pPr>
            <a:endParaRPr lang="en-US" dirty="0"/>
          </a:p>
        </p:txBody>
      </p:sp>
      <p:pic>
        <p:nvPicPr>
          <p:cNvPr id="3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42461" y="2080022"/>
            <a:ext cx="214313" cy="214313"/>
          </a:xfrm>
          <a:prstGeom prst="rect">
            <a:avLst/>
          </a:prstGeom>
        </p:spPr>
      </p:pic>
      <p:sp>
        <p:nvSpPr>
          <p:cNvPr id="34" name="Text 27"/>
          <p:cNvSpPr/>
          <p:nvPr/>
        </p:nvSpPr>
        <p:spPr>
          <a:xfrm>
            <a:off x="6880175" y="2587823"/>
            <a:ext cx="1538883" cy="236190"/>
          </a:xfrm>
          <a:prstGeom prst="rect">
            <a:avLst/>
          </a:prstGeom>
          <a:noFill/>
          <a:ln/>
        </p:spPr>
        <p:txBody>
          <a:bodyPr wrap="none" lIns="0" tIns="0" rIns="0" bIns="0" rtlCol="0" anchor="ctr"/>
          <a:lstStyle/>
          <a:p>
            <a:pPr marL="0" indent="0" algn="ctr">
              <a:lnSpc>
                <a:spcPts val="1860"/>
              </a:lnSpc>
              <a:spcAft>
                <a:spcPts val="560"/>
              </a:spcAft>
              <a:buNone/>
            </a:pPr>
            <a:r>
              <a:rPr lang="en-US" sz="1240" b="1" dirty="0">
                <a:solidFill>
                  <a:srgbClr val="E2E8F0"/>
                </a:solidFill>
                <a:latin typeface="Consolas" pitchFamily="34" charset="0"/>
                <a:ea typeface="Consolas" pitchFamily="34" charset="-122"/>
                <a:cs typeface="Consolas" pitchFamily="34" charset="-120"/>
              </a:rPr>
              <a:t>2015 MacBook Pro</a:t>
            </a:r>
            <a:endParaRPr lang="en-US" sz="1240" dirty="0"/>
          </a:p>
        </p:txBody>
      </p:sp>
      <p:sp>
        <p:nvSpPr>
          <p:cNvPr id="35" name="Text 28"/>
          <p:cNvSpPr/>
          <p:nvPr/>
        </p:nvSpPr>
        <p:spPr>
          <a:xfrm>
            <a:off x="7280970" y="2981325"/>
            <a:ext cx="737146" cy="238036"/>
          </a:xfrm>
          <a:prstGeom prst="roundRect">
            <a:avLst>
              <a:gd name="adj" fmla="val 18140"/>
            </a:avLst>
          </a:prstGeom>
          <a:solidFill>
            <a:srgbClr val="8B9CB6">
              <a:alpha val="10000"/>
            </a:srgbClr>
          </a:solidFill>
          <a:ln w="9525">
            <a:solidFill>
              <a:srgbClr val="8B9CB6">
                <a:alpha val="15000"/>
              </a:srgbClr>
            </a:solidFill>
          </a:ln>
        </p:spPr>
        <p:txBody>
          <a:bodyPr wrap="none" lIns="0" tIns="0" rIns="0" bIns="0" rtlCol="0" anchor="ctr"/>
          <a:lstStyle/>
          <a:p>
            <a:pPr marL="0" indent="0" algn="ctr">
              <a:buNone/>
            </a:pPr>
            <a:r>
              <a:rPr lang="en-US" sz="730" dirty="0">
                <a:solidFill>
                  <a:srgbClr val="8B9CB6"/>
                </a:solidFill>
                <a:latin typeface="Consolas" pitchFamily="34" charset="0"/>
                <a:ea typeface="Consolas" pitchFamily="34" charset="-122"/>
                <a:cs typeface="Consolas" pitchFamily="34" charset="-120"/>
              </a:rPr>
              <a:t>Client Device</a:t>
            </a:r>
            <a:endParaRPr lang="en-US" sz="730" dirty="0"/>
          </a:p>
        </p:txBody>
      </p:sp>
      <p:sp>
        <p:nvSpPr>
          <p:cNvPr id="36" name="Text 29"/>
          <p:cNvSpPr/>
          <p:nvPr/>
        </p:nvSpPr>
        <p:spPr>
          <a:xfrm>
            <a:off x="7090673" y="3370362"/>
            <a:ext cx="1117738" cy="358482"/>
          </a:xfrm>
          <a:prstGeom prst="rect">
            <a:avLst/>
          </a:prstGeom>
          <a:noFill/>
          <a:ln/>
        </p:spPr>
        <p:txBody>
          <a:bodyPr wrap="square" lIns="0" tIns="0" rIns="0" bIns="0" rtlCol="0" anchor="ctr"/>
          <a:lstStyle/>
          <a:p>
            <a:pPr marL="0" indent="0" algn="ctr">
              <a:lnSpc>
                <a:spcPts val="1344"/>
              </a:lnSpc>
              <a:spcBef>
                <a:spcPts val="680"/>
              </a:spcBef>
              <a:buNone/>
            </a:pPr>
            <a:r>
              <a:rPr lang="en-US" sz="840" dirty="0">
                <a:solidFill>
                  <a:srgbClr val="8B9CB6"/>
                </a:solidFill>
                <a:latin typeface="Calibri" pitchFamily="34" charset="0"/>
                <a:ea typeface="Calibri" pitchFamily="34" charset="-122"/>
                <a:cs typeface="Calibri" pitchFamily="34" charset="-120"/>
              </a:rPr>
              <a:t>Browser-based UI</a:t>
            </a:r>
            <a:br/>
            <a:r>
              <a:rPr lang="en-US" sz="840" dirty="0">
                <a:solidFill>
                  <a:srgbClr val="8B9CB6"/>
                </a:solidFill>
                <a:latin typeface="Calibri" pitchFamily="34" charset="0"/>
                <a:ea typeface="Calibri" pitchFamily="34" charset="-122"/>
                <a:cs typeface="Calibri" pitchFamily="34" charset="-120"/>
              </a:rPr>
              <a:t>for interaction &amp; control</a:t>
            </a:r>
            <a:endParaRPr lang="en-US" sz="840" dirty="0"/>
          </a:p>
        </p:txBody>
      </p:sp>
      <p:sp>
        <p:nvSpPr>
          <p:cNvPr id="37" name="Text 30"/>
          <p:cNvSpPr/>
          <p:nvPr/>
        </p:nvSpPr>
        <p:spPr>
          <a:xfrm>
            <a:off x="7064867" y="3855244"/>
            <a:ext cx="1169352" cy="262830"/>
          </a:xfrm>
          <a:prstGeom prst="roundRect">
            <a:avLst>
              <a:gd name="adj" fmla="val 21744"/>
            </a:avLst>
          </a:prstGeom>
          <a:solidFill>
            <a:srgbClr val="8B9CB6">
              <a:alpha val="6000"/>
            </a:srgbClr>
          </a:solidFill>
          <a:ln w="9525">
            <a:solidFill>
              <a:srgbClr val="8B9CB6">
                <a:alpha val="12000"/>
              </a:srgbClr>
            </a:solidFill>
          </a:ln>
        </p:spPr>
        <p:txBody>
          <a:bodyPr wrap="none" lIns="114300" tIns="57150" rIns="114300" bIns="57150" rtlCol="0" anchor="t"/>
          <a:lstStyle/>
          <a:p>
            <a:pPr marL="0" indent="0" algn="ctr">
              <a:buNone/>
            </a:pPr>
            <a:r>
              <a:rPr lang="en-US" sz="680" dirty="0">
                <a:solidFill>
                  <a:srgbClr val="8B9CB6"/>
                </a:solidFill>
                <a:latin typeface="Consolas" pitchFamily="34" charset="0"/>
                <a:ea typeface="Consolas" pitchFamily="34" charset="-122"/>
                <a:cs typeface="Consolas" pitchFamily="34" charset="-120"/>
              </a:rPr>
              <a:t>Open WebUI • Terminal</a:t>
            </a:r>
            <a:endParaRPr lang="en-US" sz="680" dirty="0"/>
          </a:p>
        </p:txBody>
      </p:sp>
      <p:sp>
        <p:nvSpPr>
          <p:cNvPr id="38" name="Text 31"/>
          <p:cNvSpPr/>
          <p:nvPr/>
        </p:nvSpPr>
        <p:spPr>
          <a:xfrm>
            <a:off x="429220" y="4784378"/>
            <a:ext cx="2846636" cy="7590"/>
          </a:xfrm>
          <a:prstGeom prst="rect">
            <a:avLst/>
          </a:prstGeom>
          <a:gradFill rotWithShape="1">
            <a:gsLst>
              <a:gs pos="0">
                <a:srgbClr val="000000">
                  <a:alpha val="0"/>
                </a:srgbClr>
              </a:gs>
              <a:gs pos="50000">
                <a:srgbClr val="76B900">
                  <a:alpha val="20000"/>
                </a:srgbClr>
              </a:gs>
              <a:gs pos="100000">
                <a:srgbClr val="76B900">
                  <a:alpha val="40000"/>
                </a:srgbClr>
              </a:gs>
            </a:gsLst>
            <a:lin ang="0" scaled="1"/>
          </a:gradFill>
          <a:ln/>
        </p:spPr>
        <p:txBody>
          <a:bodyPr wrap="none" rtlCol="0" anchor="t"/>
          <a:lstStyle/>
          <a:p>
            <a:pPr marL="0" indent="0">
              <a:buNone/>
            </a:pPr>
            <a:endParaRPr lang="en-US" dirty="0"/>
          </a:p>
        </p:txBody>
      </p:sp>
      <p:sp>
        <p:nvSpPr>
          <p:cNvPr id="39" name="Text 32"/>
          <p:cNvSpPr/>
          <p:nvPr/>
        </p:nvSpPr>
        <p:spPr>
          <a:xfrm>
            <a:off x="3390156" y="4718745"/>
            <a:ext cx="2599893"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DGX SPARK → ETHERNET → MACBOOK PRO</a:t>
            </a:r>
            <a:endParaRPr lang="en-US" sz="730" dirty="0"/>
          </a:p>
        </p:txBody>
      </p:sp>
      <p:sp>
        <p:nvSpPr>
          <p:cNvPr id="40" name="Text 33"/>
          <p:cNvSpPr/>
          <p:nvPr/>
        </p:nvSpPr>
        <p:spPr>
          <a:xfrm>
            <a:off x="5867995" y="4784378"/>
            <a:ext cx="2846784" cy="7590"/>
          </a:xfrm>
          <a:prstGeom prst="rect">
            <a:avLst/>
          </a:prstGeom>
          <a:gradFill rotWithShape="1">
            <a:gsLst>
              <a:gs pos="0">
                <a:srgbClr val="76B900">
                  <a:alpha val="40000"/>
                </a:srgbClr>
              </a:gs>
              <a:gs pos="50000">
                <a:srgbClr val="76B900">
                  <a:alpha val="20000"/>
                </a:srgbClr>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2">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429220" y="342900"/>
            <a:ext cx="1533531" cy="244376"/>
          </a:xfrm>
          <a:prstGeom prst="roundRect">
            <a:avLst>
              <a:gd name="adj" fmla="val 23386"/>
            </a:avLst>
          </a:prstGeom>
          <a:solidFill>
            <a:srgbClr val="76B900">
              <a:alpha val="8000"/>
            </a:srgbClr>
          </a:solidFill>
          <a:ln w="9525">
            <a:solidFill>
              <a:srgbClr val="76B900">
                <a:alpha val="20000"/>
              </a:srgbClr>
            </a:solidFill>
          </a:ln>
        </p:spPr>
        <p:txBody>
          <a:bodyPr wrap="none" lIns="271145" tIns="43180" rIns="114300" bIns="43180" rtlCol="0" anchor="ctr"/>
          <a:lstStyle/>
          <a:p>
            <a:pPr marL="0" indent="0" algn="l">
              <a:buNone/>
            </a:pPr>
            <a:r>
              <a:rPr lang="en-US" sz="730" kern="0" spc="30" dirty="0">
                <a:solidFill>
                  <a:srgbClr val="76B900"/>
                </a:solidFill>
                <a:latin typeface="Consolas" pitchFamily="34" charset="0"/>
                <a:ea typeface="Consolas" pitchFamily="34" charset="-122"/>
                <a:cs typeface="Consolas" pitchFamily="34" charset="-120"/>
              </a:rPr>
              <a:t>PRACTICAL GUIDANCE</a:t>
            </a:r>
            <a:endParaRPr lang="en-US" sz="73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614" y="398794"/>
            <a:ext cx="132588" cy="132588"/>
          </a:xfrm>
          <a:prstGeom prst="rect">
            <a:avLst/>
          </a:prstGeom>
        </p:spPr>
      </p:pic>
      <p:sp>
        <p:nvSpPr>
          <p:cNvPr id="4" name="Text 1"/>
          <p:cNvSpPr/>
          <p:nvPr/>
        </p:nvSpPr>
        <p:spPr>
          <a:xfrm>
            <a:off x="278451" y="520285"/>
            <a:ext cx="8865549" cy="386655"/>
          </a:xfrm>
          <a:prstGeom prst="rect">
            <a:avLst/>
          </a:prstGeom>
          <a:noFill/>
          <a:ln/>
        </p:spPr>
        <p:txBody>
          <a:bodyPr wrap="none" lIns="0" tIns="0" rIns="0" bIns="0" rtlCol="0" anchor="t"/>
          <a:lstStyle/>
          <a:p>
            <a:pPr marL="0" indent="0" algn="l">
              <a:lnSpc>
                <a:spcPts val="3045"/>
              </a:lnSpc>
              <a:spcAft>
                <a:spcPts val="340"/>
              </a:spcAft>
              <a:buNone/>
            </a:pPr>
            <a:r>
              <a:rPr lang="en-US" sz="2030" kern="0" spc="-30" dirty="0">
                <a:solidFill>
                  <a:srgbClr val="E2E8F0"/>
                </a:solidFill>
                <a:latin typeface="Consolas" pitchFamily="34" charset="0"/>
                <a:ea typeface="Consolas" pitchFamily="34" charset="-122"/>
                <a:cs typeface="Consolas" pitchFamily="34" charset="-120"/>
              </a:rPr>
              <a:t>       Best Practices </a:t>
            </a:r>
            <a:r>
              <a:rPr lang="en-US" sz="2030" b="1" kern="0" spc="-30" dirty="0">
                <a:solidFill>
                  <a:srgbClr val="76B900"/>
                </a:solidFill>
                <a:latin typeface="Consolas" pitchFamily="34" charset="0"/>
                <a:ea typeface="Consolas" pitchFamily="34" charset="-122"/>
                <a:cs typeface="Consolas" pitchFamily="34" charset="-120"/>
              </a:rPr>
              <a:t>&amp;</a:t>
            </a:r>
            <a:r>
              <a:rPr lang="en-US" sz="2030" kern="0" spc="-30" dirty="0">
                <a:solidFill>
                  <a:srgbClr val="E2E8F0"/>
                </a:solidFill>
                <a:latin typeface="Consolas" pitchFamily="34" charset="0"/>
                <a:ea typeface="Consolas" pitchFamily="34" charset="-122"/>
                <a:cs typeface="Consolas" pitchFamily="34" charset="-120"/>
              </a:rPr>
              <a:t> Troubleshooting</a:t>
            </a:r>
            <a:br>
              <a:rPr dirty="0"/>
            </a:br>
            <a:r>
              <a:rPr lang="en-US" sz="2030" kern="0" spc="-30" dirty="0">
                <a:solidFill>
                  <a:srgbClr val="E2E8F0"/>
                </a:solidFill>
                <a:latin typeface="Consolas" pitchFamily="34" charset="0"/>
                <a:ea typeface="Consolas" pitchFamily="34" charset="-122"/>
                <a:cs typeface="Consolas" pitchFamily="34" charset="-120"/>
              </a:rPr>
              <a:t>    </a:t>
            </a:r>
            <a:endParaRPr lang="en-US" sz="2030" dirty="0"/>
          </a:p>
        </p:txBody>
      </p:sp>
      <p:sp>
        <p:nvSpPr>
          <p:cNvPr id="5" name="Text 2"/>
          <p:cNvSpPr/>
          <p:nvPr/>
        </p:nvSpPr>
        <p:spPr>
          <a:xfrm>
            <a:off x="486370" y="1074241"/>
            <a:ext cx="8657630" cy="224730"/>
          </a:xfrm>
          <a:prstGeom prst="rect">
            <a:avLst/>
          </a:prstGeom>
          <a:noFill/>
          <a:ln/>
        </p:spPr>
        <p:txBody>
          <a:bodyPr wrap="none" lIns="0" tIns="0" rIns="0" bIns="0" rtlCol="0" anchor="t"/>
          <a:lstStyle/>
          <a:p>
            <a:pPr marL="0" indent="0" algn="l">
              <a:lnSpc>
                <a:spcPts val="1260"/>
              </a:lnSpc>
              <a:spcAft>
                <a:spcPts val="1580"/>
              </a:spcAft>
              <a:buNone/>
            </a:pPr>
            <a:r>
              <a:rPr lang="en-US" sz="840" dirty="0">
                <a:solidFill>
                  <a:srgbClr val="8B9CB6"/>
                </a:solidFill>
                <a:latin typeface="Calibri" pitchFamily="34" charset="0"/>
                <a:ea typeface="Calibri" pitchFamily="34" charset="-122"/>
                <a:cs typeface="Calibri" pitchFamily="34" charset="-120"/>
              </a:rPr>
              <a:t>Five tips to get started safely and keep your local AI agent running smoothly.</a:t>
            </a:r>
            <a:endParaRPr lang="en-US" sz="840" dirty="0"/>
          </a:p>
        </p:txBody>
      </p:sp>
      <p:sp>
        <p:nvSpPr>
          <p:cNvPr id="6" name="Text 3"/>
          <p:cNvSpPr/>
          <p:nvPr/>
        </p:nvSpPr>
        <p:spPr>
          <a:xfrm>
            <a:off x="429220" y="1434852"/>
            <a:ext cx="2685604" cy="1024979"/>
          </a:xfrm>
          <a:prstGeom prst="roundRect">
            <a:avLst>
              <a:gd name="adj" fmla="val 9788"/>
            </a:avLst>
          </a:prstGeom>
          <a:solidFill>
            <a:srgbClr val="1A2332"/>
          </a:solidFill>
          <a:ln/>
        </p:spPr>
        <p:txBody>
          <a:bodyPr wrap="square" rtlCol="0" anchor="t"/>
          <a:lstStyle/>
          <a:p>
            <a:pPr marL="0" indent="0">
              <a:buNone/>
            </a:pPr>
            <a:endParaRPr lang="en-US" dirty="0"/>
          </a:p>
        </p:txBody>
      </p:sp>
      <p:sp>
        <p:nvSpPr>
          <p:cNvPr id="7" name="Text 4"/>
          <p:cNvSpPr/>
          <p:nvPr/>
        </p:nvSpPr>
        <p:spPr>
          <a:xfrm>
            <a:off x="429220" y="1434852"/>
            <a:ext cx="28575" cy="1024979"/>
          </a:xfrm>
          <a:custGeom>
            <a:avLst/>
            <a:gdLst/>
            <a:ahLst/>
            <a:cxnLst/>
            <a:rect l="l" t="t" r="r" b="b"/>
            <a:pathLst>
              <a:path w="28575" h="1024979">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994773"/>
                </a:lnTo>
                <a:lnTo>
                  <a:pt x="25003" y="990921"/>
                </a:lnTo>
                <a:lnTo>
                  <a:pt x="21431" y="986626"/>
                </a:lnTo>
                <a:lnTo>
                  <a:pt x="17859" y="981787"/>
                </a:lnTo>
                <a:lnTo>
                  <a:pt x="14288" y="976252"/>
                </a:lnTo>
                <a:lnTo>
                  <a:pt x="10716" y="969765"/>
                </a:lnTo>
                <a:lnTo>
                  <a:pt x="7144" y="961831"/>
                </a:lnTo>
                <a:lnTo>
                  <a:pt x="3572" y="951182"/>
                </a:lnTo>
                <a:lnTo>
                  <a:pt x="0" y="924650"/>
                </a:lnTo>
                <a:close/>
              </a:path>
            </a:pathLst>
          </a:custGeom>
          <a:solidFill>
            <a:srgbClr val="76B900"/>
          </a:solidFill>
          <a:ln/>
        </p:spPr>
        <p:txBody>
          <a:bodyPr wrap="square" rtlCol="0" anchor="t"/>
          <a:lstStyle/>
          <a:p>
            <a:pPr marL="0" indent="0">
              <a:buNone/>
            </a:pPr>
            <a:endParaRPr lang="en-US" dirty="0"/>
          </a:p>
        </p:txBody>
      </p:sp>
      <p:sp>
        <p:nvSpPr>
          <p:cNvPr id="8" name="Text 5"/>
          <p:cNvSpPr/>
          <p:nvPr/>
        </p:nvSpPr>
        <p:spPr>
          <a:xfrm>
            <a:off x="2896195" y="1505843"/>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01</a:t>
            </a:r>
            <a:endParaRPr lang="en-US" sz="730" dirty="0"/>
          </a:p>
        </p:txBody>
      </p:sp>
      <p:sp>
        <p:nvSpPr>
          <p:cNvPr id="9" name="Text 6"/>
          <p:cNvSpPr/>
          <p:nvPr/>
        </p:nvSpPr>
        <p:spPr>
          <a:xfrm>
            <a:off x="672405" y="163547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4353" y="1737420"/>
            <a:ext cx="139005" cy="139005"/>
          </a:xfrm>
          <a:prstGeom prst="rect">
            <a:avLst/>
          </a:prstGeom>
        </p:spPr>
      </p:pic>
      <p:sp>
        <p:nvSpPr>
          <p:cNvPr id="11" name="Text 7"/>
          <p:cNvSpPr/>
          <p:nvPr/>
        </p:nvSpPr>
        <p:spPr>
          <a:xfrm>
            <a:off x="1172766" y="1635472"/>
            <a:ext cx="1900193" cy="158353"/>
          </a:xfrm>
          <a:prstGeom prst="rect">
            <a:avLst/>
          </a:prstGeom>
          <a:noFill/>
          <a:ln/>
        </p:spPr>
        <p:txBody>
          <a:bodyPr wrap="non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Start small, then scale up</a:t>
            </a:r>
            <a:endParaRPr lang="en-US" sz="960" dirty="0"/>
          </a:p>
        </p:txBody>
      </p:sp>
      <p:sp>
        <p:nvSpPr>
          <p:cNvPr id="12" name="Text 8"/>
          <p:cNvSpPr/>
          <p:nvPr/>
        </p:nvSpPr>
        <p:spPr>
          <a:xfrm>
            <a:off x="1172766" y="1822996"/>
            <a:ext cx="1761997" cy="458026"/>
          </a:xfrm>
          <a:prstGeom prst="rect">
            <a:avLst/>
          </a:prstGeom>
          <a:noFill/>
          <a:ln/>
        </p:spPr>
        <p:txBody>
          <a:bodyPr wrap="square" lIns="0" tIns="0" rIns="0" bIns="0" rtlCol="0" anchor="t"/>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Begin with 7B–13B models to learn the workflow, then move to 32B+ once you're comfortable.</a:t>
            </a:r>
            <a:endParaRPr lang="en-US" sz="790" dirty="0"/>
          </a:p>
        </p:txBody>
      </p:sp>
      <p:sp>
        <p:nvSpPr>
          <p:cNvPr id="13" name="Text 9"/>
          <p:cNvSpPr/>
          <p:nvPr/>
        </p:nvSpPr>
        <p:spPr>
          <a:xfrm>
            <a:off x="3229124" y="1434852"/>
            <a:ext cx="2685604" cy="1024979"/>
          </a:xfrm>
          <a:prstGeom prst="roundRect">
            <a:avLst>
              <a:gd name="adj" fmla="val 9788"/>
            </a:avLst>
          </a:prstGeom>
          <a:solidFill>
            <a:srgbClr val="1A2332"/>
          </a:solidFill>
          <a:ln/>
        </p:spPr>
        <p:txBody>
          <a:bodyPr wrap="square" rtlCol="0" anchor="t"/>
          <a:lstStyle/>
          <a:p>
            <a:pPr marL="0" indent="0">
              <a:buNone/>
            </a:pPr>
            <a:endParaRPr lang="en-US" dirty="0"/>
          </a:p>
        </p:txBody>
      </p:sp>
      <p:sp>
        <p:nvSpPr>
          <p:cNvPr id="14" name="Text 10"/>
          <p:cNvSpPr/>
          <p:nvPr/>
        </p:nvSpPr>
        <p:spPr>
          <a:xfrm>
            <a:off x="3229124" y="1434852"/>
            <a:ext cx="28575" cy="1024979"/>
          </a:xfrm>
          <a:custGeom>
            <a:avLst/>
            <a:gdLst/>
            <a:ahLst/>
            <a:cxnLst/>
            <a:rect l="l" t="t" r="r" b="b"/>
            <a:pathLst>
              <a:path w="28575" h="1024979">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994773"/>
                </a:lnTo>
                <a:lnTo>
                  <a:pt x="25003" y="990921"/>
                </a:lnTo>
                <a:lnTo>
                  <a:pt x="21431" y="986626"/>
                </a:lnTo>
                <a:lnTo>
                  <a:pt x="17859" y="981787"/>
                </a:lnTo>
                <a:lnTo>
                  <a:pt x="14288" y="976252"/>
                </a:lnTo>
                <a:lnTo>
                  <a:pt x="10716" y="969765"/>
                </a:lnTo>
                <a:lnTo>
                  <a:pt x="7144" y="961831"/>
                </a:lnTo>
                <a:lnTo>
                  <a:pt x="3572" y="951182"/>
                </a:lnTo>
                <a:lnTo>
                  <a:pt x="0" y="924650"/>
                </a:lnTo>
                <a:close/>
              </a:path>
            </a:pathLst>
          </a:custGeom>
          <a:solidFill>
            <a:srgbClr val="76B900"/>
          </a:solidFill>
          <a:ln/>
        </p:spPr>
        <p:txBody>
          <a:bodyPr wrap="square" rtlCol="0" anchor="t"/>
          <a:lstStyle/>
          <a:p>
            <a:pPr marL="0" indent="0">
              <a:buNone/>
            </a:pPr>
            <a:endParaRPr lang="en-US" dirty="0"/>
          </a:p>
        </p:txBody>
      </p:sp>
      <p:sp>
        <p:nvSpPr>
          <p:cNvPr id="15" name="Text 11"/>
          <p:cNvSpPr/>
          <p:nvPr/>
        </p:nvSpPr>
        <p:spPr>
          <a:xfrm>
            <a:off x="5696099" y="1505843"/>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02</a:t>
            </a:r>
            <a:endParaRPr lang="en-US" sz="730" dirty="0"/>
          </a:p>
        </p:txBody>
      </p:sp>
      <p:sp>
        <p:nvSpPr>
          <p:cNvPr id="16" name="Text 12"/>
          <p:cNvSpPr/>
          <p:nvPr/>
        </p:nvSpPr>
        <p:spPr>
          <a:xfrm>
            <a:off x="3472309" y="163547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74256" y="1737420"/>
            <a:ext cx="139005" cy="139005"/>
          </a:xfrm>
          <a:prstGeom prst="rect">
            <a:avLst/>
          </a:prstGeom>
        </p:spPr>
      </p:pic>
      <p:sp>
        <p:nvSpPr>
          <p:cNvPr id="18" name="Text 13"/>
          <p:cNvSpPr/>
          <p:nvPr/>
        </p:nvSpPr>
        <p:spPr>
          <a:xfrm>
            <a:off x="3972669" y="1635472"/>
            <a:ext cx="1900193" cy="158353"/>
          </a:xfrm>
          <a:prstGeom prst="rect">
            <a:avLst/>
          </a:prstGeom>
          <a:noFill/>
          <a:ln/>
        </p:spPr>
        <p:txBody>
          <a:bodyPr wrap="non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Monitor GPU memory</a:t>
            </a:r>
            <a:endParaRPr lang="en-US" sz="960" dirty="0"/>
          </a:p>
        </p:txBody>
      </p:sp>
      <p:sp>
        <p:nvSpPr>
          <p:cNvPr id="19" name="Text 14"/>
          <p:cNvSpPr/>
          <p:nvPr/>
        </p:nvSpPr>
        <p:spPr>
          <a:xfrm>
            <a:off x="3972669" y="1822996"/>
            <a:ext cx="1761997" cy="458026"/>
          </a:xfrm>
          <a:prstGeom prst="rect">
            <a:avLst/>
          </a:prstGeom>
          <a:noFill/>
          <a:ln/>
        </p:spPr>
        <p:txBody>
          <a:bodyPr wrap="square" lIns="0" tIns="0" rIns="0" bIns="0" rtlCol="0" anchor="ctr"/>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Use </a:t>
            </a:r>
            <a:r>
              <a:rPr lang="en-US" sz="730" dirty="0">
                <a:solidFill>
                  <a:srgbClr val="76B900"/>
                </a:solidFill>
                <a:latin typeface="Consolas" pitchFamily="34" charset="0"/>
                <a:ea typeface="Consolas" pitchFamily="34" charset="-122"/>
                <a:cs typeface="Consolas" pitchFamily="34" charset="-120"/>
              </a:rPr>
              <a:t>nvidia-smi</a:t>
            </a:r>
            <a:r>
              <a:rPr lang="en-US" sz="790" dirty="0">
                <a:solidFill>
                  <a:srgbClr val="8B9CB6"/>
                </a:solidFill>
                <a:latin typeface="Calibri" pitchFamily="34" charset="0"/>
                <a:ea typeface="Calibri" pitchFamily="34" charset="-122"/>
                <a:cs typeface="Calibri" pitchFamily="34" charset="-120"/>
              </a:rPr>
              <a:t> to watch VRAM usage. Running out silently degrades performance.</a:t>
            </a:r>
            <a:endParaRPr lang="en-US" sz="790" dirty="0"/>
          </a:p>
        </p:txBody>
      </p:sp>
      <p:sp>
        <p:nvSpPr>
          <p:cNvPr id="20" name="Text 15"/>
          <p:cNvSpPr/>
          <p:nvPr/>
        </p:nvSpPr>
        <p:spPr>
          <a:xfrm>
            <a:off x="6029027" y="1434852"/>
            <a:ext cx="2685752" cy="1024979"/>
          </a:xfrm>
          <a:prstGeom prst="roundRect">
            <a:avLst>
              <a:gd name="adj" fmla="val 9788"/>
            </a:avLst>
          </a:prstGeom>
          <a:solidFill>
            <a:srgbClr val="1A2332"/>
          </a:solidFill>
          <a:ln/>
        </p:spPr>
        <p:txBody>
          <a:bodyPr wrap="square" rtlCol="0" anchor="t"/>
          <a:lstStyle/>
          <a:p>
            <a:pPr marL="0" indent="0">
              <a:buNone/>
            </a:pPr>
            <a:endParaRPr lang="en-US" dirty="0"/>
          </a:p>
        </p:txBody>
      </p:sp>
      <p:sp>
        <p:nvSpPr>
          <p:cNvPr id="21" name="Text 16"/>
          <p:cNvSpPr/>
          <p:nvPr/>
        </p:nvSpPr>
        <p:spPr>
          <a:xfrm>
            <a:off x="6029027" y="1434852"/>
            <a:ext cx="28575" cy="1024979"/>
          </a:xfrm>
          <a:custGeom>
            <a:avLst/>
            <a:gdLst/>
            <a:ahLst/>
            <a:cxnLst/>
            <a:rect l="l" t="t" r="r" b="b"/>
            <a:pathLst>
              <a:path w="28575" h="1024979">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994773"/>
                </a:lnTo>
                <a:lnTo>
                  <a:pt x="25003" y="990921"/>
                </a:lnTo>
                <a:lnTo>
                  <a:pt x="21431" y="986626"/>
                </a:lnTo>
                <a:lnTo>
                  <a:pt x="17859" y="981787"/>
                </a:lnTo>
                <a:lnTo>
                  <a:pt x="14288" y="976252"/>
                </a:lnTo>
                <a:lnTo>
                  <a:pt x="10716" y="969765"/>
                </a:lnTo>
                <a:lnTo>
                  <a:pt x="7144" y="961831"/>
                </a:lnTo>
                <a:lnTo>
                  <a:pt x="3572" y="951182"/>
                </a:lnTo>
                <a:lnTo>
                  <a:pt x="0" y="924650"/>
                </a:lnTo>
                <a:close/>
              </a:path>
            </a:pathLst>
          </a:custGeom>
          <a:solidFill>
            <a:srgbClr val="76B900"/>
          </a:solidFill>
          <a:ln/>
        </p:spPr>
        <p:txBody>
          <a:bodyPr wrap="square" rtlCol="0" anchor="t"/>
          <a:lstStyle/>
          <a:p>
            <a:pPr marL="0" indent="0">
              <a:buNone/>
            </a:pPr>
            <a:endParaRPr lang="en-US" dirty="0"/>
          </a:p>
        </p:txBody>
      </p:sp>
      <p:sp>
        <p:nvSpPr>
          <p:cNvPr id="22" name="Text 17"/>
          <p:cNvSpPr/>
          <p:nvPr/>
        </p:nvSpPr>
        <p:spPr>
          <a:xfrm>
            <a:off x="8496151" y="1505843"/>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03</a:t>
            </a:r>
            <a:endParaRPr lang="en-US" sz="730" dirty="0"/>
          </a:p>
        </p:txBody>
      </p:sp>
      <p:sp>
        <p:nvSpPr>
          <p:cNvPr id="23" name="Text 18"/>
          <p:cNvSpPr/>
          <p:nvPr/>
        </p:nvSpPr>
        <p:spPr>
          <a:xfrm>
            <a:off x="6272213" y="163547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74160" y="1737420"/>
            <a:ext cx="139005" cy="139005"/>
          </a:xfrm>
          <a:prstGeom prst="rect">
            <a:avLst/>
          </a:prstGeom>
        </p:spPr>
      </p:pic>
      <p:sp>
        <p:nvSpPr>
          <p:cNvPr id="25" name="Text 19"/>
          <p:cNvSpPr/>
          <p:nvPr/>
        </p:nvSpPr>
        <p:spPr>
          <a:xfrm>
            <a:off x="6772573" y="1635472"/>
            <a:ext cx="1900357" cy="158353"/>
          </a:xfrm>
          <a:prstGeom prst="rect">
            <a:avLst/>
          </a:prstGeom>
          <a:noFill/>
          <a:ln/>
        </p:spPr>
        <p:txBody>
          <a:bodyPr wrap="non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Confirm before risky actions</a:t>
            </a:r>
            <a:endParaRPr lang="en-US" sz="960" dirty="0"/>
          </a:p>
        </p:txBody>
      </p:sp>
      <p:sp>
        <p:nvSpPr>
          <p:cNvPr id="26" name="Text 20"/>
          <p:cNvSpPr/>
          <p:nvPr/>
        </p:nvSpPr>
        <p:spPr>
          <a:xfrm>
            <a:off x="6772573" y="1822996"/>
            <a:ext cx="1762149" cy="458026"/>
          </a:xfrm>
          <a:prstGeom prst="rect">
            <a:avLst/>
          </a:prstGeom>
          <a:noFill/>
          <a:ln/>
        </p:spPr>
        <p:txBody>
          <a:bodyPr wrap="square" lIns="0" tIns="0" rIns="0" bIns="0" rtlCol="0" anchor="t"/>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Enable confirmation prompts for shell commands, file deletions, and email sends. Trust, but verify.</a:t>
            </a:r>
            <a:endParaRPr lang="en-US" sz="790" dirty="0"/>
          </a:p>
        </p:txBody>
      </p:sp>
      <p:sp>
        <p:nvSpPr>
          <p:cNvPr id="27" name="Text 21"/>
          <p:cNvSpPr/>
          <p:nvPr/>
        </p:nvSpPr>
        <p:spPr>
          <a:xfrm>
            <a:off x="1821805" y="2574131"/>
            <a:ext cx="2692896" cy="1183332"/>
          </a:xfrm>
          <a:prstGeom prst="roundRect">
            <a:avLst>
              <a:gd name="adj" fmla="val 8479"/>
            </a:avLst>
          </a:prstGeom>
          <a:solidFill>
            <a:srgbClr val="1A2332"/>
          </a:solidFill>
          <a:ln/>
        </p:spPr>
        <p:txBody>
          <a:bodyPr wrap="square" rtlCol="0" anchor="t"/>
          <a:lstStyle/>
          <a:p>
            <a:pPr marL="0" indent="0">
              <a:buNone/>
            </a:pPr>
            <a:endParaRPr lang="en-US" dirty="0"/>
          </a:p>
        </p:txBody>
      </p:sp>
      <p:sp>
        <p:nvSpPr>
          <p:cNvPr id="28" name="Text 22"/>
          <p:cNvSpPr/>
          <p:nvPr/>
        </p:nvSpPr>
        <p:spPr>
          <a:xfrm>
            <a:off x="1821805" y="2574131"/>
            <a:ext cx="28575" cy="1183332"/>
          </a:xfrm>
          <a:custGeom>
            <a:avLst/>
            <a:gdLst/>
            <a:ahLst/>
            <a:cxnLst/>
            <a:rect l="l" t="t" r="r" b="b"/>
            <a:pathLst>
              <a:path w="28575" h="1183332">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1153126"/>
                </a:lnTo>
                <a:lnTo>
                  <a:pt x="25003" y="1149275"/>
                </a:lnTo>
                <a:lnTo>
                  <a:pt x="21431" y="1144979"/>
                </a:lnTo>
                <a:lnTo>
                  <a:pt x="17859" y="1140140"/>
                </a:lnTo>
                <a:lnTo>
                  <a:pt x="14288" y="1134605"/>
                </a:lnTo>
                <a:lnTo>
                  <a:pt x="10716" y="1128118"/>
                </a:lnTo>
                <a:lnTo>
                  <a:pt x="7144" y="1120184"/>
                </a:lnTo>
                <a:lnTo>
                  <a:pt x="3572" y="1109535"/>
                </a:lnTo>
                <a:lnTo>
                  <a:pt x="0" y="1083003"/>
                </a:lnTo>
                <a:close/>
              </a:path>
            </a:pathLst>
          </a:custGeom>
          <a:solidFill>
            <a:srgbClr val="76B900"/>
          </a:solidFill>
          <a:ln/>
        </p:spPr>
        <p:txBody>
          <a:bodyPr wrap="square" rtlCol="0" anchor="t"/>
          <a:lstStyle/>
          <a:p>
            <a:pPr marL="0" indent="0">
              <a:buNone/>
            </a:pPr>
            <a:endParaRPr lang="en-US" dirty="0"/>
          </a:p>
        </p:txBody>
      </p:sp>
      <p:sp>
        <p:nvSpPr>
          <p:cNvPr id="29" name="Text 23"/>
          <p:cNvSpPr/>
          <p:nvPr/>
        </p:nvSpPr>
        <p:spPr>
          <a:xfrm>
            <a:off x="4296073" y="2645122"/>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04</a:t>
            </a:r>
            <a:endParaRPr lang="en-US" sz="730" dirty="0"/>
          </a:p>
        </p:txBody>
      </p:sp>
      <p:sp>
        <p:nvSpPr>
          <p:cNvPr id="30" name="Text 24"/>
          <p:cNvSpPr/>
          <p:nvPr/>
        </p:nvSpPr>
        <p:spPr>
          <a:xfrm>
            <a:off x="2064990" y="277475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31"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166938" y="2876699"/>
            <a:ext cx="139005" cy="139005"/>
          </a:xfrm>
          <a:prstGeom prst="rect">
            <a:avLst/>
          </a:prstGeom>
        </p:spPr>
      </p:pic>
      <p:sp>
        <p:nvSpPr>
          <p:cNvPr id="32" name="Text 25"/>
          <p:cNvSpPr/>
          <p:nvPr/>
        </p:nvSpPr>
        <p:spPr>
          <a:xfrm>
            <a:off x="2565350" y="2774752"/>
            <a:ext cx="1769435" cy="332542"/>
          </a:xfrm>
          <a:prstGeom prst="rect">
            <a:avLst/>
          </a:prstGeom>
          <a:noFill/>
          <a:ln/>
        </p:spPr>
        <p:txBody>
          <a:bodyPr wrap="squar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Version-control workspace files</a:t>
            </a:r>
            <a:endParaRPr lang="en-US" sz="960" dirty="0"/>
          </a:p>
        </p:txBody>
      </p:sp>
      <p:sp>
        <p:nvSpPr>
          <p:cNvPr id="33" name="Text 26"/>
          <p:cNvSpPr/>
          <p:nvPr/>
        </p:nvSpPr>
        <p:spPr>
          <a:xfrm>
            <a:off x="2565350" y="3120628"/>
            <a:ext cx="1769435" cy="458026"/>
          </a:xfrm>
          <a:prstGeom prst="rect">
            <a:avLst/>
          </a:prstGeom>
          <a:noFill/>
          <a:ln/>
        </p:spPr>
        <p:txBody>
          <a:bodyPr wrap="square" lIns="0" tIns="0" rIns="0" bIns="0" rtlCol="0" anchor="ctr"/>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Keep </a:t>
            </a:r>
            <a:r>
              <a:rPr lang="en-US" sz="730" dirty="0">
                <a:solidFill>
                  <a:srgbClr val="76B900"/>
                </a:solidFill>
                <a:latin typeface="Consolas" pitchFamily="34" charset="0"/>
                <a:ea typeface="Consolas" pitchFamily="34" charset="-122"/>
                <a:cs typeface="Consolas" pitchFamily="34" charset="-120"/>
              </a:rPr>
              <a:t>SOUL.md</a:t>
            </a:r>
            <a:r>
              <a:rPr lang="en-US" sz="790" dirty="0">
                <a:solidFill>
                  <a:srgbClr val="8B9CB6"/>
                </a:solidFill>
                <a:latin typeface="Calibri" pitchFamily="34" charset="0"/>
                <a:ea typeface="Calibri" pitchFamily="34" charset="-122"/>
                <a:cs typeface="Calibri" pitchFamily="34" charset="-120"/>
              </a:rPr>
              <a:t>, </a:t>
            </a:r>
            <a:r>
              <a:rPr lang="en-US" sz="730" dirty="0">
                <a:solidFill>
                  <a:srgbClr val="76B900"/>
                </a:solidFill>
                <a:latin typeface="Consolas" pitchFamily="34" charset="0"/>
                <a:ea typeface="Consolas" pitchFamily="34" charset="-122"/>
                <a:cs typeface="Consolas" pitchFamily="34" charset="-120"/>
              </a:rPr>
              <a:t>USER.md</a:t>
            </a:r>
            <a:r>
              <a:rPr lang="en-US" sz="790" dirty="0">
                <a:solidFill>
                  <a:srgbClr val="8B9CB6"/>
                </a:solidFill>
                <a:latin typeface="Calibri" pitchFamily="34" charset="0"/>
                <a:ea typeface="Calibri" pitchFamily="34" charset="-122"/>
                <a:cs typeface="Calibri" pitchFamily="34" charset="-120"/>
              </a:rPr>
              <a:t>, and config files in Git. Track personality changes and roll back mistakes.</a:t>
            </a:r>
            <a:endParaRPr lang="en-US" sz="790" dirty="0"/>
          </a:p>
        </p:txBody>
      </p:sp>
      <p:sp>
        <p:nvSpPr>
          <p:cNvPr id="34" name="Text 27"/>
          <p:cNvSpPr/>
          <p:nvPr/>
        </p:nvSpPr>
        <p:spPr>
          <a:xfrm>
            <a:off x="4629001" y="2574131"/>
            <a:ext cx="2693045" cy="1183332"/>
          </a:xfrm>
          <a:prstGeom prst="roundRect">
            <a:avLst>
              <a:gd name="adj" fmla="val 8479"/>
            </a:avLst>
          </a:prstGeom>
          <a:solidFill>
            <a:srgbClr val="1A2332"/>
          </a:solidFill>
          <a:ln/>
        </p:spPr>
        <p:txBody>
          <a:bodyPr wrap="square" rtlCol="0" anchor="t"/>
          <a:lstStyle/>
          <a:p>
            <a:pPr marL="0" indent="0">
              <a:buNone/>
            </a:pPr>
            <a:endParaRPr lang="en-US" dirty="0"/>
          </a:p>
        </p:txBody>
      </p:sp>
      <p:sp>
        <p:nvSpPr>
          <p:cNvPr id="35" name="Text 28"/>
          <p:cNvSpPr/>
          <p:nvPr/>
        </p:nvSpPr>
        <p:spPr>
          <a:xfrm>
            <a:off x="4629001" y="2574131"/>
            <a:ext cx="28575" cy="1183332"/>
          </a:xfrm>
          <a:custGeom>
            <a:avLst/>
            <a:gdLst/>
            <a:ahLst/>
            <a:cxnLst/>
            <a:rect l="l" t="t" r="r" b="b"/>
            <a:pathLst>
              <a:path w="28575" h="1183332">
                <a:moveTo>
                  <a:pt x="0" y="100330"/>
                </a:moveTo>
                <a:lnTo>
                  <a:pt x="3572" y="73797"/>
                </a:lnTo>
                <a:lnTo>
                  <a:pt x="7144" y="63149"/>
                </a:lnTo>
                <a:lnTo>
                  <a:pt x="10716" y="55215"/>
                </a:lnTo>
                <a:lnTo>
                  <a:pt x="14288" y="48727"/>
                </a:lnTo>
                <a:lnTo>
                  <a:pt x="17859" y="43192"/>
                </a:lnTo>
                <a:lnTo>
                  <a:pt x="21431" y="38353"/>
                </a:lnTo>
                <a:lnTo>
                  <a:pt x="25003" y="34058"/>
                </a:lnTo>
                <a:lnTo>
                  <a:pt x="28575" y="30206"/>
                </a:lnTo>
                <a:lnTo>
                  <a:pt x="28575" y="1153126"/>
                </a:lnTo>
                <a:lnTo>
                  <a:pt x="25003" y="1149275"/>
                </a:lnTo>
                <a:lnTo>
                  <a:pt x="21431" y="1144979"/>
                </a:lnTo>
                <a:lnTo>
                  <a:pt x="17859" y="1140140"/>
                </a:lnTo>
                <a:lnTo>
                  <a:pt x="14288" y="1134605"/>
                </a:lnTo>
                <a:lnTo>
                  <a:pt x="10716" y="1128118"/>
                </a:lnTo>
                <a:lnTo>
                  <a:pt x="7144" y="1120184"/>
                </a:lnTo>
                <a:lnTo>
                  <a:pt x="3572" y="1109535"/>
                </a:lnTo>
                <a:lnTo>
                  <a:pt x="0" y="1083003"/>
                </a:lnTo>
                <a:close/>
              </a:path>
            </a:pathLst>
          </a:custGeom>
          <a:solidFill>
            <a:srgbClr val="76B900"/>
          </a:solidFill>
          <a:ln/>
        </p:spPr>
        <p:txBody>
          <a:bodyPr wrap="square" rtlCol="0" anchor="t"/>
          <a:lstStyle/>
          <a:p>
            <a:pPr marL="0" indent="0">
              <a:buNone/>
            </a:pPr>
            <a:endParaRPr lang="en-US" dirty="0"/>
          </a:p>
        </p:txBody>
      </p:sp>
      <p:sp>
        <p:nvSpPr>
          <p:cNvPr id="36" name="Text 29"/>
          <p:cNvSpPr/>
          <p:nvPr/>
        </p:nvSpPr>
        <p:spPr>
          <a:xfrm>
            <a:off x="7103418" y="2645122"/>
            <a:ext cx="130150" cy="139005"/>
          </a:xfrm>
          <a:prstGeom prst="rect">
            <a:avLst/>
          </a:prstGeom>
          <a:noFill/>
          <a:ln/>
        </p:spPr>
        <p:txBody>
          <a:bodyPr wrap="none" lIns="0" tIns="0" rIns="0" bIns="0" rtlCol="0" anchor="ctr"/>
          <a:lstStyle/>
          <a:p>
            <a:pPr marL="0" indent="0" algn="l">
              <a:lnSpc>
                <a:spcPts val="1095"/>
              </a:lnSpc>
              <a:buNone/>
            </a:pPr>
            <a:r>
              <a:rPr lang="en-US" sz="730" dirty="0">
                <a:solidFill>
                  <a:srgbClr val="76B900"/>
                </a:solidFill>
                <a:latin typeface="Consolas" pitchFamily="34" charset="0"/>
                <a:ea typeface="Consolas" pitchFamily="34" charset="-122"/>
                <a:cs typeface="Consolas" pitchFamily="34" charset="-120"/>
              </a:rPr>
              <a:t>05</a:t>
            </a:r>
            <a:endParaRPr lang="en-US" sz="730" dirty="0"/>
          </a:p>
        </p:txBody>
      </p:sp>
      <p:sp>
        <p:nvSpPr>
          <p:cNvPr id="37" name="Text 30"/>
          <p:cNvSpPr/>
          <p:nvPr/>
        </p:nvSpPr>
        <p:spPr>
          <a:xfrm>
            <a:off x="4872186" y="2774752"/>
            <a:ext cx="342900" cy="342900"/>
          </a:xfrm>
          <a:prstGeom prst="roundRect">
            <a:avLst>
              <a:gd name="adj" fmla="val 25185"/>
            </a:avLst>
          </a:prstGeom>
          <a:solidFill>
            <a:srgbClr val="76B900">
              <a:alpha val="12000"/>
            </a:srgbClr>
          </a:solidFill>
          <a:ln/>
        </p:spPr>
        <p:txBody>
          <a:bodyPr wrap="square" rtlCol="0" anchor="t"/>
          <a:lstStyle/>
          <a:p>
            <a:pPr marL="0" indent="0">
              <a:buNone/>
            </a:pPr>
            <a:endParaRPr lang="en-US" dirty="0"/>
          </a:p>
        </p:txBody>
      </p:sp>
      <p:pic>
        <p:nvPicPr>
          <p:cNvPr id="38" name="Image 5"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74134" y="2876699"/>
            <a:ext cx="139005" cy="139005"/>
          </a:xfrm>
          <a:prstGeom prst="rect">
            <a:avLst/>
          </a:prstGeom>
        </p:spPr>
      </p:pic>
      <p:sp>
        <p:nvSpPr>
          <p:cNvPr id="39" name="Text 31"/>
          <p:cNvSpPr/>
          <p:nvPr/>
        </p:nvSpPr>
        <p:spPr>
          <a:xfrm>
            <a:off x="5372546" y="2774752"/>
            <a:ext cx="1908378" cy="158353"/>
          </a:xfrm>
          <a:prstGeom prst="rect">
            <a:avLst/>
          </a:prstGeom>
          <a:noFill/>
          <a:ln/>
        </p:spPr>
        <p:txBody>
          <a:bodyPr wrap="none" lIns="0" tIns="0" rIns="0" bIns="0" rtlCol="0" anchor="t"/>
          <a:lstStyle/>
          <a:p>
            <a:pPr marL="0" indent="0" algn="l">
              <a:lnSpc>
                <a:spcPts val="1248"/>
              </a:lnSpc>
              <a:buNone/>
            </a:pPr>
            <a:r>
              <a:rPr lang="en-US" sz="960" b="1" dirty="0">
                <a:solidFill>
                  <a:srgbClr val="E2E8F0"/>
                </a:solidFill>
                <a:latin typeface="Consolas" pitchFamily="34" charset="0"/>
                <a:ea typeface="Consolas" pitchFamily="34" charset="-122"/>
                <a:cs typeface="Consolas" pitchFamily="34" charset="-120"/>
              </a:rPr>
              <a:t>Regular memory backups</a:t>
            </a:r>
            <a:endParaRPr lang="en-US" sz="960" dirty="0"/>
          </a:p>
        </p:txBody>
      </p:sp>
      <p:sp>
        <p:nvSpPr>
          <p:cNvPr id="40" name="Text 32"/>
          <p:cNvSpPr/>
          <p:nvPr/>
        </p:nvSpPr>
        <p:spPr>
          <a:xfrm>
            <a:off x="5372546" y="2962275"/>
            <a:ext cx="1769587" cy="610701"/>
          </a:xfrm>
          <a:prstGeom prst="rect">
            <a:avLst/>
          </a:prstGeom>
          <a:noFill/>
          <a:ln/>
        </p:spPr>
        <p:txBody>
          <a:bodyPr wrap="square" lIns="0" tIns="0" rIns="0" bIns="0" rtlCol="0" anchor="ctr"/>
          <a:lstStyle/>
          <a:p>
            <a:pPr marL="0" indent="0" algn="l">
              <a:lnSpc>
                <a:spcPts val="1145"/>
              </a:lnSpc>
              <a:buNone/>
            </a:pPr>
            <a:r>
              <a:rPr lang="en-US" sz="790" dirty="0">
                <a:solidFill>
                  <a:srgbClr val="8B9CB6"/>
                </a:solidFill>
                <a:latin typeface="Calibri" pitchFamily="34" charset="0"/>
                <a:ea typeface="Calibri" pitchFamily="34" charset="-122"/>
                <a:cs typeface="Calibri" pitchFamily="34" charset="-120"/>
              </a:rPr>
              <a:t>Schedule periodic exports of </a:t>
            </a:r>
            <a:r>
              <a:rPr lang="en-US" sz="730" dirty="0">
                <a:solidFill>
                  <a:srgbClr val="76B900"/>
                </a:solidFill>
                <a:latin typeface="Consolas" pitchFamily="34" charset="0"/>
                <a:ea typeface="Consolas" pitchFamily="34" charset="-122"/>
                <a:cs typeface="Consolas" pitchFamily="34" charset="-120"/>
              </a:rPr>
              <a:t>MEMORY.md</a:t>
            </a:r>
            <a:r>
              <a:rPr lang="en-US" sz="790" dirty="0">
                <a:solidFill>
                  <a:srgbClr val="8B9CB6"/>
                </a:solidFill>
                <a:latin typeface="Calibri" pitchFamily="34" charset="0"/>
                <a:ea typeface="Calibri" pitchFamily="34" charset="-122"/>
                <a:cs typeface="Calibri" pitchFamily="34" charset="-120"/>
              </a:rPr>
              <a:t> and agent state. Memory loss means losing your agent's learned context.</a:t>
            </a:r>
            <a:endParaRPr lang="en-US" sz="790" dirty="0"/>
          </a:p>
        </p:txBody>
      </p:sp>
      <p:sp>
        <p:nvSpPr>
          <p:cNvPr id="41" name="Text 33"/>
          <p:cNvSpPr/>
          <p:nvPr/>
        </p:nvSpPr>
        <p:spPr>
          <a:xfrm>
            <a:off x="429220" y="4786015"/>
            <a:ext cx="3439864" cy="13841"/>
          </a:xfrm>
          <a:prstGeom prst="roundRect">
            <a:avLst>
              <a:gd name="adj" fmla="val 100932"/>
            </a:avLst>
          </a:prstGeom>
          <a:gradFill rotWithShape="1">
            <a:gsLst>
              <a:gs pos="0">
                <a:srgbClr val="76B900">
                  <a:alpha val="40000"/>
                </a:srgbClr>
              </a:gs>
              <a:gs pos="100000">
                <a:srgbClr val="000000">
                  <a:alpha val="0"/>
                </a:srgbClr>
              </a:gs>
            </a:gsLst>
            <a:lin ang="0" scaled="1"/>
          </a:gradFill>
          <a:ln/>
        </p:spPr>
        <p:txBody>
          <a:bodyPr wrap="none" rtlCol="0" anchor="t"/>
          <a:lstStyle/>
          <a:p>
            <a:pPr marL="0" indent="0">
              <a:buNone/>
            </a:pPr>
            <a:endParaRPr lang="en-US" dirty="0"/>
          </a:p>
        </p:txBody>
      </p:sp>
      <p:sp>
        <p:nvSpPr>
          <p:cNvPr id="42" name="Text 34"/>
          <p:cNvSpPr/>
          <p:nvPr/>
        </p:nvSpPr>
        <p:spPr>
          <a:xfrm>
            <a:off x="3955405" y="4728270"/>
            <a:ext cx="1356509" cy="129480"/>
          </a:xfrm>
          <a:prstGeom prst="rect">
            <a:avLst/>
          </a:prstGeom>
          <a:noFill/>
          <a:ln/>
        </p:spPr>
        <p:txBody>
          <a:bodyPr wrap="none" lIns="0" tIns="0" rIns="0" bIns="0" rtlCol="0" anchor="ctr"/>
          <a:lstStyle/>
          <a:p>
            <a:pPr marL="0" indent="0" algn="l">
              <a:lnSpc>
                <a:spcPts val="1020"/>
              </a:lnSpc>
              <a:buNone/>
            </a:pPr>
            <a:r>
              <a:rPr lang="en-US" sz="680" dirty="0">
                <a:solidFill>
                  <a:srgbClr val="8B9CB6"/>
                </a:solidFill>
                <a:latin typeface="Consolas" pitchFamily="34" charset="0"/>
                <a:ea typeface="Consolas" pitchFamily="34" charset="-122"/>
                <a:cs typeface="Consolas" pitchFamily="34" charset="-120"/>
              </a:rPr>
              <a:t>SAFE · RELIABLE · LOCAL</a:t>
            </a:r>
            <a:endParaRPr lang="en-US" sz="680" dirty="0"/>
          </a:p>
        </p:txBody>
      </p:sp>
      <p:sp>
        <p:nvSpPr>
          <p:cNvPr id="43" name="Text 35"/>
          <p:cNvSpPr/>
          <p:nvPr/>
        </p:nvSpPr>
        <p:spPr>
          <a:xfrm>
            <a:off x="5274915" y="4786015"/>
            <a:ext cx="3439864" cy="13841"/>
          </a:xfrm>
          <a:prstGeom prst="roundRect">
            <a:avLst>
              <a:gd name="adj" fmla="val 100932"/>
            </a:avLst>
          </a:prstGeom>
          <a:gradFill rotWithShape="1">
            <a:gsLst>
              <a:gs pos="0">
                <a:srgbClr val="76B900">
                  <a:alpha val="40000"/>
                </a:srgbClr>
              </a:gs>
              <a:gs pos="100000">
                <a:srgbClr val="000000">
                  <a:alpha val="0"/>
                </a:srgbClr>
              </a:gs>
            </a:gsLst>
            <a:lin ang="10800000" scaled="1"/>
          </a:gradFill>
          <a:ln/>
        </p:spPr>
        <p:txBody>
          <a:bodyPr wrap="none" rtlCol="0" anchor="t"/>
          <a:lstStyle/>
          <a:p>
            <a:pPr marL="0" indent="0">
              <a:buNone/>
            </a:pPr>
            <a:endParaRPr lang="en-US" dirty="0"/>
          </a:p>
        </p:txBody>
      </p:sp>
      <p:sp>
        <p:nvSpPr>
          <p:cNvPr id="44" name="Text 36"/>
          <p:cNvSpPr/>
          <p:nvPr/>
        </p:nvSpPr>
        <p:spPr>
          <a:xfrm>
            <a:off x="457795" y="1434852"/>
            <a:ext cx="2657027" cy="1024976"/>
          </a:xfrm>
          <a:prstGeom prst="roundRect">
            <a:avLst>
              <a:gd name="adj" fmla="val 9788"/>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
        <p:nvSpPr>
          <p:cNvPr id="45" name="Text 37"/>
          <p:cNvSpPr/>
          <p:nvPr/>
        </p:nvSpPr>
        <p:spPr>
          <a:xfrm>
            <a:off x="3257699" y="1434852"/>
            <a:ext cx="2657027" cy="1024976"/>
          </a:xfrm>
          <a:prstGeom prst="roundRect">
            <a:avLst>
              <a:gd name="adj" fmla="val 9788"/>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
        <p:nvSpPr>
          <p:cNvPr id="46" name="Text 38"/>
          <p:cNvSpPr/>
          <p:nvPr/>
        </p:nvSpPr>
        <p:spPr>
          <a:xfrm>
            <a:off x="6057602" y="1434852"/>
            <a:ext cx="2657180" cy="1024976"/>
          </a:xfrm>
          <a:prstGeom prst="roundRect">
            <a:avLst>
              <a:gd name="adj" fmla="val 9788"/>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
        <p:nvSpPr>
          <p:cNvPr id="47" name="Text 39"/>
          <p:cNvSpPr/>
          <p:nvPr/>
        </p:nvSpPr>
        <p:spPr>
          <a:xfrm>
            <a:off x="1850380" y="2574131"/>
            <a:ext cx="2664323" cy="1183329"/>
          </a:xfrm>
          <a:prstGeom prst="roundRect">
            <a:avLst>
              <a:gd name="adj" fmla="val 8479"/>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
        <p:nvSpPr>
          <p:cNvPr id="48" name="Text 40"/>
          <p:cNvSpPr/>
          <p:nvPr/>
        </p:nvSpPr>
        <p:spPr>
          <a:xfrm>
            <a:off x="4657576" y="2574131"/>
            <a:ext cx="2664466" cy="1183329"/>
          </a:xfrm>
          <a:prstGeom prst="roundRect">
            <a:avLst>
              <a:gd name="adj" fmla="val 8479"/>
            </a:avLst>
          </a:prstGeom>
          <a:gradFill rotWithShape="1">
            <a:gsLst>
              <a:gs pos="0">
                <a:srgbClr val="76B900">
                  <a:alpha val="4000"/>
                </a:srgbClr>
              </a:gs>
              <a:gs pos="60000">
                <a:srgbClr val="000000">
                  <a:alpha val="0"/>
                </a:srgbClr>
              </a:gs>
            </a:gsLst>
            <a:lin ang="2700000" scaled="1"/>
          </a:gradFill>
          <a:ln/>
        </p:spPr>
        <p:txBody>
          <a:bodyPr wrap="square" rtlCol="0" anchor="t"/>
          <a:lstStyle/>
          <a:p>
            <a:pPr marL="0" indent="0">
              <a:buNone/>
            </a:pP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A0F1A"/>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E69D47-04E6-E265-9802-72FBDB40B29E}"/>
              </a:ext>
            </a:extLst>
          </p:cNvPr>
          <p:cNvPicPr>
            <a:picLocks noChangeAspect="1"/>
          </p:cNvPicPr>
          <p:nvPr/>
        </p:nvPicPr>
        <p:blipFill>
          <a:blip r:embed="rId3"/>
          <a:stretch>
            <a:fillRect/>
          </a:stretch>
        </p:blipFill>
        <p:spPr>
          <a:xfrm>
            <a:off x="684210" y="0"/>
            <a:ext cx="4330417" cy="5143500"/>
          </a:xfrm>
          <a:prstGeom prst="rect">
            <a:avLst/>
          </a:prstGeom>
        </p:spPr>
      </p:pic>
      <p:sp>
        <p:nvSpPr>
          <p:cNvPr id="2" name="TextBox 1">
            <a:extLst>
              <a:ext uri="{FF2B5EF4-FFF2-40B4-BE49-F238E27FC236}">
                <a16:creationId xmlns:a16="http://schemas.microsoft.com/office/drawing/2014/main" id="{6A5A2BAA-3259-3A25-4EFE-04FB3E15A6B0}"/>
              </a:ext>
            </a:extLst>
          </p:cNvPr>
          <p:cNvSpPr txBox="1"/>
          <p:nvPr/>
        </p:nvSpPr>
        <p:spPr>
          <a:xfrm>
            <a:off x="5574145" y="1177636"/>
            <a:ext cx="1764146" cy="646331"/>
          </a:xfrm>
          <a:prstGeom prst="rect">
            <a:avLst/>
          </a:prstGeom>
          <a:noFill/>
        </p:spPr>
        <p:txBody>
          <a:bodyPr wrap="square" rtlCol="0">
            <a:spAutoFit/>
          </a:bodyPr>
          <a:lstStyle/>
          <a:p>
            <a:r>
              <a:rPr lang="en-US" dirty="0">
                <a:solidFill>
                  <a:schemeClr val="bg1"/>
                </a:solidFill>
              </a:rPr>
              <a:t>Get your cameras out…</a:t>
            </a:r>
          </a:p>
        </p:txBody>
      </p:sp>
    </p:spTree>
    <p:extLst>
      <p:ext uri="{BB962C8B-B14F-4D97-AF65-F5344CB8AC3E}">
        <p14:creationId xmlns:p14="http://schemas.microsoft.com/office/powerpoint/2010/main" val="2860597064"/>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name="Slide 33">
    <p:bg>
      <p:bgPr>
        <a:solidFill>
          <a:srgbClr val="0A0F1A"/>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76B900">
                  <a:alpha val="3000"/>
                </a:srgbClr>
              </a:gs>
              <a:gs pos="100000">
                <a:srgbClr val="000000">
                  <a:alpha val="0"/>
                </a:srgbClr>
              </a:gs>
            </a:gsLst>
            <a:lin ang="5400000" scaled="1"/>
          </a:gradFill>
          <a:ln/>
        </p:spPr>
        <p:txBody>
          <a:bodyPr wrap="square" rtlCol="0" anchor="t"/>
          <a:lstStyle/>
          <a:p>
            <a:pPr marL="0" indent="0">
              <a:buNone/>
            </a:pPr>
            <a:endParaRPr lang="en-US" dirty="0"/>
          </a:p>
        </p:txBody>
      </p:sp>
      <p:sp>
        <p:nvSpPr>
          <p:cNvPr id="3" name="Text 1"/>
          <p:cNvSpPr/>
          <p:nvPr/>
        </p:nvSpPr>
        <p:spPr>
          <a:xfrm>
            <a:off x="-311468" y="-155377"/>
            <a:ext cx="9144000" cy="5143500"/>
          </a:xfrm>
          <a:prstGeom prst="rect">
            <a:avLst/>
          </a:prstGeom>
          <a:gradFill rotWithShape="1">
            <a:gsLst>
              <a:gs pos="0">
                <a:srgbClr val="76B900">
                  <a:alpha val="3000"/>
                </a:srgbClr>
              </a:gs>
              <a:gs pos="100000">
                <a:srgbClr val="000000">
                  <a:alpha val="0"/>
                </a:srgbClr>
              </a:gs>
            </a:gsLst>
            <a:lin ang="0" scaled="1"/>
          </a:gradFill>
          <a:ln/>
        </p:spPr>
        <p:txBody>
          <a:bodyPr wrap="square" rtlCol="0" anchor="t"/>
          <a:lstStyle/>
          <a:p>
            <a:pPr marL="0" indent="0">
              <a:buNone/>
            </a:pPr>
            <a:endParaRPr lang="en-US" dirty="0"/>
          </a:p>
        </p:txBody>
      </p:sp>
      <p:sp>
        <p:nvSpPr>
          <p:cNvPr id="4" name="Text 2"/>
          <p:cNvSpPr/>
          <p:nvPr/>
        </p:nvSpPr>
        <p:spPr>
          <a:xfrm>
            <a:off x="7001470" y="0"/>
            <a:ext cx="2142530" cy="1785640"/>
          </a:xfrm>
          <a:prstGeom prst="ellipse">
            <a:avLst/>
          </a:prstGeom>
          <a:gradFill rotWithShape="1">
            <a:gsLst>
              <a:gs pos="0">
                <a:srgbClr val="76B900">
                  <a:alpha val="8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5" name="Text 3"/>
          <p:cNvSpPr/>
          <p:nvPr/>
        </p:nvSpPr>
        <p:spPr>
          <a:xfrm>
            <a:off x="0" y="3714750"/>
            <a:ext cx="1785640" cy="1428750"/>
          </a:xfrm>
          <a:prstGeom prst="ellipse">
            <a:avLst/>
          </a:prstGeom>
          <a:gradFill rotWithShape="1">
            <a:gsLst>
              <a:gs pos="0">
                <a:srgbClr val="76B900">
                  <a:alpha val="4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6" name="Text 4"/>
          <p:cNvSpPr/>
          <p:nvPr/>
        </p:nvSpPr>
        <p:spPr>
          <a:xfrm>
            <a:off x="230314" y="342900"/>
            <a:ext cx="8683371" cy="449610"/>
          </a:xfrm>
          <a:prstGeom prst="rect">
            <a:avLst/>
          </a:prstGeom>
          <a:noFill/>
          <a:ln/>
        </p:spPr>
        <p:txBody>
          <a:bodyPr wrap="none" lIns="0" tIns="0" rIns="0" bIns="0" rtlCol="0" anchor="t"/>
          <a:lstStyle/>
          <a:p>
            <a:pPr marL="0" indent="0" algn="ctr">
              <a:lnSpc>
                <a:spcPts val="3540"/>
              </a:lnSpc>
              <a:buNone/>
            </a:pPr>
            <a:r>
              <a:rPr lang="en-US" sz="2360" kern="0" spc="60" dirty="0">
                <a:solidFill>
                  <a:srgbClr val="E2E8F0"/>
                </a:solidFill>
                <a:latin typeface="Consolas" pitchFamily="34" charset="0"/>
                <a:ea typeface="Consolas" pitchFamily="34" charset="-122"/>
                <a:cs typeface="Consolas" pitchFamily="34" charset="-120"/>
              </a:rPr>
              <a:t>Thank You </a:t>
            </a:r>
            <a:r>
              <a:rPr lang="en-US" sz="2360" b="1" kern="0" spc="60" dirty="0">
                <a:solidFill>
                  <a:srgbClr val="76B900"/>
                </a:solidFill>
                <a:latin typeface="Consolas" pitchFamily="34" charset="0"/>
                <a:ea typeface="Consolas" pitchFamily="34" charset="-122"/>
                <a:cs typeface="Consolas" pitchFamily="34" charset="-120"/>
              </a:rPr>
              <a:t>&amp;</a:t>
            </a:r>
            <a:r>
              <a:rPr lang="en-US" sz="2360" kern="0" spc="60" dirty="0">
                <a:solidFill>
                  <a:srgbClr val="E2E8F0"/>
                </a:solidFill>
                <a:latin typeface="Consolas" pitchFamily="34" charset="0"/>
                <a:ea typeface="Consolas" pitchFamily="34" charset="-122"/>
                <a:cs typeface="Consolas" pitchFamily="34" charset="-120"/>
              </a:rPr>
              <a:t> Q&amp;A</a:t>
            </a:r>
            <a:br>
              <a:rPr dirty="0"/>
            </a:br>
            <a:r>
              <a:rPr lang="en-US" sz="2360" kern="0" spc="60" dirty="0">
                <a:solidFill>
                  <a:srgbClr val="E2E8F0"/>
                </a:solidFill>
                <a:latin typeface="Consolas" pitchFamily="34" charset="0"/>
                <a:ea typeface="Consolas" pitchFamily="34" charset="-122"/>
                <a:cs typeface="Consolas" pitchFamily="34" charset="-120"/>
              </a:rPr>
              <a:t>      </a:t>
            </a:r>
            <a:endParaRPr lang="en-US" sz="2360" dirty="0"/>
          </a:p>
        </p:txBody>
      </p:sp>
      <p:sp>
        <p:nvSpPr>
          <p:cNvPr id="7" name="Text 5"/>
          <p:cNvSpPr/>
          <p:nvPr/>
        </p:nvSpPr>
        <p:spPr>
          <a:xfrm>
            <a:off x="2785765" y="935980"/>
            <a:ext cx="3572470" cy="13841"/>
          </a:xfrm>
          <a:prstGeom prst="rect">
            <a:avLst/>
          </a:prstGeom>
          <a:gradFill rotWithShape="1">
            <a:gsLst>
              <a:gs pos="0">
                <a:srgbClr val="000000">
                  <a:alpha val="0"/>
                </a:srgbClr>
              </a:gs>
              <a:gs pos="5000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8" name="Text 6"/>
          <p:cNvSpPr/>
          <p:nvPr/>
        </p:nvSpPr>
        <p:spPr>
          <a:xfrm>
            <a:off x="514350" y="1150441"/>
            <a:ext cx="4243388" cy="139005"/>
          </a:xfrm>
          <a:prstGeom prst="rect">
            <a:avLst/>
          </a:prstGeom>
          <a:noFill/>
          <a:ln/>
        </p:spPr>
        <p:txBody>
          <a:bodyPr wrap="none" lIns="0" tIns="0" rIns="0" bIns="0" rtlCol="0" anchor="t"/>
          <a:lstStyle/>
          <a:p>
            <a:pPr marL="0" indent="0" algn="l">
              <a:lnSpc>
                <a:spcPts val="1095"/>
              </a:lnSpc>
              <a:buNone/>
            </a:pPr>
            <a:r>
              <a:rPr lang="en-US" sz="730" kern="0" spc="170" dirty="0">
                <a:solidFill>
                  <a:srgbClr val="8B9CB6"/>
                </a:solidFill>
                <a:latin typeface="Consolas" pitchFamily="34" charset="0"/>
                <a:ea typeface="Consolas" pitchFamily="34" charset="-122"/>
                <a:cs typeface="Consolas" pitchFamily="34" charset="-120"/>
              </a:rPr>
              <a:t>WHAT YOU TAKE HOME</a:t>
            </a:r>
            <a:endParaRPr lang="en-US" sz="730" dirty="0"/>
          </a:p>
        </p:txBody>
      </p:sp>
      <p:sp>
        <p:nvSpPr>
          <p:cNvPr id="9" name="Text 7"/>
          <p:cNvSpPr/>
          <p:nvPr/>
        </p:nvSpPr>
        <p:spPr>
          <a:xfrm>
            <a:off x="514350" y="1375767"/>
            <a:ext cx="3857625" cy="1250752"/>
          </a:xfrm>
          <a:prstGeom prst="roundRect">
            <a:avLst>
              <a:gd name="adj" fmla="val 6905"/>
            </a:avLst>
          </a:prstGeom>
          <a:solidFill>
            <a:srgbClr val="1A2332"/>
          </a:solidFill>
          <a:ln w="9525">
            <a:solidFill>
              <a:srgbClr val="76B900">
                <a:alpha val="10000"/>
              </a:srgbClr>
            </a:solidFill>
          </a:ln>
        </p:spPr>
        <p:txBody>
          <a:bodyPr wrap="square" rtlCol="0" anchor="t"/>
          <a:lstStyle/>
          <a:p>
            <a:pPr marL="0" indent="0">
              <a:buNone/>
            </a:pPr>
            <a:endParaRPr lang="en-US" dirty="0"/>
          </a:p>
        </p:txBody>
      </p:sp>
      <p:sp>
        <p:nvSpPr>
          <p:cNvPr id="10" name="Text 8"/>
          <p:cNvSpPr/>
          <p:nvPr/>
        </p:nvSpPr>
        <p:spPr>
          <a:xfrm>
            <a:off x="695325" y="1585913"/>
            <a:ext cx="200620" cy="200620"/>
          </a:xfrm>
          <a:prstGeom prst="ellipse">
            <a:avLst/>
          </a:prstGeom>
          <a:solidFill>
            <a:srgbClr val="76B900">
              <a:alpha val="15000"/>
            </a:srgbClr>
          </a:solidFill>
          <a:ln/>
        </p:spPr>
        <p:txBody>
          <a:bodyPr wrap="none" rtlCol="0" anchor="t"/>
          <a:lstStyle/>
          <a:p>
            <a:pPr marL="0" indent="0">
              <a:buNone/>
            </a:pPr>
            <a:endParaRPr lang="en-US"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9267" y="1619854"/>
            <a:ext cx="132588" cy="132588"/>
          </a:xfrm>
          <a:prstGeom prst="rect">
            <a:avLst/>
          </a:prstGeom>
        </p:spPr>
      </p:pic>
      <p:sp>
        <p:nvSpPr>
          <p:cNvPr id="12" name="Text 9"/>
          <p:cNvSpPr/>
          <p:nvPr/>
        </p:nvSpPr>
        <p:spPr>
          <a:xfrm>
            <a:off x="982266" y="1600498"/>
            <a:ext cx="1738119" cy="171450"/>
          </a:xfrm>
          <a:prstGeom prst="rect">
            <a:avLst/>
          </a:prstGeom>
          <a:noFill/>
          <a:ln/>
        </p:spPr>
        <p:txBody>
          <a:bodyPr wrap="none" lIns="0" tIns="0" rIns="0" bIns="0" rtlCol="0" anchor="ctr"/>
          <a:lstStyle/>
          <a:p>
            <a:pPr marL="0" indent="0" algn="l">
              <a:lnSpc>
                <a:spcPts val="1350"/>
              </a:lnSpc>
              <a:buNone/>
            </a:pPr>
            <a:r>
              <a:rPr lang="en-US" sz="900" dirty="0">
                <a:solidFill>
                  <a:srgbClr val="E2E8F0"/>
                </a:solidFill>
                <a:latin typeface="Calibri" pitchFamily="34" charset="0"/>
                <a:ea typeface="Calibri" pitchFamily="34" charset="-122"/>
                <a:cs typeface="Calibri" pitchFamily="34" charset="-120"/>
              </a:rPr>
              <a:t>Working local agent knowledge</a:t>
            </a:r>
            <a:endParaRPr lang="en-US" sz="900" dirty="0"/>
          </a:p>
        </p:txBody>
      </p:sp>
      <p:sp>
        <p:nvSpPr>
          <p:cNvPr id="13" name="Text 10"/>
          <p:cNvSpPr/>
          <p:nvPr/>
        </p:nvSpPr>
        <p:spPr>
          <a:xfrm>
            <a:off x="695325" y="1900833"/>
            <a:ext cx="200620" cy="200620"/>
          </a:xfrm>
          <a:prstGeom prst="ellipse">
            <a:avLst/>
          </a:prstGeom>
          <a:solidFill>
            <a:srgbClr val="76B900">
              <a:alpha val="15000"/>
            </a:srgbClr>
          </a:solidFill>
          <a:ln/>
        </p:spPr>
        <p:txBody>
          <a:bodyPr wrap="none" rtlCol="0" anchor="t"/>
          <a:lstStyle/>
          <a:p>
            <a:pPr marL="0" indent="0">
              <a:buNone/>
            </a:pPr>
            <a:endParaRPr lang="en-US"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9267" y="1934775"/>
            <a:ext cx="132588" cy="132588"/>
          </a:xfrm>
          <a:prstGeom prst="rect">
            <a:avLst/>
          </a:prstGeom>
        </p:spPr>
      </p:pic>
      <p:sp>
        <p:nvSpPr>
          <p:cNvPr id="15" name="Text 11"/>
          <p:cNvSpPr/>
          <p:nvPr/>
        </p:nvSpPr>
        <p:spPr>
          <a:xfrm>
            <a:off x="982266" y="1915418"/>
            <a:ext cx="1949797" cy="171450"/>
          </a:xfrm>
          <a:prstGeom prst="rect">
            <a:avLst/>
          </a:prstGeom>
          <a:noFill/>
          <a:ln/>
        </p:spPr>
        <p:txBody>
          <a:bodyPr wrap="none" lIns="0" tIns="0" rIns="0" bIns="0" rtlCol="0" anchor="ctr"/>
          <a:lstStyle/>
          <a:p>
            <a:pPr marL="0" indent="0" algn="l">
              <a:lnSpc>
                <a:spcPts val="1350"/>
              </a:lnSpc>
              <a:buNone/>
            </a:pPr>
            <a:r>
              <a:rPr lang="en-US" sz="900" dirty="0">
                <a:solidFill>
                  <a:srgbClr val="E2E8F0"/>
                </a:solidFill>
                <a:latin typeface="Calibri" pitchFamily="34" charset="0"/>
                <a:ea typeface="Calibri" pitchFamily="34" charset="-122"/>
                <a:cs typeface="Calibri" pitchFamily="34" charset="-120"/>
              </a:rPr>
              <a:t>Practical commands and examples</a:t>
            </a:r>
            <a:endParaRPr lang="en-US" sz="900" dirty="0"/>
          </a:p>
        </p:txBody>
      </p:sp>
      <p:sp>
        <p:nvSpPr>
          <p:cNvPr id="16" name="Text 12"/>
          <p:cNvSpPr/>
          <p:nvPr/>
        </p:nvSpPr>
        <p:spPr>
          <a:xfrm>
            <a:off x="695325" y="2215753"/>
            <a:ext cx="200620" cy="200620"/>
          </a:xfrm>
          <a:prstGeom prst="ellipse">
            <a:avLst/>
          </a:prstGeom>
          <a:solidFill>
            <a:srgbClr val="76B900">
              <a:alpha val="15000"/>
            </a:srgbClr>
          </a:solidFill>
          <a:ln/>
        </p:spPr>
        <p:txBody>
          <a:bodyPr wrap="non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267" y="2249695"/>
            <a:ext cx="132588" cy="132588"/>
          </a:xfrm>
          <a:prstGeom prst="rect">
            <a:avLst/>
          </a:prstGeom>
        </p:spPr>
      </p:pic>
      <p:sp>
        <p:nvSpPr>
          <p:cNvPr id="18" name="Text 13"/>
          <p:cNvSpPr/>
          <p:nvPr/>
        </p:nvSpPr>
        <p:spPr>
          <a:xfrm>
            <a:off x="982266" y="2230338"/>
            <a:ext cx="1901011" cy="171450"/>
          </a:xfrm>
          <a:prstGeom prst="rect">
            <a:avLst/>
          </a:prstGeom>
          <a:noFill/>
          <a:ln/>
        </p:spPr>
        <p:txBody>
          <a:bodyPr wrap="none" lIns="0" tIns="0" rIns="0" bIns="0" rtlCol="0" anchor="ctr"/>
          <a:lstStyle/>
          <a:p>
            <a:pPr marL="0" indent="0" algn="l">
              <a:lnSpc>
                <a:spcPts val="1350"/>
              </a:lnSpc>
              <a:buNone/>
            </a:pPr>
            <a:r>
              <a:rPr lang="en-US" sz="900" dirty="0">
                <a:solidFill>
                  <a:srgbClr val="E2E8F0"/>
                </a:solidFill>
                <a:latin typeface="Calibri" pitchFamily="34" charset="0"/>
                <a:ea typeface="Calibri" pitchFamily="34" charset="-122"/>
                <a:cs typeface="Calibri" pitchFamily="34" charset="-120"/>
              </a:rPr>
              <a:t>Clear hardware &amp; model guidance</a:t>
            </a:r>
            <a:endParaRPr lang="en-US" sz="900" dirty="0"/>
          </a:p>
        </p:txBody>
      </p:sp>
      <p:sp>
        <p:nvSpPr>
          <p:cNvPr id="19" name="Text 14"/>
          <p:cNvSpPr/>
          <p:nvPr/>
        </p:nvSpPr>
        <p:spPr>
          <a:xfrm>
            <a:off x="528637" y="2647038"/>
            <a:ext cx="4243388" cy="139005"/>
          </a:xfrm>
          <a:prstGeom prst="rect">
            <a:avLst/>
          </a:prstGeom>
          <a:noFill/>
          <a:ln/>
        </p:spPr>
        <p:txBody>
          <a:bodyPr wrap="none" lIns="0" tIns="0" rIns="0" bIns="0" rtlCol="0" anchor="t"/>
          <a:lstStyle/>
          <a:p>
            <a:pPr marL="0" indent="0" algn="l">
              <a:lnSpc>
                <a:spcPts val="1095"/>
              </a:lnSpc>
              <a:buNone/>
            </a:pPr>
            <a:r>
              <a:rPr lang="en-US" sz="730" kern="0" spc="170" dirty="0">
                <a:solidFill>
                  <a:srgbClr val="8B9CB6"/>
                </a:solidFill>
                <a:latin typeface="Consolas" pitchFamily="34" charset="0"/>
                <a:ea typeface="Consolas" pitchFamily="34" charset="-122"/>
                <a:cs typeface="Consolas" pitchFamily="34" charset="-120"/>
              </a:rPr>
              <a:t>KEY RESOURCES</a:t>
            </a:r>
            <a:endParaRPr lang="en-US" sz="730" dirty="0"/>
          </a:p>
        </p:txBody>
      </p:sp>
      <p:sp>
        <p:nvSpPr>
          <p:cNvPr id="20" name="Text 15"/>
          <p:cNvSpPr/>
          <p:nvPr/>
        </p:nvSpPr>
        <p:spPr>
          <a:xfrm>
            <a:off x="528637" y="2872364"/>
            <a:ext cx="3934777" cy="293340"/>
          </a:xfrm>
          <a:prstGeom prst="roundRect">
            <a:avLst>
              <a:gd name="adj" fmla="val 19483"/>
            </a:avLst>
          </a:prstGeom>
          <a:solidFill>
            <a:srgbClr val="76B900">
              <a:alpha val="12000"/>
            </a:srgbClr>
          </a:solidFill>
          <a:ln w="9525">
            <a:solidFill>
              <a:srgbClr val="76B900">
                <a:alpha val="35000"/>
              </a:srgbClr>
            </a:solidFill>
          </a:ln>
        </p:spPr>
        <p:txBody>
          <a:bodyPr wrap="none" lIns="296803" tIns="57150" rIns="143510" bIns="57150" rtlCol="0" anchor="ctr"/>
          <a:lstStyle/>
          <a:p>
            <a:pPr marL="0" indent="0" algn="l">
              <a:buNone/>
            </a:pPr>
            <a:r>
              <a:rPr lang="en-US" sz="840" b="1" kern="0" spc="30" dirty="0">
                <a:solidFill>
                  <a:srgbClr val="76B900"/>
                </a:solidFill>
                <a:latin typeface="Consolas" pitchFamily="34" charset="0"/>
                <a:ea typeface="Consolas" pitchFamily="34" charset="-122"/>
                <a:cs typeface="Consolas" pitchFamily="34" charset="-120"/>
              </a:rPr>
              <a:t>Ollama</a:t>
            </a:r>
            <a:endParaRPr lang="en-US" sz="840"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9031" y="2963866"/>
            <a:ext cx="132588" cy="132588"/>
          </a:xfrm>
          <a:prstGeom prst="rect">
            <a:avLst/>
          </a:prstGeom>
        </p:spPr>
      </p:pic>
      <p:sp>
        <p:nvSpPr>
          <p:cNvPr id="22" name="Text 16"/>
          <p:cNvSpPr/>
          <p:nvPr/>
        </p:nvSpPr>
        <p:spPr>
          <a:xfrm>
            <a:off x="528637" y="3266015"/>
            <a:ext cx="3934777" cy="293340"/>
          </a:xfrm>
          <a:prstGeom prst="roundRect">
            <a:avLst>
              <a:gd name="adj" fmla="val 19483"/>
            </a:avLst>
          </a:prstGeom>
          <a:solidFill>
            <a:srgbClr val="76B900">
              <a:alpha val="12000"/>
            </a:srgbClr>
          </a:solidFill>
          <a:ln w="9525">
            <a:solidFill>
              <a:srgbClr val="76B900">
                <a:alpha val="35000"/>
              </a:srgbClr>
            </a:solidFill>
          </a:ln>
        </p:spPr>
        <p:txBody>
          <a:bodyPr wrap="none" lIns="296803" tIns="57150" rIns="143510" bIns="57150" rtlCol="0" anchor="ctr"/>
          <a:lstStyle/>
          <a:p>
            <a:pPr marL="0" indent="0" algn="l">
              <a:buNone/>
            </a:pPr>
            <a:r>
              <a:rPr lang="en-US" sz="840" b="1" kern="0" spc="30" dirty="0">
                <a:solidFill>
                  <a:srgbClr val="76B900"/>
                </a:solidFill>
                <a:latin typeface="Consolas" pitchFamily="34" charset="0"/>
                <a:ea typeface="Consolas" pitchFamily="34" charset="-122"/>
                <a:cs typeface="Consolas" pitchFamily="34" charset="-120"/>
              </a:rPr>
              <a:t>OpenClaw</a:t>
            </a:r>
            <a:endParaRPr lang="en-US" sz="840"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9031" y="3354702"/>
            <a:ext cx="132588" cy="132588"/>
          </a:xfrm>
          <a:prstGeom prst="rect">
            <a:avLst/>
          </a:prstGeom>
        </p:spPr>
      </p:pic>
      <p:sp>
        <p:nvSpPr>
          <p:cNvPr id="24" name="Text 17"/>
          <p:cNvSpPr/>
          <p:nvPr/>
        </p:nvSpPr>
        <p:spPr>
          <a:xfrm>
            <a:off x="528637" y="3659665"/>
            <a:ext cx="3934777" cy="293340"/>
          </a:xfrm>
          <a:prstGeom prst="roundRect">
            <a:avLst>
              <a:gd name="adj" fmla="val 19483"/>
            </a:avLst>
          </a:prstGeom>
          <a:solidFill>
            <a:srgbClr val="76B900">
              <a:alpha val="12000"/>
            </a:srgbClr>
          </a:solidFill>
          <a:ln w="9525">
            <a:solidFill>
              <a:srgbClr val="76B900">
                <a:alpha val="35000"/>
              </a:srgbClr>
            </a:solidFill>
          </a:ln>
        </p:spPr>
        <p:txBody>
          <a:bodyPr wrap="none" lIns="296803" tIns="57150" rIns="143510" bIns="57150" rtlCol="0" anchor="ctr"/>
          <a:lstStyle/>
          <a:p>
            <a:pPr marL="0" indent="0" algn="l">
              <a:buNone/>
            </a:pPr>
            <a:r>
              <a:rPr lang="en-US" sz="840" b="1" kern="0" spc="30" dirty="0">
                <a:solidFill>
                  <a:srgbClr val="76B900"/>
                </a:solidFill>
                <a:latin typeface="Consolas" pitchFamily="34" charset="0"/>
                <a:ea typeface="Consolas" pitchFamily="34" charset="-122"/>
                <a:cs typeface="Consolas" pitchFamily="34" charset="-120"/>
              </a:rPr>
              <a:t>Hermes Agent</a:t>
            </a:r>
            <a:endParaRPr lang="en-US" sz="840" dirty="0"/>
          </a:p>
        </p:txBody>
      </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9031" y="3740041"/>
            <a:ext cx="132588" cy="132588"/>
          </a:xfrm>
          <a:prstGeom prst="rect">
            <a:avLst/>
          </a:prstGeom>
        </p:spPr>
      </p:pic>
      <p:sp>
        <p:nvSpPr>
          <p:cNvPr id="26" name="Text 18"/>
          <p:cNvSpPr/>
          <p:nvPr/>
        </p:nvSpPr>
        <p:spPr>
          <a:xfrm>
            <a:off x="2071213" y="4078942"/>
            <a:ext cx="5001220" cy="13841"/>
          </a:xfrm>
          <a:prstGeom prst="rect">
            <a:avLst/>
          </a:prstGeom>
          <a:gradFill rotWithShape="1">
            <a:gsLst>
              <a:gs pos="0">
                <a:srgbClr val="000000">
                  <a:alpha val="0"/>
                </a:srgbClr>
              </a:gs>
              <a:gs pos="50000">
                <a:srgbClr val="76B900">
                  <a:alpha val="60000"/>
                </a:srgbClr>
              </a:gs>
              <a:gs pos="100000">
                <a:srgbClr val="000000">
                  <a:alpha val="0"/>
                </a:srgbClr>
              </a:gs>
            </a:gsLst>
            <a:lin ang="0" scaled="1"/>
          </a:gradFill>
          <a:ln/>
        </p:spPr>
        <p:txBody>
          <a:bodyPr wrap="none" rtlCol="0" anchor="t"/>
          <a:lstStyle/>
          <a:p>
            <a:pPr marL="0" indent="0">
              <a:buNone/>
            </a:pPr>
            <a:endParaRPr lang="en-US" dirty="0"/>
          </a:p>
        </p:txBody>
      </p:sp>
      <p:sp>
        <p:nvSpPr>
          <p:cNvPr id="27" name="Text 19"/>
          <p:cNvSpPr/>
          <p:nvPr/>
        </p:nvSpPr>
        <p:spPr>
          <a:xfrm>
            <a:off x="311467" y="3964335"/>
            <a:ext cx="8521065" cy="685800"/>
          </a:xfrm>
          <a:prstGeom prst="rect">
            <a:avLst/>
          </a:prstGeom>
          <a:noFill/>
          <a:ln/>
        </p:spPr>
        <p:txBody>
          <a:bodyPr wrap="none" lIns="0" tIns="0" rIns="0" bIns="0" rtlCol="0" anchor="t"/>
          <a:lstStyle/>
          <a:p>
            <a:pPr marL="0" indent="0" algn="ctr">
              <a:lnSpc>
                <a:spcPts val="5400"/>
              </a:lnSpc>
              <a:buNone/>
            </a:pPr>
            <a:r>
              <a:rPr lang="en-US" sz="3600" b="1" kern="0" spc="110" dirty="0">
                <a:solidFill>
                  <a:srgbClr val="76B900"/>
                </a:solidFill>
                <a:effectLst>
                  <a:glow rad="1428750">
                    <a:srgbClr val="76B900">
                      <a:alpha val="3000"/>
                    </a:srgbClr>
                  </a:glow>
                </a:effectLst>
                <a:latin typeface="Consolas" pitchFamily="34" charset="0"/>
                <a:ea typeface="Consolas" pitchFamily="34" charset="-122"/>
                <a:cs typeface="Consolas" pitchFamily="34" charset="-120"/>
              </a:rPr>
              <a:t>Questions?</a:t>
            </a:r>
            <a:endParaRPr lang="en-US" sz="3600" dirty="0"/>
          </a:p>
        </p:txBody>
      </p:sp>
      <p:sp>
        <p:nvSpPr>
          <p:cNvPr id="28" name="Text 20"/>
          <p:cNvSpPr/>
          <p:nvPr/>
        </p:nvSpPr>
        <p:spPr>
          <a:xfrm>
            <a:off x="3594259" y="4707285"/>
            <a:ext cx="2084368" cy="150465"/>
          </a:xfrm>
          <a:prstGeom prst="rect">
            <a:avLst/>
          </a:prstGeom>
          <a:noFill/>
          <a:ln/>
        </p:spPr>
        <p:txBody>
          <a:bodyPr wrap="none" lIns="0" tIns="0" rIns="0" bIns="0" rtlCol="0" anchor="ctr"/>
          <a:lstStyle/>
          <a:p>
            <a:pPr marL="0" indent="0" algn="ctr">
              <a:lnSpc>
                <a:spcPts val="1185"/>
              </a:lnSpc>
              <a:buNone/>
            </a:pPr>
            <a:r>
              <a:rPr lang="en-US" sz="790" kern="0" spc="60" dirty="0">
                <a:solidFill>
                  <a:srgbClr val="8B9CB6"/>
                </a:solidFill>
                <a:latin typeface="Calibri" pitchFamily="34" charset="0"/>
                <a:ea typeface="Calibri" pitchFamily="34" charset="-122"/>
                <a:cs typeface="Calibri" pitchFamily="34" charset="-120"/>
              </a:rPr>
              <a:t>Let's discuss — microphone is open</a:t>
            </a:r>
            <a:endParaRPr lang="en-US" sz="79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36686" y="4716223"/>
            <a:ext cx="132588" cy="132588"/>
          </a:xfrm>
          <a:prstGeom prst="rect">
            <a:avLst/>
          </a:prstGeom>
        </p:spPr>
      </p:pic>
      <p:pic>
        <p:nvPicPr>
          <p:cNvPr id="30" name="Image 7" descr="preencoded.png"/>
          <p:cNvPicPr>
            <a:picLocks noChangeAspect="1"/>
          </p:cNvPicPr>
          <p:nvPr/>
        </p:nvPicPr>
        <p:blipFill>
          <a:blip r:embed="rId10">
            <a:alphaModFix amt="85000"/>
          </a:blip>
          <a:stretch>
            <a:fillRect/>
          </a:stretch>
        </p:blipFill>
        <p:spPr>
          <a:xfrm>
            <a:off x="8232874" y="200620"/>
            <a:ext cx="653355" cy="429220"/>
          </a:xfrm>
          <a:prstGeom prst="rect">
            <a:avLst/>
          </a:prstGeom>
        </p:spPr>
      </p:pic>
      <p:pic>
        <p:nvPicPr>
          <p:cNvPr id="32" name="Picture 31">
            <a:extLst>
              <a:ext uri="{FF2B5EF4-FFF2-40B4-BE49-F238E27FC236}">
                <a16:creationId xmlns:a16="http://schemas.microsoft.com/office/drawing/2014/main" id="{1E622E61-2BCC-4CDE-B8BC-9F72499E3ADA}"/>
              </a:ext>
            </a:extLst>
          </p:cNvPr>
          <p:cNvPicPr>
            <a:picLocks noChangeAspect="1"/>
          </p:cNvPicPr>
          <p:nvPr/>
        </p:nvPicPr>
        <p:blipFill>
          <a:blip r:embed="rId11"/>
          <a:stretch>
            <a:fillRect/>
          </a:stretch>
        </p:blipFill>
        <p:spPr>
          <a:xfrm>
            <a:off x="5127009" y="1059638"/>
            <a:ext cx="2893367" cy="289336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4">
    <p:bg>
      <p:bgPr>
        <a:solidFill>
          <a:srgbClr val="0A0F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44" r="44"/>
          <a:stretch/>
        </p:blipFill>
        <p:spPr>
          <a:xfrm>
            <a:off x="0" y="0"/>
            <a:ext cx="9144000" cy="5143500"/>
          </a:xfrm>
          <a:prstGeom prst="rect">
            <a:avLst/>
          </a:prstGeom>
        </p:spPr>
      </p:pic>
      <p:sp>
        <p:nvSpPr>
          <p:cNvPr id="4" name="Rectangle 3">
            <a:extLst>
              <a:ext uri="{FF2B5EF4-FFF2-40B4-BE49-F238E27FC236}">
                <a16:creationId xmlns:a16="http://schemas.microsoft.com/office/drawing/2014/main" id="{7DE1754C-EF7E-7BAE-FA64-8F12880CF033}"/>
              </a:ext>
            </a:extLst>
          </p:cNvPr>
          <p:cNvSpPr/>
          <p:nvPr/>
        </p:nvSpPr>
        <p:spPr>
          <a:xfrm>
            <a:off x="2853230" y="4348142"/>
            <a:ext cx="3862487" cy="795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Chuck Anderson</a:t>
            </a:r>
          </a:p>
          <a:p>
            <a:pPr algn="ctr"/>
            <a:r>
              <a:rPr lang="en-US" sz="1400" dirty="0"/>
              <a:t>208 631 1855 / </a:t>
            </a:r>
            <a:r>
              <a:rPr lang="en-US" sz="1400" dirty="0">
                <a:hlinkClick r:id="rId4"/>
              </a:rPr>
              <a:t>cra451@gmail.com</a:t>
            </a:r>
            <a:r>
              <a:rPr lang="en-US" sz="1400" dirty="0"/>
              <a:t> / </a:t>
            </a:r>
            <a:r>
              <a:rPr lang="en-US" sz="1400" dirty="0">
                <a:hlinkClick r:id="rId5"/>
              </a:rPr>
              <a:t>chuck@idalog.com</a:t>
            </a:r>
            <a:r>
              <a:rPr lang="en-US" sz="1400" dirty="0"/>
              <a:t> / Reliant Managed Services LLC </a:t>
            </a:r>
          </a:p>
        </p:txBody>
      </p:sp>
      <p:pic>
        <p:nvPicPr>
          <p:cNvPr id="5" name="Picture 4">
            <a:extLst>
              <a:ext uri="{FF2B5EF4-FFF2-40B4-BE49-F238E27FC236}">
                <a16:creationId xmlns:a16="http://schemas.microsoft.com/office/drawing/2014/main" id="{196B781E-3B70-BE97-530B-15FDF70609EE}"/>
              </a:ext>
            </a:extLst>
          </p:cNvPr>
          <p:cNvPicPr>
            <a:picLocks noChangeAspect="1"/>
          </p:cNvPicPr>
          <p:nvPr/>
        </p:nvPicPr>
        <p:blipFill>
          <a:blip r:embed="rId6"/>
          <a:stretch>
            <a:fillRect/>
          </a:stretch>
        </p:blipFill>
        <p:spPr>
          <a:xfrm>
            <a:off x="5191455" y="1348509"/>
            <a:ext cx="2735758" cy="28170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_xmlsignatures/_rels/origin.sigs.rels><?xml version="1.0" encoding="UTF-8" standalone="yes"?>
<Relationships xmlns="http://schemas.openxmlformats.org/package/2006/relationships"><Relationship Id="rId1" Type="http://schemas.openxmlformats.org/package/2006/relationships/digital-signature/signature" Target="sig1.xml"/></Relationships>
</file>

<file path=_xmlsignatures/sig1.xml><?xml version="1.0" encoding="utf-8"?>
<Signature xmlns="http://www.w3.org/2000/09/xmldsig#" Id="idPackageSignature">
  <SignedInfo>
    <CanonicalizationMethod Algorithm="http://www.w3.org/TR/2001/REC-xml-c14n-20010315"/>
    <SignatureMethod Algorithm="http://www.w3.org/2001/04/xmldsig-more#ecdsa-sha384"/>
    <Reference Type="http://www.w3.org/2000/09/xmldsig#Object" URI="#idPackageObject">
      <DigestMethod Algorithm="http://www.w3.org/2001/04/xmldsig-more#sha384"/>
      <DigestValue>kngVRI4/jwf0OGrcxiWADxiqg0MujoSlTksTk3DWBS7VyChqlIQsC31AU0gpalQx</DigestValue>
    </Reference>
    <Reference Type="http://www.w3.org/2000/09/xmldsig#Object" URI="#idOfficeObject">
      <DigestMethod Algorithm="http://www.w3.org/2001/04/xmldsig-more#sha384"/>
      <DigestValue>d8T+Bd2nSvmrQwNOEwVAX2R0BE8rBiAPYpscg0MDzBbCA0GwXhJCrLnjzVEim8aT</DigestValue>
    </Reference>
    <Reference Type="http://uri.etsi.org/01903#SignedProperties" URI="#idSignedProperties">
      <Transforms>
        <Transform Algorithm="http://www.w3.org/TR/2001/REC-xml-c14n-20010315"/>
      </Transforms>
      <DigestMethod Algorithm="http://www.w3.org/2001/04/xmldsig-more#sha384"/>
      <DigestValue>gShAVQWvLONY+pETV2c2Jq9IcCCLuKEVcTDzBI8DzV65R8jUqglHrbzYW6Hc6ZiN</DigestValue>
    </Reference>
  </SignedInfo>
  <SignatureValue>AACcWbcMS2rwNeINrM+vNS6hmlti5NZHKHv3is/eQLjgZB0w5uwcEyK+EJ8x1cWiF/npa4S38qOV
ouYiudDTJ3qPlh1hppBi+wf65BVdXSIsvqfozV4MEIVXJCBShsBt</SignatureValue>
  <KeyInfo>
    <X509Data>
      <X509Certificate>MIIBjzCCARWgAwIBAgIIJ6KIA/aCwKYwCgYIKoZIzj0EAwMwLzEtMCsGA1UEAxMkMDZiYTA5YjktY2IzMi00MGJhLTkzODAtM2Y3NDY1ZmI1NmYwMB4XDTI1MTExOTEyMzk1NVoXDTI2MTEyMDAwMzk1NVowLzEtMCsGA1UEAxMkMDZiYTA5YjktY2IzMi00MGJhLTkzODAtM2Y3NDY1ZmI1NmYwMHYwEAYHKoZIzj0CAQYFK4EEACIDYgAEYPPg6da3S5f4Xtpgy1xBmohzQluwoOfMAJgyesQpt5sc4N/Ppdbb0ruEWxvUgf3vRzgooQ1vTOxbHt78Q6rAS2nbd3w1V65o00sxg3E2U23Cw21phO942UUFpWQNvjioMAoGCCqGSM49BAMDA2gAMGUCMDJT0OCrGbCsfxCZSUQ0VFUqiQgHTi/kFbszImFLGNWej+pJGfO5wbizGWqTsLfnZQIxAPxdFgE5+5VeIo4hiDl0iOcC5r7e9iuDDDzYeRbeTeIQoukk0UraGKXWkr8D+VhFmw==</X509Certificate>
    </X509Data>
  </KeyInfo>
  <Object Id="idPackageObject">
    <Manifest>
      <Reference URI="/_rels/.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LqXyoR7Obg/4ueBgP4vHEvDgJw1Of/31pxr5yH6uWCIENB5OwyEPinwaaq2GV2LQ</DigestValue>
      </Reference>
      <Reference URI="/ppt/_rels/presentation.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6"/>
            <mdssi:RelationshipReference xmlns:mdssi="http://schemas.openxmlformats.org/package/2006/digital-signature" SourceId="rId29"/>
            <mdssi:RelationshipReference xmlns:mdssi="http://schemas.openxmlformats.org/package/2006/digital-signature" SourceId="rId11"/>
            <mdssi:RelationshipReference xmlns:mdssi="http://schemas.openxmlformats.org/package/2006/digital-signature" SourceId="rId24"/>
            <mdssi:RelationshipReference xmlns:mdssi="http://schemas.openxmlformats.org/package/2006/digital-signature" SourceId="rId32"/>
            <mdssi:RelationshipReference xmlns:mdssi="http://schemas.openxmlformats.org/package/2006/digital-signature" SourceId="rId37"/>
            <mdssi:RelationshipReference xmlns:mdssi="http://schemas.openxmlformats.org/package/2006/digital-signature" SourceId="rId40"/>
            <mdssi:RelationshipReference xmlns:mdssi="http://schemas.openxmlformats.org/package/2006/digital-signature" SourceId="rId45"/>
            <mdssi:RelationshipReference xmlns:mdssi="http://schemas.openxmlformats.org/package/2006/digital-signature" SourceId="rId5"/>
            <mdssi:RelationshipReference xmlns:mdssi="http://schemas.openxmlformats.org/package/2006/digital-signature" SourceId="rId15"/>
            <mdssi:RelationshipReference xmlns:mdssi="http://schemas.openxmlformats.org/package/2006/digital-signature" SourceId="rId23"/>
            <mdssi:RelationshipReference xmlns:mdssi="http://schemas.openxmlformats.org/package/2006/digital-signature" SourceId="rId28"/>
            <mdssi:RelationshipReference xmlns:mdssi="http://schemas.openxmlformats.org/package/2006/digital-signature" SourceId="rId36"/>
            <mdssi:RelationshipReference xmlns:mdssi="http://schemas.openxmlformats.org/package/2006/digital-signature" SourceId="rId49"/>
            <mdssi:RelationshipReference xmlns:mdssi="http://schemas.openxmlformats.org/package/2006/digital-signature" SourceId="rId10"/>
            <mdssi:RelationshipReference xmlns:mdssi="http://schemas.openxmlformats.org/package/2006/digital-signature" SourceId="rId19"/>
            <mdssi:RelationshipReference xmlns:mdssi="http://schemas.openxmlformats.org/package/2006/digital-signature" SourceId="rId31"/>
            <mdssi:RelationshipReference xmlns:mdssi="http://schemas.openxmlformats.org/package/2006/digital-signature" SourceId="rId44"/>
            <mdssi:RelationshipReference xmlns:mdssi="http://schemas.openxmlformats.org/package/2006/digital-signature" SourceId="rId52"/>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14"/>
            <mdssi:RelationshipReference xmlns:mdssi="http://schemas.openxmlformats.org/package/2006/digital-signature" SourceId="rId22"/>
            <mdssi:RelationshipReference xmlns:mdssi="http://schemas.openxmlformats.org/package/2006/digital-signature" SourceId="rId27"/>
            <mdssi:RelationshipReference xmlns:mdssi="http://schemas.openxmlformats.org/package/2006/digital-signature" SourceId="rId30"/>
            <mdssi:RelationshipReference xmlns:mdssi="http://schemas.openxmlformats.org/package/2006/digital-signature" SourceId="rId35"/>
            <mdssi:RelationshipReference xmlns:mdssi="http://schemas.openxmlformats.org/package/2006/digital-signature" SourceId="rId43"/>
            <mdssi:RelationshipReference xmlns:mdssi="http://schemas.openxmlformats.org/package/2006/digital-signature" SourceId="rId48"/>
            <mdssi:RelationshipReference xmlns:mdssi="http://schemas.openxmlformats.org/package/2006/digital-signature" SourceId="rId8"/>
            <mdssi:RelationshipReference xmlns:mdssi="http://schemas.openxmlformats.org/package/2006/digital-signature" SourceId="rId51"/>
            <mdssi:RelationshipReference xmlns:mdssi="http://schemas.openxmlformats.org/package/2006/digital-signature" SourceId="rId3"/>
            <mdssi:RelationshipReference xmlns:mdssi="http://schemas.openxmlformats.org/package/2006/digital-signature" SourceId="rId12"/>
            <mdssi:RelationshipReference xmlns:mdssi="http://schemas.openxmlformats.org/package/2006/digital-signature" SourceId="rId17"/>
            <mdssi:RelationshipReference xmlns:mdssi="http://schemas.openxmlformats.org/package/2006/digital-signature" SourceId="rId25"/>
            <mdssi:RelationshipReference xmlns:mdssi="http://schemas.openxmlformats.org/package/2006/digital-signature" SourceId="rId33"/>
            <mdssi:RelationshipReference xmlns:mdssi="http://schemas.openxmlformats.org/package/2006/digital-signature" SourceId="rId38"/>
            <mdssi:RelationshipReference xmlns:mdssi="http://schemas.openxmlformats.org/package/2006/digital-signature" SourceId="rId46"/>
            <mdssi:RelationshipReference xmlns:mdssi="http://schemas.openxmlformats.org/package/2006/digital-signature" SourceId="rId20"/>
            <mdssi:RelationshipReference xmlns:mdssi="http://schemas.openxmlformats.org/package/2006/digital-signature" SourceId="rId41"/>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13"/>
            <mdssi:RelationshipReference xmlns:mdssi="http://schemas.openxmlformats.org/package/2006/digital-signature" SourceId="rId18"/>
            <mdssi:RelationshipReference xmlns:mdssi="http://schemas.openxmlformats.org/package/2006/digital-signature" SourceId="rId26"/>
            <mdssi:RelationshipReference xmlns:mdssi="http://schemas.openxmlformats.org/package/2006/digital-signature" SourceId="rId39"/>
            <mdssi:RelationshipReference xmlns:mdssi="http://schemas.openxmlformats.org/package/2006/digital-signature" SourceId="rId21"/>
            <mdssi:RelationshipReference xmlns:mdssi="http://schemas.openxmlformats.org/package/2006/digital-signature" SourceId="rId34"/>
            <mdssi:RelationshipReference xmlns:mdssi="http://schemas.openxmlformats.org/package/2006/digital-signature" SourceId="rId42"/>
            <mdssi:RelationshipReference xmlns:mdssi="http://schemas.openxmlformats.org/package/2006/digital-signature" SourceId="rId47"/>
            <mdssi:RelationshipReference xmlns:mdssi="http://schemas.openxmlformats.org/package/2006/digital-signature" SourceId="rId50"/>
            <mdssi:RelationshipReference xmlns:mdssi="http://schemas.openxmlformats.org/package/2006/digital-signature" SourceId="rId7"/>
          </Transform>
          <Transform Algorithm="http://www.w3.org/TR/2001/REC-xml-c14n-20010315"/>
        </Transforms>
        <DigestMethod Algorithm="http://www.w3.org/2001/04/xmldsig-more#sha384"/>
        <DigestValue>0epjdE5xIsdep+AXtZlYeeRjMDt3JGf2hyy4gXW4+xI7ru8u6VvcGZNAXOn1zmfO</DigestValue>
      </Reference>
      <Reference URI="/ppt/media/image1.png?ContentType=image/png">
        <DigestMethod Algorithm="http://www.w3.org/2001/04/xmldsig-more#sha384"/>
        <DigestValue>ItoRxkGzaBTp4U5EcxUZdmRVjvZq5ucNMhXfxxSnWz5+QMTPcXw/ixmscxgHc9iz</DigestValue>
      </Reference>
      <Reference URI="/ppt/media/image10.svg?ContentType=image/svg+xml">
        <DigestMethod Algorithm="http://www.w3.org/2001/04/xmldsig-more#sha384"/>
        <DigestValue>cfPBzCseprZskLGqoS7bPYr4fyu+oKy5V76o6YFPg0LKbN/UC/t8jnttcpH7nQgk</DigestValue>
      </Reference>
      <Reference URI="/ppt/media/image100.svg?ContentType=image/svg+xml">
        <DigestMethod Algorithm="http://www.w3.org/2001/04/xmldsig-more#sha384"/>
        <DigestValue>sGsHReF6JQz6NkN3SLr5vVxnXU3YBemxqhwF41/YnkO0Tn7HI1zaw4Vw+DwveI4X</DigestValue>
      </Reference>
      <Reference URI="/ppt/media/image101.svg?ContentType=image/svg+xml">
        <DigestMethod Algorithm="http://www.w3.org/2001/04/xmldsig-more#sha384"/>
        <DigestValue>TFG8fXgHVe4sealt7UReCV/xYbpNBZJOOsovhbnAZyfIDocX1r7U7dm1/NjeOd05</DigestValue>
      </Reference>
      <Reference URI="/ppt/media/image102.svg?ContentType=image/svg+xml">
        <DigestMethod Algorithm="http://www.w3.org/2001/04/xmldsig-more#sha384"/>
        <DigestValue>bzP2jePsqMqWSQasIA3xtCTAW8GgXJgAcUZ/PYSq30T+HKRrummMD+9unQSgup/0</DigestValue>
      </Reference>
      <Reference URI="/ppt/media/image103.svg?ContentType=image/svg+xml">
        <DigestMethod Algorithm="http://www.w3.org/2001/04/xmldsig-more#sha384"/>
        <DigestValue>1fQ+1Zpbgl698tj0/QF3ou+hu4odI/tQ+oRwwyU6OvBSZ2IsASq6VhBo2RD24LoE</DigestValue>
      </Reference>
      <Reference URI="/ppt/media/image104.svg?ContentType=image/svg+xml">
        <DigestMethod Algorithm="http://www.w3.org/2001/04/xmldsig-more#sha384"/>
        <DigestValue>+TFzIwTM5y9wlK6MlCBJRs0eF2TzWwxDB81MdHQqM3desZ7Oe7k78LdKvy/sz10q</DigestValue>
      </Reference>
      <Reference URI="/ppt/media/image105.svg?ContentType=image/svg+xml">
        <DigestMethod Algorithm="http://www.w3.org/2001/04/xmldsig-more#sha384"/>
        <DigestValue>mnKUWjiLZEQnVeGSq7l4A/dXhrOInP4CuqW0AtIng8leZ7+HOkL12Y/Ha00CrShL</DigestValue>
      </Reference>
      <Reference URI="/ppt/media/image106.svg?ContentType=image/svg+xml">
        <DigestMethod Algorithm="http://www.w3.org/2001/04/xmldsig-more#sha384"/>
        <DigestValue>tpjc7Y2F6NY3a17fPoOLZmkwc51TWWY6Xyr28A4nzSumTltUE2o36TgI6C/pvM69</DigestValue>
      </Reference>
      <Reference URI="/ppt/media/image107.svg?ContentType=image/svg+xml">
        <DigestMethod Algorithm="http://www.w3.org/2001/04/xmldsig-more#sha384"/>
        <DigestValue>LSG0UqH5Mb03NemZSLAsS8W197POZByOlt/m1pm8DgG2uLdDklLogRuBGdgGApt5</DigestValue>
      </Reference>
      <Reference URI="/ppt/media/image108.svg?ContentType=image/svg+xml">
        <DigestMethod Algorithm="http://www.w3.org/2001/04/xmldsig-more#sha384"/>
        <DigestValue>SxOaGBDHEz2Y7p7TZzK1SBUFzC9o+XZ4LzKgTJ/Epm8sMaHtkvzCCmzh+UrR0yt4</DigestValue>
      </Reference>
      <Reference URI="/ppt/media/image109.svg?ContentType=image/svg+xml">
        <DigestMethod Algorithm="http://www.w3.org/2001/04/xmldsig-more#sha384"/>
        <DigestValue>HgGAUGHYOBfAu7rkkEXrNv24092tua0HJOeSQefJ8Q5JQDcYqrm06L6b3/ONCaYw</DigestValue>
      </Reference>
      <Reference URI="/ppt/media/image11.svg?ContentType=image/svg+xml">
        <DigestMethod Algorithm="http://www.w3.org/2001/04/xmldsig-more#sha384"/>
        <DigestValue>qpaDsMHbaVYMwPubkP1FJ5oQjK3VOot5izzNG0xqVwTEaQeaPxF7hXAbdGswMM8f</DigestValue>
      </Reference>
      <Reference URI="/ppt/media/image110.svg?ContentType=image/svg+xml">
        <DigestMethod Algorithm="http://www.w3.org/2001/04/xmldsig-more#sha384"/>
        <DigestValue>OmPXF05AmJHcA/JYTTm8RDhBDGvVQrCqK7mty/z9wJFnaWaqh6P5i2e8iddA6Rxr</DigestValue>
      </Reference>
      <Reference URI="/ppt/media/image111.svg?ContentType=image/svg+xml">
        <DigestMethod Algorithm="http://www.w3.org/2001/04/xmldsig-more#sha384"/>
        <DigestValue>5NJ06KW6yXYhtZdJmBmS2WPVcNPnuWB6ENAnO+3VIj53KEzKvj4HmLwS1FeGS84U</DigestValue>
      </Reference>
      <Reference URI="/ppt/media/image112.svg?ContentType=image/svg+xml">
        <DigestMethod Algorithm="http://www.w3.org/2001/04/xmldsig-more#sha384"/>
        <DigestValue>8sk4xnYfY9doyW6K12zq8nx5wy47zRARRVPxP1MLbegu3kOVC/t0ixRi6ttkQLjp</DigestValue>
      </Reference>
      <Reference URI="/ppt/media/image113.svg?ContentType=image/svg+xml">
        <DigestMethod Algorithm="http://www.w3.org/2001/04/xmldsig-more#sha384"/>
        <DigestValue>vgcw80rCR75cx16KzyIXM+ZlE3VLx0lu9GooLymLsq6SXFJugsrr6ZkzctLD4aRZ</DigestValue>
      </Reference>
      <Reference URI="/ppt/media/image114.svg?ContentType=image/svg+xml">
        <DigestMethod Algorithm="http://www.w3.org/2001/04/xmldsig-more#sha384"/>
        <DigestValue>/O0wlwrfs0/U7qindL9PEJ4aq8fh48jrkqqIyNWg7UJ07nG8hcERjELZzFZHTFy/</DigestValue>
      </Reference>
      <Reference URI="/ppt/media/image115.svg?ContentType=image/svg+xml">
        <DigestMethod Algorithm="http://www.w3.org/2001/04/xmldsig-more#sha384"/>
        <DigestValue>wH1QO0FDD5pvqZibF1FBxg328Fw+WeBoDHrWygmq9sx8D/EnWkjcP5FXKwE/wJOd</DigestValue>
      </Reference>
      <Reference URI="/ppt/media/image116.svg?ContentType=image/svg+xml">
        <DigestMethod Algorithm="http://www.w3.org/2001/04/xmldsig-more#sha384"/>
        <DigestValue>bfZmPTWMdOIWFDHkVG/h47Is9l2Pg8fAemd9ZyPxjheNSZsQ3DSq8qOPR02ubHZr</DigestValue>
      </Reference>
      <Reference URI="/ppt/media/image117.svg?ContentType=image/svg+xml">
        <DigestMethod Algorithm="http://www.w3.org/2001/04/xmldsig-more#sha384"/>
        <DigestValue>snmC/5PweLF5etiGOuqc1Y82xTg4Kg6Cc3Z5ocR3UvP53wrjixEJmOZFiz01Z9iq</DigestValue>
      </Reference>
      <Reference URI="/ppt/media/image118.png?ContentType=image/png">
        <DigestMethod Algorithm="http://www.w3.org/2001/04/xmldsig-more#sha384"/>
        <DigestValue>ULEnpQAR/isoxNmxQayM5c600NjXl7MxCO6+RKy5/KgACIeknEz8G/vIOmhB9wyQ</DigestValue>
      </Reference>
      <Reference URI="/ppt/media/image119.png?ContentType=image/png">
        <DigestMethod Algorithm="http://www.w3.org/2001/04/xmldsig-more#sha384"/>
        <DigestValue>T9H3vhbVrosTnm+YvfetOptLrB1wlSZTW5DmGDRWrN2019GnJW0gW6ikJVgt387f</DigestValue>
      </Reference>
      <Reference URI="/ppt/media/image12.svg?ContentType=image/svg+xml">
        <DigestMethod Algorithm="http://www.w3.org/2001/04/xmldsig-more#sha384"/>
        <DigestValue>i5fcBXD4bnKJyf+Tub2WDIgqwIJEbZ9IomHReabHChTu0niI1G44RXSQRTj7RKvT</DigestValue>
      </Reference>
      <Reference URI="/ppt/media/image120.png?ContentType=image/png">
        <DigestMethod Algorithm="http://www.w3.org/2001/04/xmldsig-more#sha384"/>
        <DigestValue>ewjJ/TImEoSP2Qt39SYEWhF/1aRPE8ELpFvTr68Nqw112B/Tg2Ri04TL2v8Odxub</DigestValue>
      </Reference>
      <Reference URI="/ppt/media/image121.png?ContentType=image/png">
        <DigestMethod Algorithm="http://www.w3.org/2001/04/xmldsig-more#sha384"/>
        <DigestValue>zyhc1GAkSAD/MWi38Iwk+7MG1OsdNe0hoOcL5ALCmW/QOYblAfOkvkGbA0bwvdLm</DigestValue>
      </Reference>
      <Reference URI="/ppt/media/image122.png?ContentType=image/png">
        <DigestMethod Algorithm="http://www.w3.org/2001/04/xmldsig-more#sha384"/>
        <DigestValue>OJR4kRY7XUG+r0Z35s39DEG5bq5bVzN9cvm8eL1ZyoPt6dtOUmMwhVxtqzPN0mtt</DigestValue>
      </Reference>
      <Reference URI="/ppt/media/image123.png?ContentType=image/png">
        <DigestMethod Algorithm="http://www.w3.org/2001/04/xmldsig-more#sha384"/>
        <DigestValue>UuufYbJDvU13oLsRIA5gezzsSM/t9y+ogAslSpvhzmTcz1NdP6eOiRurGqjiyUMp</DigestValue>
      </Reference>
      <Reference URI="/ppt/media/image124.png?ContentType=image/png">
        <DigestMethod Algorithm="http://www.w3.org/2001/04/xmldsig-more#sha384"/>
        <DigestValue>eMR5f32ttUwotjPsZLIDVfgcVu83Ctb5rYDZulI/E/SE0UaPMKu5Wk5x+816wwfQ</DigestValue>
      </Reference>
      <Reference URI="/ppt/media/image125.png?ContentType=image/png">
        <DigestMethod Algorithm="http://www.w3.org/2001/04/xmldsig-more#sha384"/>
        <DigestValue>52itHtTH4n93/HEb8O0zPleUmaR3UdQWybybVJOdBWT680Bo0ekXxTa8+2DcfhgF</DigestValue>
      </Reference>
      <Reference URI="/ppt/media/image126.png?ContentType=image/png">
        <DigestMethod Algorithm="http://www.w3.org/2001/04/xmldsig-more#sha384"/>
        <DigestValue>MxtXW/hMa/CU0VKFg0wezTRSC2o63x6cY/DUK8nHeN1tnEAcb0n+689pF/m8WTqS</DigestValue>
      </Reference>
      <Reference URI="/ppt/media/image127.svg?ContentType=image/svg+xml">
        <DigestMethod Algorithm="http://www.w3.org/2001/04/xmldsig-more#sha384"/>
        <DigestValue>JBPXUwZXvhD6riPX8PH6lnhPQ4LHB5PwwdAaH43p1EUYv8QqdAg5GezNwGsZ1ge1</DigestValue>
      </Reference>
      <Reference URI="/ppt/media/image128.svg?ContentType=image/svg+xml">
        <DigestMethod Algorithm="http://www.w3.org/2001/04/xmldsig-more#sha384"/>
        <DigestValue>FsAd9su0sHKOfCiUq3wirLtGYzDKUkKDoRcqhxxGMhZ0WKHKMtx6RmfeP/wEGvDH</DigestValue>
      </Reference>
      <Reference URI="/ppt/media/image129.svg?ContentType=image/svg+xml">
        <DigestMethod Algorithm="http://www.w3.org/2001/04/xmldsig-more#sha384"/>
        <DigestValue>KZ3gR/z/Q91mLwE21ICsrgBeA6HPUOGrDKzaW2nwBlxDtCiaD8JgYBZ+Xa/MUw8V</DigestValue>
      </Reference>
      <Reference URI="/ppt/media/image13.svg?ContentType=image/svg+xml">
        <DigestMethod Algorithm="http://www.w3.org/2001/04/xmldsig-more#sha384"/>
        <DigestValue>8F3I2w6aWCBJ8oEr1g+IQUus1WCnTR11NYMFd6tknXBNg5UIFvEmZO1/ftQOAesP</DigestValue>
      </Reference>
      <Reference URI="/ppt/media/image130.svg?ContentType=image/svg+xml">
        <DigestMethod Algorithm="http://www.w3.org/2001/04/xmldsig-more#sha384"/>
        <DigestValue>q6ADzrRGXSPv1gmldBOusZxd6mfi83tbGbXIB/FpoHFtmQM6FCVLzQ+xYhH5np2C</DigestValue>
      </Reference>
      <Reference URI="/ppt/media/image131.svg?ContentType=image/svg+xml">
        <DigestMethod Algorithm="http://www.w3.org/2001/04/xmldsig-more#sha384"/>
        <DigestValue>xxfYNaLFAAYbkvnKQu83AiH8H7+AFafYQmCSIS4BPfnFTUF9cghpbEpxPqo8radp</DigestValue>
      </Reference>
      <Reference URI="/ppt/media/image132.svg?ContentType=image/svg+xml">
        <DigestMethod Algorithm="http://www.w3.org/2001/04/xmldsig-more#sha384"/>
        <DigestValue>dleFk9xOhbUX5nZv/WOtd/aEGMke0iD5v+1z+jLUmkuwBMWvWtOzBCek9hdz1ntA</DigestValue>
      </Reference>
      <Reference URI="/ppt/media/image133.svg?ContentType=image/svg+xml">
        <DigestMethod Algorithm="http://www.w3.org/2001/04/xmldsig-more#sha384"/>
        <DigestValue>3rEYJSEbnh1QIEcyqK162Iea5S1c5G/J9jAuozPT3+vGJVjycXBeklxNwzF9SgVk</DigestValue>
      </Reference>
      <Reference URI="/ppt/media/image134.svg?ContentType=image/svg+xml">
        <DigestMethod Algorithm="http://www.w3.org/2001/04/xmldsig-more#sha384"/>
        <DigestValue>PI5J8CxQSWTJZJEzDtteB7NwaZgUMQF+a6L/wr650ngAfEdNOVdDCftMZivyq6/F</DigestValue>
      </Reference>
      <Reference URI="/ppt/media/image135.svg?ContentType=image/svg+xml">
        <DigestMethod Algorithm="http://www.w3.org/2001/04/xmldsig-more#sha384"/>
        <DigestValue>I0aZcYp1PR/IKewvVwXX3kPXijKJSaI/GfA+4KTJ1jmNZ3g4Aah0o4FhKp2iBxI+</DigestValue>
      </Reference>
      <Reference URI="/ppt/media/image136.svg?ContentType=image/svg+xml">
        <DigestMethod Algorithm="http://www.w3.org/2001/04/xmldsig-more#sha384"/>
        <DigestValue>3voXrW/7EKumom+FyKBw1b5fc4StfdROMYTeY1NIWLrf2W4dwT8m1h+RgVrPsF4/</DigestValue>
      </Reference>
      <Reference URI="/ppt/media/image137.svg?ContentType=image/svg+xml">
        <DigestMethod Algorithm="http://www.w3.org/2001/04/xmldsig-more#sha384"/>
        <DigestValue>9yPYRZTGmtDqSYke4R+rDv8PIMVn9noAofqS54euq8eN+qeZb6PwcdjXCGua9wag</DigestValue>
      </Reference>
      <Reference URI="/ppt/media/image138.svg?ContentType=image/svg+xml">
        <DigestMethod Algorithm="http://www.w3.org/2001/04/xmldsig-more#sha384"/>
        <DigestValue>k18JDB5TFSzew1VwzzR3BDsqN456TVDOcbclkiWJ4ovCNj51gWzA91uHxgJc+cSG</DigestValue>
      </Reference>
      <Reference URI="/ppt/media/image139.svg?ContentType=image/svg+xml">
        <DigestMethod Algorithm="http://www.w3.org/2001/04/xmldsig-more#sha384"/>
        <DigestValue>jxkjWKl8CZL+TnKjE6WrjFjTdKoqSXv7kKGJ+6VgiopT5YD660CTRTx2oEeC3arF</DigestValue>
      </Reference>
      <Reference URI="/ppt/media/image14.svg?ContentType=image/svg+xml">
        <DigestMethod Algorithm="http://www.w3.org/2001/04/xmldsig-more#sha384"/>
        <DigestValue>vINsuYsjCaabBsLdwxfcoSyf3DPAJejc6FJF5y7ei+ptphC2onRiQ2xHRv9evtlN</DigestValue>
      </Reference>
      <Reference URI="/ppt/media/image140.svg?ContentType=image/svg+xml">
        <DigestMethod Algorithm="http://www.w3.org/2001/04/xmldsig-more#sha384"/>
        <DigestValue>+lBMGdThEf+FphT5wQJRJQwSrKyk3/6WXeQ3E6vcYfJy+iIYphI70StAPwf+jJ6D</DigestValue>
      </Reference>
      <Reference URI="/ppt/media/image141.svg?ContentType=image/svg+xml">
        <DigestMethod Algorithm="http://www.w3.org/2001/04/xmldsig-more#sha384"/>
        <DigestValue>/9HpbDQl0uuQucUSkBTj8Aq6CY9SneSKIH5xptJrqqKlfMpXZX61W+ctZerZTiII</DigestValue>
      </Reference>
      <Reference URI="/ppt/media/image142.svg?ContentType=image/svg+xml">
        <DigestMethod Algorithm="http://www.w3.org/2001/04/xmldsig-more#sha384"/>
        <DigestValue>PGOF33Xm5KxgLmIKOvGV17yynv4KpxlzexvwbQ7awgE/LDpHMWYdDqDY26rdKT+I</DigestValue>
      </Reference>
      <Reference URI="/ppt/media/image143.svg?ContentType=image/svg+xml">
        <DigestMethod Algorithm="http://www.w3.org/2001/04/xmldsig-more#sha384"/>
        <DigestValue>kWL1mwNKUkH7yQ/KdegFNPt2StMJ8ImKaFD41SZN3IEmgRgR+lS3kST+GXJ0UWXK</DigestValue>
      </Reference>
      <Reference URI="/ppt/media/image144.svg?ContentType=image/svg+xml">
        <DigestMethod Algorithm="http://www.w3.org/2001/04/xmldsig-more#sha384"/>
        <DigestValue>JxVKp4qROLD6gMqJpvm9uwlI4Nx5XqG1t54FcDMiacd9/ADptwJeereWo5yhubg5</DigestValue>
      </Reference>
      <Reference URI="/ppt/media/image145.svg?ContentType=image/svg+xml">
        <DigestMethod Algorithm="http://www.w3.org/2001/04/xmldsig-more#sha384"/>
        <DigestValue>fSVE23KVpW7M7DzqnY6GJbQzM9fnJG+jzpWCDCOxC14dZeO5YuLSUh3MSZL4OX5G</DigestValue>
      </Reference>
      <Reference URI="/ppt/media/image146.svg?ContentType=image/svg+xml">
        <DigestMethod Algorithm="http://www.w3.org/2001/04/xmldsig-more#sha384"/>
        <DigestValue>pkqvU+840WK8IKwKvQ6pM5gZo5bHQhMPVYjJybA1LdmcuQUUeFlcOdK0Vdb6xH0F</DigestValue>
      </Reference>
      <Reference URI="/ppt/media/image147.svg?ContentType=image/svg+xml">
        <DigestMethod Algorithm="http://www.w3.org/2001/04/xmldsig-more#sha384"/>
        <DigestValue>CAbEzJUou7LQD4S9/uP5+ZM3JF3Hj6QF+CSvOrwJEUpEjnUnThXrnZunArTyaS5n</DigestValue>
      </Reference>
      <Reference URI="/ppt/media/image148.svg?ContentType=image/svg+xml">
        <DigestMethod Algorithm="http://www.w3.org/2001/04/xmldsig-more#sha384"/>
        <DigestValue>lBc8viWG9mnbI1Kz/Cru+M3MqEVYLU83gdNXAPI/rGsuXMvG5JfgDK6n1yF7THYL</DigestValue>
      </Reference>
      <Reference URI="/ppt/media/image149.svg?ContentType=image/svg+xml">
        <DigestMethod Algorithm="http://www.w3.org/2001/04/xmldsig-more#sha384"/>
        <DigestValue>E95b0FNmeUK5ssWFZrQLaQBu8z61QTT3PtVBgJhYfueC+UJ0oQt2klxiVSLALkjx</DigestValue>
      </Reference>
      <Reference URI="/ppt/media/image15.svg?ContentType=image/svg+xml">
        <DigestMethod Algorithm="http://www.w3.org/2001/04/xmldsig-more#sha384"/>
        <DigestValue>f6e46VNmyxlFLtgP8c56NVUhdXBDz+U3UlTI9ETE1fGfY+tBuKUrUm71SfdgtnJF</DigestValue>
      </Reference>
      <Reference URI="/ppt/media/image150.svg?ContentType=image/svg+xml">
        <DigestMethod Algorithm="http://www.w3.org/2001/04/xmldsig-more#sha384"/>
        <DigestValue>cWYupNlGVsjkyvoipxC2Zhj6QmrXrjsA0Jz5SfHVnRVWFZBzaTmhORutybCn6efM</DigestValue>
      </Reference>
      <Reference URI="/ppt/media/image151.svg?ContentType=image/svg+xml">
        <DigestMethod Algorithm="http://www.w3.org/2001/04/xmldsig-more#sha384"/>
        <DigestValue>UQP/FPNx/SD/vzC9txBPsTFySsc+Vu17OuOm5BJ2ZGaLWWJ5/wFpROWBGmgPFZid</DigestValue>
      </Reference>
      <Reference URI="/ppt/media/image152.svg?ContentType=image/svg+xml">
        <DigestMethod Algorithm="http://www.w3.org/2001/04/xmldsig-more#sha384"/>
        <DigestValue>KTBt9O4ajzNqi0Sqwx8LVquvapL9GuX3vaeLxO1abEZyAFQImb4MV3XHW01WbjDL</DigestValue>
      </Reference>
      <Reference URI="/ppt/media/image153.svg?ContentType=image/svg+xml">
        <DigestMethod Algorithm="http://www.w3.org/2001/04/xmldsig-more#sha384"/>
        <DigestValue>znAG5kzAwDOCDjjHUvhPfXuw5hfSd0yNObmV+6ltFk+MxIc1+PV647cY2bvEFCKM</DigestValue>
      </Reference>
      <Reference URI="/ppt/media/image154.svg?ContentType=image/svg+xml">
        <DigestMethod Algorithm="http://www.w3.org/2001/04/xmldsig-more#sha384"/>
        <DigestValue>AnBO4og9T0uFF9M0wYNOUqBX3+B3LbbAcbtdSFN8fFqnuLVEd7Ux6GlEfAzFh7yn</DigestValue>
      </Reference>
      <Reference URI="/ppt/media/image155.svg?ContentType=image/svg+xml">
        <DigestMethod Algorithm="http://www.w3.org/2001/04/xmldsig-more#sha384"/>
        <DigestValue>98jnM94R51odC2+8cNV1KAtJZ+GwiwTUJt7bX9qse5Q+NAXStQKk57m+R6oQV8Le</DigestValue>
      </Reference>
      <Reference URI="/ppt/media/image156.svg?ContentType=image/svg+xml">
        <DigestMethod Algorithm="http://www.w3.org/2001/04/xmldsig-more#sha384"/>
        <DigestValue>3f8PxrGrLsIfmqlk9Oo7cDTPotix2xWolK3SD0v1Ch/lguKguhT/YVlB8+0liEMu</DigestValue>
      </Reference>
      <Reference URI="/ppt/media/image157.svg?ContentType=image/svg+xml">
        <DigestMethod Algorithm="http://www.w3.org/2001/04/xmldsig-more#sha384"/>
        <DigestValue>yAyi+nwrsD7Ee+1NxnahjYUsNVx3y0abkrb0ERPQsoo1ejZM9TiURqXglggtD/Kq</DigestValue>
      </Reference>
      <Reference URI="/ppt/media/image158.svg?ContentType=image/svg+xml">
        <DigestMethod Algorithm="http://www.w3.org/2001/04/xmldsig-more#sha384"/>
        <DigestValue>0WYaAwSIB7VheHSleeMgpvQWifndylt47oFmyaA+TZ2EBStQZH6H/2sLOUFx3YXo</DigestValue>
      </Reference>
      <Reference URI="/ppt/media/image159.svg?ContentType=image/svg+xml">
        <DigestMethod Algorithm="http://www.w3.org/2001/04/xmldsig-more#sha384"/>
        <DigestValue>QNiW7rDEkVtj4Y2orePsXk57CvcaPYJ9UyKsC5tTmKArVN6qBUyKeLkz++E5K+TZ</DigestValue>
      </Reference>
      <Reference URI="/ppt/media/image16.svg?ContentType=image/svg+xml">
        <DigestMethod Algorithm="http://www.w3.org/2001/04/xmldsig-more#sha384"/>
        <DigestValue>7clwz70od6iZ0AtQYCqHz/oWhHQlJn18qF+36Lvi7s6LL+Sdlel/NDzSNTPiWUJu</DigestValue>
      </Reference>
      <Reference URI="/ppt/media/image160.svg?ContentType=image/svg+xml">
        <DigestMethod Algorithm="http://www.w3.org/2001/04/xmldsig-more#sha384"/>
        <DigestValue>DJpU1r31EjEptUwTjyti2IkjNHDplobYQ/kLek9W5crv4NH8Rt0TQtLfKTT0btJm</DigestValue>
      </Reference>
      <Reference URI="/ppt/media/image161.svg?ContentType=image/svg+xml">
        <DigestMethod Algorithm="http://www.w3.org/2001/04/xmldsig-more#sha384"/>
        <DigestValue>e46PwS8NnQxDgJbLVrwX5nuue7XwRRBGbz/9eC6nIIMmUDlPovcwmV8rzgGReb3b</DigestValue>
      </Reference>
      <Reference URI="/ppt/media/image162.svg?ContentType=image/svg+xml">
        <DigestMethod Algorithm="http://www.w3.org/2001/04/xmldsig-more#sha384"/>
        <DigestValue>1e1jQhLHgyFHlGVaCztzpliEINHqKyysntTllihfOYpY7f2z2ZgI4y2T5jP8yuPD</DigestValue>
      </Reference>
      <Reference URI="/ppt/media/image163.svg?ContentType=image/svg+xml">
        <DigestMethod Algorithm="http://www.w3.org/2001/04/xmldsig-more#sha384"/>
        <DigestValue>YFj3gTwl6sEwvTOe25M5P2h8RwcajVQGlhLs1/vPLqcJ3gNqTwsSKubL03mHxUTP</DigestValue>
      </Reference>
      <Reference URI="/ppt/media/image164.svg?ContentType=image/svg+xml">
        <DigestMethod Algorithm="http://www.w3.org/2001/04/xmldsig-more#sha384"/>
        <DigestValue>YUOoh/PMtRe5nMG0NYI4kF6SVfxCZH6mQ/UTqasvVeu9pnIIH6G8VJQS1NEyBhLt</DigestValue>
      </Reference>
      <Reference URI="/ppt/media/image165.svg?ContentType=image/svg+xml">
        <DigestMethod Algorithm="http://www.w3.org/2001/04/xmldsig-more#sha384"/>
        <DigestValue>JcYjBDSgda7OFWldkf39B2gs8pYNltxRUcTXN9IHbTM0ZD35RipTxvHwVhOg/0Z9</DigestValue>
      </Reference>
      <Reference URI="/ppt/media/image166.svg?ContentType=image/svg+xml">
        <DigestMethod Algorithm="http://www.w3.org/2001/04/xmldsig-more#sha384"/>
        <DigestValue>xnG2/62ghpgo05Qz4IBiWwEU5CoICXt87kECGC42Aj4SGZZ8hJmE0L7C7MWfW4db</DigestValue>
      </Reference>
      <Reference URI="/ppt/media/image167.svg?ContentType=image/svg+xml">
        <DigestMethod Algorithm="http://www.w3.org/2001/04/xmldsig-more#sha384"/>
        <DigestValue>U13jD9hX5LKQo2v3BG3R7N4Wuqne4R6PnVYZUdqZg+bEb2UIk60p7nJ/eqLsyAwS</DigestValue>
      </Reference>
      <Reference URI="/ppt/media/image168.svg?ContentType=image/svg+xml">
        <DigestMethod Algorithm="http://www.w3.org/2001/04/xmldsig-more#sha384"/>
        <DigestValue>oaoasZtnvm3Dbq1DGZJQj1o7hITMMTA2iED81RH+EtGVyLHXjZXUOJkC07A/yHgd</DigestValue>
      </Reference>
      <Reference URI="/ppt/media/image169.svg?ContentType=image/svg+xml">
        <DigestMethod Algorithm="http://www.w3.org/2001/04/xmldsig-more#sha384"/>
        <DigestValue>IcNbOUPseXgn93GXsrNeJ4iGt+6gvpGAbBDFmWlJ/7t3xX/Bei4S+iLQ/+ONrB/Z</DigestValue>
      </Reference>
      <Reference URI="/ppt/media/image17.svg?ContentType=image/svg+xml">
        <DigestMethod Algorithm="http://www.w3.org/2001/04/xmldsig-more#sha384"/>
        <DigestValue>bdED8arKu0u5E8epwxUHrNagHGdHKUCbEkTkRyoIXgaWPA6EBGHWWJcT6TQdwU9T</DigestValue>
      </Reference>
      <Reference URI="/ppt/media/image170.svg?ContentType=image/svg+xml">
        <DigestMethod Algorithm="http://www.w3.org/2001/04/xmldsig-more#sha384"/>
        <DigestValue>d/c/dXSXFIjpwzPmwFzA48GO0CjAoSIzwtVtZ3cI7yCajVEt0c8benUgiE4LZUZN</DigestValue>
      </Reference>
      <Reference URI="/ppt/media/image171.svg?ContentType=image/svg+xml">
        <DigestMethod Algorithm="http://www.w3.org/2001/04/xmldsig-more#sha384"/>
        <DigestValue>HzPaGm7a4k1wEBm0d/D22Z3Y6g7EkFZZmySBcRpoAMahgBPncXXgvSxhp1MVOlsW</DigestValue>
      </Reference>
      <Reference URI="/ppt/media/image172.svg?ContentType=image/svg+xml">
        <DigestMethod Algorithm="http://www.w3.org/2001/04/xmldsig-more#sha384"/>
        <DigestValue>vBm5qAhEFBK8RfaMHJEkQSZMgEBa/msSGrRPpUmTcjaoXVGFZwGPrsKGYK1M1v+M</DigestValue>
      </Reference>
      <Reference URI="/ppt/media/image173.svg?ContentType=image/svg+xml">
        <DigestMethod Algorithm="http://www.w3.org/2001/04/xmldsig-more#sha384"/>
        <DigestValue>cEapn3iRmfmQSURU00vcL3rONb+Ep9gN0Mw53CY5oKnCrUZqjhsf2CzX0y8h5MDI</DigestValue>
      </Reference>
      <Reference URI="/ppt/media/image174.svg?ContentType=image/svg+xml">
        <DigestMethod Algorithm="http://www.w3.org/2001/04/xmldsig-more#sha384"/>
        <DigestValue>CVlMYtHwzY25Dn4+TxMb8cDZFMcgk/wVxZXAauN5QGtKsU4gHn2hsBpIupWfL74S</DigestValue>
      </Reference>
      <Reference URI="/ppt/media/image175.svg?ContentType=image/svg+xml">
        <DigestMethod Algorithm="http://www.w3.org/2001/04/xmldsig-more#sha384"/>
        <DigestValue>ZoWPBoRGG7qTcB+YPxlOnBZrH71PTAQ0UAU9fohuLsV0dbehv1j+0JtsUsQ/irLY</DigestValue>
      </Reference>
      <Reference URI="/ppt/media/image176.svg?ContentType=image/svg+xml">
        <DigestMethod Algorithm="http://www.w3.org/2001/04/xmldsig-more#sha384"/>
        <DigestValue>oLKY4QmThLrDg9+hYZFEubQ5oUDMJ45nwQi2BmrwucDU0bB0U4XAiJWRDIcgJvRk</DigestValue>
      </Reference>
      <Reference URI="/ppt/media/image177.svg?ContentType=image/svg+xml">
        <DigestMethod Algorithm="http://www.w3.org/2001/04/xmldsig-more#sha384"/>
        <DigestValue>jDeg9xq+txnI8A8UlvBs+5dea6+LpL0V3sDVPuJQH5/bzuI4WEjfimVtMRBehNv1</DigestValue>
      </Reference>
      <Reference URI="/ppt/media/image178.svg?ContentType=image/svg+xml">
        <DigestMethod Algorithm="http://www.w3.org/2001/04/xmldsig-more#sha384"/>
        <DigestValue>kuepZP6PtiWAhTJvWasYo6ycYAnmbdyg8OlfMg36NxgjQewttNwihrPuClmijgHu</DigestValue>
      </Reference>
      <Reference URI="/ppt/media/image179.png?ContentType=image/png">
        <DigestMethod Algorithm="http://www.w3.org/2001/04/xmldsig-more#sha384"/>
        <DigestValue>FDJXEA19e4nU65hijKIoZB1TM8OgfMy9t33Vb/9wat5x+zDpq+4+O/AfKKFMtGxy</DigestValue>
      </Reference>
      <Reference URI="/ppt/media/image18.svg?ContentType=image/svg+xml">
        <DigestMethod Algorithm="http://www.w3.org/2001/04/xmldsig-more#sha384"/>
        <DigestValue>baiYGNrVn9TLbta/aVWsCG4mfiQ4kODPq0M80vKt/QA2WzODNCoHO1zwZhw+qX5D</DigestValue>
      </Reference>
      <Reference URI="/ppt/media/image180.svg?ContentType=image/svg+xml">
        <DigestMethod Algorithm="http://www.w3.org/2001/04/xmldsig-more#sha384"/>
        <DigestValue>1QPl1V90h42vZQsIQSjW5fyyUexyt8IG/RNl0gtt9OBHgd5GV8v3aHq+S/IK8SRQ</DigestValue>
      </Reference>
      <Reference URI="/ppt/media/image181.svg?ContentType=image/svg+xml">
        <DigestMethod Algorithm="http://www.w3.org/2001/04/xmldsig-more#sha384"/>
        <DigestValue>fNtIlrRpNMIv7kuAh8o7kBhONkjV5HB9kiDwadUoO6kcPgJx8/lS8j7lbUFoPdsP</DigestValue>
      </Reference>
      <Reference URI="/ppt/media/image182.svg?ContentType=image/svg+xml">
        <DigestMethod Algorithm="http://www.w3.org/2001/04/xmldsig-more#sha384"/>
        <DigestValue>XwqinkxYJdUV09LoOi92VbmWSJ+2fELAVsCOOkprG4CJKkSOEmjjz7xBTzISmbWp</DigestValue>
      </Reference>
      <Reference URI="/ppt/media/image183.svg?ContentType=image/svg+xml">
        <DigestMethod Algorithm="http://www.w3.org/2001/04/xmldsig-more#sha384"/>
        <DigestValue>LmG5j3IgeCUQOGW5q3Mf4vLr09A7EakCuViBdYAPmmxsxpQDnNBX1MOq2ChbT1iq</DigestValue>
      </Reference>
      <Reference URI="/ppt/media/image184.svg?ContentType=image/svg+xml">
        <DigestMethod Algorithm="http://www.w3.org/2001/04/xmldsig-more#sha384"/>
        <DigestValue>s/RFYcZgaCSjKhAeiBp3jfBrJ4a2rlvcPz+EDh73J4W/QSI+1SsgMAPPpRx7xYzm</DigestValue>
      </Reference>
      <Reference URI="/ppt/media/image185.svg?ContentType=image/svg+xml">
        <DigestMethod Algorithm="http://www.w3.org/2001/04/xmldsig-more#sha384"/>
        <DigestValue>HJcSewzKc5BbRLqPRw36sLPHWfW1CaxpJMzgW7o4rS+EMWYpda+u22Z17obQ+m3G</DigestValue>
      </Reference>
      <Reference URI="/ppt/media/image186.svg?ContentType=image/svg+xml">
        <DigestMethod Algorithm="http://www.w3.org/2001/04/xmldsig-more#sha384"/>
        <DigestValue>9r0ghj6Kga4O/sC53SrI+Uq8J2AKmHT3ZwGAkzGl3VVmUM/XJmMlCBsJYD8b4d/U</DigestValue>
      </Reference>
      <Reference URI="/ppt/media/image187.png?ContentType=image/png">
        <DigestMethod Algorithm="http://www.w3.org/2001/04/xmldsig-more#sha384"/>
        <DigestValue>kHczSrOvf3mniyKpWb4lcFRY1iUO5sNbHm+/Ow5wQSH33DbM+9GC4iLXcm5nufGj</DigestValue>
      </Reference>
      <Reference URI="/ppt/media/image188.png?ContentType=image/png">
        <DigestMethod Algorithm="http://www.w3.org/2001/04/xmldsig-more#sha384"/>
        <DigestValue>Ze8Rxr/se8Sbl66XbvMrIMO1nGQ4o/QH5Qt/BrFSxibmu6HlZ1jVun4sX9iH/rX9</DigestValue>
      </Reference>
      <Reference URI="/ppt/media/image189.png?ContentType=image/png">
        <DigestMethod Algorithm="http://www.w3.org/2001/04/xmldsig-more#sha384"/>
        <DigestValue>NXtmvaXJSrimpxtuCI3IuAczXL3QfJqzuJRGAi5KE6CfCJ+T91If5CY2AFHbfIqE</DigestValue>
      </Reference>
      <Reference URI="/ppt/media/image19.svg?ContentType=image/svg+xml">
        <DigestMethod Algorithm="http://www.w3.org/2001/04/xmldsig-more#sha384"/>
        <DigestValue>NojhSFl56YBli0Sh9jgp6X23FaW0xNLpigdxoYu1pE2m30Mf9Aze1djuRJR8rEnb</DigestValue>
      </Reference>
      <Reference URI="/ppt/media/image2.png?ContentType=image/png">
        <DigestMethod Algorithm="http://www.w3.org/2001/04/xmldsig-more#sha384"/>
        <DigestValue>tg5bXD9/jaJKvirwG+RmU0xssIUsmciUfaRo45JGUdWsP9c4JSMVcRnkvD2mGj5G</DigestValue>
      </Reference>
      <Reference URI="/ppt/media/image20.svg?ContentType=image/svg+xml">
        <DigestMethod Algorithm="http://www.w3.org/2001/04/xmldsig-more#sha384"/>
        <DigestValue>DZIz8H231aqULs7BIyoAH4q3SJ3LQgz7gbv7UsVso8YM5O0fmnQbp90RZDblNy1w</DigestValue>
      </Reference>
      <Reference URI="/ppt/media/image21.svg?ContentType=image/svg+xml">
        <DigestMethod Algorithm="http://www.w3.org/2001/04/xmldsig-more#sha384"/>
        <DigestValue>hub75HxsNTeMAGolsgIeAmtuj2SXizJl8G14bVwBV3GKduZLr2gdkVIiyDdhCyvZ</DigestValue>
      </Reference>
      <Reference URI="/ppt/media/image22.svg?ContentType=image/svg+xml">
        <DigestMethod Algorithm="http://www.w3.org/2001/04/xmldsig-more#sha384"/>
        <DigestValue>eRg61UsINL9fP9pWIDePqKvXLPbUqjeZcLQQEZsOkK5dERZPb/PCricJMICvhcaB</DigestValue>
      </Reference>
      <Reference URI="/ppt/media/image23.svg?ContentType=image/svg+xml">
        <DigestMethod Algorithm="http://www.w3.org/2001/04/xmldsig-more#sha384"/>
        <DigestValue>7kyIhLDcM94ti8tr4442qRjeRZI42qROnJMEBtB4Hiyv7frJvsBdMsONxVuqH4mW</DigestValue>
      </Reference>
      <Reference URI="/ppt/media/image24.svg?ContentType=image/svg+xml">
        <DigestMethod Algorithm="http://www.w3.org/2001/04/xmldsig-more#sha384"/>
        <DigestValue>ePpnV7DTxiZ+hw4JMup/LNNcL6kemdtAqWStmNtbpgilOkWv0FimsrnQc5VdJvtN</DigestValue>
      </Reference>
      <Reference URI="/ppt/media/image25.svg?ContentType=image/svg+xml">
        <DigestMethod Algorithm="http://www.w3.org/2001/04/xmldsig-more#sha384"/>
        <DigestValue>/L2WbuJWPW/jFIFnwlx1piIDUi8+8BPTa/PWjhARkA7ehEe0hzzvXrRltAAa2g+4</DigestValue>
      </Reference>
      <Reference URI="/ppt/media/image26.svg?ContentType=image/svg+xml">
        <DigestMethod Algorithm="http://www.w3.org/2001/04/xmldsig-more#sha384"/>
        <DigestValue>+2FjN8LS0AG0eo0rwCgSpPcmTJfpMWjI7JAn9wxe5goQhhszco/cs/SqfJ6lOKNe</DigestValue>
      </Reference>
      <Reference URI="/ppt/media/image27.svg?ContentType=image/svg+xml">
        <DigestMethod Algorithm="http://www.w3.org/2001/04/xmldsig-more#sha384"/>
        <DigestValue>4gyQKhmIIgWVl/0uhAUHxkveyeZxpMJ3oMCclAiM70li0tsYK6wNEKpmN4WFfOjN</DigestValue>
      </Reference>
      <Reference URI="/ppt/media/image28.svg?ContentType=image/svg+xml">
        <DigestMethod Algorithm="http://www.w3.org/2001/04/xmldsig-more#sha384"/>
        <DigestValue>l4gyvkI/+Sctm2jeQIaKC6lldwqYtYU+vcYM4vwGD9wGR3qYvpJrIPm4R9uOPWD7</DigestValue>
      </Reference>
      <Reference URI="/ppt/media/image29.svg?ContentType=image/svg+xml">
        <DigestMethod Algorithm="http://www.w3.org/2001/04/xmldsig-more#sha384"/>
        <DigestValue>6/EAUR/xiebSjuP2KRXIQO2+ScwIjxK5B/2KmKOUYOKQ9CmSWoBm/0OXqe77CcxB</DigestValue>
      </Reference>
      <Reference URI="/ppt/media/image3.svg?ContentType=image/svg+xml">
        <DigestMethod Algorithm="http://www.w3.org/2001/04/xmldsig-more#sha384"/>
        <DigestValue>tTM44OtqNOLIyQsEEjos1D97x+GNdvzSKOXxg4xm0joL9OBVvMlI90PQg7mhApk+</DigestValue>
      </Reference>
      <Reference URI="/ppt/media/image30.svg?ContentType=image/svg+xml">
        <DigestMethod Algorithm="http://www.w3.org/2001/04/xmldsig-more#sha384"/>
        <DigestValue>u5e12eeDK30DOI9AWap4vIxcdSi5pxyFb3OA9ZJSZBEy7M/B20U0PM9LzOdDTHMf</DigestValue>
      </Reference>
      <Reference URI="/ppt/media/image31.svg?ContentType=image/svg+xml">
        <DigestMethod Algorithm="http://www.w3.org/2001/04/xmldsig-more#sha384"/>
        <DigestValue>pfXN78Yr2oGNVz33GMimz4TDEgqeDNUfi+mBgmkhzeFoIPKWGxCibnRae+QxFYlz</DigestValue>
      </Reference>
      <Reference URI="/ppt/media/image32.svg?ContentType=image/svg+xml">
        <DigestMethod Algorithm="http://www.w3.org/2001/04/xmldsig-more#sha384"/>
        <DigestValue>n4J5lsvrZAQS+1GoNg/x+AODJ+bcpEswWThr7H3JcNXgmkCCElDsljgbyCmrdRaw</DigestValue>
      </Reference>
      <Reference URI="/ppt/media/image33.svg?ContentType=image/svg+xml">
        <DigestMethod Algorithm="http://www.w3.org/2001/04/xmldsig-more#sha384"/>
        <DigestValue>2KSgVx6vbYuKcbSq9wJw/CPCPOfCGzbHX91CoZOcXaHTCdniUFteD8k0/wy2DTx+</DigestValue>
      </Reference>
      <Reference URI="/ppt/media/image34.svg?ContentType=image/svg+xml">
        <DigestMethod Algorithm="http://www.w3.org/2001/04/xmldsig-more#sha384"/>
        <DigestValue>s0w26mUTU24/cotli1o4cGgvzi1zDZ7iQpERWxT2PrBpbjpgo8zviiSuO6s6tMXd</DigestValue>
      </Reference>
      <Reference URI="/ppt/media/image35.svg?ContentType=image/svg+xml">
        <DigestMethod Algorithm="http://www.w3.org/2001/04/xmldsig-more#sha384"/>
        <DigestValue>Y48RXm/XDeep6RTbAfSAcL7MCdM+0uXopMdIuZS9E5yXZzIIbKQQyt6AMOskYyXa</DigestValue>
      </Reference>
      <Reference URI="/ppt/media/image36.svg?ContentType=image/svg+xml">
        <DigestMethod Algorithm="http://www.w3.org/2001/04/xmldsig-more#sha384"/>
        <DigestValue>W/6MadFrzz8ZNqgMiP6V5HIODFE8lb3pF2fsOo86AnwVW0sFc2RGqP749msCqmFE</DigestValue>
      </Reference>
      <Reference URI="/ppt/media/image37.svg?ContentType=image/svg+xml">
        <DigestMethod Algorithm="http://www.w3.org/2001/04/xmldsig-more#sha384"/>
        <DigestValue>v/xP37NiCPYalxyUbq96DEaHiz11lDjjKAGu5X3JTT3hvzlY0azPLeD0doJc+9De</DigestValue>
      </Reference>
      <Reference URI="/ppt/media/image38.svg?ContentType=image/svg+xml">
        <DigestMethod Algorithm="http://www.w3.org/2001/04/xmldsig-more#sha384"/>
        <DigestValue>OpgTJk8RmeZqMqb3vZsCGADI2EF6AgJXmTGrJWY0H8l9nFdKr+GvdhpoTn5SyuBI</DigestValue>
      </Reference>
      <Reference URI="/ppt/media/image39.svg?ContentType=image/svg+xml">
        <DigestMethod Algorithm="http://www.w3.org/2001/04/xmldsig-more#sha384"/>
        <DigestValue>y4PNtFakTiH0stUuPUFymj8TIOV5NxmfpuRbnnUxp0JjSNXyT2xEbJo0Lx3u7wwg</DigestValue>
      </Reference>
      <Reference URI="/ppt/media/image4.jpeg?ContentType=image/jpeg">
        <DigestMethod Algorithm="http://www.w3.org/2001/04/xmldsig-more#sha384"/>
        <DigestValue>6/ZHSoiLv03NSJrRNpPssoUyVKSomi7oHzWzncl7PbtmPpxdAew37QzxVjFbOSXr</DigestValue>
      </Reference>
      <Reference URI="/ppt/media/image40.svg?ContentType=image/svg+xml">
        <DigestMethod Algorithm="http://www.w3.org/2001/04/xmldsig-more#sha384"/>
        <DigestValue>Go2LDVFqE6OWHVqgOlz2z1yF0YPoK+aPKZM8TKFKVZ5k5GIreX0wWElVLnIsWEd8</DigestValue>
      </Reference>
      <Reference URI="/ppt/media/image41.svg?ContentType=image/svg+xml">
        <DigestMethod Algorithm="http://www.w3.org/2001/04/xmldsig-more#sha384"/>
        <DigestValue>XtnO+rqOPMFUTTHrAN/1WX7LAviUWSl88dbVaoDtF91qcyiIGZfZZ0kx/5Me8Bt5</DigestValue>
      </Reference>
      <Reference URI="/ppt/media/image42.svg?ContentType=image/svg+xml">
        <DigestMethod Algorithm="http://www.w3.org/2001/04/xmldsig-more#sha384"/>
        <DigestValue>R/99qj/q5WpgSGODfcNXYNd3okNRh2ARwROS9ycqKvgsuYNQ3uvF323jwge7ag+R</DigestValue>
      </Reference>
      <Reference URI="/ppt/media/image43.svg?ContentType=image/svg+xml">
        <DigestMethod Algorithm="http://www.w3.org/2001/04/xmldsig-more#sha384"/>
        <DigestValue>GQcBqS2gjJsgWC5FOtSUBVdih74revPEEc8dnpycTLKyZ9P/kEaZ1dQDuZURyv8a</DigestValue>
      </Reference>
      <Reference URI="/ppt/media/image44.svg?ContentType=image/svg+xml">
        <DigestMethod Algorithm="http://www.w3.org/2001/04/xmldsig-more#sha384"/>
        <DigestValue>smgkrhQbGMVze/hrUg8XiXmih/He3ILH695WN86EQzDEy76TlyrrQv5WoC9B6jr4</DigestValue>
      </Reference>
      <Reference URI="/ppt/media/image45.svg?ContentType=image/svg+xml">
        <DigestMethod Algorithm="http://www.w3.org/2001/04/xmldsig-more#sha384"/>
        <DigestValue>dCx1xDGLPesYjrpPFwngKEDJv0Z9Z/esTpSFDSisUHGd+IlOT1d9ehjO7FcTOUIj</DigestValue>
      </Reference>
      <Reference URI="/ppt/media/image46.svg?ContentType=image/svg+xml">
        <DigestMethod Algorithm="http://www.w3.org/2001/04/xmldsig-more#sha384"/>
        <DigestValue>IvwU5XABnwj3S9mcNCXpiVydkO/VFuPiY+k7IpdbpjKycnY/VH6fTVIbk1uIFckY</DigestValue>
      </Reference>
      <Reference URI="/ppt/media/image47.svg?ContentType=image/svg+xml">
        <DigestMethod Algorithm="http://www.w3.org/2001/04/xmldsig-more#sha384"/>
        <DigestValue>22AM+0FGa8Fw+Py2Lwj3p52QRxYzTlnsZAEhlNJ9rL1WIRV8RgesBMXAPATQsYoR</DigestValue>
      </Reference>
      <Reference URI="/ppt/media/image48.svg?ContentType=image/svg+xml">
        <DigestMethod Algorithm="http://www.w3.org/2001/04/xmldsig-more#sha384"/>
        <DigestValue>uCogGmBTDmbNNNM3UGZtW97PA5H4WF4E77ssTuUtmaZoqihiQ5Tb+8tdn8prFCtu</DigestValue>
      </Reference>
      <Reference URI="/ppt/media/image49.svg?ContentType=image/svg+xml">
        <DigestMethod Algorithm="http://www.w3.org/2001/04/xmldsig-more#sha384"/>
        <DigestValue>8KKy8MRgf1n+vUlwuxnYXjiheW/IIXs+cjqSXDk9bpqfnhShcAk+Qqs390HGzPN/</DigestValue>
      </Reference>
      <Reference URI="/ppt/media/image5.svg?ContentType=image/svg+xml">
        <DigestMethod Algorithm="http://www.w3.org/2001/04/xmldsig-more#sha384"/>
        <DigestValue>UTru59ALklsXO21ddAkP4eDWvUBvf5GXpBHnHwS5wkJNjhagOmALAbBmRzOI49hX</DigestValue>
      </Reference>
      <Reference URI="/ppt/media/image50.svg?ContentType=image/svg+xml">
        <DigestMethod Algorithm="http://www.w3.org/2001/04/xmldsig-more#sha384"/>
        <DigestValue>xaV2+A8kSNkOm8ULQhnb9k9ewZ7Aj48nINNCO8HW8HIxM2szKLID2R6OnIFfnDgN</DigestValue>
      </Reference>
      <Reference URI="/ppt/media/image51.svg?ContentType=image/svg+xml">
        <DigestMethod Algorithm="http://www.w3.org/2001/04/xmldsig-more#sha384"/>
        <DigestValue>kS50IAesiDFdz4nvb6qyW1NSS/JynlzE4pQrNeHGWK8KA868xTPBLmqwUoH+BNZ1</DigestValue>
      </Reference>
      <Reference URI="/ppt/media/image52.svg?ContentType=image/svg+xml">
        <DigestMethod Algorithm="http://www.w3.org/2001/04/xmldsig-more#sha384"/>
        <DigestValue>R70PHM29neDKzIYZ/lmYqXygGLBrUHGeA9SFMHBKXYv6ixNDsqliGX77NJGIfgYl</DigestValue>
      </Reference>
      <Reference URI="/ppt/media/image53.svg?ContentType=image/svg+xml">
        <DigestMethod Algorithm="http://www.w3.org/2001/04/xmldsig-more#sha384"/>
        <DigestValue>CTIlUCRHDnVatUTyBZj7atxaElxvjTaOiHeJRZ4loJHZtM8vIqqqjsztW5JeQvPh</DigestValue>
      </Reference>
      <Reference URI="/ppt/media/image54.svg?ContentType=image/svg+xml">
        <DigestMethod Algorithm="http://www.w3.org/2001/04/xmldsig-more#sha384"/>
        <DigestValue>m3JRT3fcpulwSvRZQvI2zqsf+nOni+LKtju+zjL3rbzzLcaujZxPUPCISCY0Yh+l</DigestValue>
      </Reference>
      <Reference URI="/ppt/media/image55.svg?ContentType=image/svg+xml">
        <DigestMethod Algorithm="http://www.w3.org/2001/04/xmldsig-more#sha384"/>
        <DigestValue>WdCEdnndjEgPU48v9fRDcG1dAjmEb+Nwt4xEp+0VEvXa8nIBzfzLhwN//G861Gy8</DigestValue>
      </Reference>
      <Reference URI="/ppt/media/image56.svg?ContentType=image/svg+xml">
        <DigestMethod Algorithm="http://www.w3.org/2001/04/xmldsig-more#sha384"/>
        <DigestValue>CQXLd5cewEz6fMTdDxK05NZW3Oq+r9VP/jRC4RLeB5WUvAZuVY3qlmBYymQO4zLX</DigestValue>
      </Reference>
      <Reference URI="/ppt/media/image57.svg?ContentType=image/svg+xml">
        <DigestMethod Algorithm="http://www.w3.org/2001/04/xmldsig-more#sha384"/>
        <DigestValue>piuecFuvz5RXPdw+PeccbOvD0UPd5CGgUr5XMWxtafKRWar+KghiJyp49nCnnREI</DigestValue>
      </Reference>
      <Reference URI="/ppt/media/image58.svg?ContentType=image/svg+xml">
        <DigestMethod Algorithm="http://www.w3.org/2001/04/xmldsig-more#sha384"/>
        <DigestValue>jQjiIeSG5ZcJjDjMqYM158JKYbfZcCQxCAEKN1q7B8hMyAzKxf7r1Xd7T34D28La</DigestValue>
      </Reference>
      <Reference URI="/ppt/media/image59.svg?ContentType=image/svg+xml">
        <DigestMethod Algorithm="http://www.w3.org/2001/04/xmldsig-more#sha384"/>
        <DigestValue>ZeWdDbWDJLIwvvoy77AJbh/ctkGbH0zo1eZ2eOq9gGtCfpJBG8sBRzn+bfWow4Nj</DigestValue>
      </Reference>
      <Reference URI="/ppt/media/image6.svg?ContentType=image/svg+xml">
        <DigestMethod Algorithm="http://www.w3.org/2001/04/xmldsig-more#sha384"/>
        <DigestValue>US7tTMToy3kCI63Lm/vge6WYC8nJ81jtWpYBZshjmPNUkU46XY30mW4CEp+Wsy5+</DigestValue>
      </Reference>
      <Reference URI="/ppt/media/image60.svg?ContentType=image/svg+xml">
        <DigestMethod Algorithm="http://www.w3.org/2001/04/xmldsig-more#sha384"/>
        <DigestValue>v46ijbf7GxMNg/Bbwyc89pGefmkrQLhrYlePvlTfdr6QkEOXHdph7Fg5aeo6FDQH</DigestValue>
      </Reference>
      <Reference URI="/ppt/media/image61.svg?ContentType=image/svg+xml">
        <DigestMethod Algorithm="http://www.w3.org/2001/04/xmldsig-more#sha384"/>
        <DigestValue>pOcrIADEzULy3uLsj1M1DQBpzDPl7a2fJl2r8RqsX6N7p5JCmD3dnoEVgcHWkFRv</DigestValue>
      </Reference>
      <Reference URI="/ppt/media/image62.svg?ContentType=image/svg+xml">
        <DigestMethod Algorithm="http://www.w3.org/2001/04/xmldsig-more#sha384"/>
        <DigestValue>YD+vUNTCBbbcIYAClRQMTmKCHN/Z8Q8xLOxn8qd+mMZSlHSv+OnS7aKGU97H0JrU</DigestValue>
      </Reference>
      <Reference URI="/ppt/media/image63.svg?ContentType=image/svg+xml">
        <DigestMethod Algorithm="http://www.w3.org/2001/04/xmldsig-more#sha384"/>
        <DigestValue>G3ZDkPSr7SXoIvsrRKl5uxlNpTekQbjP+8I3Yj+VJHMpAAsUHX8ng6vqMZY4ExUS</DigestValue>
      </Reference>
      <Reference URI="/ppt/media/image64.svg?ContentType=image/svg+xml">
        <DigestMethod Algorithm="http://www.w3.org/2001/04/xmldsig-more#sha384"/>
        <DigestValue>zCa529JxnkguRgUn89cpvCMtNCaRRHKZeDBDdHIujT2emvFrrUCdVowZVAdmDVOO</DigestValue>
      </Reference>
      <Reference URI="/ppt/media/image65.svg?ContentType=image/svg+xml">
        <DigestMethod Algorithm="http://www.w3.org/2001/04/xmldsig-more#sha384"/>
        <DigestValue>1Sn+V3u/aUKCgwjiwKGZO+Gry9mfe9zle6gllDmfxDLh4xLL2aLQcUBhRh4+L9xF</DigestValue>
      </Reference>
      <Reference URI="/ppt/media/image66.svg?ContentType=image/svg+xml">
        <DigestMethod Algorithm="http://www.w3.org/2001/04/xmldsig-more#sha384"/>
        <DigestValue>GY6a2w/5r/f78QQCJdM+ygg4wSRRwpCn5+TZzmU+0TZvoZvJsJeQ9DXaEE1I5IDp</DigestValue>
      </Reference>
      <Reference URI="/ppt/media/image67.svg?ContentType=image/svg+xml">
        <DigestMethod Algorithm="http://www.w3.org/2001/04/xmldsig-more#sha384"/>
        <DigestValue>2FfccvtycOn5/Ya/WiVZAPVSHLvOm6DmIaBDjpBV84Vmz2+a5DN21ZOOgYj/FjAr</DigestValue>
      </Reference>
      <Reference URI="/ppt/media/image68.svg?ContentType=image/svg+xml">
        <DigestMethod Algorithm="http://www.w3.org/2001/04/xmldsig-more#sha384"/>
        <DigestValue>+5hm5IGVFfgnwdoM52q/ywe39c1BT2ThUYZEiKwDKcFa8y/54dmCEkEjnIhOVlxx</DigestValue>
      </Reference>
      <Reference URI="/ppt/media/image69.svg?ContentType=image/svg+xml">
        <DigestMethod Algorithm="http://www.w3.org/2001/04/xmldsig-more#sha384"/>
        <DigestValue>ndnRwBjx0oeO7h7O7mMLoGQAZrsVRnhLvUMDM0FjcGj6Tfdl9rsAe5VGwM4m6n4Y</DigestValue>
      </Reference>
      <Reference URI="/ppt/media/image7.svg?ContentType=image/svg+xml">
        <DigestMethod Algorithm="http://www.w3.org/2001/04/xmldsig-more#sha384"/>
        <DigestValue>TfGe/ayLP5frpWH0VpS9XbgWA+1z5H3FDoxh3HCitTLh8sSPzk4CcohGyo7vFURy</DigestValue>
      </Reference>
      <Reference URI="/ppt/media/image70.svg?ContentType=image/svg+xml">
        <DigestMethod Algorithm="http://www.w3.org/2001/04/xmldsig-more#sha384"/>
        <DigestValue>gagxLcw842OPTto/fVqXDBMn3MwxTOXsZPahJhju7EmKPGeaNE5dnF9qpiHby6V6</DigestValue>
      </Reference>
      <Reference URI="/ppt/media/image71.svg?ContentType=image/svg+xml">
        <DigestMethod Algorithm="http://www.w3.org/2001/04/xmldsig-more#sha384"/>
        <DigestValue>cVFSW8HHJ9lUeG9B+dk82WQG/f/33rgcMMSa5omUjEbO0q38nVIr0aUhK8d4U3Mn</DigestValue>
      </Reference>
      <Reference URI="/ppt/media/image72.svg?ContentType=image/svg+xml">
        <DigestMethod Algorithm="http://www.w3.org/2001/04/xmldsig-more#sha384"/>
        <DigestValue>YFCXh6JYNgeG1iGEoscOozy7Zul/UhBcj5cc6wTU+6fcqoYnL27VLur/KI0RECtT</DigestValue>
      </Reference>
      <Reference URI="/ppt/media/image73.svg?ContentType=image/svg+xml">
        <DigestMethod Algorithm="http://www.w3.org/2001/04/xmldsig-more#sha384"/>
        <DigestValue>QLJb4gfJBaQpWzcrepEHXHF/97YXdbJK+ti+iV1kuX2Rpb0/KUbm4gm6el6GSZnd</DigestValue>
      </Reference>
      <Reference URI="/ppt/media/image74.svg?ContentType=image/svg+xml">
        <DigestMethod Algorithm="http://www.w3.org/2001/04/xmldsig-more#sha384"/>
        <DigestValue>vBOFG12sbgh77oPEVO3QCW3DAGuRjWyw/G9KujN0S0I6+fwwVk36eU0oW+/BfbXU</DigestValue>
      </Reference>
      <Reference URI="/ppt/media/image75.svg?ContentType=image/svg+xml">
        <DigestMethod Algorithm="http://www.w3.org/2001/04/xmldsig-more#sha384"/>
        <DigestValue>x4S/lwlDKNWMbfGpuz/A1rvnKD23FJ1VzmMD3jyLEw9JvZ2VlhkbvozHZXXYnRfJ</DigestValue>
      </Reference>
      <Reference URI="/ppt/media/image76.svg?ContentType=image/svg+xml">
        <DigestMethod Algorithm="http://www.w3.org/2001/04/xmldsig-more#sha384"/>
        <DigestValue>vg5Egt2XPMwlj2D0xNAJ6FwyFvbNCXaextAxEyL1U9Tb0a32poCrIkUQ3u63xBid</DigestValue>
      </Reference>
      <Reference URI="/ppt/media/image77.svg?ContentType=image/svg+xml">
        <DigestMethod Algorithm="http://www.w3.org/2001/04/xmldsig-more#sha384"/>
        <DigestValue>PFLAuanGfx18NIcUTcm3KR1Rf4ieooTfaBzu0tldDkl4JsegctIvt1ujMFVqGlu/</DigestValue>
      </Reference>
      <Reference URI="/ppt/media/image78.svg?ContentType=image/svg+xml">
        <DigestMethod Algorithm="http://www.w3.org/2001/04/xmldsig-more#sha384"/>
        <DigestValue>5pFvbAm3aEfq5eZlj3UV0QurCdgcLEsWqHlmRBMOZzZgAu5wR8kxzU3QnRdtu/XY</DigestValue>
      </Reference>
      <Reference URI="/ppt/media/image79.svg?ContentType=image/svg+xml">
        <DigestMethod Algorithm="http://www.w3.org/2001/04/xmldsig-more#sha384"/>
        <DigestValue>NfFVRfc1Xf2NfNV1T7AAr8LKXN08YRHrcloSGQAqtjw/B7vhii67lGiqXJi2U5sa</DigestValue>
      </Reference>
      <Reference URI="/ppt/media/image8.svg?ContentType=image/svg+xml">
        <DigestMethod Algorithm="http://www.w3.org/2001/04/xmldsig-more#sha384"/>
        <DigestValue>0KchmHsc5cLt2gmBNZDv4my4CScMGBQltgtsUl4oKLnVF/Y05MNLmG73aHh6U+I9</DigestValue>
      </Reference>
      <Reference URI="/ppt/media/image80.svg?ContentType=image/svg+xml">
        <DigestMethod Algorithm="http://www.w3.org/2001/04/xmldsig-more#sha384"/>
        <DigestValue>fIM4opnEXd2n8muWYYX/ipVnyctGoBcz6od5M3rcnZk8MSXXNXbnnO35Q75qqZba</DigestValue>
      </Reference>
      <Reference URI="/ppt/media/image81.svg?ContentType=image/svg+xml">
        <DigestMethod Algorithm="http://www.w3.org/2001/04/xmldsig-more#sha384"/>
        <DigestValue>TFPrVZtjGso9u+VGIQZk2dfxSx44tdc9NudyCmgrqJ4CE1yJIf5S1oufLl82GhiK</DigestValue>
      </Reference>
      <Reference URI="/ppt/media/image82.svg?ContentType=image/svg+xml">
        <DigestMethod Algorithm="http://www.w3.org/2001/04/xmldsig-more#sha384"/>
        <DigestValue>94aOVCqHqWWqH46ihlcph16z8YZHm5i3GSzaLUEJ2KB43YpfwAA8yToFxO8wOHTy</DigestValue>
      </Reference>
      <Reference URI="/ppt/media/image83.svg?ContentType=image/svg+xml">
        <DigestMethod Algorithm="http://www.w3.org/2001/04/xmldsig-more#sha384"/>
        <DigestValue>Kre/JubGXaNPH9gvXLTMcSvx9SSir1UW+xjJUGFTEWoMxh+s43Vk3XY8h5ldnO4G</DigestValue>
      </Reference>
      <Reference URI="/ppt/media/image84.svg?ContentType=image/svg+xml">
        <DigestMethod Algorithm="http://www.w3.org/2001/04/xmldsig-more#sha384"/>
        <DigestValue>UlN3YHAEi+vF6/MD4rFhVpODx/0n8Lw84iTGTq/Nya3EmtFCOeEC0LnuPEehGlxV</DigestValue>
      </Reference>
      <Reference URI="/ppt/media/image85.svg?ContentType=image/svg+xml">
        <DigestMethod Algorithm="http://www.w3.org/2001/04/xmldsig-more#sha384"/>
        <DigestValue>UMElEl4tGI5or/PFffQiR/XUSVtrKDDbKjVHj40X+0iHPzi8xLOqC9LkTMmQvBba</DigestValue>
      </Reference>
      <Reference URI="/ppt/media/image86.svg?ContentType=image/svg+xml">
        <DigestMethod Algorithm="http://www.w3.org/2001/04/xmldsig-more#sha384"/>
        <DigestValue>KgiZaW6qwbymqn6PnMB9VEWk4SjreBMG9sPVgAHAw/g5Go3xxRpuL+Nl7+DTX+1A</DigestValue>
      </Reference>
      <Reference URI="/ppt/media/image87.svg?ContentType=image/svg+xml">
        <DigestMethod Algorithm="http://www.w3.org/2001/04/xmldsig-more#sha384"/>
        <DigestValue>U4latpN7H4jbywGILsAL6YwpMzEo5Nc/C1jSG2fnqItDsAbvVmh6HUp5tg1mf25Z</DigestValue>
      </Reference>
      <Reference URI="/ppt/media/image88.svg?ContentType=image/svg+xml">
        <DigestMethod Algorithm="http://www.w3.org/2001/04/xmldsig-more#sha384"/>
        <DigestValue>RYIHjpeGS8Miu5M9FmqUv3zq4UWtBPlhLSRLlLMUFNguFeCrn9b6vH59B52C7YKE</DigestValue>
      </Reference>
      <Reference URI="/ppt/media/image89.svg?ContentType=image/svg+xml">
        <DigestMethod Algorithm="http://www.w3.org/2001/04/xmldsig-more#sha384"/>
        <DigestValue>v4ZdgdspIU5mZ2I46QsixlSa1nwb28lWFrK7EOpNw6Picj0aoU4o8//qEV9A629Q</DigestValue>
      </Reference>
      <Reference URI="/ppt/media/image9.png?ContentType=image/png">
        <DigestMethod Algorithm="http://www.w3.org/2001/04/xmldsig-more#sha384"/>
        <DigestValue>KnrUOPrf7CpNgaWBhY9mgj3J66dOgTKjutZPn3EYGZjY1DrcMot6uu/qBFwKhwi/</DigestValue>
      </Reference>
      <Reference URI="/ppt/media/image90.svg?ContentType=image/svg+xml">
        <DigestMethod Algorithm="http://www.w3.org/2001/04/xmldsig-more#sha384"/>
        <DigestValue>URJWm5QL8H5z3806Nw7mO4Lg2wmg3nPrIPcHuVB6mvQSPUBPIDCJi7V+HOnbu2ci</DigestValue>
      </Reference>
      <Reference URI="/ppt/media/image91.svg?ContentType=image/svg+xml">
        <DigestMethod Algorithm="http://www.w3.org/2001/04/xmldsig-more#sha384"/>
        <DigestValue>Rd2sEHzq+I91ewYfgTK+ZY9Ie3A6nwnyF00zxN5vWvmkDHtee2lcqw4TSwVUUlUN</DigestValue>
      </Reference>
      <Reference URI="/ppt/media/image92.svg?ContentType=image/svg+xml">
        <DigestMethod Algorithm="http://www.w3.org/2001/04/xmldsig-more#sha384"/>
        <DigestValue>CwAsfBA/Zd60jwK5VyBIYfBmo5e7CFEMwbORJu1mqcuL6G6M49wPt/k5cXGceSMR</DigestValue>
      </Reference>
      <Reference URI="/ppt/media/image93.svg?ContentType=image/svg+xml">
        <DigestMethod Algorithm="http://www.w3.org/2001/04/xmldsig-more#sha384"/>
        <DigestValue>LiMfp2JB5cn/N6U9DG2zTn7WtpR1hmLznxlSk3yNAmpvQFaqbuj2ur8lKVYBq+WE</DigestValue>
      </Reference>
      <Reference URI="/ppt/media/image94.svg?ContentType=image/svg+xml">
        <DigestMethod Algorithm="http://www.w3.org/2001/04/xmldsig-more#sha384"/>
        <DigestValue>IDbWQhCahtzcdJoz5AeinlQHFXBV+4HuGRehxjF/YgwbO74GTMpcabTdml9HS5j+</DigestValue>
      </Reference>
      <Reference URI="/ppt/media/image95.svg?ContentType=image/svg+xml">
        <DigestMethod Algorithm="http://www.w3.org/2001/04/xmldsig-more#sha384"/>
        <DigestValue>J9te3a/WOCCmCksOXpYhoJtfN7oO6yFUSIaSSCIt5Xf1+Z1ZhCb0ncauPgoTabAd</DigestValue>
      </Reference>
      <Reference URI="/ppt/media/image96.svg?ContentType=image/svg+xml">
        <DigestMethod Algorithm="http://www.w3.org/2001/04/xmldsig-more#sha384"/>
        <DigestValue>WOjdba0kIsm3T2qul3G3vup+Xvg6t9mJU8UNzTZVUg7eYunjm93EstbcVAxtPsJa</DigestValue>
      </Reference>
      <Reference URI="/ppt/media/image97.svg?ContentType=image/svg+xml">
        <DigestMethod Algorithm="http://www.w3.org/2001/04/xmldsig-more#sha384"/>
        <DigestValue>1R2MM3b+X8ZLldmVbQT7KeNAvtnOPbAu3T99UqRiVpNhwsosCFUG15x3GVvrAJXw</DigestValue>
      </Reference>
      <Reference URI="/ppt/media/image98.svg?ContentType=image/svg+xml">
        <DigestMethod Algorithm="http://www.w3.org/2001/04/xmldsig-more#sha384"/>
        <DigestValue>ZtMIRv6Uf7r/q6M7UZVVonHZ6DFNaJwtj5EtV4CmkZDnqRwcnZnCChVeXaobi/9u</DigestValue>
      </Reference>
      <Reference URI="/ppt/media/image99.svg?ContentType=image/svg+xml">
        <DigestMethod Algorithm="http://www.w3.org/2001/04/xmldsig-more#sha384"/>
        <DigestValue>ei9c/bIzsykINY6StR+fD7asbdihv4ZyHVN19mh9uG6ohh+56UWRUNr+PZ958AIH</DigestValue>
      </Reference>
      <Reference URI="/ppt/notesMasters/_rels/notesMaster1.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6GF4njRtqifBZv5m6c5mKZFRlXJ6lHj8DyzDzpU+ANw/HaG5z6hgkqFR9lZjIecB</DigestValue>
      </Reference>
      <Reference URI="/ppt/notesMasters/notesMaster1.xml?ContentType=application/vnd.openxmlformats-officedocument.presentationml.notesMaster+xml">
        <DigestMethod Algorithm="http://www.w3.org/2001/04/xmldsig-more#sha384"/>
        <DigestValue>SpNn4yllyIj6wsVHbumAb2FVMHwKipLW4PFfRIGazYnbyoCr9htprtQBOIixE27Q</DigestValue>
      </Reference>
      <Reference URI="/ppt/notesSlides/_rels/notesSlide1.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j9PXDPB0k/kuMmf7KAqPRlaepRX+KkLxaQf2hoEIHWYEbPvKe0WYJQ+KwuJ+23Nq</DigestValue>
      </Reference>
      <Reference URI="/ppt/notesSlides/_rels/notesSlide10.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cVy/nnOmPPCI7TcnC8Wpx+IBDMxeUGcCJw6m4GEw1axjP724Ux08H2BrH3idkeUw</DigestValue>
      </Reference>
      <Reference URI="/ppt/notesSlides/_rels/notesSlide11.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8lAiY+wZAQIXUoqEievCfMhubX7rISXuwtQ6V4XJwJBhBeATq9Y72ckEzlhJgueC</DigestValue>
      </Reference>
      <Reference URI="/ppt/notesSlides/_rels/notesSlide12.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fXQ7xhU5/xt5rL9XCuTIxGT2MqhI/GA8rsQSjgXSsMf7fBHDN6PNhFij+Dcu/KhL</DigestValue>
      </Reference>
      <Reference URI="/ppt/notesSlides/_rels/notesSlide13.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lBrUXkNur0iJkNc9jkcWTJiPx8MtuCbicigc2nyVlYYxcRwZ34NScV1XiHNTn1eb</DigestValue>
      </Reference>
      <Reference URI="/ppt/notesSlides/_rels/notesSlide1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nwFYP8dldp5G0pODjTKe5pUwMYxTNAsnVxJqTPQH39e6X7B8nIXg05Aznq90FXXx</DigestValue>
      </Reference>
      <Reference URI="/ppt/notesSlides/_rels/notesSlide15.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gc5hmr/STT4aMFiklqrpi5kV/3UjpPhaYQtx67cBYQX9Hk9fJ6mFv/p4h4+cafY3</DigestValue>
      </Reference>
      <Reference URI="/ppt/notesSlides/_rels/notesSlide16.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bccJGoFAUfWMYY8DngzyLOSngaF3lVIUqf+3sdcCJHXHu4qMaORRDXmsiUWO1ESz</DigestValue>
      </Reference>
      <Reference URI="/ppt/notesSlides/_rels/notesSlide17.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thbXP6vSH7lTUPQEXhssBhLO9Eg8JsNq/bnunTGEsRczVgSLp//zK+Oh+fLRnIdD</DigestValue>
      </Reference>
      <Reference URI="/ppt/notesSlides/_rels/notesSlide18.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1pJdBdGb2+D+ZCkDwmmNOLWgFYDphf22r15bSXBIVAOXSOBMBbd6rh6RejtfSn9T</DigestValue>
      </Reference>
      <Reference URI="/ppt/notesSlides/_rels/notesSlide19.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VwBDU8OV+xrq1t3CsphV99x/OFJP7xpzgn6BZKlt9L0c9UmCVnGIreeH3fjl2Ea+</DigestValue>
      </Reference>
      <Reference URI="/ppt/notesSlides/_rels/notesSlide2.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BLp6gGgq8rbL2ERyI7nV+K4j1XQVOe4Op5YWShu62whXyp2Pe/qipjQNd22kTC8k</DigestValue>
      </Reference>
      <Reference URI="/ppt/notesSlides/_rels/notesSlide20.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xaaGmjeg1t4dkXBW309WAjQ3o23GEFlUrQacBZt3s7XCQ9QnMdTtsn6wP03EvJWH</DigestValue>
      </Reference>
      <Reference URI="/ppt/notesSlides/_rels/notesSlide21.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jjspbBKGmLK5Ym8AOIRVldZcoXQcls32UQmfwSJnrjtZtLP24et7E9Bp4vqJEOoo</DigestValue>
      </Reference>
      <Reference URI="/ppt/notesSlides/_rels/notesSlide22.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9tndqiJTxbVE1O2z3IMJgYC9ZhygUSJjMfuV6dpC76Exs8F3ZTBAq4q5b5n/kte0</DigestValue>
      </Reference>
      <Reference URI="/ppt/notesSlides/_rels/notesSlide23.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H8vZXXN4Sz7/eb6nn/yYWujceHfNWfNR8YAINse258Gy44un+miltT8YjXi3D/7r</DigestValue>
      </Reference>
      <Reference URI="/ppt/notesSlides/_rels/notesSlide2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QdxgESdAoIXEliJXdgB2wmvX0DD5f9+UP0M/cJG4oyuko/4faVNWLoKAL+iIlCF3</DigestValue>
      </Reference>
      <Reference URI="/ppt/notesSlides/_rels/notesSlide25.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RXl2T9AOaQZhvFlbbujPKhPzqXW9INPHPBHTSmmCfIP3TmJ66wtrA23Qs0eQvitA</DigestValue>
      </Reference>
      <Reference URI="/ppt/notesSlides/_rels/notesSlide26.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ukU12se/y6jgp1qfMQxu89s2Vrbzy+mRX7yUzMUHhcXKk14wKoCOcsizb+EvIaRL</DigestValue>
      </Reference>
      <Reference URI="/ppt/notesSlides/_rels/notesSlide27.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GnG4FNYswZmyby+hD+kM3oIC7NloWnXiDnk7u1loqU1EGdwA9Ag5N5NngHpbdkF0</DigestValue>
      </Reference>
      <Reference URI="/ppt/notesSlides/_rels/notesSlide28.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VxEjbr0jiqF4lRtz98b8gUfIIKUO8hr2AD/4w56Y5cGFWSAu+FsiLD6V6ZUe1ShD</DigestValue>
      </Reference>
      <Reference URI="/ppt/notesSlides/_rels/notesSlide29.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XdyyGsXVrmlZfHYJK1L97d9/xbBDJhJVD/dUDlkXRBEz9uCpAV00p9wWceAwRCNS</DigestValue>
      </Reference>
      <Reference URI="/ppt/notesSlides/_rels/notesSlide3.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Y+mgDzBrf9DWkkn+flDPjBXl9kasK85u+2TMHfD3nmW4X/J5Sqi4kPRqK5KSA3lo</DigestValue>
      </Reference>
      <Reference URI="/ppt/notesSlides/_rels/notesSlide30.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B7Y+03X1dDRDpgcwluqcH2yE+AUvUF9otPr7pJvxoicxjxhTH9Wgz2rH3ff8XZ1n</DigestValue>
      </Reference>
      <Reference URI="/ppt/notesSlides/_rels/notesSlide31.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rkWIy2YYxAO3o+5o/WK6wCG6kxbJeKsl2A0ly4O91WxHiIdoq3dcTLQ8Dd7oRdK3</DigestValue>
      </Reference>
      <Reference URI="/ppt/notesSlides/_rels/notesSlide32.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MXf8F6A4jlKIseClBxLeIHzt1tZa61cLDw50LonQsQvKDJDEgN9dAKcVlf8RCspE</DigestValue>
      </Reference>
      <Reference URI="/ppt/notesSlides/_rels/notesSlide33.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mxWMbWTJZp97fbG/+TN/R0pt+mxWcVNYobwXtVC0GZkUlOrQUciIn8JrZXBZDDzY</DigestValue>
      </Reference>
      <Reference URI="/ppt/notesSlides/_rels/notesSlide3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SQQmEmzsFVkjv/M9V/MJKMNvskxRy80d8LeVrAjyVOcXmuPYLlusVJxDfqxvjOE8</DigestValue>
      </Reference>
      <Reference URI="/ppt/notesSlides/_rels/notesSlide35.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/sMsNgmuUjCWpk8Ipqcx/O4SxWcVHEwMLmEZkicGH6dz+OQMf7BAt9hMsiNd9Mhd</DigestValue>
      </Reference>
      <Reference URI="/ppt/notesSlides/_rels/notesSlide36.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xroj4ZFNbXKQOKhWNuhaUJjziYVBofJkt3fqS43Y7LgsD4MYyEr4jSV0Ci3k5pRZ</DigestValue>
      </Reference>
      <Reference URI="/ppt/notesSlides/_rels/notesSlide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PQfNK/R1My/CotqNUlNBaMfFqmdbSVtcBX/2CbcqtBrShLPoVFXFYIYG7Tkp5upw</DigestValue>
      </Reference>
      <Reference URI="/ppt/notesSlides/_rels/notesSlide5.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H1GcY+PrErmGBmUw9SRPJ0n63H9DUxDBfhh3sqDjibhp4x+ihL78nc9fGnPUUne3</DigestValue>
      </Reference>
      <Reference URI="/ppt/notesSlides/_rels/notesSlide6.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lcG8pKwIGz0g660FoBxhWQ1P48UX2Y6IxxwOKeUPoewYCC6rGOfT0ZpMmpSlarAw</DigestValue>
      </Reference>
      <Reference URI="/ppt/notesSlides/_rels/notesSlide7.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v3/+sGlBf7PI+6E+0DuibBwKGhG/mK3ZGUKE6/oteAcp8syi3OFWGKvF3EDveLtV</DigestValue>
      </Reference>
      <Reference URI="/ppt/notesSlides/_rels/notesSlide8.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OlHEFSVDKksUQDl4SIuxVd7/TG78THEs6GiIKUaBoNa3lnbiyH85Tqzj9/pm0z28</DigestValue>
      </Reference>
      <Reference URI="/ppt/notesSlides/_rels/notesSlide9.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4r/1/g0jjt/L8YU3+FWn2+Hyan1JOQSANhqfBPSwTIy/vboUFJFleVfPKhTf57kc</DigestValue>
      </Reference>
      <Reference URI="/ppt/notesSlides/notesSlide1.xml?ContentType=application/vnd.openxmlformats-officedocument.presentationml.notesSlide+xml">
        <DigestMethod Algorithm="http://www.w3.org/2001/04/xmldsig-more#sha384"/>
        <DigestValue>7XvJKMJ5lmfy7rIXFwYpByduVKBaJV3qGf0sK/DePAbQM3bKqP9ImXGaLTY4U5zt</DigestValue>
      </Reference>
      <Reference URI="/ppt/notesSlides/notesSlide10.xml?ContentType=application/vnd.openxmlformats-officedocument.presentationml.notesSlide+xml">
        <DigestMethod Algorithm="http://www.w3.org/2001/04/xmldsig-more#sha384"/>
        <DigestValue>Iqrcon1cNbIdE43B7otspuSCzhQlqalLseVzBswjlDHYsyrj5NP+cxbLTZq+c9gg</DigestValue>
      </Reference>
      <Reference URI="/ppt/notesSlides/notesSlide11.xml?ContentType=application/vnd.openxmlformats-officedocument.presentationml.notesSlide+xml">
        <DigestMethod Algorithm="http://www.w3.org/2001/04/xmldsig-more#sha384"/>
        <DigestValue>J89RP4E8ujhBbVuLVPYok1bRnQnn4leI9vPhxMFurbXwXgkudmUBA9a4+TTMoVHm</DigestValue>
      </Reference>
      <Reference URI="/ppt/notesSlides/notesSlide12.xml?ContentType=application/vnd.openxmlformats-officedocument.presentationml.notesSlide+xml">
        <DigestMethod Algorithm="http://www.w3.org/2001/04/xmldsig-more#sha384"/>
        <DigestValue>782p9Os12LT4QMWHjmLBpf08Kpjnk2csr5gsSFBbrs6qKrJY/mHvGHp+NlsW+MNy</DigestValue>
      </Reference>
      <Reference URI="/ppt/notesSlides/notesSlide13.xml?ContentType=application/vnd.openxmlformats-officedocument.presentationml.notesSlide+xml">
        <DigestMethod Algorithm="http://www.w3.org/2001/04/xmldsig-more#sha384"/>
        <DigestValue>Qa892Nrt+3vX9kaJl8su9cMu7BSjT2IZWea3aUH9+u6gdFC4+lZs6kki5SjfjnhN</DigestValue>
      </Reference>
      <Reference URI="/ppt/notesSlides/notesSlide14.xml?ContentType=application/vnd.openxmlformats-officedocument.presentationml.notesSlide+xml">
        <DigestMethod Algorithm="http://www.w3.org/2001/04/xmldsig-more#sha384"/>
        <DigestValue>HmPi7VBS6Gfwlk7bA3OfcY6AYsPGPqMi5v1QGeAUKpC5iPc+8lvQ+c5Ojua7k0d1</DigestValue>
      </Reference>
      <Reference URI="/ppt/notesSlides/notesSlide15.xml?ContentType=application/vnd.openxmlformats-officedocument.presentationml.notesSlide+xml">
        <DigestMethod Algorithm="http://www.w3.org/2001/04/xmldsig-more#sha384"/>
        <DigestValue>omJzRMXGtTGCLGGJobwlBTFlcC77+qmijXGjEYvx9YE59n01lUwCTKMBfOFloAh5</DigestValue>
      </Reference>
      <Reference URI="/ppt/notesSlides/notesSlide16.xml?ContentType=application/vnd.openxmlformats-officedocument.presentationml.notesSlide+xml">
        <DigestMethod Algorithm="http://www.w3.org/2001/04/xmldsig-more#sha384"/>
        <DigestValue>h2Dp9h5OT/pibGa6dQLPzbNI0AfKnedK4+XFdz3cxCa8asU6pVaanv2donF/z9r+</DigestValue>
      </Reference>
      <Reference URI="/ppt/notesSlides/notesSlide17.xml?ContentType=application/vnd.openxmlformats-officedocument.presentationml.notesSlide+xml">
        <DigestMethod Algorithm="http://www.w3.org/2001/04/xmldsig-more#sha384"/>
        <DigestValue>Ot2S64c5ZELEAOjvJoapDHIHlV9ZyRcZO3T0ciug0smTiSzWAKCokzIu1jYfwATA</DigestValue>
      </Reference>
      <Reference URI="/ppt/notesSlides/notesSlide18.xml?ContentType=application/vnd.openxmlformats-officedocument.presentationml.notesSlide+xml">
        <DigestMethod Algorithm="http://www.w3.org/2001/04/xmldsig-more#sha384"/>
        <DigestValue>Ldhfi+BH8BEAJxpLcRYPK9NGJLDQr9VySX+jZtUCNPrVgTEKDSR3YA27EP43MtVm</DigestValue>
      </Reference>
      <Reference URI="/ppt/notesSlides/notesSlide19.xml?ContentType=application/vnd.openxmlformats-officedocument.presentationml.notesSlide+xml">
        <DigestMethod Algorithm="http://www.w3.org/2001/04/xmldsig-more#sha384"/>
        <DigestValue>wsqawcbRDW3CKjZF9EHJNfMv9lUZ634PXW4sNJYKfwjmUCGXZ4JodYFJMUfUrX1/</DigestValue>
      </Reference>
      <Reference URI="/ppt/notesSlides/notesSlide2.xml?ContentType=application/vnd.openxmlformats-officedocument.presentationml.notesSlide+xml">
        <DigestMethod Algorithm="http://www.w3.org/2001/04/xmldsig-more#sha384"/>
        <DigestValue>ypCP/pub5US3Sjaccx7dFgUylfBerTjJcoZcgDf6FTkF16GCE5r1WcTsm55lv+cL</DigestValue>
      </Reference>
      <Reference URI="/ppt/notesSlides/notesSlide20.xml?ContentType=application/vnd.openxmlformats-officedocument.presentationml.notesSlide+xml">
        <DigestMethod Algorithm="http://www.w3.org/2001/04/xmldsig-more#sha384"/>
        <DigestValue>kcCy6u9Zf4Boknoqg7EP5f9Rd6T5hQF+LcuVgblqr5cW9pltw/JTLno5+sAekPMw</DigestValue>
      </Reference>
      <Reference URI="/ppt/notesSlides/notesSlide21.xml?ContentType=application/vnd.openxmlformats-officedocument.presentationml.notesSlide+xml">
        <DigestMethod Algorithm="http://www.w3.org/2001/04/xmldsig-more#sha384"/>
        <DigestValue>LSMJ31IymyNDkD9BKddriK9OJPecT6gNIzrExx+BbeCx1WGiOwfJPgKEo25UpRtU</DigestValue>
      </Reference>
      <Reference URI="/ppt/notesSlides/notesSlide22.xml?ContentType=application/vnd.openxmlformats-officedocument.presentationml.notesSlide+xml">
        <DigestMethod Algorithm="http://www.w3.org/2001/04/xmldsig-more#sha384"/>
        <DigestValue>9quOnSxYo2TI507ZzpODgDk3FBrZKQTxfZnoy1ebHUB58py6eTHS+jo2PgpeP5bh</DigestValue>
      </Reference>
      <Reference URI="/ppt/notesSlides/notesSlide23.xml?ContentType=application/vnd.openxmlformats-officedocument.presentationml.notesSlide+xml">
        <DigestMethod Algorithm="http://www.w3.org/2001/04/xmldsig-more#sha384"/>
        <DigestValue>P8qOXyyQP04fnTPQFW2dDmce6LLo/AsVVpWNddGQgFW8sCvHi+ea2R/a1ITYePc0</DigestValue>
      </Reference>
      <Reference URI="/ppt/notesSlides/notesSlide24.xml?ContentType=application/vnd.openxmlformats-officedocument.presentationml.notesSlide+xml">
        <DigestMethod Algorithm="http://www.w3.org/2001/04/xmldsig-more#sha384"/>
        <DigestValue>cvOByetbZ3IvW9aqA/IkFXV4HzbGcDmxSWbaqnsZuTH7k0KVozvAPvkxitwXl6l3</DigestValue>
      </Reference>
      <Reference URI="/ppt/notesSlides/notesSlide25.xml?ContentType=application/vnd.openxmlformats-officedocument.presentationml.notesSlide+xml">
        <DigestMethod Algorithm="http://www.w3.org/2001/04/xmldsig-more#sha384"/>
        <DigestValue>qlbEzoDZqIvQWc8USs2gS6a0jHWmUoPBMBgdzikzyiqe/QKDjXrtlWSBMG1QyE9a</DigestValue>
      </Reference>
      <Reference URI="/ppt/notesSlides/notesSlide26.xml?ContentType=application/vnd.openxmlformats-officedocument.presentationml.notesSlide+xml">
        <DigestMethod Algorithm="http://www.w3.org/2001/04/xmldsig-more#sha384"/>
        <DigestValue>g6cKTLJmwu1CmuBi1G9Ks8HD27bn0X25czgCP4OEOdVGoPEVTFq+BeOhWVR2BZKE</DigestValue>
      </Reference>
      <Reference URI="/ppt/notesSlides/notesSlide27.xml?ContentType=application/vnd.openxmlformats-officedocument.presentationml.notesSlide+xml">
        <DigestMethod Algorithm="http://www.w3.org/2001/04/xmldsig-more#sha384"/>
        <DigestValue>LCRmWohAyR5epiwxvp6MoqxiMFKf9MjohZVhWl39mCqPNzwC673YMl2b4pibYmPE</DigestValue>
      </Reference>
      <Reference URI="/ppt/notesSlides/notesSlide28.xml?ContentType=application/vnd.openxmlformats-officedocument.presentationml.notesSlide+xml">
        <DigestMethod Algorithm="http://www.w3.org/2001/04/xmldsig-more#sha384"/>
        <DigestValue>VFzzAwmwK+B19r0rhGjV5UdV6YesKgUuaMOX04RNl/t3KRjagqoutpy3ZyiT+Rt1</DigestValue>
      </Reference>
      <Reference URI="/ppt/notesSlides/notesSlide29.xml?ContentType=application/vnd.openxmlformats-officedocument.presentationml.notesSlide+xml">
        <DigestMethod Algorithm="http://www.w3.org/2001/04/xmldsig-more#sha384"/>
        <DigestValue>nZ91qyA1BHjfNtiHFyHQtsiAXbcxT6rUUGmxJQowC4MWMZCCc4ZoG5OxHVGKyyPA</DigestValue>
      </Reference>
      <Reference URI="/ppt/notesSlides/notesSlide3.xml?ContentType=application/vnd.openxmlformats-officedocument.presentationml.notesSlide+xml">
        <DigestMethod Algorithm="http://www.w3.org/2001/04/xmldsig-more#sha384"/>
        <DigestValue>zH3QQlkHJ8QCG47E8TtVwA2AY9CeVi/BuvOJRMClBG9fd6XBYROtpY9L/9vpSILB</DigestValue>
      </Reference>
      <Reference URI="/ppt/notesSlides/notesSlide30.xml?ContentType=application/vnd.openxmlformats-officedocument.presentationml.notesSlide+xml">
        <DigestMethod Algorithm="http://www.w3.org/2001/04/xmldsig-more#sha384"/>
        <DigestValue>ANBvkxYx8J6PqUBRNRtMj9566AFKJIvcLPp+o227G9cIce20GSm47uRRIPHzWt8F</DigestValue>
      </Reference>
      <Reference URI="/ppt/notesSlides/notesSlide31.xml?ContentType=application/vnd.openxmlformats-officedocument.presentationml.notesSlide+xml">
        <DigestMethod Algorithm="http://www.w3.org/2001/04/xmldsig-more#sha384"/>
        <DigestValue>6JnQvSf49oq0da9eCAADQKkkOh083zp1EDtkHc7Gc9L5skS9g9+PbePXJOYGtouk</DigestValue>
      </Reference>
      <Reference URI="/ppt/notesSlides/notesSlide32.xml?ContentType=application/vnd.openxmlformats-officedocument.presentationml.notesSlide+xml">
        <DigestMethod Algorithm="http://www.w3.org/2001/04/xmldsig-more#sha384"/>
        <DigestValue>Im2OG4SEBNrgX5dsNIA1CAYH4DGJRsD5HxEJOBYubCme2YZ8Ftij/Yw9UA9hYbx9</DigestValue>
      </Reference>
      <Reference URI="/ppt/notesSlides/notesSlide33.xml?ContentType=application/vnd.openxmlformats-officedocument.presentationml.notesSlide+xml">
        <DigestMethod Algorithm="http://www.w3.org/2001/04/xmldsig-more#sha384"/>
        <DigestValue>he4yymHO/SdxC3PxotHD+xwSE7u7RCGgAO32YzM2BaQQAsd3LTuKPdnaG49+y4w/</DigestValue>
      </Reference>
      <Reference URI="/ppt/notesSlides/notesSlide34.xml?ContentType=application/vnd.openxmlformats-officedocument.presentationml.notesSlide+xml">
        <DigestMethod Algorithm="http://www.w3.org/2001/04/xmldsig-more#sha384"/>
        <DigestValue>H4OwGuLsREs6Re0ogZu/yTpU77Oekfew7ulQ7z/+rltEuQSN881To6gf8TzmgGR7</DigestValue>
      </Reference>
      <Reference URI="/ppt/notesSlides/notesSlide35.xml?ContentType=application/vnd.openxmlformats-officedocument.presentationml.notesSlide+xml">
        <DigestMethod Algorithm="http://www.w3.org/2001/04/xmldsig-more#sha384"/>
        <DigestValue>QBpgiuVB0fryRwLh+jOWXbDURi1sWp6/ZzjJyh0fycVhROHMpg8r6Cs338gj1Sca</DigestValue>
      </Reference>
      <Reference URI="/ppt/notesSlides/notesSlide36.xml?ContentType=application/vnd.openxmlformats-officedocument.presentationml.notesSlide+xml">
        <DigestMethod Algorithm="http://www.w3.org/2001/04/xmldsig-more#sha384"/>
        <DigestValue>28jmj0/WRG6GgtQUYYQFmJnU4k3CXKdL65Yzc32SmMFJ8lSvXpN3sFuHdJg6cqIm</DigestValue>
      </Reference>
      <Reference URI="/ppt/notesSlides/notesSlide4.xml?ContentType=application/vnd.openxmlformats-officedocument.presentationml.notesSlide+xml">
        <DigestMethod Algorithm="http://www.w3.org/2001/04/xmldsig-more#sha384"/>
        <DigestValue>W/gN6junWJAbVENQHaNyeP9eopTN/FPx3ByKuXBaWT5ZQ+y2Oax2qrkZMx95UMsx</DigestValue>
      </Reference>
      <Reference URI="/ppt/notesSlides/notesSlide5.xml?ContentType=application/vnd.openxmlformats-officedocument.presentationml.notesSlide+xml">
        <DigestMethod Algorithm="http://www.w3.org/2001/04/xmldsig-more#sha384"/>
        <DigestValue>qMYZ8sN8nzayTeKzAWQwNNu3Jd6H35jYOLpUzWW2ZjZQQGCyqtks1X/nDj4Qfqz4</DigestValue>
      </Reference>
      <Reference URI="/ppt/notesSlides/notesSlide6.xml?ContentType=application/vnd.openxmlformats-officedocument.presentationml.notesSlide+xml">
        <DigestMethod Algorithm="http://www.w3.org/2001/04/xmldsig-more#sha384"/>
        <DigestValue>Vo7OXGKfdIB8C6vdmP8vDy60zipIkOwwcxTjDhvrGTuxIab/RWOteJDNmLM/cE4t</DigestValue>
      </Reference>
      <Reference URI="/ppt/notesSlides/notesSlide7.xml?ContentType=application/vnd.openxmlformats-officedocument.presentationml.notesSlide+xml">
        <DigestMethod Algorithm="http://www.w3.org/2001/04/xmldsig-more#sha384"/>
        <DigestValue>UYk/jBkw+g8cYGTFHK4hEJ2BN1GNNS8hc8ORsbSNRnjRQ3p6AA5YmYPGwR29evH/</DigestValue>
      </Reference>
      <Reference URI="/ppt/notesSlides/notesSlide8.xml?ContentType=application/vnd.openxmlformats-officedocument.presentationml.notesSlide+xml">
        <DigestMethod Algorithm="http://www.w3.org/2001/04/xmldsig-more#sha384"/>
        <DigestValue>INuggMJwt0Uf/S3weACzZ041yIbHJIILM1cEZB8+bDSRMSsek4i46ysbZ04AVIAh</DigestValue>
      </Reference>
      <Reference URI="/ppt/notesSlides/notesSlide9.xml?ContentType=application/vnd.openxmlformats-officedocument.presentationml.notesSlide+xml">
        <DigestMethod Algorithm="http://www.w3.org/2001/04/xmldsig-more#sha384"/>
        <DigestValue>0L+qqUtCYLOIAcMPkXl2Fv2mV3chvxu1/IBj07HrbLYd7ID71EMs+fZA7deMFo7g</DigestValue>
      </Reference>
      <Reference URI="/ppt/presentation.xml?ContentType=application/vnd.openxmlformats-officedocument.presentationml.presentation.main+xml">
        <DigestMethod Algorithm="http://www.w3.org/2001/04/xmldsig-more#sha384"/>
        <DigestValue>yKxtdI5QMVrCrHo05tF20b/pTcvyjDVYIjp2vzNPPcuVp3SGUr/ZGcJ2NU/34rEA</DigestValue>
      </Reference>
      <Reference URI="/ppt/presProps.xml?ContentType=application/vnd.openxmlformats-officedocument.presentationml.presProps+xml">
        <DigestMethod Algorithm="http://www.w3.org/2001/04/xmldsig-more#sha384"/>
        <DigestValue>yALQLI7Jlo0OM0ZSuE/sh56/GlaqtntqXesoIIJ4l79OB3AoT7DKsDl3gmrxdRRU</DigestValue>
      </Reference>
      <Reference URI="/ppt/slideLayouts/_rels/slideLayout1.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vXKY0l3kETR8Vc6sgq2XNne1/lKbiPCcvpVE+FibNlzcd0qcGOU3VnRHzlPx0D37</DigestValue>
      </Reference>
      <Reference URI="/ppt/slideLayouts/slideLayout1.xml?ContentType=application/vnd.openxmlformats-officedocument.presentationml.slideLayout+xml">
        <DigestMethod Algorithm="http://www.w3.org/2001/04/xmldsig-more#sha384"/>
        <DigestValue>Ltyf5aPcjBSESphxCtlsk5pOQXHFRmJMMCYzgB18nQAWBXHR3HIkmRiTxoEI4FIF</DigestValue>
      </Reference>
      <Reference URI="/ppt/slideMasters/_rels/slideMaster1.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CXkyue+qYKZjhfLnLsBTc8xNhlXZm3bzjpD8JFAZgsODbKamSR9h0VbJ93A8v1Cn</DigestValue>
      </Reference>
      <Reference URI="/ppt/slideMasters/slideMaster1.xml?ContentType=application/vnd.openxmlformats-officedocument.presentationml.slideMaster+xml">
        <DigestMethod Algorithm="http://www.w3.org/2001/04/xmldsig-more#sha384"/>
        <DigestValue>E2Mc3sdFlIzCIOUFNt20OoHeJ3KAoNj/me7CC2Q6ECgfXamkwFxP6h9glIOeximp</DigestValue>
      </Reference>
      <Reference URI="/ppt/slides/_rels/slide1.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3"/>
          </Transform>
          <Transform Algorithm="http://www.w3.org/TR/2001/REC-xml-c14n-20010315"/>
        </Transforms>
        <DigestMethod Algorithm="http://www.w3.org/2001/04/xmldsig-more#sha384"/>
        <DigestValue>AekNZlT7dwLKxrezUv35Gh2PC0Y+T4yHpEoEmL9lBX5n1V7CvwXOJeZntbohlNNL</DigestValue>
      </Reference>
      <Reference URI="/ppt/slides/_rels/slide10.xml.rels?ContentType=application/vnd.openxmlformats-package.relationships+xml">
        <Transforms>
          <Transform Algorithm="http://schemas.openxmlformats.org/package/2006/RelationshipTransform">
            <mdssi:RelationshipReference xmlns:mdssi="http://schemas.openxmlformats.org/package/2006/digital-signature" SourceId="rId5"/>
            <mdssi:RelationshipReference xmlns:mdssi="http://schemas.openxmlformats.org/package/2006/digital-signature" SourceId="rId10"/>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Transform>
          <Transform Algorithm="http://www.w3.org/TR/2001/REC-xml-c14n-20010315"/>
        </Transforms>
        <DigestMethod Algorithm="http://www.w3.org/2001/04/xmldsig-more#sha384"/>
        <DigestValue>md6C8pEOvbmUbGULT/bc12WNpplmctoqasy0NN4NrL0WfsoETia/FZhLbypZw6a+</DigestValue>
      </Reference>
      <Reference URI="/ppt/slides/_rels/slide11.xml.rels?ContentType=application/vnd.openxmlformats-package.relationships+xml">
        <Transforms>
          <Transform Algorithm="http://schemas.openxmlformats.org/package/2006/RelationshipTransform">
            <mdssi:RelationshipReference xmlns:mdssi="http://schemas.openxmlformats.org/package/2006/digital-signature" SourceId="rId9"/>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11"/>
            <mdssi:RelationshipReference xmlns:mdssi="http://schemas.openxmlformats.org/package/2006/digital-signature" SourceId="rId5"/>
            <mdssi:RelationshipReference xmlns:mdssi="http://schemas.openxmlformats.org/package/2006/digital-signature" SourceId="rId10"/>
            <mdssi:RelationshipReference xmlns:mdssi="http://schemas.openxmlformats.org/package/2006/digital-signature" SourceId="rId4"/>
          </Transform>
          <Transform Algorithm="http://www.w3.org/TR/2001/REC-xml-c14n-20010315"/>
        </Transforms>
        <DigestMethod Algorithm="http://www.w3.org/2001/04/xmldsig-more#sha384"/>
        <DigestValue>RIKdMHexOB3JpPjXGOAwDj35JA3VH4gbpeL7IYjZzDp0nTw3/0F3g07Po+Qct5EB</DigestValue>
      </Reference>
      <Reference URI="/ppt/slides/_rels/slide12.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Transform>
          <Transform Algorithm="http://www.w3.org/TR/2001/REC-xml-c14n-20010315"/>
        </Transforms>
        <DigestMethod Algorithm="http://www.w3.org/2001/04/xmldsig-more#sha384"/>
        <DigestValue>ylo7BHf5PJh4LPpPK82uSMz5QhmD6NF7L7z9jHDNFqWGBBrNSL+yjnuHTPgYPxI1</DigestValue>
      </Reference>
      <Reference URI="/ppt/slides/_rels/slide13.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JWlSKDy22bKqzCtlC9mOE+qffxw2UXQN4tqApoygTWCNfVjbJv1CHBuFh+FdPGRf</DigestValue>
      </Reference>
      <Reference URI="/ppt/slides/_rels/slide14.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JWlSKDy22bKqzCtlC9mOE+qffxw2UXQN4tqApoygTWCNfVjbJv1CHBuFh+FdPGRf</DigestValue>
      </Reference>
      <Reference URI="/ppt/slides/_rels/slide15.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2"/>
          </Transform>
          <Transform Algorithm="http://www.w3.org/TR/2001/REC-xml-c14n-20010315"/>
        </Transforms>
        <DigestMethod Algorithm="http://www.w3.org/2001/04/xmldsig-more#sha384"/>
        <DigestValue>Qf5tqxvF6sGyRATeLZaZhnVFGHVk47plWlCvZE+3dQhmzohGjySQkpitlWM+vGXD</DigestValue>
      </Reference>
      <Reference URI="/ppt/slides/_rels/slide16.xml.rels?ContentType=application/vnd.openxmlformats-package.relationships+xml">
        <Transforms>
          <Transform Algorithm="http://schemas.openxmlformats.org/package/2006/RelationshipTransform">
            <mdssi:RelationshipReference xmlns:mdssi="http://schemas.openxmlformats.org/package/2006/digital-signature" SourceId="rId7"/>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8"/>
            <mdssi:RelationshipReference xmlns:mdssi="http://schemas.openxmlformats.org/package/2006/digital-signature" SourceId="rId3"/>
          </Transform>
          <Transform Algorithm="http://www.w3.org/TR/2001/REC-xml-c14n-20010315"/>
        </Transforms>
        <DigestMethod Algorithm="http://www.w3.org/2001/04/xmldsig-more#sha384"/>
        <DigestValue>KEA7so0qEoCGFkoepDx25F6MMPxejrUgYNgCIzPWL+ChX32XJMfSETDjah4MDaDi</DigestValue>
      </Reference>
      <Reference URI="/ppt/slides/_rels/slide17.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Transform>
          <Transform Algorithm="http://www.w3.org/TR/2001/REC-xml-c14n-20010315"/>
        </Transforms>
        <DigestMethod Algorithm="http://www.w3.org/2001/04/xmldsig-more#sha384"/>
        <DigestValue>wH42XMfA/Krlp2XNntS2joiiZlM+ZMoHqnebdIkWoYrHOd7F+dymL6m7lGERrz5L</DigestValue>
      </Reference>
      <Reference URI="/ppt/slides/_rels/slide18.xml.rels?ContentType=application/vnd.openxmlformats-package.relationships+xml">
        <Transforms>
          <Transform Algorithm="http://schemas.openxmlformats.org/package/2006/RelationshipTransform">
            <mdssi:RelationshipReference xmlns:mdssi="http://schemas.openxmlformats.org/package/2006/digital-signature" SourceId="rId3"/>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DxyLjx/s+E0VFxxp+Xj+Kxp1sNJjsoBagsUKqatLFJErJJgHoZDd5hp3GHl18dxM</DigestValue>
      </Reference>
      <Reference URI="/ppt/slides/_rels/slide19.xml.rels?ContentType=application/vnd.openxmlformats-package.relationships+xml">
        <Transforms>
          <Transform Algorithm="http://schemas.openxmlformats.org/package/2006/RelationshipTransform">
            <mdssi:RelationshipReference xmlns:mdssi="http://schemas.openxmlformats.org/package/2006/digital-signature" SourceId="rId3"/>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5"/>
            <mdssi:RelationshipReference xmlns:mdssi="http://schemas.openxmlformats.org/package/2006/digital-signature" SourceId="rId4"/>
          </Transform>
          <Transform Algorithm="http://www.w3.org/TR/2001/REC-xml-c14n-20010315"/>
        </Transforms>
        <DigestMethod Algorithm="http://www.w3.org/2001/04/xmldsig-more#sha384"/>
        <DigestValue>JVArxphuHPHHQOI7npd8+TnJA43jOMNDXVQNbm8/oD6PrEmV8FnZ0VN8DZqJ0shS</DigestValue>
      </Reference>
      <Reference URI="/ppt/slides/_rels/slide2.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3"/>
            <mdssi:RelationshipReference xmlns:mdssi="http://schemas.openxmlformats.org/package/2006/digital-signature" SourceId="rId2"/>
          </Transform>
          <Transform Algorithm="http://www.w3.org/TR/2001/REC-xml-c14n-20010315"/>
        </Transforms>
        <DigestMethod Algorithm="http://www.w3.org/2001/04/xmldsig-more#sha384"/>
        <DigestValue>k20/vKNE9CvA5ejoCoS4aUwbm6aeQ3TzjDAPW8/8+xCkjSW1zeV2mYu5Db8ple6R</DigestValue>
      </Reference>
      <Reference URI="/ppt/slides/_rels/slide20.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4"/>
            <mdssi:RelationshipReference xmlns:mdssi="http://schemas.openxmlformats.org/package/2006/digital-signature" SourceId="rId3"/>
            <mdssi:RelationshipReference xmlns:mdssi="http://schemas.openxmlformats.org/package/2006/digital-signature" SourceId="rId2"/>
          </Transform>
          <Transform Algorithm="http://www.w3.org/TR/2001/REC-xml-c14n-20010315"/>
        </Transforms>
        <DigestMethod Algorithm="http://www.w3.org/2001/04/xmldsig-more#sha384"/>
        <DigestValue>cLIAR+c1KXyk8AHlgX87MoDF5LmU0FngLs1V+DdPVDAg6JetQcKKKIh8PcyMYacI</DigestValue>
      </Reference>
      <Reference URI="/ppt/slides/_rels/slide21.xml.rels?ContentType=application/vnd.openxmlformats-package.relationships+xml">
        <Transforms>
          <Transform Algorithm="http://schemas.openxmlformats.org/package/2006/RelationshipTransform">
            <mdssi:RelationshipReference xmlns:mdssi="http://schemas.openxmlformats.org/package/2006/digital-signature" SourceId="rId6"/>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3"/>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MvhjDNYSX5vV0tidvjB6cLpqE/YC9LqKF34nSI2sLrpdUDU903mIMPykUWhmbldp</DigestValue>
      </Reference>
      <Reference URI="/ppt/slides/_rels/slide22.xml.rels?ContentType=application/vnd.openxmlformats-package.relationships+xml">
        <Transforms>
          <Transform Algorithm="http://schemas.openxmlformats.org/package/2006/RelationshipTransform">
            <mdssi:RelationshipReference xmlns:mdssi="http://schemas.openxmlformats.org/package/2006/digital-signature" SourceId="rId3"/>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4"/>
          </Transform>
          <Transform Algorithm="http://www.w3.org/TR/2001/REC-xml-c14n-20010315"/>
        </Transforms>
        <DigestMethod Algorithm="http://www.w3.org/2001/04/xmldsig-more#sha384"/>
        <DigestValue>uiPq+Pl9g0aaSjsKkirp5MqJslZ91aNo1JwN26ShAjkfTlmUEOBfdvz5VrKjsPgn</DigestValue>
      </Reference>
      <Reference URI="/ppt/slides/_rels/slide23.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4"/>
            <mdssi:RelationshipReference xmlns:mdssi="http://schemas.openxmlformats.org/package/2006/digital-signature" SourceId="rId3"/>
          </Transform>
          <Transform Algorithm="http://www.w3.org/TR/2001/REC-xml-c14n-20010315"/>
        </Transforms>
        <DigestMethod Algorithm="http://www.w3.org/2001/04/xmldsig-more#sha384"/>
        <DigestValue>E7ydj/4NxN/mu9YltzCA560raIxKnwjLKGD2og3mh33oftfkyoHV6Kv8ejamJtt5</DigestValue>
      </Reference>
      <Reference URI="/ppt/slides/_rels/slide2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4"/>
            <mdssi:RelationshipReference xmlns:mdssi="http://schemas.openxmlformats.org/package/2006/digital-signature" SourceId="rId3"/>
            <mdssi:RelationshipReference xmlns:mdssi="http://schemas.openxmlformats.org/package/2006/digital-signature" SourceId="rId2"/>
          </Transform>
          <Transform Algorithm="http://www.w3.org/TR/2001/REC-xml-c14n-20010315"/>
        </Transforms>
        <DigestMethod Algorithm="http://www.w3.org/2001/04/xmldsig-more#sha384"/>
        <DigestValue>ZockSnBK+WONxSMnGPnugsCdkFsKn/FYDl8oDyWbu7V8/5Nk2GCKIzoTFJ3QSBQC</DigestValue>
      </Reference>
      <Reference URI="/ppt/slides/_rels/slide25.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Transform>
          <Transform Algorithm="http://www.w3.org/TR/2001/REC-xml-c14n-20010315"/>
        </Transforms>
        <DigestMethod Algorithm="http://www.w3.org/2001/04/xmldsig-more#sha384"/>
        <DigestValue>4LmNgPNNqe8N4Lg6eF5f67pVvEB1fMGEcpIVOCshRrP8vi+Vi1uqNnByPN9Q00EE</DigestValue>
      </Reference>
      <Reference URI="/ppt/slides/_rels/slide26.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3"/>
            <mdssi:RelationshipReference xmlns:mdssi="http://schemas.openxmlformats.org/package/2006/digital-signature" SourceId="rId2"/>
          </Transform>
          <Transform Algorithm="http://www.w3.org/TR/2001/REC-xml-c14n-20010315"/>
        </Transforms>
        <DigestMethod Algorithm="http://www.w3.org/2001/04/xmldsig-more#sha384"/>
        <DigestValue>ALBOr6otwuETggC3saG2yJkkZNIHMnbWMHIYsdn/iwdamUWpTcoNKcezPV11sloS</DigestValue>
      </Reference>
      <Reference URI="/ppt/slides/_rels/slide27.xml.rels?ContentType=application/vnd.openxmlformats-package.relationships+xml">
        <Transforms>
          <Transform Algorithm="http://schemas.openxmlformats.org/package/2006/RelationshipTransform">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14"/>
            <mdssi:RelationshipReference xmlns:mdssi="http://schemas.openxmlformats.org/package/2006/digital-signature" SourceId="rId8"/>
            <mdssi:RelationshipReference xmlns:mdssi="http://schemas.openxmlformats.org/package/2006/digital-signature" SourceId="rId13"/>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12"/>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11"/>
            <mdssi:RelationshipReference xmlns:mdssi="http://schemas.openxmlformats.org/package/2006/digital-signature" SourceId="rId5"/>
            <mdssi:RelationshipReference xmlns:mdssi="http://schemas.openxmlformats.org/package/2006/digital-signature" SourceId="rId10"/>
          </Transform>
          <Transform Algorithm="http://www.w3.org/TR/2001/REC-xml-c14n-20010315"/>
        </Transforms>
        <DigestMethod Algorithm="http://www.w3.org/2001/04/xmldsig-more#sha384"/>
        <DigestValue>w9jScQB1o7I3S6Hi1ZdQ9KjnhY8Sfrl8rkuLm0b3PeSuKomD7HsHr3CDOxlTJv41</DigestValue>
      </Reference>
      <Reference URI="/ppt/slides/_rels/slide28.xml.rels?ContentType=application/vnd.openxmlformats-package.relationships+xml">
        <Transforms>
          <Transform Algorithm="http://schemas.openxmlformats.org/package/2006/RelationshipTransform">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3"/>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Transform>
          <Transform Algorithm="http://www.w3.org/TR/2001/REC-xml-c14n-20010315"/>
        </Transforms>
        <DigestMethod Algorithm="http://www.w3.org/2001/04/xmldsig-more#sha384"/>
        <DigestValue>35s4uCDSVY23XrJ/I2a1rGXvN0lZwiqZqzyTeomos+IQH2vqf0ktlrciewARgKfZ</DigestValue>
      </Reference>
      <Reference URI="/ppt/slides/_rels/slide29.xml.rels?ContentType=application/vnd.openxmlformats-package.relationships+xml">
        <Transforms>
          <Transform Algorithm="http://schemas.openxmlformats.org/package/2006/RelationshipTransform">
            <mdssi:RelationshipReference xmlns:mdssi="http://schemas.openxmlformats.org/package/2006/digital-signature" SourceId="rId11"/>
            <mdssi:RelationshipReference xmlns:mdssi="http://schemas.openxmlformats.org/package/2006/digital-signature" SourceId="rId5"/>
            <mdssi:RelationshipReference xmlns:mdssi="http://schemas.openxmlformats.org/package/2006/digital-signature" SourceId="rId10"/>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8"/>
            <mdssi:RelationshipReference xmlns:mdssi="http://schemas.openxmlformats.org/package/2006/digital-signature" SourceId="rId13"/>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12"/>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Transform>
          <Transform Algorithm="http://www.w3.org/TR/2001/REC-xml-c14n-20010315"/>
        </Transforms>
        <DigestMethod Algorithm="http://www.w3.org/2001/04/xmldsig-more#sha384"/>
        <DigestValue>FPG1mHrSM3au+gPzT48yGfmAvNJmxCVNisjrI1m0T+FKGfFtb5/nuDJzTz4Sv0SV</DigestValue>
      </Reference>
      <Reference URI="/ppt/slides/_rels/slide3.xml.rels?ContentType=application/vnd.openxmlformats-package.relationships+xml">
        <Transforms>
          <Transform Algorithm="http://schemas.openxmlformats.org/package/2006/RelationshipTransform">
            <mdssi:RelationshipReference xmlns:mdssi="http://schemas.openxmlformats.org/package/2006/digital-signature" SourceId="rId4"/>
            <mdssi:RelationshipReference xmlns:mdssi="http://schemas.openxmlformats.org/package/2006/digital-signature" SourceId="rId3"/>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5"/>
          </Transform>
          <Transform Algorithm="http://www.w3.org/TR/2001/REC-xml-c14n-20010315"/>
        </Transforms>
        <DigestMethod Algorithm="http://www.w3.org/2001/04/xmldsig-more#sha384"/>
        <DigestValue>qjQKHH6RiDNvxD35QZuJI0WRZXSu4ZtfkrZSxLq6LfEdnnMMFYT9ZRaYEjSg+1O/</DigestValue>
      </Reference>
      <Reference URI="/ppt/slides/_rels/slide30.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Transform>
          <Transform Algorithm="http://www.w3.org/TR/2001/REC-xml-c14n-20010315"/>
        </Transforms>
        <DigestMethod Algorithm="http://www.w3.org/2001/04/xmldsig-more#sha384"/>
        <DigestValue>6hq5waEg/bW92c3RgXSG/ahoxTRZuS+eDJCtcFLTZV45gWNZ92UX0OSPj/zZbm1K</DigestValue>
      </Reference>
      <Reference URI="/ppt/slides/_rels/slide31.xml.rels?ContentType=application/vnd.openxmlformats-package.relationships+xml">
        <Transforms>
          <Transform Algorithm="http://schemas.openxmlformats.org/package/2006/RelationshipTransform">
            <mdssi:RelationshipReference xmlns:mdssi="http://schemas.openxmlformats.org/package/2006/digital-signature" SourceId="rId6"/>
            <mdssi:RelationshipReference xmlns:mdssi="http://schemas.openxmlformats.org/package/2006/digital-signature" SourceId="rId11"/>
            <mdssi:RelationshipReference xmlns:mdssi="http://schemas.openxmlformats.org/package/2006/digital-signature" SourceId="rId5"/>
            <mdssi:RelationshipReference xmlns:mdssi="http://schemas.openxmlformats.org/package/2006/digital-signature" SourceId="rId15"/>
            <mdssi:RelationshipReference xmlns:mdssi="http://schemas.openxmlformats.org/package/2006/digital-signature" SourceId="rId10"/>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14"/>
            <mdssi:RelationshipReference xmlns:mdssi="http://schemas.openxmlformats.org/package/2006/digital-signature" SourceId="rId8"/>
            <mdssi:RelationshipReference xmlns:mdssi="http://schemas.openxmlformats.org/package/2006/digital-signature" SourceId="rId13"/>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12"/>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xjCmvipjBTMAkMGjeeVVorW9kTFILN24cRVcZSXxUUzK5g1BktKUMCQr5c0fnbLG</DigestValue>
      </Reference>
      <Reference URI="/ppt/slides/_rels/slide32.xml.rels?ContentType=application/vnd.openxmlformats-package.relationships+xml">
        <Transforms>
          <Transform Algorithm="http://schemas.openxmlformats.org/package/2006/RelationshipTransform">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11"/>
            <mdssi:RelationshipReference xmlns:mdssi="http://schemas.openxmlformats.org/package/2006/digital-signature" SourceId="rId5"/>
            <mdssi:RelationshipReference xmlns:mdssi="http://schemas.openxmlformats.org/package/2006/digital-signature" SourceId="rId10"/>
          </Transform>
          <Transform Algorithm="http://www.w3.org/TR/2001/REC-xml-c14n-20010315"/>
        </Transforms>
        <DigestMethod Algorithm="http://www.w3.org/2001/04/xmldsig-more#sha384"/>
        <DigestValue>LIwRlWMdKhrTA5IN3qxFH2xcaVG7NvG2R/a1hAIJLwHVupzPKp+0/UyNdBoR9wiJ</DigestValue>
      </Reference>
      <Reference URI="/ppt/slides/_rels/slide33.xml.rels?ContentType=application/vnd.openxmlformats-package.relationships+xml">
        <Transforms>
          <Transform Algorithm="http://schemas.openxmlformats.org/package/2006/RelationshipTransform">
            <mdssi:RelationshipReference xmlns:mdssi="http://schemas.openxmlformats.org/package/2006/digital-signature" SourceId="rId9"/>
            <mdssi:RelationshipReference xmlns:mdssi="http://schemas.openxmlformats.org/package/2006/digital-signature" SourceId="rId8"/>
            <mdssi:RelationshipReference xmlns:mdssi="http://schemas.openxmlformats.org/package/2006/digital-signature" SourceId="rId13"/>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12"/>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11"/>
            <mdssi:RelationshipReference xmlns:mdssi="http://schemas.openxmlformats.org/package/2006/digital-signature" SourceId="rId5"/>
            <mdssi:RelationshipReference xmlns:mdssi="http://schemas.openxmlformats.org/package/2006/digital-signature" SourceId="rId10"/>
            <mdssi:RelationshipReference xmlns:mdssi="http://schemas.openxmlformats.org/package/2006/digital-signature" SourceId="rId4"/>
          </Transform>
          <Transform Algorithm="http://www.w3.org/TR/2001/REC-xml-c14n-20010315"/>
        </Transforms>
        <DigestMethod Algorithm="http://www.w3.org/2001/04/xmldsig-more#sha384"/>
        <DigestValue>zTT4AGvXkpP4lWGn6PE6jTwWuorSpiGY//SNQDUX/sNdu++B3atxLbwf5v28oLf2</DigestValue>
      </Reference>
      <Reference URI="/ppt/slides/_rels/slide3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2"/>
          </Transform>
          <Transform Algorithm="http://www.w3.org/TR/2001/REC-xml-c14n-20010315"/>
        </Transforms>
        <DigestMethod Algorithm="http://www.w3.org/2001/04/xmldsig-more#sha384"/>
        <DigestValue>O0CaeuYpcnDVvss1s3AxQAMfnbVK2Xb1fyOuOibmwMyPkoOfD/FeLWZz4l4reiDg</DigestValue>
      </Reference>
      <Reference URI="/ppt/slides/_rels/slide35.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JWlSKDy22bKqzCtlC9mOE+qffxw2UXQN4tqApoygTWCNfVjbJv1CHBuFh+FdPGRf</DigestValue>
      </Reference>
      <Reference URI="/ppt/slides/_rels/slide36.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JWlSKDy22bKqzCtlC9mOE+qffxw2UXQN4tqApoygTWCNfVjbJv1CHBuFh+FdPGRf</DigestValue>
      </Reference>
      <Reference URI="/ppt/slides/_rels/slide37.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JWlSKDy22bKqzCtlC9mOE+qffxw2UXQN4tqApoygTWCNfVjbJv1CHBuFh+FdPGRf</DigestValue>
      </Reference>
      <Reference URI="/ppt/slides/_rels/slide38.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JWlSKDy22bKqzCtlC9mOE+qffxw2UXQN4tqApoygTWCNfVjbJv1CHBuFh+FdPGRf</DigestValue>
      </Reference>
      <Reference URI="/ppt/slides/_rels/slide39.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11"/>
            <mdssi:RelationshipReference xmlns:mdssi="http://schemas.openxmlformats.org/package/2006/digital-signature" SourceId="rId5"/>
            <mdssi:RelationshipReference xmlns:mdssi="http://schemas.openxmlformats.org/package/2006/digital-signature" SourceId="rId10"/>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8"/>
            <mdssi:RelationshipReference xmlns:mdssi="http://schemas.openxmlformats.org/package/2006/digital-signature" SourceId="rId13"/>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12"/>
          </Transform>
          <Transform Algorithm="http://www.w3.org/TR/2001/REC-xml-c14n-20010315"/>
        </Transforms>
        <DigestMethod Algorithm="http://www.w3.org/2001/04/xmldsig-more#sha384"/>
        <DigestValue>66sK/VLlAfBen+mSIAtpzOdoqz9L2R8eUgfd3el6z3WaBhD42+Jd4S/I1TQdA3Rz</DigestValue>
      </Reference>
      <Reference URI="/ppt/slides/_rels/slide4.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JWlSKDy22bKqzCtlC9mOE+qffxw2UXQN4tqApoygTWCNfVjbJv1CHBuFh+FdPGRf</DigestValue>
      </Reference>
      <Reference URI="/ppt/slides/_rels/slide40.xml.rels?ContentType=application/vnd.openxmlformats-package.relationships+xml">
        <Transforms>
          <Transform Algorithm="http://schemas.openxmlformats.org/package/2006/RelationshipTransform">
            <mdssi:RelationshipReference xmlns:mdssi="http://schemas.openxmlformats.org/package/2006/digital-signature" SourceId="rId1"/>
          </Transform>
          <Transform Algorithm="http://www.w3.org/TR/2001/REC-xml-c14n-20010315"/>
        </Transforms>
        <DigestMethod Algorithm="http://www.w3.org/2001/04/xmldsig-more#sha384"/>
        <DigestValue>JWlSKDy22bKqzCtlC9mOE+qffxw2UXQN4tqApoygTWCNfVjbJv1CHBuFh+FdPGRf</DigestValue>
      </Reference>
      <Reference URI="/ppt/slides/_rels/slide41.xml.rels?ContentType=application/vnd.openxmlformats-package.relationships+xml">
        <Transforms>
          <Transform Algorithm="http://schemas.openxmlformats.org/package/2006/RelationshipTransform">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12"/>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11"/>
            <mdssi:RelationshipReference xmlns:mdssi="http://schemas.openxmlformats.org/package/2006/digital-signature" SourceId="rId5"/>
            <mdssi:RelationshipReference xmlns:mdssi="http://schemas.openxmlformats.org/package/2006/digital-signature" SourceId="rId15"/>
            <mdssi:RelationshipReference xmlns:mdssi="http://schemas.openxmlformats.org/package/2006/digital-signature" SourceId="rId10"/>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14"/>
            <mdssi:RelationshipReference xmlns:mdssi="http://schemas.openxmlformats.org/package/2006/digital-signature" SourceId="rId8"/>
            <mdssi:RelationshipReference xmlns:mdssi="http://schemas.openxmlformats.org/package/2006/digital-signature" SourceId="rId13"/>
          </Transform>
          <Transform Algorithm="http://www.w3.org/TR/2001/REC-xml-c14n-20010315"/>
        </Transforms>
        <DigestMethod Algorithm="http://www.w3.org/2001/04/xmldsig-more#sha384"/>
        <DigestValue>+2pepHyprkZ71AP2n8K+t2aSUIK+IM21pHJwZqPQmIZLnNyHg4jIMIDBQQ2cFtT8</DigestValue>
      </Reference>
      <Reference URI="/ppt/slides/_rels/slide42.xml.rels?ContentType=application/vnd.openxmlformats-package.relationships+xml">
        <Transforms>
          <Transform Algorithm="http://schemas.openxmlformats.org/package/2006/RelationshipTransform">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Transform>
          <Transform Algorithm="http://www.w3.org/TR/2001/REC-xml-c14n-20010315"/>
        </Transforms>
        <DigestMethod Algorithm="http://www.w3.org/2001/04/xmldsig-more#sha384"/>
        <DigestValue>mR1yDJxtmLTvv4GnAWejuB1UvByGJ/AcTYJROy0GtYaEffcmxwhBRzCddZItMWOd</DigestValue>
      </Reference>
      <Reference URI="/ppt/slides/_rels/slide43.xml.rels?ContentType=application/vnd.openxmlformats-package.relationships+xml">
        <Transforms>
          <Transform Algorithm="http://schemas.openxmlformats.org/package/2006/RelationshipTransform">
            <mdssi:RelationshipReference xmlns:mdssi="http://schemas.openxmlformats.org/package/2006/digital-signature" SourceId="rId4"/>
            <mdssi:RelationshipReference xmlns:mdssi="http://schemas.openxmlformats.org/package/2006/digital-signature" SourceId="rId9"/>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Transform>
          <Transform Algorithm="http://www.w3.org/TR/2001/REC-xml-c14n-20010315"/>
        </Transforms>
        <DigestMethod Algorithm="http://www.w3.org/2001/04/xmldsig-more#sha384"/>
        <DigestValue>ETYWnlPnF/QqP198ZVbUhy0JQpzTWdvhH/D/pwutwQ+TapjXaOepxGn/gD7FZjtM</DigestValue>
      </Reference>
      <Reference URI="/ppt/slides/_rels/slide44.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3"/>
            <mdssi:RelationshipReference xmlns:mdssi="http://schemas.openxmlformats.org/package/2006/digital-signature" SourceId="rId2"/>
          </Transform>
          <Transform Algorithm="http://www.w3.org/TR/2001/REC-xml-c14n-20010315"/>
        </Transforms>
        <DigestMethod Algorithm="http://www.w3.org/2001/04/xmldsig-more#sha384"/>
        <DigestValue>A1zUybiRJgbwiFi5F8iKmmVL150uMi4cK7JVYx3gt1z+DGOBVsoLhjpRxwQGJueP</DigestValue>
      </Reference>
      <Reference URI="/ppt/slides/_rels/slide45.xml.rels?ContentType=application/vnd.openxmlformats-package.relationships+xml">
        <Transforms>
          <Transform Algorithm="http://schemas.openxmlformats.org/package/2006/RelationshipTransform">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11"/>
            <mdssi:RelationshipReference xmlns:mdssi="http://schemas.openxmlformats.org/package/2006/digital-signature" SourceId="rId5"/>
            <mdssi:RelationshipReference xmlns:mdssi="http://schemas.openxmlformats.org/package/2006/digital-signature" SourceId="rId10"/>
            <mdssi:RelationshipReference xmlns:mdssi="http://schemas.openxmlformats.org/package/2006/digital-signature" SourceId="rId4"/>
            <mdssi:RelationshipReference xmlns:mdssi="http://schemas.openxmlformats.org/package/2006/digital-signature" SourceId="rId9"/>
          </Transform>
          <Transform Algorithm="http://www.w3.org/TR/2001/REC-xml-c14n-20010315"/>
        </Transforms>
        <DigestMethod Algorithm="http://www.w3.org/2001/04/xmldsig-more#sha384"/>
        <DigestValue>hGKIILg3lXBCTGdVLNxekI1o5obpYrjSHVbm+j0W2sl18BZHaFekv0/R9eBZBi8l</DigestValue>
      </Reference>
      <Reference URI="/ppt/slides/_rels/slide46.xml.rels?ContentType=application/vnd.openxmlformats-package.relationships+xml">
        <Transforms>
          <Transform Algorithm="http://schemas.openxmlformats.org/package/2006/RelationshipTransform">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3"/>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Transform>
          <Transform Algorithm="http://www.w3.org/TR/2001/REC-xml-c14n-20010315"/>
        </Transforms>
        <DigestMethod Algorithm="http://www.w3.org/2001/04/xmldsig-more#sha384"/>
        <DigestValue>u7CrCqo9ruv+/l7OkITJzC9OyPc1Yw/8Z4HFN8DDReuFcMxhg9zaqunde9u543vS</DigestValue>
      </Reference>
      <Reference URI="/ppt/slides/_rels/slide5.xml.rels?ContentType=application/vnd.openxmlformats-package.relationships+xml">
        <Transforms>
          <Transform Algorithm="http://schemas.openxmlformats.org/package/2006/RelationshipTransform">
            <mdssi:RelationshipReference xmlns:mdssi="http://schemas.openxmlformats.org/package/2006/digital-signature" SourceId="rId4"/>
            <mdssi:RelationshipReference xmlns:mdssi="http://schemas.openxmlformats.org/package/2006/digital-signature" SourceId="rId3"/>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Transform>
          <Transform Algorithm="http://www.w3.org/TR/2001/REC-xml-c14n-20010315"/>
        </Transforms>
        <DigestMethod Algorithm="http://www.w3.org/2001/04/xmldsig-more#sha384"/>
        <DigestValue>ddKa2juqHBQ8lyloh/2mi/13FIkvvmP7WTaIPGBejzd722+sIw0urcJK0I+URjZ7</DigestValue>
      </Reference>
      <Reference URI="/ppt/slides/_rels/slide6.xml.rels?ContentType=application/vnd.openxmlformats-package.relationships+xml">
        <Transforms>
          <Transform Algorithm="http://schemas.openxmlformats.org/package/2006/RelationshipTransform">
            <mdssi:RelationshipReference xmlns:mdssi="http://schemas.openxmlformats.org/package/2006/digital-signature" SourceId="rId8"/>
            <mdssi:RelationshipReference xmlns:mdssi="http://schemas.openxmlformats.org/package/2006/digital-signature" SourceId="rId3"/>
            <mdssi:RelationshipReference xmlns:mdssi="http://schemas.openxmlformats.org/package/2006/digital-signature" SourceId="rId7"/>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mdssi:RelationshipReference xmlns:mdssi="http://schemas.openxmlformats.org/package/2006/digital-signature" SourceId="rId4"/>
          </Transform>
          <Transform Algorithm="http://www.w3.org/TR/2001/REC-xml-c14n-20010315"/>
        </Transforms>
        <DigestMethod Algorithm="http://www.w3.org/2001/04/xmldsig-more#sha384"/>
        <DigestValue>hKbIeM8sx7CxVCJszNulAGAyXrYj5TgvIsnNU28nyCCpbNjmlfTxrjM15V9Oz1no</DigestValue>
      </Reference>
      <Reference URI="/ppt/slides/_rels/slide7.xml.rels?ContentType=application/vnd.openxmlformats-package.relationships+xml">
        <Transforms>
          <Transform Algorithm="http://schemas.openxmlformats.org/package/2006/RelationshipTransform">
            <mdssi:RelationshipReference xmlns:mdssi="http://schemas.openxmlformats.org/package/2006/digital-signature" SourceId="rId2"/>
            <mdssi:RelationshipReference xmlns:mdssi="http://schemas.openxmlformats.org/package/2006/digital-signature" SourceId="rId1"/>
            <mdssi:RelationshipReference xmlns:mdssi="http://schemas.openxmlformats.org/package/2006/digital-signature" SourceId="rId6"/>
            <mdssi:RelationshipReference xmlns:mdssi="http://schemas.openxmlformats.org/package/2006/digital-signature" SourceId="rId5"/>
            <mdssi:RelationshipReference xmlns:mdssi="http://schemas.openxmlformats.org/package/2006/digital-signature" SourceId="rId4"/>
            <mdssi:RelationshipReference xmlns:mdssi="http://schemas.openxmlformats.org/package/2006/digital-signature" SourceId="rId3"/>
          </Transform>
          <Transform Algorithm="http://www.w3.org/TR/2001/REC-xml-c14n-20010315"/>
        </Transforms>
        <DigestMethod Algorithm="http://www.w3.org/2001/04/xmldsig-more#sha384"/>
        <DigestValue>dt58J/I41ZnATAT22I2Dpf4X2FAKX1AYpqgLUuWhQbNHH8mh39qAZxXymT/j04VS</DigestValue>
      </Reference>
      <Reference URI="/ppt/slides/_rels/slide8.xml.rels?ContentType=application/vnd.openxmlformats-package.relationships+xml">
        <Transforms>
          <Transform Algorithm="http://schemas.openxmlformats.org/package/2006/RelationshipTransform">
            <mdssi:RelationshipReference xmlns:mdssi="http://schemas.openxmlformats.org/package/2006/digital-signature" SourceId="rId1"/>
            <mdssi:RelationshipReference xmlns:mdssi="http://schemas.openxmlformats.org/package/2006/digital-signature" SourceId="rId3"/>
            <mdssi:RelationshipReference xmlns:mdssi="http://schemas.openxmlformats.org/package/2006/digital-signature" SourceId="rId2"/>
          </Transform>
          <Transform Algorithm="http://www.w3.org/TR/2001/REC-xml-c14n-20010315"/>
        </Transforms>
        <DigestMethod Algorithm="http://www.w3.org/2001/04/xmldsig-more#sha384"/>
        <DigestValue>WFoOFA82dvJ53UxYxPg8pdjtiZFUoHgpckoZgkcKAY92VDoLVtOkLhIlI5Hq1g4j</DigestValue>
      </Reference>
      <Reference URI="/ppt/slides/_rels/slide9.xml.rels?ContentType=application/vnd.openxmlformats-package.relationships+xml">
        <Transforms>
          <Transform Algorithm="http://schemas.openxmlformats.org/package/2006/RelationshipTransform">
            <mdssi:RelationshipReference xmlns:mdssi="http://schemas.openxmlformats.org/package/2006/digital-signature" SourceId="rId3"/>
            <mdssi:RelationshipReference xmlns:mdssi="http://schemas.openxmlformats.org/package/2006/digital-signature" SourceId="rId2"/>
            <mdssi:RelationshipReference xmlns:mdssi="http://schemas.openxmlformats.org/package/2006/digital-signature" SourceId="rId1"/>
          </Transform>
          <Transform Algorithm="http://www.w3.org/TR/2001/REC-xml-c14n-20010315"/>
        </Transforms>
        <DigestMethod Algorithm="http://www.w3.org/2001/04/xmldsig-more#sha384"/>
        <DigestValue>H8R5sqgIPic2ECe5eKTNNrNafvJSFVy+52bA/QCk1xlmNzTnBibLBH58b1BCmYzO</DigestValue>
      </Reference>
      <Reference URI="/ppt/slides/slide1.xml?ContentType=application/vnd.openxmlformats-officedocument.presentationml.slide+xml">
        <DigestMethod Algorithm="http://www.w3.org/2001/04/xmldsig-more#sha384"/>
        <DigestValue>j1sG9xmrvLW5yzHfv2IIa4cnH9XQL701YW8+3ZUW0X/QbH+jz7s85YXE0C3E3m3j</DigestValue>
      </Reference>
      <Reference URI="/ppt/slides/slide10.xml?ContentType=application/vnd.openxmlformats-officedocument.presentationml.slide+xml">
        <DigestMethod Algorithm="http://www.w3.org/2001/04/xmldsig-more#sha384"/>
        <DigestValue>U9xzFftnPmz0EeOzhTjiA+vTOWMrbLKSrf8z4ItaCa9NPjYLxWr17kLIHPvsRET+</DigestValue>
      </Reference>
      <Reference URI="/ppt/slides/slide11.xml?ContentType=application/vnd.openxmlformats-officedocument.presentationml.slide+xml">
        <DigestMethod Algorithm="http://www.w3.org/2001/04/xmldsig-more#sha384"/>
        <DigestValue>bevu2IffqDrl5DcAFcg2JRAUleXVtKY6LuimuW3+hk1+DxTX32OJOy9aEaB0jKA5</DigestValue>
      </Reference>
      <Reference URI="/ppt/slides/slide12.xml?ContentType=application/vnd.openxmlformats-officedocument.presentationml.slide+xml">
        <DigestMethod Algorithm="http://www.w3.org/2001/04/xmldsig-more#sha384"/>
        <DigestValue>ImSy1xkzJ4j67xWIygnAVBUyXgbODytl+bY5aJrJWejwqwqEw6OR0E5XxHYGNIAn</DigestValue>
      </Reference>
      <Reference URI="/ppt/slides/slide13.xml?ContentType=application/vnd.openxmlformats-officedocument.presentationml.slide+xml">
        <DigestMethod Algorithm="http://www.w3.org/2001/04/xmldsig-more#sha384"/>
        <DigestValue>c1NDOBjekrxpm86tzoI8pAxxSWUK+dzDFPwktqTRcWE0s1HQQche1r2kaVM2Bw1u</DigestValue>
      </Reference>
      <Reference URI="/ppt/slides/slide14.xml?ContentType=application/vnd.openxmlformats-officedocument.presentationml.slide+xml">
        <DigestMethod Algorithm="http://www.w3.org/2001/04/xmldsig-more#sha384"/>
        <DigestValue>F4iu5Oorj+Y36SGvPxfsGt6yEFL2LmHM/9fXHQrENmiwbATAWHpq30s6GTY1kkgy</DigestValue>
      </Reference>
      <Reference URI="/ppt/slides/slide15.xml?ContentType=application/vnd.openxmlformats-officedocument.presentationml.slide+xml">
        <DigestMethod Algorithm="http://www.w3.org/2001/04/xmldsig-more#sha384"/>
        <DigestValue>Z5niQGzo72TjVJoLhBxnkDtoWx/4JUukq/1TRBrU6yLOkIFlkZolb/dOUmCwj3Yz</DigestValue>
      </Reference>
      <Reference URI="/ppt/slides/slide16.xml?ContentType=application/vnd.openxmlformats-officedocument.presentationml.slide+xml">
        <DigestMethod Algorithm="http://www.w3.org/2001/04/xmldsig-more#sha384"/>
        <DigestValue>+rKNzAikfCxqwK6fghBBxFLJQohYrgvHVlfc1P0jPARssabUiCaXlEPuEIZYruH5</DigestValue>
      </Reference>
      <Reference URI="/ppt/slides/slide17.xml?ContentType=application/vnd.openxmlformats-officedocument.presentationml.slide+xml">
        <DigestMethod Algorithm="http://www.w3.org/2001/04/xmldsig-more#sha384"/>
        <DigestValue>g7Kz60mQdUsgyGz/Yc5IKGZHMUVQIK9K+5BuEiPLGCpb2xBKvkSmu62Nut/pW9Yr</DigestValue>
      </Reference>
      <Reference URI="/ppt/slides/slide18.xml?ContentType=application/vnd.openxmlformats-officedocument.presentationml.slide+xml">
        <DigestMethod Algorithm="http://www.w3.org/2001/04/xmldsig-more#sha384"/>
        <DigestValue>mW6a5PxKbuzM8ohFIWgaJ6GaB0r+G5GLlCr8vi8MrwFghVeGTZf+r0iQiHuwS5Pz</DigestValue>
      </Reference>
      <Reference URI="/ppt/slides/slide19.xml?ContentType=application/vnd.openxmlformats-officedocument.presentationml.slide+xml">
        <DigestMethod Algorithm="http://www.w3.org/2001/04/xmldsig-more#sha384"/>
        <DigestValue>mE7QKfULY8oPkMCOyxsRRZdWoTItVks/m4HGCMlRz8vhUq270vyRkym3+vIxR/5s</DigestValue>
      </Reference>
      <Reference URI="/ppt/slides/slide2.xml?ContentType=application/vnd.openxmlformats-officedocument.presentationml.slide+xml">
        <DigestMethod Algorithm="http://www.w3.org/2001/04/xmldsig-more#sha384"/>
        <DigestValue>f7Wx20MO8NDtQ3t2eXBd340MvzBG2M8ZQKD9LmG14HnFanbnHmyCX0ouh5KL+Xvk</DigestValue>
      </Reference>
      <Reference URI="/ppt/slides/slide20.xml?ContentType=application/vnd.openxmlformats-officedocument.presentationml.slide+xml">
        <DigestMethod Algorithm="http://www.w3.org/2001/04/xmldsig-more#sha384"/>
        <DigestValue>9GcOji0/zqqtJYFC3M8EhwVClJ1ss9RASXoXWhbWbiHclSy0gH+3xJ7GoJg9GkTB</DigestValue>
      </Reference>
      <Reference URI="/ppt/slides/slide21.xml?ContentType=application/vnd.openxmlformats-officedocument.presentationml.slide+xml">
        <DigestMethod Algorithm="http://www.w3.org/2001/04/xmldsig-more#sha384"/>
        <DigestValue>U9HGZjs4DlHtFSTW9O1cxjSwH9leiLuvnbKSrM3XnrkxiwXlfclhVigu6IMd+nQH</DigestValue>
      </Reference>
      <Reference URI="/ppt/slides/slide22.xml?ContentType=application/vnd.openxmlformats-officedocument.presentationml.slide+xml">
        <DigestMethod Algorithm="http://www.w3.org/2001/04/xmldsig-more#sha384"/>
        <DigestValue>DdkM9jUPLzPAGt5iUFm5+zncmZsCbmS6mLJySI1/rlK5k+Rib/TuA6nNPPklbaBW</DigestValue>
      </Reference>
      <Reference URI="/ppt/slides/slide23.xml?ContentType=application/vnd.openxmlformats-officedocument.presentationml.slide+xml">
        <DigestMethod Algorithm="http://www.w3.org/2001/04/xmldsig-more#sha384"/>
        <DigestValue>0ZWK/NnxHthZ/IiSot8LSvhCpOGILs3KR68OU/MmNsm+4Esk05WUvN2W8sCvPn8G</DigestValue>
      </Reference>
      <Reference URI="/ppt/slides/slide24.xml?ContentType=application/vnd.openxmlformats-officedocument.presentationml.slide+xml">
        <DigestMethod Algorithm="http://www.w3.org/2001/04/xmldsig-more#sha384"/>
        <DigestValue>r7uCPJcYi3nq3XwkzTqMpV2FxrsrrLicetFzeSD5BWaNPQEzgr1dFlM8o64idOTE</DigestValue>
      </Reference>
      <Reference URI="/ppt/slides/slide25.xml?ContentType=application/vnd.openxmlformats-officedocument.presentationml.slide+xml">
        <DigestMethod Algorithm="http://www.w3.org/2001/04/xmldsig-more#sha384"/>
        <DigestValue>t42O8eBVGJuY+wfXAVXLkAWY2K/y7kAIEHMzMxIb40f8Je+rP9jfH/MyJUCqgUcc</DigestValue>
      </Reference>
      <Reference URI="/ppt/slides/slide26.xml?ContentType=application/vnd.openxmlformats-officedocument.presentationml.slide+xml">
        <DigestMethod Algorithm="http://www.w3.org/2001/04/xmldsig-more#sha384"/>
        <DigestValue>30Yx6Uw59DcnBDEMpdVdWVRr1Ai4kNv5ZoEKWhyBhJ6kfRyCBJBcuAeTLhKc4zhi</DigestValue>
      </Reference>
      <Reference URI="/ppt/slides/slide27.xml?ContentType=application/vnd.openxmlformats-officedocument.presentationml.slide+xml">
        <DigestMethod Algorithm="http://www.w3.org/2001/04/xmldsig-more#sha384"/>
        <DigestValue>LDZTpFbazQBxPF1DC0oTTuwRFMSYdRBdSYv9+j4Z2cZ7Rrwe1dO5L1Q7ry4pTW9+</DigestValue>
      </Reference>
      <Reference URI="/ppt/slides/slide28.xml?ContentType=application/vnd.openxmlformats-officedocument.presentationml.slide+xml">
        <DigestMethod Algorithm="http://www.w3.org/2001/04/xmldsig-more#sha384"/>
        <DigestValue>DcsiTt9bjHYyrCHikT7bRSJFFW+kJRN3Okc/3a6owy3F+hYf8pK0BBBICf15jnNh</DigestValue>
      </Reference>
      <Reference URI="/ppt/slides/slide29.xml?ContentType=application/vnd.openxmlformats-officedocument.presentationml.slide+xml">
        <DigestMethod Algorithm="http://www.w3.org/2001/04/xmldsig-more#sha384"/>
        <DigestValue>bZ+jtkYC0NC5sUoNyhFcQGrBN6Hw7l1TIfH2i7++le5pWQP7Ul43nDd86XJyYzoK</DigestValue>
      </Reference>
      <Reference URI="/ppt/slides/slide3.xml?ContentType=application/vnd.openxmlformats-officedocument.presentationml.slide+xml">
        <DigestMethod Algorithm="http://www.w3.org/2001/04/xmldsig-more#sha384"/>
        <DigestValue>M+brVF6tgIZG/fvxT/Yen1YLoSf6X09x7ZPU/C+I7pmkilVMATeiwiKaQPizYEM2</DigestValue>
      </Reference>
      <Reference URI="/ppt/slides/slide30.xml?ContentType=application/vnd.openxmlformats-officedocument.presentationml.slide+xml">
        <DigestMethod Algorithm="http://www.w3.org/2001/04/xmldsig-more#sha384"/>
        <DigestValue>nbNMisH0A7YukOns91AaKX0U51heo3A05JIXV1JJU3qUYtd06Vu67wuKxnIExYR8</DigestValue>
      </Reference>
      <Reference URI="/ppt/slides/slide31.xml?ContentType=application/vnd.openxmlformats-officedocument.presentationml.slide+xml">
        <DigestMethod Algorithm="http://www.w3.org/2001/04/xmldsig-more#sha384"/>
        <DigestValue>BWeNchM12auE4zU8FP2yxrZq4KVPmNUA3TxyGIy7ke6tltWGy7l2GWfwUrYbYCuy</DigestValue>
      </Reference>
      <Reference URI="/ppt/slides/slide32.xml?ContentType=application/vnd.openxmlformats-officedocument.presentationml.slide+xml">
        <DigestMethod Algorithm="http://www.w3.org/2001/04/xmldsig-more#sha384"/>
        <DigestValue>FkgtouZ8huYS12eHbjmSPelT2E5krHDPUf0asO9qDaCMCYkQTJpM7n4jad8+WGON</DigestValue>
      </Reference>
      <Reference URI="/ppt/slides/slide33.xml?ContentType=application/vnd.openxmlformats-officedocument.presentationml.slide+xml">
        <DigestMethod Algorithm="http://www.w3.org/2001/04/xmldsig-more#sha384"/>
        <DigestValue>t7FrvR7+vXvT4JWLENMos0mRo7aGpCbt3lH/Q3B+QsotvfGRyjukdPreE0DAw6tg</DigestValue>
      </Reference>
      <Reference URI="/ppt/slides/slide34.xml?ContentType=application/vnd.openxmlformats-officedocument.presentationml.slide+xml">
        <DigestMethod Algorithm="http://www.w3.org/2001/04/xmldsig-more#sha384"/>
        <DigestValue>NdH0/l9OmcwyKm4cx69l76QOS57bjMWilww4xNBk1eOj9tJYdZq1/8CQdM8B8F+B</DigestValue>
      </Reference>
      <Reference URI="/ppt/slides/slide35.xml?ContentType=application/vnd.openxmlformats-officedocument.presentationml.slide+xml">
        <DigestMethod Algorithm="http://www.w3.org/2001/04/xmldsig-more#sha384"/>
        <DigestValue>SdrxaiaJp8QoHHKP/iWPOMUxE/+ffjoJFgA0AVLvSNfOaRZl1c8bLyceGjbtqIAZ</DigestValue>
      </Reference>
      <Reference URI="/ppt/slides/slide36.xml?ContentType=application/vnd.openxmlformats-officedocument.presentationml.slide+xml">
        <DigestMethod Algorithm="http://www.w3.org/2001/04/xmldsig-more#sha384"/>
        <DigestValue>MM36o3qJe6oaZRK43+f2wPBbz51lUeCOEbTtI60qsZCMMFE/z4+ccC0MdZ//GKbq</DigestValue>
      </Reference>
      <Reference URI="/ppt/slides/slide37.xml?ContentType=application/vnd.openxmlformats-officedocument.presentationml.slide+xml">
        <DigestMethod Algorithm="http://www.w3.org/2001/04/xmldsig-more#sha384"/>
        <DigestValue>b6XzO9i6PMRUha/dJH95Sd2Znan+jyI4SvX48p3rGBxV5+ExLz88QrEQqd1NL9BW</DigestValue>
      </Reference>
      <Reference URI="/ppt/slides/slide38.xml?ContentType=application/vnd.openxmlformats-officedocument.presentationml.slide+xml">
        <DigestMethod Algorithm="http://www.w3.org/2001/04/xmldsig-more#sha384"/>
        <DigestValue>FKrKrKphqJ0na+fUobqVhDz123pqPtTlXJbvIC7VCFFdJYQazRKgu21WUEhqOQ+U</DigestValue>
      </Reference>
      <Reference URI="/ppt/slides/slide39.xml?ContentType=application/vnd.openxmlformats-officedocument.presentationml.slide+xml">
        <DigestMethod Algorithm="http://www.w3.org/2001/04/xmldsig-more#sha384"/>
        <DigestValue>uX4f5GKM4ONrS2DrQX314mxjnufsa3+/ons+uoDy/fSSVP49pER5Uk+yKM6tEFxc</DigestValue>
      </Reference>
      <Reference URI="/ppt/slides/slide4.xml?ContentType=application/vnd.openxmlformats-officedocument.presentationml.slide+xml">
        <DigestMethod Algorithm="http://www.w3.org/2001/04/xmldsig-more#sha384"/>
        <DigestValue>F7tNaVi7eRWJWOMlK9PV4AjUwV6ndp6WTjI2rra11x0dkqtBJbEsrCabZ7fuWnEA</DigestValue>
      </Reference>
      <Reference URI="/ppt/slides/slide40.xml?ContentType=application/vnd.openxmlformats-officedocument.presentationml.slide+xml">
        <DigestMethod Algorithm="http://www.w3.org/2001/04/xmldsig-more#sha384"/>
        <DigestValue>NU1U3bjiliIJeY+v+D4PF+IMFadYG4//wBFgk4jlud5PjM0jhaGnNBttjESRt+0q</DigestValue>
      </Reference>
      <Reference URI="/ppt/slides/slide41.xml?ContentType=application/vnd.openxmlformats-officedocument.presentationml.slide+xml">
        <DigestMethod Algorithm="http://www.w3.org/2001/04/xmldsig-more#sha384"/>
        <DigestValue>eScZ2Fqlh6B37XGrU0/qzBSyOwx8DgcI6+AxzTpvOIVbZCWc7RCUXz+eDPx6va8m</DigestValue>
      </Reference>
      <Reference URI="/ppt/slides/slide42.xml?ContentType=application/vnd.openxmlformats-officedocument.presentationml.slide+xml">
        <DigestMethod Algorithm="http://www.w3.org/2001/04/xmldsig-more#sha384"/>
        <DigestValue>kgp1ieBkRR5+JQEnB11DhRyFI3fLdmkIWOdPyGL2XGA8+M2dj1m9ASYQKIQr9mpB</DigestValue>
      </Reference>
      <Reference URI="/ppt/slides/slide43.xml?ContentType=application/vnd.openxmlformats-officedocument.presentationml.slide+xml">
        <DigestMethod Algorithm="http://www.w3.org/2001/04/xmldsig-more#sha384"/>
        <DigestValue>MDm1jyP/yadLumo5EoJpM0kTi2+zvaujuH+IWl9VV8kS10loAXYpWd6tMslkm3Hr</DigestValue>
      </Reference>
      <Reference URI="/ppt/slides/slide44.xml?ContentType=application/vnd.openxmlformats-officedocument.presentationml.slide+xml">
        <DigestMethod Algorithm="http://www.w3.org/2001/04/xmldsig-more#sha384"/>
        <DigestValue>3F+JeWGg29YPiuWmCe0iucjSUVfXgzjhgl75ti8aCGCMpBME1QHbMH2Hn93m1Jh/</DigestValue>
      </Reference>
      <Reference URI="/ppt/slides/slide45.xml?ContentType=application/vnd.openxmlformats-officedocument.presentationml.slide+xml">
        <DigestMethod Algorithm="http://www.w3.org/2001/04/xmldsig-more#sha384"/>
        <DigestValue>A0rPeDmxSeBOst+3+GZrad+dH5ONDrijykavBUVqNbMW1MOyTKFZou3dm5GiCrR+</DigestValue>
      </Reference>
      <Reference URI="/ppt/slides/slide46.xml?ContentType=application/vnd.openxmlformats-officedocument.presentationml.slide+xml">
        <DigestMethod Algorithm="http://www.w3.org/2001/04/xmldsig-more#sha384"/>
        <DigestValue>hKBsrOWu+wfkT8Xvk0uNN29WSagnMVU+fZC8xsLZt6kkGf4seEEAt2pK9s0ro2NI</DigestValue>
      </Reference>
      <Reference URI="/ppt/slides/slide5.xml?ContentType=application/vnd.openxmlformats-officedocument.presentationml.slide+xml">
        <DigestMethod Algorithm="http://www.w3.org/2001/04/xmldsig-more#sha384"/>
        <DigestValue>QveaPO/7s+7536eavstKiM1DOHHkT1LxV5eWwM5lUyKmdPaqbk7+xuyc5Zmlt4jy</DigestValue>
      </Reference>
      <Reference URI="/ppt/slides/slide6.xml?ContentType=application/vnd.openxmlformats-officedocument.presentationml.slide+xml">
        <DigestMethod Algorithm="http://www.w3.org/2001/04/xmldsig-more#sha384"/>
        <DigestValue>Lcyn5c5kZhXGtrntz11xe22psr1AsevEP5hT4Yq7w/4RdNWbEF/l4y82WGhFOk+z</DigestValue>
      </Reference>
      <Reference URI="/ppt/slides/slide7.xml?ContentType=application/vnd.openxmlformats-officedocument.presentationml.slide+xml">
        <DigestMethod Algorithm="http://www.w3.org/2001/04/xmldsig-more#sha384"/>
        <DigestValue>AJptPzh2BCwOzmomNWNkVAByKZ8zL+9/4YkQ6FcfFvo8azReIyZj+f5ALnjFDei7</DigestValue>
      </Reference>
      <Reference URI="/ppt/slides/slide8.xml?ContentType=application/vnd.openxmlformats-officedocument.presentationml.slide+xml">
        <DigestMethod Algorithm="http://www.w3.org/2001/04/xmldsig-more#sha384"/>
        <DigestValue>yWAxcJF0ODnkPgY8MyMQp9nB4Fs5f9mZKrx/u2AlPxPznS5vOu7DibaQ8sv3BDsa</DigestValue>
      </Reference>
      <Reference URI="/ppt/slides/slide9.xml?ContentType=application/vnd.openxmlformats-officedocument.presentationml.slide+xml">
        <DigestMethod Algorithm="http://www.w3.org/2001/04/xmldsig-more#sha384"/>
        <DigestValue>i6G2p3vzaVaA6dSkDIWRkDNm3sDqumn9O4uGmPdzKmjpAI2OT0EeLBHdD2JX2Ghj</DigestValue>
      </Reference>
      <Reference URI="/ppt/tableStyles.xml?ContentType=application/vnd.openxmlformats-officedocument.presentationml.tableStyles+xml">
        <DigestMethod Algorithm="http://www.w3.org/2001/04/xmldsig-more#sha384"/>
        <DigestValue>gDZ57DxKyqzyv51VHoPJqpRfqFtS6zxVbdP98+ujY8s0/T3nOgXPpG6TB4aQ3KFc</DigestValue>
      </Reference>
      <Reference URI="/ppt/theme/theme1.xml?ContentType=application/vnd.openxmlformats-officedocument.theme+xml">
        <DigestMethod Algorithm="http://www.w3.org/2001/04/xmldsig-more#sha384"/>
        <DigestValue>Z62kSY+e7jxlM6KhKalrM33QajZ7iRJLkuWN5Q06PKpm9rc83CQLmVP+hEPon+tU</DigestValue>
      </Reference>
      <Reference URI="/ppt/theme/theme2.xml?ContentType=application/vnd.openxmlformats-officedocument.theme+xml">
        <DigestMethod Algorithm="http://www.w3.org/2001/04/xmldsig-more#sha384"/>
        <DigestValue>5fyvm08K8qY5JtGJUGAbHyz3/qpE7xqX9FSgQHoUuzrOUIrXLOmE4DGDNTQ/AMsT</DigestValue>
      </Reference>
      <Reference URI="/ppt/theme/themeOverride1.xml?ContentType=application/vnd.openxmlformats-officedocument.themeOverride+xml">
        <DigestMethod Algorithm="http://www.w3.org/2001/04/xmldsig-more#sha384"/>
        <DigestValue>A0RxEcunjgFDFxr4yfX6cUMhlyaexNCq5dRIcOZAMS5gsKk1mvTeXO+aXUcGxuCD</DigestValue>
      </Reference>
      <Reference URI="/ppt/theme/themeOverride2.xml?ContentType=application/vnd.openxmlformats-officedocument.themeOverride+xml">
        <DigestMethod Algorithm="http://www.w3.org/2001/04/xmldsig-more#sha384"/>
        <DigestValue>A0RxEcunjgFDFxr4yfX6cUMhlyaexNCq5dRIcOZAMS5gsKk1mvTeXO+aXUcGxuCD</DigestValue>
      </Reference>
      <Reference URI="/ppt/theme/themeOverride3.xml?ContentType=application/vnd.openxmlformats-officedocument.themeOverride+xml">
        <DigestMethod Algorithm="http://www.w3.org/2001/04/xmldsig-more#sha384"/>
        <DigestValue>A0RxEcunjgFDFxr4yfX6cUMhlyaexNCq5dRIcOZAMS5gsKk1mvTeXO+aXUcGxuCD</DigestValue>
      </Reference>
      <Reference URI="/ppt/theme/themeOverride4.xml?ContentType=application/vnd.openxmlformats-officedocument.themeOverride+xml">
        <DigestMethod Algorithm="http://www.w3.org/2001/04/xmldsig-more#sha384"/>
        <DigestValue>A0RxEcunjgFDFxr4yfX6cUMhlyaexNCq5dRIcOZAMS5gsKk1mvTeXO+aXUcGxuCD</DigestValue>
      </Reference>
      <Reference URI="/ppt/theme/themeOverride5.xml?ContentType=application/vnd.openxmlformats-officedocument.themeOverride+xml">
        <DigestMethod Algorithm="http://www.w3.org/2001/04/xmldsig-more#sha384"/>
        <DigestValue>A0RxEcunjgFDFxr4yfX6cUMhlyaexNCq5dRIcOZAMS5gsKk1mvTeXO+aXUcGxuCD</DigestValue>
      </Reference>
      <Reference URI="/ppt/theme/themeOverride6.xml?ContentType=application/vnd.openxmlformats-officedocument.themeOverride+xml">
        <DigestMethod Algorithm="http://www.w3.org/2001/04/xmldsig-more#sha384"/>
        <DigestValue>A0RxEcunjgFDFxr4yfX6cUMhlyaexNCq5dRIcOZAMS5gsKk1mvTeXO+aXUcGxuCD</DigestValue>
      </Reference>
      <Reference URI="/ppt/viewProps.xml?ContentType=application/vnd.openxmlformats-officedocument.presentationml.viewProps+xml">
        <DigestMethod Algorithm="http://www.w3.org/2001/04/xmldsig-more#sha384"/>
        <DigestValue>i2VwTie+5hpS4Suznn2HRAWQC0zgs5LjuZFlDSaG2dgwBfUoZ4K9ntuAf8wLhVEr</DigestValue>
      </Reference>
    </Manifest>
    <SignatureProperties>
      <SignatureProperty Id="idSignatureTime" Target="#idPackageSignature">
        <mdssi:SignatureTime xmlns:mdssi="http://schemas.openxmlformats.org/package/2006/digital-signature">
          <mdssi:Format>YYYY-MM-DDThh:mm:ssTZD</mdssi:Format>
          <mdssi:Value>2026-05-02T04:51:39Z</mdssi:Value>
        </mdssi:SignatureTime>
      </SignatureProperty>
    </SignatureProperties>
  </Object>
  <Object Id="idOfficeObject">
    <SignatureProperties>
      <SignatureProperty Id="idOfficeV1Details" Target="#idPackageSignature">
        <SignatureInfoV1 xmlns="http://schemas.microsoft.com/office/2006/digsig">
          <SetupID/>
          <SignatureText/>
          <SignatureImage/>
          <SignatureComments/>
          <WindowsVersion>10.0</WindowsVersion>
          <OfficeVersion>16.0.19929/27</OfficeVersion>
          <ApplicationVersion>16.0.19929</ApplicationVersion>
          <Monitors>1</Monitors>
          <HorizontalResolution>3840</HorizontalResolution>
          <VerticalResolution>2160</VerticalResolution>
          <ColorDepth>32</ColorDepth>
          <SignatureProviderId>{00000000-0000-0000-0000-000000000000}</SignatureProviderId>
          <SignatureProviderUrl/>
          <SignatureProviderDetails>9</SignatureProviderDetails>
          <SignatureType>1</SignatureType>
        </SignatureInfoV1>
        <SignatureInfoV2 xmlns="http://schemas.microsoft.com/office/2006/digsig">
          <Address1>1</Address1>
          <Address2>1</Address2>
        </SignatureInfoV2>
      </SignatureProperty>
    </SignatureProperties>
  </Object>
  <Object>
    <xd:QualifyingProperties xmlns:xd="http://uri.etsi.org/01903/v1.3.2#" Target="#idPackageSignature">
      <xd:SignedProperties Id="idSignedProperties">
        <xd:SignedSignatureProperties>
          <xd:SigningTime>2026-05-02T04:51:39Z</xd:SigningTime>
          <xd:SigningCertificate>
            <xd:Cert>
              <xd:CertDigest>
                <DigestMethod Algorithm="http://www.w3.org/2001/04/xmldsig-more#sha384"/>
                <DigestValue>D67bhy/9mWvljSCVp+LaMHriE1TBdLrpqNdn5RXLONWIAoyhMkaRLANdP8DFcmsi</DigestValue>
              </xd:CertDigest>
              <xd:IssuerSerial>
                <X509IssuerName>CN=06ba09b9-cb32-40ba-9380-3f7465fb56f0</X509IssuerName>
                <X509SerialNumber>2855994664308359334</X509SerialNumber>
              </xd:IssuerSerial>
            </xd:Cert>
          </xd:SigningCertificate>
          <xd:SignaturePolicyIdentifier>
            <xd:SignaturePolicyImplied/>
          </xd:SignaturePolicyIdentifier>
          <xd:SignatureProductionPlace>
            <xd:City>Nampa</xd:City>
            <xd:StateOrProvince>Idaho</xd:StateOrProvince>
            <xd:PostalCode>83686</xd:PostalCode>
            <xd:CountryName>USA</xd:CountryName>
          </xd:SignatureProductionPlace>
          <xd:SignerRole>
            <xd:ClaimedRoles>
              <xd:ClaimedRole>Charles Anderson / Author</xd:ClaimedRole>
            </xd:ClaimedRoles>
          </xd:SignerRole>
        </xd:SignedSignatureProperties>
        <xd:SignedDataObjectProperties>
          <xd:CommitmentTypeIndication>
            <xd:CommitmentTypeId>
              <xd:Identifier>http://uri.etsi.org/01903/v1.2.2#ProofOfOrigin</xd:Identifier>
              <xd:Description>Created and approved this document</xd:Description>
            </xd:CommitmentTypeId>
            <xd:AllSignedDataObjects/>
          </xd:CommitmentTypeIndication>
        </xd:SignedDataObjectProperties>
      </xd:SignedProperties>
    </xd:QualifyingProperties>
  </Object>
</Signature>
</file>

<file path=docProps/app.xml><?xml version="1.0" encoding="utf-8"?>
<Properties xmlns="http://schemas.openxmlformats.org/officeDocument/2006/extended-properties" xmlns:vt="http://schemas.openxmlformats.org/officeDocument/2006/docPropsVTypes">
  <Template/>
  <TotalTime>0</TotalTime>
  <Words>4769</Words>
  <Application>Microsoft Office PowerPoint</Application>
  <PresentationFormat>On-screen Show (16:9)</PresentationFormat>
  <Paragraphs>786</Paragraphs>
  <Slides>46</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Aptos</vt:lpstr>
      <vt:lpstr>Arial</vt:lpstr>
      <vt:lpstr>Calibri</vt:lpstr>
      <vt:lpstr>Consolas</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2026-05-02T04:49:07Z</dcterms:created>
  <dcterms:modified xsi:type="dcterms:W3CDTF">2026-05-02T04:49:45Z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